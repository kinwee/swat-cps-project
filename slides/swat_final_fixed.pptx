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E63946"/>
          </a:solidFill>
          <a:ln w="12700">
            <a:solidFill>
              <a:srgbClr val="E63946"/>
            </a:solidFill>
            <a:prstDash val="solid"/>
          </a:ln>
        </p:spPr>
      </p:sp>
      <p:sp>
        <p:nvSpPr>
          <p:cNvPr id="3" name="Shape 1"/>
          <p:cNvSpPr/>
          <p:nvPr/>
        </p:nvSpPr>
        <p:spPr>
          <a:xfrm>
            <a:off x="685800" y="2651760"/>
            <a:ext cx="8046720" cy="36576"/>
          </a:xfrm>
          <a:prstGeom prst="rect">
            <a:avLst/>
          </a:prstGeom>
          <a:solidFill>
            <a:srgbClr val="1B3A5C"/>
          </a:solidFill>
          <a:ln w="12700">
            <a:solidFill>
              <a:srgbClr val="1B3A5C"/>
            </a:solidFill>
            <a:prstDash val="solid"/>
          </a:ln>
        </p:spPr>
      </p:sp>
      <p:sp>
        <p:nvSpPr>
          <p:cNvPr id="4" name="Text 2"/>
          <p:cNvSpPr/>
          <p:nvPr/>
        </p:nvSpPr>
        <p:spPr>
          <a:xfrm>
            <a:off x="685800" y="640080"/>
            <a:ext cx="8229600" cy="7772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Stealthy Attack &amp; Resilient</a:t>
            </a:r>
            <a:endParaRPr lang="en-US" sz="3800" dirty="0"/>
          </a:p>
        </p:txBody>
      </p:sp>
      <p:sp>
        <p:nvSpPr>
          <p:cNvPr id="5" name="Text 3"/>
          <p:cNvSpPr/>
          <p:nvPr/>
        </p:nvSpPr>
        <p:spPr>
          <a:xfrm>
            <a:off x="685800" y="1371600"/>
            <a:ext cx="8229600" cy="777240"/>
          </a:xfrm>
          <a:prstGeom prst="rect">
            <a:avLst/>
          </a:prstGeom>
          <a:noFill/>
          <a:ln/>
        </p:spPr>
        <p:txBody>
          <a:bodyPr wrap="square" lIns="0" tIns="0" rIns="0" bIns="0" rtlCol="0" anchor="ctr"/>
          <a:lstStyle/>
          <a:p>
            <a:pPr indent="0" marL="0">
              <a:buNone/>
            </a:pPr>
            <a:r>
              <a:rPr lang="en-US" sz="3800" b="1" dirty="0">
                <a:solidFill>
                  <a:srgbClr val="E63946"/>
                </a:solidFill>
                <a:latin typeface="Calibri" pitchFamily="34" charset="0"/>
                <a:ea typeface="Calibri" pitchFamily="34" charset="-122"/>
                <a:cs typeface="Calibri" pitchFamily="34" charset="-120"/>
              </a:rPr>
              <a:t>Defense on the SWaT Testbed</a:t>
            </a:r>
            <a:endParaRPr lang="en-US" sz="3800" dirty="0"/>
          </a:p>
        </p:txBody>
      </p:sp>
      <p:sp>
        <p:nvSpPr>
          <p:cNvPr id="6" name="Text 4"/>
          <p:cNvSpPr/>
          <p:nvPr/>
        </p:nvSpPr>
        <p:spPr>
          <a:xfrm>
            <a:off x="685800" y="2724912"/>
            <a:ext cx="8046720" cy="411480"/>
          </a:xfrm>
          <a:prstGeom prst="rect">
            <a:avLst/>
          </a:prstGeom>
          <a:noFill/>
          <a:ln/>
        </p:spPr>
        <p:txBody>
          <a:bodyPr wrap="square" lIns="0" tIns="0" rIns="0" bIns="0" rtlCol="0" anchor="ctr"/>
          <a:lstStyle/>
          <a:p>
            <a:pPr indent="0" marL="0">
              <a:buNone/>
            </a:pPr>
            <a:r>
              <a:rPr lang="en-US" sz="1400" dirty="0">
                <a:solidFill>
                  <a:srgbClr val="8FA3B1"/>
                </a:solidFill>
                <a:latin typeface="Calibri" pitchFamily="34" charset="0"/>
                <a:ea typeface="Calibri" pitchFamily="34" charset="-122"/>
                <a:cs typeface="Calibri" pitchFamily="34" charset="-120"/>
              </a:rPr>
              <a:t>51.508 Secure Cyber Physical Systems  |  Project Proposal</a:t>
            </a:r>
            <a:endParaRPr lang="en-US" sz="1400" dirty="0"/>
          </a:p>
        </p:txBody>
      </p:sp>
      <p:sp>
        <p:nvSpPr>
          <p:cNvPr id="7" name="Shape 5"/>
          <p:cNvSpPr/>
          <p:nvPr/>
        </p:nvSpPr>
        <p:spPr>
          <a:xfrm>
            <a:off x="685800" y="3337560"/>
            <a:ext cx="2606040" cy="347472"/>
          </a:xfrm>
          <a:prstGeom prst="roundRect">
            <a:avLst>
              <a:gd name="adj" fmla="val 13158"/>
            </a:avLst>
          </a:prstGeom>
          <a:solidFill>
            <a:srgbClr val="E63946">
              <a:alpha val="75000"/>
            </a:srgbClr>
          </a:solidFill>
          <a:ln w="19050">
            <a:solidFill>
              <a:srgbClr val="E63946"/>
            </a:solidFill>
            <a:prstDash val="solid"/>
          </a:ln>
        </p:spPr>
      </p:sp>
      <p:sp>
        <p:nvSpPr>
          <p:cNvPr id="8" name="Text 6"/>
          <p:cNvSpPr/>
          <p:nvPr/>
        </p:nvSpPr>
        <p:spPr>
          <a:xfrm>
            <a:off x="685800"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Modbus False Command Injection</a:t>
            </a:r>
            <a:endParaRPr lang="en-US" sz="1000" dirty="0"/>
          </a:p>
        </p:txBody>
      </p:sp>
      <p:sp>
        <p:nvSpPr>
          <p:cNvPr id="9" name="Shape 7"/>
          <p:cNvSpPr/>
          <p:nvPr/>
        </p:nvSpPr>
        <p:spPr>
          <a:xfrm>
            <a:off x="3502152" y="3337560"/>
            <a:ext cx="2606040" cy="347472"/>
          </a:xfrm>
          <a:prstGeom prst="roundRect">
            <a:avLst>
              <a:gd name="adj" fmla="val 13158"/>
            </a:avLst>
          </a:prstGeom>
          <a:solidFill>
            <a:srgbClr val="F4A261">
              <a:alpha val="75000"/>
            </a:srgbClr>
          </a:solidFill>
          <a:ln w="19050">
            <a:solidFill>
              <a:srgbClr val="F4A261"/>
            </a:solidFill>
            <a:prstDash val="solid"/>
          </a:ln>
        </p:spPr>
      </p:sp>
      <p:sp>
        <p:nvSpPr>
          <p:cNvPr id="10" name="Text 8"/>
          <p:cNvSpPr/>
          <p:nvPr/>
        </p:nvSpPr>
        <p:spPr>
          <a:xfrm>
            <a:off x="3502152"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Constrained Concealment Evasion</a:t>
            </a:r>
            <a:endParaRPr lang="en-US" sz="1000" dirty="0"/>
          </a:p>
        </p:txBody>
      </p:sp>
      <p:sp>
        <p:nvSpPr>
          <p:cNvPr id="11" name="Shape 9"/>
          <p:cNvSpPr/>
          <p:nvPr/>
        </p:nvSpPr>
        <p:spPr>
          <a:xfrm>
            <a:off x="6318504" y="3337560"/>
            <a:ext cx="2606040" cy="347472"/>
          </a:xfrm>
          <a:prstGeom prst="roundRect">
            <a:avLst>
              <a:gd name="adj" fmla="val 13158"/>
            </a:avLst>
          </a:prstGeom>
          <a:solidFill>
            <a:srgbClr val="2ECC71">
              <a:alpha val="75000"/>
            </a:srgbClr>
          </a:solidFill>
          <a:ln w="19050">
            <a:solidFill>
              <a:srgbClr val="2ECC71"/>
            </a:solidFill>
            <a:prstDash val="solid"/>
          </a:ln>
        </p:spPr>
      </p:sp>
      <p:sp>
        <p:nvSpPr>
          <p:cNvPr id="12" name="Text 10"/>
          <p:cNvSpPr/>
          <p:nvPr/>
        </p:nvSpPr>
        <p:spPr>
          <a:xfrm>
            <a:off x="6318504" y="3337560"/>
            <a:ext cx="26060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Invariant-Based Recovery</a:t>
            </a:r>
            <a:endParaRPr lang="en-US" sz="1000" dirty="0"/>
          </a:p>
        </p:txBody>
      </p:sp>
      <p:sp>
        <p:nvSpPr>
          <p:cNvPr id="13" name="Shape 11"/>
          <p:cNvSpPr/>
          <p:nvPr/>
        </p:nvSpPr>
        <p:spPr>
          <a:xfrm>
            <a:off x="0" y="4663440"/>
            <a:ext cx="9144000" cy="480060"/>
          </a:xfrm>
          <a:prstGeom prst="rect">
            <a:avLst/>
          </a:prstGeom>
          <a:solidFill>
            <a:srgbClr val="1B3A5C"/>
          </a:solidFill>
          <a:ln w="12700">
            <a:solidFill>
              <a:srgbClr val="1B3A5C"/>
            </a:solidFill>
            <a:prstDash val="solid"/>
          </a:ln>
        </p:spPr>
      </p:sp>
      <p:sp>
        <p:nvSpPr>
          <p:cNvPr id="14" name="Text 12"/>
          <p:cNvSpPr/>
          <p:nvPr/>
        </p:nvSpPr>
        <p:spPr>
          <a:xfrm>
            <a:off x="457200" y="4663440"/>
            <a:ext cx="8229600" cy="480060"/>
          </a:xfrm>
          <a:prstGeom prst="rect">
            <a:avLst/>
          </a:prstGeom>
          <a:noFill/>
          <a:ln/>
        </p:spPr>
        <p:txBody>
          <a:bodyPr wrap="square" lIns="0" tIns="0" rIns="0" bIns="0" rtlCol="0" anchor="ctr"/>
          <a:lstStyle/>
          <a:p>
            <a:pPr algn="ctr" indent="0" marL="0">
              <a:buNone/>
            </a:pPr>
            <a:r>
              <a:rPr lang="en-US" sz="1200" dirty="0">
                <a:solidFill>
                  <a:srgbClr val="8FA3B1"/>
                </a:solidFill>
                <a:latin typeface="Calibri" pitchFamily="34" charset="0"/>
                <a:ea typeface="Calibri" pitchFamily="34" charset="-122"/>
                <a:cs typeface="Calibri" pitchFamily="34" charset="-120"/>
              </a:rPr>
              <a:t>iTrust Lab  |  SWaT Testbed  |  AY2025/26 Term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274320"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74320" y="960120"/>
            <a:ext cx="2011680" cy="457200"/>
          </a:xfrm>
          <a:prstGeom prst="rect">
            <a:avLst/>
          </a:prstGeom>
          <a:solidFill>
            <a:srgbClr val="E63946"/>
          </a:solidFill>
          <a:ln w="12700">
            <a:solidFill>
              <a:srgbClr val="E63946"/>
            </a:solidFill>
            <a:prstDash val="solid"/>
          </a:ln>
        </p:spPr>
      </p:sp>
      <p:sp>
        <p:nvSpPr>
          <p:cNvPr id="6" name="Text 4"/>
          <p:cNvSpPr/>
          <p:nvPr/>
        </p:nvSpPr>
        <p:spPr>
          <a:xfrm>
            <a:off x="274320"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411480" y="1508760"/>
            <a:ext cx="1737360" cy="411480"/>
          </a:xfrm>
          <a:prstGeom prst="rect">
            <a:avLst/>
          </a:prstGeom>
          <a:noFill/>
          <a:ln/>
        </p:spPr>
        <p:txBody>
          <a:bodyPr wrap="square" lIns="0" tIns="0" rIns="0" bIns="0"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Motivation</a:t>
            </a:r>
            <a:endParaRPr lang="en-US" sz="1500" dirty="0"/>
          </a:p>
        </p:txBody>
      </p:sp>
      <p:sp>
        <p:nvSpPr>
          <p:cNvPr id="8" name="Text 6"/>
          <p:cNvSpPr/>
          <p:nvPr/>
        </p:nvSpPr>
        <p:spPr>
          <a:xfrm>
            <a:off x="411480"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SWaT uses Modbus/EtherNet-IP with no auth. Existing ML detectors are vulnerable to adversarial evasion.</a:t>
            </a:r>
            <a:endParaRPr lang="en-US" sz="1100" dirty="0"/>
          </a:p>
        </p:txBody>
      </p:sp>
      <p:sp>
        <p:nvSpPr>
          <p:cNvPr id="9" name="Shape 7"/>
          <p:cNvSpPr/>
          <p:nvPr/>
        </p:nvSpPr>
        <p:spPr>
          <a:xfrm>
            <a:off x="2450592"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450592" y="960120"/>
            <a:ext cx="2011680" cy="457200"/>
          </a:xfrm>
          <a:prstGeom prst="rect">
            <a:avLst/>
          </a:prstGeom>
          <a:solidFill>
            <a:srgbClr val="F4A261"/>
          </a:solidFill>
          <a:ln w="12700">
            <a:solidFill>
              <a:srgbClr val="F4A261"/>
            </a:solidFill>
            <a:prstDash val="solid"/>
          </a:ln>
        </p:spPr>
      </p:sp>
      <p:sp>
        <p:nvSpPr>
          <p:cNvPr id="11" name="Text 9"/>
          <p:cNvSpPr/>
          <p:nvPr/>
        </p:nvSpPr>
        <p:spPr>
          <a:xfrm>
            <a:off x="2450592"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2587752" y="1508760"/>
            <a:ext cx="1737360" cy="411480"/>
          </a:xfrm>
          <a:prstGeom prst="rect">
            <a:avLst/>
          </a:prstGeom>
          <a:noFill/>
          <a:ln/>
        </p:spPr>
        <p:txBody>
          <a:bodyPr wrap="square" lIns="0" tIns="0" rIns="0" bIns="0" rtlCol="0" anchor="ctr"/>
          <a:lstStyle/>
          <a:p>
            <a:pPr indent="0" marL="0">
              <a:buNone/>
            </a:pPr>
            <a:r>
              <a:rPr lang="en-US" sz="1500" b="1" dirty="0">
                <a:solidFill>
                  <a:srgbClr val="F4A261"/>
                </a:solidFill>
                <a:latin typeface="Calibri" pitchFamily="34" charset="0"/>
                <a:ea typeface="Calibri" pitchFamily="34" charset="-122"/>
                <a:cs typeface="Calibri" pitchFamily="34" charset="-120"/>
              </a:rPr>
              <a:t>Attack</a:t>
            </a:r>
            <a:endParaRPr lang="en-US" sz="1500" dirty="0"/>
          </a:p>
        </p:txBody>
      </p:sp>
      <p:sp>
        <p:nvSpPr>
          <p:cNvPr id="13" name="Text 11"/>
          <p:cNvSpPr/>
          <p:nvPr/>
        </p:nvSpPr>
        <p:spPr>
          <a:xfrm>
            <a:off x="2587752"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Stealthy Modbus false command injection targeting pumps &amp; valves with sensor spoofing to evade anomaly detection.</a:t>
            </a:r>
            <a:endParaRPr lang="en-US" sz="1100" dirty="0"/>
          </a:p>
        </p:txBody>
      </p:sp>
      <p:sp>
        <p:nvSpPr>
          <p:cNvPr id="14" name="Shape 12"/>
          <p:cNvSpPr/>
          <p:nvPr/>
        </p:nvSpPr>
        <p:spPr>
          <a:xfrm>
            <a:off x="4626864"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4626864" y="960120"/>
            <a:ext cx="2011680" cy="457200"/>
          </a:xfrm>
          <a:prstGeom prst="rect">
            <a:avLst/>
          </a:prstGeom>
          <a:solidFill>
            <a:srgbClr val="2196F3"/>
          </a:solidFill>
          <a:ln w="12700">
            <a:solidFill>
              <a:srgbClr val="2196F3"/>
            </a:solidFill>
            <a:prstDash val="solid"/>
          </a:ln>
        </p:spPr>
      </p:sp>
      <p:sp>
        <p:nvSpPr>
          <p:cNvPr id="16" name="Text 14"/>
          <p:cNvSpPr/>
          <p:nvPr/>
        </p:nvSpPr>
        <p:spPr>
          <a:xfrm>
            <a:off x="4626864"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4764024" y="1508760"/>
            <a:ext cx="1737360" cy="411480"/>
          </a:xfrm>
          <a:prstGeom prst="rect">
            <a:avLst/>
          </a:prstGeom>
          <a:noFill/>
          <a:ln/>
        </p:spPr>
        <p:txBody>
          <a:bodyPr wrap="square" lIns="0" tIns="0" rIns="0" bIns="0" rtlCol="0" anchor="ctr"/>
          <a:lstStyle/>
          <a:p>
            <a:pPr indent="0" marL="0">
              <a:buNone/>
            </a:pPr>
            <a:r>
              <a:rPr lang="en-US" sz="1500" b="1" dirty="0">
                <a:solidFill>
                  <a:srgbClr val="2196F3"/>
                </a:solidFill>
                <a:latin typeface="Calibri" pitchFamily="34" charset="0"/>
                <a:ea typeface="Calibri" pitchFamily="34" charset="-122"/>
                <a:cs typeface="Calibri" pitchFamily="34" charset="-120"/>
              </a:rPr>
              <a:t>Defense</a:t>
            </a:r>
            <a:endParaRPr lang="en-US" sz="1500" dirty="0"/>
          </a:p>
        </p:txBody>
      </p:sp>
      <p:sp>
        <p:nvSpPr>
          <p:cNvPr id="18" name="Text 16"/>
          <p:cNvSpPr/>
          <p:nvPr/>
        </p:nvSpPr>
        <p:spPr>
          <a:xfrm>
            <a:off x="4764024"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Hybrid detector: process invariants (physics-based) combined with a reconstruction-based ML autoencoder.</a:t>
            </a:r>
            <a:endParaRPr lang="en-US" sz="1100" dirty="0"/>
          </a:p>
        </p:txBody>
      </p:sp>
      <p:sp>
        <p:nvSpPr>
          <p:cNvPr id="19" name="Shape 17"/>
          <p:cNvSpPr/>
          <p:nvPr/>
        </p:nvSpPr>
        <p:spPr>
          <a:xfrm>
            <a:off x="6803136" y="960120"/>
            <a:ext cx="2011680" cy="3566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6803136" y="960120"/>
            <a:ext cx="2011680" cy="457200"/>
          </a:xfrm>
          <a:prstGeom prst="rect">
            <a:avLst/>
          </a:prstGeom>
          <a:solidFill>
            <a:srgbClr val="2ECC71"/>
          </a:solidFill>
          <a:ln w="12700">
            <a:solidFill>
              <a:srgbClr val="2ECC71"/>
            </a:solidFill>
            <a:prstDash val="solid"/>
          </a:ln>
        </p:spPr>
      </p:sp>
      <p:sp>
        <p:nvSpPr>
          <p:cNvPr id="21" name="Text 19"/>
          <p:cNvSpPr/>
          <p:nvPr/>
        </p:nvSpPr>
        <p:spPr>
          <a:xfrm>
            <a:off x="6803136" y="96012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6940296" y="1508760"/>
            <a:ext cx="1737360" cy="411480"/>
          </a:xfrm>
          <a:prstGeom prst="rect">
            <a:avLst/>
          </a:prstGeom>
          <a:noFill/>
          <a:ln/>
        </p:spPr>
        <p:txBody>
          <a:bodyPr wrap="square" lIns="0" tIns="0" rIns="0" bIns="0" rtlCol="0" anchor="ctr"/>
          <a:lstStyle/>
          <a:p>
            <a:pPr indent="0" marL="0">
              <a:buNone/>
            </a:pPr>
            <a:r>
              <a:rPr lang="en-US" sz="1500" b="1" dirty="0">
                <a:solidFill>
                  <a:srgbClr val="2ECC71"/>
                </a:solidFill>
                <a:latin typeface="Calibri" pitchFamily="34" charset="0"/>
                <a:ea typeface="Calibri" pitchFamily="34" charset="-122"/>
                <a:cs typeface="Calibri" pitchFamily="34" charset="-120"/>
              </a:rPr>
              <a:t>Recovery</a:t>
            </a:r>
            <a:endParaRPr lang="en-US" sz="1500" dirty="0"/>
          </a:p>
        </p:txBody>
      </p:sp>
      <p:sp>
        <p:nvSpPr>
          <p:cNvPr id="23" name="Text 21"/>
          <p:cNvSpPr/>
          <p:nvPr/>
        </p:nvSpPr>
        <p:spPr>
          <a:xfrm>
            <a:off x="6940296" y="1965960"/>
            <a:ext cx="1737360" cy="22860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Automated safe-state transition + hot-standby PLC failover + invariant-guided sensor reconstruction.</a:t>
            </a:r>
            <a:endParaRPr lang="en-US" sz="1100" dirty="0"/>
          </a:p>
        </p:txBody>
      </p:sp>
      <p:sp>
        <p:nvSpPr>
          <p:cNvPr id="24" name="Shape 22"/>
          <p:cNvSpPr/>
          <p:nvPr/>
        </p:nvSpPr>
        <p:spPr>
          <a:xfrm>
            <a:off x="274320" y="4572000"/>
            <a:ext cx="8595360" cy="411480"/>
          </a:xfrm>
          <a:prstGeom prst="rect">
            <a:avLst/>
          </a:prstGeom>
          <a:solidFill>
            <a:srgbClr val="E8EEF4"/>
          </a:solidFill>
          <a:ln w="12700">
            <a:solidFill>
              <a:srgbClr val="E8EEF4"/>
            </a:solidFill>
            <a:prstDash val="solid"/>
          </a:ln>
        </p:spPr>
      </p:sp>
      <p:sp>
        <p:nvSpPr>
          <p:cNvPr id="25" name="Text 23"/>
          <p:cNvSpPr/>
          <p:nvPr/>
        </p:nvSpPr>
        <p:spPr>
          <a:xfrm>
            <a:off x="457200" y="4572000"/>
            <a:ext cx="8321040" cy="411480"/>
          </a:xfrm>
          <a:prstGeom prst="rect">
            <a:avLst/>
          </a:prstGeom>
          <a:noFill/>
          <a:ln/>
        </p:spPr>
        <p:txBody>
          <a:bodyPr wrap="square" lIns="0" tIns="0" rIns="0" bIns="0" rtlCol="0" anchor="ctr"/>
          <a:lstStyle/>
          <a:p>
            <a:pPr algn="ctr" indent="0" marL="0">
              <a:buNone/>
            </a:pPr>
            <a:r>
              <a:rPr lang="en-US" sz="1100" i="1" dirty="0">
                <a:solidFill>
                  <a:srgbClr val="1B3A5C"/>
                </a:solidFill>
                <a:latin typeface="Calibri" pitchFamily="34" charset="0"/>
                <a:ea typeface="Calibri" pitchFamily="34" charset="-122"/>
                <a:cs typeface="Calibri" pitchFamily="34" charset="-120"/>
              </a:rPr>
              <a:t>Research Contribution: First end-to-end demonstration on SWaT combining adversarial evasion attacks with a hybrid physics+ML defense and automated recovery.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196F3"/>
          </a:solidFill>
          <a:ln w="12700">
            <a:solidFill>
              <a:srgbClr val="2196F3"/>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Threat Model &amp; Assumptions</a:t>
            </a:r>
            <a:endParaRPr lang="en-US" sz="2800" dirty="0"/>
          </a:p>
        </p:txBody>
      </p:sp>
      <p:sp>
        <p:nvSpPr>
          <p:cNvPr id="4" name="Shape 2"/>
          <p:cNvSpPr/>
          <p:nvPr/>
        </p:nvSpPr>
        <p:spPr>
          <a:xfrm>
            <a:off x="365760" y="914400"/>
            <a:ext cx="3931920" cy="393192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914400"/>
            <a:ext cx="64008" cy="3931920"/>
          </a:xfrm>
          <a:prstGeom prst="rect">
            <a:avLst/>
          </a:prstGeom>
          <a:solidFill>
            <a:srgbClr val="E63946"/>
          </a:solidFill>
          <a:ln w="12700">
            <a:solidFill>
              <a:srgbClr val="E63946"/>
            </a:solidFill>
            <a:prstDash val="solid"/>
          </a:ln>
        </p:spPr>
      </p:sp>
      <p:sp>
        <p:nvSpPr>
          <p:cNvPr id="6" name="Text 4"/>
          <p:cNvSpPr/>
          <p:nvPr/>
        </p:nvSpPr>
        <p:spPr>
          <a:xfrm>
            <a:off x="594360" y="1005840"/>
            <a:ext cx="3566160" cy="365760"/>
          </a:xfrm>
          <a:prstGeom prst="rect">
            <a:avLst/>
          </a:prstGeom>
          <a:noFill/>
          <a:ln/>
        </p:spPr>
        <p:txBody>
          <a:bodyPr wrap="square" lIns="0" tIns="0" rIns="0" bIns="0" rtlCol="0" anchor="ctr"/>
          <a:lstStyle/>
          <a:p>
            <a:pPr indent="0" marL="0">
              <a:buNone/>
            </a:pPr>
            <a:r>
              <a:rPr lang="en-US" sz="1600" b="1" dirty="0">
                <a:solidFill>
                  <a:srgbClr val="E63946"/>
                </a:solidFill>
                <a:latin typeface="Calibri" pitchFamily="34" charset="0"/>
                <a:ea typeface="Calibri" pitchFamily="34" charset="-122"/>
                <a:cs typeface="Calibri" pitchFamily="34" charset="-120"/>
              </a:rPr>
              <a:t>Attacker Profile</a:t>
            </a:r>
            <a:endParaRPr lang="en-US" sz="1600" dirty="0"/>
          </a:p>
        </p:txBody>
      </p:sp>
      <p:sp>
        <p:nvSpPr>
          <p:cNvPr id="7" name="Text 5"/>
          <p:cNvSpPr/>
          <p:nvPr/>
        </p:nvSpPr>
        <p:spPr>
          <a:xfrm>
            <a:off x="640080" y="1508760"/>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Access:</a:t>
            </a:r>
            <a:endParaRPr lang="en-US" sz="1100" dirty="0"/>
          </a:p>
        </p:txBody>
      </p:sp>
      <p:sp>
        <p:nvSpPr>
          <p:cNvPr id="8" name="Text 6"/>
          <p:cNvSpPr/>
          <p:nvPr/>
        </p:nvSpPr>
        <p:spPr>
          <a:xfrm>
            <a:off x="1444752" y="1508760"/>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Network-level access to Level 1/2 OT network (e.g. via compromised engineering workstation or rogue laptop on switch)</a:t>
            </a:r>
            <a:endParaRPr lang="en-US" sz="1050" dirty="0"/>
          </a:p>
        </p:txBody>
      </p:sp>
      <p:sp>
        <p:nvSpPr>
          <p:cNvPr id="9" name="Text 7"/>
          <p:cNvSpPr/>
          <p:nvPr/>
        </p:nvSpPr>
        <p:spPr>
          <a:xfrm>
            <a:off x="640080" y="2258568"/>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Knowledge:</a:t>
            </a:r>
            <a:endParaRPr lang="en-US" sz="1100" dirty="0"/>
          </a:p>
        </p:txBody>
      </p:sp>
      <p:sp>
        <p:nvSpPr>
          <p:cNvPr id="10" name="Text 8"/>
          <p:cNvSpPr/>
          <p:nvPr/>
        </p:nvSpPr>
        <p:spPr>
          <a:xfrm>
            <a:off x="1444752" y="2258568"/>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Knows Modbus register map (obtainable via passive sniffing). Black-box knowledge of anomaly detector.</a:t>
            </a:r>
            <a:endParaRPr lang="en-US" sz="1050" dirty="0"/>
          </a:p>
        </p:txBody>
      </p:sp>
      <p:sp>
        <p:nvSpPr>
          <p:cNvPr id="11" name="Text 9"/>
          <p:cNvSpPr/>
          <p:nvPr/>
        </p:nvSpPr>
        <p:spPr>
          <a:xfrm>
            <a:off x="640080" y="3008376"/>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Capability:</a:t>
            </a:r>
            <a:endParaRPr lang="en-US" sz="1100" dirty="0"/>
          </a:p>
        </p:txBody>
      </p:sp>
      <p:sp>
        <p:nvSpPr>
          <p:cNvPr id="12" name="Text 10"/>
          <p:cNvSpPr/>
          <p:nvPr/>
        </p:nvSpPr>
        <p:spPr>
          <a:xfrm>
            <a:off x="1444752" y="3008376"/>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Can intercept, inject, and spoof Modbus TCP frames. Can manipulate sensor readings reported to SCADA HMI.</a:t>
            </a:r>
            <a:endParaRPr lang="en-US" sz="1050" dirty="0"/>
          </a:p>
        </p:txBody>
      </p:sp>
      <p:sp>
        <p:nvSpPr>
          <p:cNvPr id="13" name="Text 11"/>
          <p:cNvSpPr/>
          <p:nvPr/>
        </p:nvSpPr>
        <p:spPr>
          <a:xfrm>
            <a:off x="640080" y="3758184"/>
            <a:ext cx="777240" cy="32004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Goal:</a:t>
            </a:r>
            <a:endParaRPr lang="en-US" sz="1100" dirty="0"/>
          </a:p>
        </p:txBody>
      </p:sp>
      <p:sp>
        <p:nvSpPr>
          <p:cNvPr id="14" name="Text 12"/>
          <p:cNvSpPr/>
          <p:nvPr/>
        </p:nvSpPr>
        <p:spPr>
          <a:xfrm>
            <a:off x="1444752" y="3758184"/>
            <a:ext cx="2651760" cy="640080"/>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Cause physical damage (tank overflow / pump cavitation) without triggering alarms for as long as possible.</a:t>
            </a:r>
            <a:endParaRPr lang="en-US" sz="1050" dirty="0"/>
          </a:p>
        </p:txBody>
      </p:sp>
      <p:sp>
        <p:nvSpPr>
          <p:cNvPr id="15" name="Shape 13"/>
          <p:cNvSpPr/>
          <p:nvPr/>
        </p:nvSpPr>
        <p:spPr>
          <a:xfrm>
            <a:off x="4663440" y="914400"/>
            <a:ext cx="4114800" cy="393192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663440" y="914400"/>
            <a:ext cx="64008" cy="3931920"/>
          </a:xfrm>
          <a:prstGeom prst="rect">
            <a:avLst/>
          </a:prstGeom>
          <a:solidFill>
            <a:srgbClr val="2196F3"/>
          </a:solidFill>
          <a:ln w="12700">
            <a:solidFill>
              <a:srgbClr val="2196F3"/>
            </a:solidFill>
            <a:prstDash val="solid"/>
          </a:ln>
        </p:spPr>
      </p:sp>
      <p:sp>
        <p:nvSpPr>
          <p:cNvPr id="17" name="Text 15"/>
          <p:cNvSpPr/>
          <p:nvPr/>
        </p:nvSpPr>
        <p:spPr>
          <a:xfrm>
            <a:off x="4892040" y="1005840"/>
            <a:ext cx="3749040" cy="365760"/>
          </a:xfrm>
          <a:prstGeom prst="rect">
            <a:avLst/>
          </a:prstGeom>
          <a:noFill/>
          <a:ln/>
        </p:spPr>
        <p:txBody>
          <a:bodyPr wrap="square" lIns="0" tIns="0" rIns="0" bIns="0" rtlCol="0" anchor="ctr"/>
          <a:lstStyle/>
          <a:p>
            <a:pPr indent="0" marL="0">
              <a:buNone/>
            </a:pPr>
            <a:r>
              <a:rPr lang="en-US" sz="1600" b="1" dirty="0">
                <a:solidFill>
                  <a:srgbClr val="2196F3"/>
                </a:solidFill>
                <a:latin typeface="Calibri" pitchFamily="34" charset="0"/>
                <a:ea typeface="Calibri" pitchFamily="34" charset="-122"/>
                <a:cs typeface="Calibri" pitchFamily="34" charset="-120"/>
              </a:rPr>
              <a:t>SWaT Attack Surface</a:t>
            </a:r>
            <a:endParaRPr lang="en-US" sz="1600" dirty="0"/>
          </a:p>
        </p:txBody>
      </p:sp>
      <p:sp>
        <p:nvSpPr>
          <p:cNvPr id="18" name="Shape 16"/>
          <p:cNvSpPr/>
          <p:nvPr/>
        </p:nvSpPr>
        <p:spPr>
          <a:xfrm>
            <a:off x="4892040" y="1508760"/>
            <a:ext cx="91440" cy="502920"/>
          </a:xfrm>
          <a:prstGeom prst="rect">
            <a:avLst/>
          </a:prstGeom>
          <a:solidFill>
            <a:srgbClr val="E63946"/>
          </a:solidFill>
          <a:ln w="12700">
            <a:solidFill>
              <a:srgbClr val="E63946"/>
            </a:solidFill>
            <a:prstDash val="solid"/>
          </a:ln>
        </p:spPr>
      </p:sp>
      <p:sp>
        <p:nvSpPr>
          <p:cNvPr id="19" name="Text 17"/>
          <p:cNvSpPr/>
          <p:nvPr/>
        </p:nvSpPr>
        <p:spPr>
          <a:xfrm>
            <a:off x="5074920" y="1508760"/>
            <a:ext cx="1097280" cy="256032"/>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Zone D (IT)</a:t>
            </a:r>
            <a:endParaRPr lang="en-US" sz="1100" dirty="0"/>
          </a:p>
        </p:txBody>
      </p:sp>
      <p:sp>
        <p:nvSpPr>
          <p:cNvPr id="20" name="Text 18"/>
          <p:cNvSpPr/>
          <p:nvPr/>
        </p:nvSpPr>
        <p:spPr>
          <a:xfrm>
            <a:off x="5074920" y="1764792"/>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SCADA workstation — initial foothold via phishing or rogue device</a:t>
            </a:r>
            <a:endParaRPr lang="en-US" sz="1000" dirty="0"/>
          </a:p>
        </p:txBody>
      </p:sp>
      <p:sp>
        <p:nvSpPr>
          <p:cNvPr id="21" name="Shape 19"/>
          <p:cNvSpPr/>
          <p:nvPr/>
        </p:nvSpPr>
        <p:spPr>
          <a:xfrm>
            <a:off x="4892040" y="2258568"/>
            <a:ext cx="91440" cy="502920"/>
          </a:xfrm>
          <a:prstGeom prst="rect">
            <a:avLst/>
          </a:prstGeom>
          <a:solidFill>
            <a:srgbClr val="F4A261"/>
          </a:solidFill>
          <a:ln w="12700">
            <a:solidFill>
              <a:srgbClr val="F4A261"/>
            </a:solidFill>
            <a:prstDash val="solid"/>
          </a:ln>
        </p:spPr>
      </p:sp>
      <p:sp>
        <p:nvSpPr>
          <p:cNvPr id="22" name="Text 20"/>
          <p:cNvSpPr/>
          <p:nvPr/>
        </p:nvSpPr>
        <p:spPr>
          <a:xfrm>
            <a:off x="5074920" y="2258568"/>
            <a:ext cx="1097280" cy="256032"/>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Firewall</a:t>
            </a:r>
            <a:endParaRPr lang="en-US" sz="1100" dirty="0"/>
          </a:p>
        </p:txBody>
      </p:sp>
      <p:sp>
        <p:nvSpPr>
          <p:cNvPr id="23" name="Text 21"/>
          <p:cNvSpPr/>
          <p:nvPr/>
        </p:nvSpPr>
        <p:spPr>
          <a:xfrm>
            <a:off x="5074920" y="2514600"/>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Traversal possible if SCADA talks to OT — common misconfiguration</a:t>
            </a:r>
            <a:endParaRPr lang="en-US" sz="1000" dirty="0"/>
          </a:p>
        </p:txBody>
      </p:sp>
      <p:sp>
        <p:nvSpPr>
          <p:cNvPr id="24" name="Shape 22"/>
          <p:cNvSpPr/>
          <p:nvPr/>
        </p:nvSpPr>
        <p:spPr>
          <a:xfrm>
            <a:off x="4892040" y="3008376"/>
            <a:ext cx="91440" cy="502920"/>
          </a:xfrm>
          <a:prstGeom prst="rect">
            <a:avLst/>
          </a:prstGeom>
          <a:solidFill>
            <a:srgbClr val="E63946"/>
          </a:solidFill>
          <a:ln w="12700">
            <a:solidFill>
              <a:srgbClr val="E63946"/>
            </a:solidFill>
            <a:prstDash val="solid"/>
          </a:ln>
        </p:spPr>
      </p:sp>
      <p:sp>
        <p:nvSpPr>
          <p:cNvPr id="25" name="Text 23"/>
          <p:cNvSpPr/>
          <p:nvPr/>
        </p:nvSpPr>
        <p:spPr>
          <a:xfrm>
            <a:off x="5074920" y="3008376"/>
            <a:ext cx="1097280" cy="256032"/>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Zone B (OT)</a:t>
            </a:r>
            <a:endParaRPr lang="en-US" sz="1100" dirty="0"/>
          </a:p>
        </p:txBody>
      </p:sp>
      <p:sp>
        <p:nvSpPr>
          <p:cNvPr id="26" name="Text 24"/>
          <p:cNvSpPr/>
          <p:nvPr/>
        </p:nvSpPr>
        <p:spPr>
          <a:xfrm>
            <a:off x="5074920" y="3264408"/>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Modbus/TCP to PLC1–PLC6, no authentication — direct command injection</a:t>
            </a:r>
            <a:endParaRPr lang="en-US" sz="1000" dirty="0"/>
          </a:p>
        </p:txBody>
      </p:sp>
      <p:sp>
        <p:nvSpPr>
          <p:cNvPr id="27" name="Shape 25"/>
          <p:cNvSpPr/>
          <p:nvPr/>
        </p:nvSpPr>
        <p:spPr>
          <a:xfrm>
            <a:off x="4892040" y="3758184"/>
            <a:ext cx="91440" cy="502920"/>
          </a:xfrm>
          <a:prstGeom prst="rect">
            <a:avLst/>
          </a:prstGeom>
          <a:solidFill>
            <a:srgbClr val="2ECC71"/>
          </a:solidFill>
          <a:ln w="12700">
            <a:solidFill>
              <a:srgbClr val="2ECC71"/>
            </a:solidFill>
            <a:prstDash val="solid"/>
          </a:ln>
        </p:spPr>
      </p:sp>
      <p:sp>
        <p:nvSpPr>
          <p:cNvPr id="28" name="Text 26"/>
          <p:cNvSpPr/>
          <p:nvPr/>
        </p:nvSpPr>
        <p:spPr>
          <a:xfrm>
            <a:off x="5074920" y="3758184"/>
            <a:ext cx="109728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Zone A (SIS)</a:t>
            </a:r>
            <a:endParaRPr lang="en-US" sz="1100" dirty="0"/>
          </a:p>
        </p:txBody>
      </p:sp>
      <p:sp>
        <p:nvSpPr>
          <p:cNvPr id="29" name="Text 27"/>
          <p:cNvSpPr/>
          <p:nvPr/>
        </p:nvSpPr>
        <p:spPr>
          <a:xfrm>
            <a:off x="5074920" y="4014216"/>
            <a:ext cx="3520440" cy="347472"/>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Safety Instrumented System — target is to stay below SIS thresholds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sp>
      <p:sp>
        <p:nvSpPr>
          <p:cNvPr id="3" name="Text 1"/>
          <p:cNvSpPr/>
          <p:nvPr/>
        </p:nvSpPr>
        <p:spPr>
          <a:xfrm>
            <a:off x="457200" y="137160"/>
            <a:ext cx="45720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Attack Design</a:t>
            </a:r>
            <a:endParaRPr lang="en-US" sz="2800" dirty="0"/>
          </a:p>
        </p:txBody>
      </p:sp>
      <p:sp>
        <p:nvSpPr>
          <p:cNvPr id="4" name="Text 2"/>
          <p:cNvSpPr/>
          <p:nvPr/>
        </p:nvSpPr>
        <p:spPr>
          <a:xfrm>
            <a:off x="457200" y="621792"/>
            <a:ext cx="8229600" cy="274320"/>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Papers #9 (Modbus FCI) + #31 (Constrained Concealment)</a:t>
            </a:r>
            <a:endParaRPr lang="en-US" sz="1200" dirty="0"/>
          </a:p>
        </p:txBody>
      </p:sp>
      <p:sp>
        <p:nvSpPr>
          <p:cNvPr id="5" name="Shape 3"/>
          <p:cNvSpPr/>
          <p:nvPr/>
        </p:nvSpPr>
        <p:spPr>
          <a:xfrm>
            <a:off x="36576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005840"/>
            <a:ext cx="2560320" cy="502920"/>
          </a:xfrm>
          <a:prstGeom prst="rect">
            <a:avLst/>
          </a:prstGeom>
          <a:solidFill>
            <a:srgbClr val="F4A261"/>
          </a:solidFill>
          <a:ln w="12700">
            <a:solidFill>
              <a:srgbClr val="F4A261"/>
            </a:solidFill>
            <a:prstDash val="solid"/>
          </a:ln>
        </p:spPr>
      </p:sp>
      <p:sp>
        <p:nvSpPr>
          <p:cNvPr id="7" name="Text 5"/>
          <p:cNvSpPr/>
          <p:nvPr/>
        </p:nvSpPr>
        <p:spPr>
          <a:xfrm>
            <a:off x="36576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0</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Reconnaissance</a:t>
            </a:r>
            <a:endParaRPr lang="en-US" sz="1300" dirty="0"/>
          </a:p>
        </p:txBody>
      </p:sp>
      <p:sp>
        <p:nvSpPr>
          <p:cNvPr id="8" name="Text 6"/>
          <p:cNvSpPr/>
          <p:nvPr/>
        </p:nvSpPr>
        <p:spPr>
          <a:xfrm>
            <a:off x="50292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Passive Wireshark sniff on</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Modbus TCP port 502.</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Map PLC IPs, register</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addresses, I/O tags.</a:t>
            </a:r>
            <a:endParaRPr lang="en-US" sz="1150" dirty="0"/>
          </a:p>
        </p:txBody>
      </p:sp>
      <p:sp>
        <p:nvSpPr>
          <p:cNvPr id="9" name="Shape 7"/>
          <p:cNvSpPr/>
          <p:nvPr/>
        </p:nvSpPr>
        <p:spPr>
          <a:xfrm>
            <a:off x="2926080" y="2468880"/>
            <a:ext cx="256032" cy="54864"/>
          </a:xfrm>
          <a:prstGeom prst="rect">
            <a:avLst/>
          </a:prstGeom>
          <a:solidFill>
            <a:srgbClr val="8FA3B1"/>
          </a:solidFill>
          <a:ln w="12700">
            <a:solidFill>
              <a:srgbClr val="8FA3B1"/>
            </a:solidFill>
            <a:prstDash val="solid"/>
          </a:ln>
        </p:spPr>
      </p:sp>
      <p:sp>
        <p:nvSpPr>
          <p:cNvPr id="10" name="Text 8"/>
          <p:cNvSpPr/>
          <p:nvPr/>
        </p:nvSpPr>
        <p:spPr>
          <a:xfrm>
            <a:off x="3072384" y="2331720"/>
            <a:ext cx="228600" cy="32004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24612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3246120" y="1005840"/>
            <a:ext cx="2560320" cy="502920"/>
          </a:xfrm>
          <a:prstGeom prst="rect">
            <a:avLst/>
          </a:prstGeom>
          <a:solidFill>
            <a:srgbClr val="E63946"/>
          </a:solidFill>
          <a:ln w="12700">
            <a:solidFill>
              <a:srgbClr val="E63946"/>
            </a:solidFill>
            <a:prstDash val="solid"/>
          </a:ln>
        </p:spPr>
      </p:sp>
      <p:sp>
        <p:nvSpPr>
          <p:cNvPr id="13" name="Text 11"/>
          <p:cNvSpPr/>
          <p:nvPr/>
        </p:nvSpPr>
        <p:spPr>
          <a:xfrm>
            <a:off x="324612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False Command</a:t>
            </a:r>
            <a:endParaRPr lang="en-US" sz="1300" dirty="0"/>
          </a:p>
        </p:txBody>
      </p:sp>
      <p:sp>
        <p:nvSpPr>
          <p:cNvPr id="14" name="Text 12"/>
          <p:cNvSpPr/>
          <p:nvPr/>
        </p:nvSpPr>
        <p:spPr>
          <a:xfrm>
            <a:off x="338328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Inject crafted Modbus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write-coil/register frames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e.g. close MV101, force</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P101 pump OFF.</a:t>
            </a:r>
            <a:endParaRPr lang="en-US" sz="1150" dirty="0"/>
          </a:p>
        </p:txBody>
      </p:sp>
      <p:sp>
        <p:nvSpPr>
          <p:cNvPr id="15" name="Shape 13"/>
          <p:cNvSpPr/>
          <p:nvPr/>
        </p:nvSpPr>
        <p:spPr>
          <a:xfrm>
            <a:off x="5806440" y="2468880"/>
            <a:ext cx="256032" cy="54864"/>
          </a:xfrm>
          <a:prstGeom prst="rect">
            <a:avLst/>
          </a:prstGeom>
          <a:solidFill>
            <a:srgbClr val="8FA3B1"/>
          </a:solidFill>
          <a:ln w="12700">
            <a:solidFill>
              <a:srgbClr val="8FA3B1"/>
            </a:solidFill>
            <a:prstDash val="solid"/>
          </a:ln>
        </p:spPr>
      </p:sp>
      <p:sp>
        <p:nvSpPr>
          <p:cNvPr id="16" name="Text 14"/>
          <p:cNvSpPr/>
          <p:nvPr/>
        </p:nvSpPr>
        <p:spPr>
          <a:xfrm>
            <a:off x="5952744" y="2331720"/>
            <a:ext cx="228600" cy="32004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6126480" y="1005840"/>
            <a:ext cx="2560320" cy="32918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6126480" y="1005840"/>
            <a:ext cx="2560320" cy="502920"/>
          </a:xfrm>
          <a:prstGeom prst="rect">
            <a:avLst/>
          </a:prstGeom>
          <a:solidFill>
            <a:srgbClr val="9B59B6"/>
          </a:solidFill>
          <a:ln w="12700">
            <a:solidFill>
              <a:srgbClr val="9B59B6"/>
            </a:solidFill>
            <a:prstDash val="solid"/>
          </a:ln>
        </p:spPr>
      </p:sp>
      <p:sp>
        <p:nvSpPr>
          <p:cNvPr id="19" name="Text 17"/>
          <p:cNvSpPr/>
          <p:nvPr/>
        </p:nvSpPr>
        <p:spPr>
          <a:xfrm>
            <a:off x="6126480" y="100584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Sensor Spoofing</a:t>
            </a:r>
            <a:endParaRPr lang="en-US" sz="1300" dirty="0"/>
          </a:p>
        </p:txBody>
      </p:sp>
      <p:sp>
        <p:nvSpPr>
          <p:cNvPr id="20" name="Text 18"/>
          <p:cNvSpPr/>
          <p:nvPr/>
        </p:nvSpPr>
        <p:spPr>
          <a:xfrm>
            <a:off x="6263640" y="1627632"/>
            <a:ext cx="2286000" cy="251460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Replay captured legitimate</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responses to SCADA HMI (Paper #9 Algorithm 1).</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Additionally spoof sensor values</a:t>
            </a:r>
            <a:endParaRPr lang="en-US" sz="1150" dirty="0"/>
          </a:p>
          <a:p>
            <a:pPr indent="0" marL="0">
              <a:buNone/>
            </a:pPr>
            <a:r>
              <a:rPr lang="en-US" sz="1150" dirty="0">
                <a:solidFill>
                  <a:srgbClr val="E8EEF4"/>
                </a:solidFill>
                <a:latin typeface="Calibri" pitchFamily="34" charset="0"/>
                <a:ea typeface="Calibri" pitchFamily="34" charset="-122"/>
                <a:cs typeface="Calibri" pitchFamily="34" charset="-120"/>
              </a:rPr>
              <a:t>via adversarial AE to evade ML detectors (Paper #31).</a:t>
            </a:r>
            <a:endParaRPr lang="en-US" sz="1150" dirty="0"/>
          </a:p>
        </p:txBody>
      </p:sp>
      <p:sp>
        <p:nvSpPr>
          <p:cNvPr id="21" name="Shape 19"/>
          <p:cNvSpPr/>
          <p:nvPr/>
        </p:nvSpPr>
        <p:spPr>
          <a:xfrm>
            <a:off x="365760" y="4434840"/>
            <a:ext cx="8412480" cy="5486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365760" y="4434840"/>
            <a:ext cx="73152" cy="548640"/>
          </a:xfrm>
          <a:prstGeom prst="rect">
            <a:avLst/>
          </a:prstGeom>
          <a:solidFill>
            <a:srgbClr val="E63946"/>
          </a:solidFill>
          <a:ln w="12700">
            <a:solidFill>
              <a:srgbClr val="E63946"/>
            </a:solidFill>
            <a:prstDash val="solid"/>
          </a:ln>
        </p:spPr>
      </p:sp>
      <p:sp>
        <p:nvSpPr>
          <p:cNvPr id="23" name="Text 21"/>
          <p:cNvSpPr/>
          <p:nvPr/>
        </p:nvSpPr>
        <p:spPr>
          <a:xfrm>
            <a:off x="594360" y="4434840"/>
            <a:ext cx="8046720" cy="548640"/>
          </a:xfrm>
          <a:prstGeom prst="rect">
            <a:avLst/>
          </a:prstGeom>
          <a:noFill/>
          <a:ln/>
        </p:spPr>
        <p:txBody>
          <a:bodyPr wrap="square" lIns="0" tIns="0" rIns="0" bIns="0" rtlCol="0" anchor="ctr"/>
          <a:lstStyle/>
          <a:p>
            <a:pPr indent="0" marL="0">
              <a:buNone/>
            </a:pPr>
            <a:r>
              <a:rPr lang="en-US" sz="1150" dirty="0">
                <a:solidFill>
                  <a:srgbClr val="E8EEF4"/>
                </a:solidFill>
                <a:latin typeface="Calibri" pitchFamily="34" charset="0"/>
                <a:ea typeface="Calibri" pitchFamily="34" charset="-122"/>
                <a:cs typeface="Calibri" pitchFamily="34" charset="-120"/>
              </a:rPr>
              <a:t>Target:  SWaT P1 (raw water intake) → force MV101 closed + P101 OFF while LIT101 shows normal level  →  starvation of downstream stages P2–P6</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Why Existing Detectors Fail</a:t>
            </a:r>
            <a:endParaRPr lang="en-US" sz="2800" dirty="0"/>
          </a:p>
        </p:txBody>
      </p:sp>
      <p:sp>
        <p:nvSpPr>
          <p:cNvPr id="4" name="Shape 2"/>
          <p:cNvSpPr/>
          <p:nvPr/>
        </p:nvSpPr>
        <p:spPr>
          <a:xfrm>
            <a:off x="365760" y="868680"/>
            <a:ext cx="3931920" cy="406908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868680"/>
            <a:ext cx="64008" cy="4069080"/>
          </a:xfrm>
          <a:prstGeom prst="rect">
            <a:avLst/>
          </a:prstGeom>
          <a:solidFill>
            <a:srgbClr val="E63946"/>
          </a:solidFill>
          <a:ln w="12700">
            <a:solidFill>
              <a:srgbClr val="E63946"/>
            </a:solidFill>
            <a:prstDash val="solid"/>
          </a:ln>
        </p:spPr>
      </p:sp>
      <p:sp>
        <p:nvSpPr>
          <p:cNvPr id="6" name="Text 4"/>
          <p:cNvSpPr/>
          <p:nvPr/>
        </p:nvSpPr>
        <p:spPr>
          <a:xfrm>
            <a:off x="594360" y="960120"/>
            <a:ext cx="3566160" cy="365760"/>
          </a:xfrm>
          <a:prstGeom prst="rect">
            <a:avLst/>
          </a:prstGeom>
          <a:noFill/>
          <a:ln/>
        </p:spPr>
        <p:txBody>
          <a:bodyPr wrap="square" lIns="0" tIns="0" rIns="0" bIns="0" rtlCol="0" anchor="ctr"/>
          <a:lstStyle/>
          <a:p>
            <a:pPr indent="0" marL="0">
              <a:buNone/>
            </a:pPr>
            <a:r>
              <a:rPr lang="en-US" sz="1500" b="1" dirty="0">
                <a:solidFill>
                  <a:srgbClr val="E63946"/>
                </a:solidFill>
                <a:latin typeface="Calibri" pitchFamily="34" charset="0"/>
                <a:ea typeface="Calibri" pitchFamily="34" charset="-122"/>
                <a:cs typeface="Calibri" pitchFamily="34" charset="-120"/>
              </a:rPr>
              <a:t>ML-Only Anomaly Detector</a:t>
            </a:r>
            <a:endParaRPr lang="en-US" sz="1500" dirty="0"/>
          </a:p>
        </p:txBody>
      </p:sp>
      <p:sp>
        <p:nvSpPr>
          <p:cNvPr id="7" name="Text 5"/>
          <p:cNvSpPr/>
          <p:nvPr/>
        </p:nvSpPr>
        <p:spPr>
          <a:xfrm>
            <a:off x="594360" y="1298448"/>
            <a:ext cx="3566160" cy="27432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reconstruction autoencoder)</a:t>
            </a:r>
            <a:endParaRPr lang="en-US" sz="1000" dirty="0"/>
          </a:p>
        </p:txBody>
      </p:sp>
      <p:sp>
        <p:nvSpPr>
          <p:cNvPr id="8" name="Text 6"/>
          <p:cNvSpPr/>
          <p:nvPr/>
        </p:nvSpPr>
        <p:spPr>
          <a:xfrm>
            <a:off x="594360" y="1645920"/>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Learns normal sensor correlations from training data</a:t>
            </a:r>
            <a:endParaRPr lang="en-US" sz="1100" dirty="0"/>
          </a:p>
        </p:txBody>
      </p:sp>
      <p:sp>
        <p:nvSpPr>
          <p:cNvPr id="9" name="Text 7"/>
          <p:cNvSpPr/>
          <p:nvPr/>
        </p:nvSpPr>
        <p:spPr>
          <a:xfrm>
            <a:off x="594360" y="2176272"/>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Paper #31 adversarial autoencoder crafts sensor perturbations that minimise MSE reconstruction error</a:t>
            </a:r>
            <a:endParaRPr lang="en-US" sz="1100" dirty="0"/>
          </a:p>
        </p:txBody>
      </p:sp>
      <p:sp>
        <p:nvSpPr>
          <p:cNvPr id="10" name="Text 8"/>
          <p:cNvSpPr/>
          <p:nvPr/>
        </p:nvSpPr>
        <p:spPr>
          <a:xfrm>
            <a:off x="594360" y="2706624"/>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Black-box attack — no need to know model internals</a:t>
            </a:r>
            <a:endParaRPr lang="en-US" sz="1100" dirty="0"/>
          </a:p>
        </p:txBody>
      </p:sp>
      <p:sp>
        <p:nvSpPr>
          <p:cNvPr id="11" name="Text 9"/>
          <p:cNvSpPr/>
          <p:nvPr/>
        </p:nvSpPr>
        <p:spPr>
          <a:xfrm>
            <a:off x="594360" y="3236976"/>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Operates in milliseconds — meets real-time Modbus constraints</a:t>
            </a:r>
            <a:endParaRPr lang="en-US" sz="1100" dirty="0"/>
          </a:p>
        </p:txBody>
      </p:sp>
      <p:sp>
        <p:nvSpPr>
          <p:cNvPr id="12" name="Text 10"/>
          <p:cNvSpPr/>
          <p:nvPr/>
        </p:nvSpPr>
        <p:spPr>
          <a:xfrm>
            <a:off x="594360" y="3767328"/>
            <a:ext cx="3566160" cy="475488"/>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Detection rate drops to near-zero under constrained concealment</a:t>
            </a:r>
            <a:endParaRPr lang="en-US" sz="1100" dirty="0"/>
          </a:p>
        </p:txBody>
      </p:sp>
      <p:sp>
        <p:nvSpPr>
          <p:cNvPr id="13" name="Shape 11"/>
          <p:cNvSpPr/>
          <p:nvPr/>
        </p:nvSpPr>
        <p:spPr>
          <a:xfrm>
            <a:off x="4663440" y="868680"/>
            <a:ext cx="4114800" cy="406908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4663440" y="868680"/>
            <a:ext cx="64008" cy="4069080"/>
          </a:xfrm>
          <a:prstGeom prst="rect">
            <a:avLst/>
          </a:prstGeom>
          <a:solidFill>
            <a:srgbClr val="2196F3"/>
          </a:solidFill>
          <a:ln w="12700">
            <a:solidFill>
              <a:srgbClr val="2196F3"/>
            </a:solidFill>
            <a:prstDash val="solid"/>
          </a:ln>
        </p:spPr>
      </p:sp>
      <p:sp>
        <p:nvSpPr>
          <p:cNvPr id="15" name="Text 13"/>
          <p:cNvSpPr/>
          <p:nvPr/>
        </p:nvSpPr>
        <p:spPr>
          <a:xfrm>
            <a:off x="4892040" y="960120"/>
            <a:ext cx="3749040" cy="365760"/>
          </a:xfrm>
          <a:prstGeom prst="rect">
            <a:avLst/>
          </a:prstGeom>
          <a:noFill/>
          <a:ln/>
        </p:spPr>
        <p:txBody>
          <a:bodyPr wrap="square" lIns="0" tIns="0" rIns="0" bIns="0" rtlCol="0" anchor="ctr"/>
          <a:lstStyle/>
          <a:p>
            <a:pPr indent="0" marL="0">
              <a:buNone/>
            </a:pPr>
            <a:r>
              <a:rPr lang="en-US" sz="1500" b="1" dirty="0">
                <a:solidFill>
                  <a:srgbClr val="2196F3"/>
                </a:solidFill>
                <a:latin typeface="Calibri" pitchFamily="34" charset="0"/>
                <a:ea typeface="Calibri" pitchFamily="34" charset="-122"/>
                <a:cs typeface="Calibri" pitchFamily="34" charset="-120"/>
              </a:rPr>
              <a:t>Invariant-Only Detector</a:t>
            </a:r>
            <a:endParaRPr lang="en-US" sz="1500" dirty="0"/>
          </a:p>
        </p:txBody>
      </p:sp>
      <p:sp>
        <p:nvSpPr>
          <p:cNvPr id="16" name="Text 14"/>
          <p:cNvSpPr/>
          <p:nvPr/>
        </p:nvSpPr>
        <p:spPr>
          <a:xfrm>
            <a:off x="4892040" y="1298448"/>
            <a:ext cx="3749040" cy="27432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SWaT DAD / Adepu &amp; Mathur)</a:t>
            </a:r>
            <a:endParaRPr lang="en-US" sz="1000" dirty="0"/>
          </a:p>
        </p:txBody>
      </p:sp>
      <p:sp>
        <p:nvSpPr>
          <p:cNvPr id="17" name="Text 15"/>
          <p:cNvSpPr/>
          <p:nvPr/>
        </p:nvSpPr>
        <p:spPr>
          <a:xfrm>
            <a:off x="4892040" y="1645920"/>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Encodes physics-based rules from P&amp;ID (e.g. if P101 ON → FIT101 &gt; threshold)</a:t>
            </a:r>
            <a:endParaRPr lang="en-US" sz="1100" dirty="0"/>
          </a:p>
        </p:txBody>
      </p:sp>
      <p:sp>
        <p:nvSpPr>
          <p:cNvPr id="18" name="Text 16"/>
          <p:cNvSpPr/>
          <p:nvPr/>
        </p:nvSpPr>
        <p:spPr>
          <a:xfrm>
            <a:off x="4892040" y="2176272"/>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Catches gross physical violations but misses low-rate stealthy changes</a:t>
            </a:r>
            <a:endParaRPr lang="en-US" sz="1100" dirty="0"/>
          </a:p>
        </p:txBody>
      </p:sp>
      <p:sp>
        <p:nvSpPr>
          <p:cNvPr id="19" name="Text 17"/>
          <p:cNvSpPr/>
          <p:nvPr/>
        </p:nvSpPr>
        <p:spPr>
          <a:xfrm>
            <a:off x="4892040" y="2706624"/>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AICrit only detected 24/36 attacks in SWaT dataset (Adepu et al.)</a:t>
            </a:r>
            <a:endParaRPr lang="en-US" sz="1100" dirty="0"/>
          </a:p>
        </p:txBody>
      </p:sp>
      <p:sp>
        <p:nvSpPr>
          <p:cNvPr id="20" name="Text 18"/>
          <p:cNvSpPr/>
          <p:nvPr/>
        </p:nvSpPr>
        <p:spPr>
          <a:xfrm>
            <a:off x="4892040" y="3236976"/>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Attacker can stay within invariant bounds by manipulating slowly</a:t>
            </a:r>
            <a:endParaRPr lang="en-US" sz="1100" dirty="0"/>
          </a:p>
        </p:txBody>
      </p:sp>
      <p:sp>
        <p:nvSpPr>
          <p:cNvPr id="21" name="Text 19"/>
          <p:cNvSpPr/>
          <p:nvPr/>
        </p:nvSpPr>
        <p:spPr>
          <a:xfrm>
            <a:off x="4892040" y="3767328"/>
            <a:ext cx="3749040" cy="475488"/>
          </a:xfrm>
          <a:prstGeom prst="rect">
            <a:avLst/>
          </a:prstGeom>
          <a:noFill/>
          <a:ln/>
        </p:spPr>
        <p:txBody>
          <a:bodyPr wrap="square" lIns="0" tIns="0" rIns="0" bIns="0" rtlCol="0" anchor="ctr"/>
          <a:lstStyle/>
          <a:p>
            <a:pPr indent="0" marL="0">
              <a:buNone/>
            </a:pPr>
            <a:r>
              <a:rPr lang="en-US" sz="1100" b="1" dirty="0">
                <a:solidFill>
                  <a:srgbClr val="2196F3"/>
                </a:solidFill>
                <a:latin typeface="Calibri" pitchFamily="34" charset="0"/>
                <a:ea typeface="Calibri" pitchFamily="34" charset="-122"/>
                <a:cs typeface="Calibri" pitchFamily="34" charset="-120"/>
              </a:rPr>
              <a:t xml:space="preserve">✗  </a:t>
            </a:r>
            <a:pPr indent="0" marL="0">
              <a:buNone/>
            </a:pPr>
            <a:r>
              <a:rPr lang="en-US" sz="1100" dirty="0">
                <a:solidFill>
                  <a:srgbClr val="0D1B2A"/>
                </a:solidFill>
                <a:latin typeface="Calibri" pitchFamily="34" charset="0"/>
                <a:ea typeface="Calibri" pitchFamily="34" charset="-122"/>
                <a:cs typeface="Calibri" pitchFamily="34" charset="-120"/>
              </a:rPr>
              <a:t>No ML component means blind to novel multi-sensor coordinated spoofing</a:t>
            </a:r>
            <a:endParaRPr lang="en-US" sz="1100" dirty="0"/>
          </a:p>
        </p:txBody>
      </p:sp>
      <p:sp>
        <p:nvSpPr>
          <p:cNvPr id="22" name="Shape 20"/>
          <p:cNvSpPr/>
          <p:nvPr/>
        </p:nvSpPr>
        <p:spPr>
          <a:xfrm>
            <a:off x="365760" y="5029200"/>
            <a:ext cx="8412480" cy="0"/>
          </a:xfrm>
          <a:prstGeom prst="rect">
            <a:avLst/>
          </a:prstGeom>
          <a:solidFill>
            <a:srgbClr val="2ECC71"/>
          </a:solidFill>
          <a:ln w="12700">
            <a:solidFill>
              <a:srgbClr val="2ECC71"/>
            </a:solidFill>
            <a:prstDash val="solid"/>
          </a:ln>
        </p:spPr>
      </p:sp>
      <p:sp>
        <p:nvSpPr>
          <p:cNvPr id="23" name="Shape 21"/>
          <p:cNvSpPr/>
          <p:nvPr/>
        </p:nvSpPr>
        <p:spPr>
          <a:xfrm>
            <a:off x="365760" y="4983480"/>
            <a:ext cx="8412480" cy="0"/>
          </a:xfrm>
          <a:prstGeom prst="rect">
            <a:avLst/>
          </a:prstGeom>
          <a:solidFill>
            <a:srgbClr val="DFFFD6"/>
          </a:solidFill>
          <a:ln w="12700">
            <a:solidFill>
              <a:srgbClr val="DFFFD6"/>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196F3"/>
          </a:solidFill>
          <a:ln w="12700">
            <a:solidFill>
              <a:srgbClr val="2196F3"/>
            </a:solidFill>
            <a:prstDash val="solid"/>
          </a:ln>
        </p:spPr>
      </p:sp>
      <p:sp>
        <p:nvSpPr>
          <p:cNvPr id="3" name="Text 1"/>
          <p:cNvSpPr/>
          <p:nvPr/>
        </p:nvSpPr>
        <p:spPr>
          <a:xfrm>
            <a:off x="457200" y="137160"/>
            <a:ext cx="45720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Defense Design</a:t>
            </a:r>
            <a:endParaRPr lang="en-US" sz="2800" dirty="0"/>
          </a:p>
        </p:txBody>
      </p:sp>
      <p:sp>
        <p:nvSpPr>
          <p:cNvPr id="4" name="Text 2"/>
          <p:cNvSpPr/>
          <p:nvPr/>
        </p:nvSpPr>
        <p:spPr>
          <a:xfrm>
            <a:off x="457200" y="621792"/>
            <a:ext cx="8229600" cy="274320"/>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Hybrid Invariant + ML Anomaly Detection</a:t>
            </a:r>
            <a:endParaRPr lang="en-US" sz="1200" dirty="0"/>
          </a:p>
        </p:txBody>
      </p:sp>
      <p:sp>
        <p:nvSpPr>
          <p:cNvPr id="5" name="Shape 3"/>
          <p:cNvSpPr/>
          <p:nvPr/>
        </p:nvSpPr>
        <p:spPr>
          <a:xfrm>
            <a:off x="274320" y="1051560"/>
            <a:ext cx="21031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274320" y="1051560"/>
            <a:ext cx="210312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Sensor &amp;</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Actuator Readings</a:t>
            </a:r>
            <a:endParaRPr lang="en-US" sz="1100" dirty="0"/>
          </a:p>
        </p:txBody>
      </p:sp>
      <p:sp>
        <p:nvSpPr>
          <p:cNvPr id="7" name="Text 5"/>
          <p:cNvSpPr/>
          <p:nvPr/>
        </p:nvSpPr>
        <p:spPr>
          <a:xfrm>
            <a:off x="2450592" y="123444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880360" y="1051560"/>
            <a:ext cx="25603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2880360" y="1051560"/>
            <a:ext cx="73152" cy="777240"/>
          </a:xfrm>
          <a:prstGeom prst="rect">
            <a:avLst/>
          </a:prstGeom>
          <a:solidFill>
            <a:srgbClr val="2196F3"/>
          </a:solidFill>
          <a:ln w="12700">
            <a:solidFill>
              <a:srgbClr val="2196F3"/>
            </a:solidFill>
            <a:prstDash val="solid"/>
          </a:ln>
        </p:spPr>
      </p:sp>
      <p:sp>
        <p:nvSpPr>
          <p:cNvPr id="10" name="Text 8"/>
          <p:cNvSpPr/>
          <p:nvPr/>
        </p:nvSpPr>
        <p:spPr>
          <a:xfrm>
            <a:off x="3017520" y="1051560"/>
            <a:ext cx="228600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Process Invariant</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Checker (Physics)</a:t>
            </a:r>
            <a:endParaRPr lang="en-US" sz="1100" dirty="0"/>
          </a:p>
        </p:txBody>
      </p:sp>
      <p:sp>
        <p:nvSpPr>
          <p:cNvPr id="11" name="Text 9"/>
          <p:cNvSpPr/>
          <p:nvPr/>
        </p:nvSpPr>
        <p:spPr>
          <a:xfrm>
            <a:off x="4023360" y="1901952"/>
            <a:ext cx="365760" cy="320040"/>
          </a:xfrm>
          <a:prstGeom prst="rect">
            <a:avLst/>
          </a:prstGeom>
          <a:noFill/>
          <a:ln/>
        </p:spPr>
        <p:txBody>
          <a:bodyPr wrap="square" lIns="0" tIns="0" rIns="0" bIns="0" rtlCol="0" anchor="ctr"/>
          <a:lstStyle/>
          <a:p>
            <a:pPr algn="ctr" indent="0" marL="0">
              <a:buNone/>
            </a:pPr>
            <a:r>
              <a:rPr lang="en-US" sz="1600" dirty="0">
                <a:solidFill>
                  <a:srgbClr val="8FA3B1"/>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74320" y="2148840"/>
            <a:ext cx="21031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274320" y="2148840"/>
            <a:ext cx="73152" cy="777240"/>
          </a:xfrm>
          <a:prstGeom prst="rect">
            <a:avLst/>
          </a:prstGeom>
          <a:solidFill>
            <a:srgbClr val="F4A261"/>
          </a:solidFill>
          <a:ln w="12700">
            <a:solidFill>
              <a:srgbClr val="F4A261"/>
            </a:solidFill>
            <a:prstDash val="solid"/>
          </a:ln>
        </p:spPr>
      </p:sp>
      <p:sp>
        <p:nvSpPr>
          <p:cNvPr id="14" name="Text 12"/>
          <p:cNvSpPr/>
          <p:nvPr/>
        </p:nvSpPr>
        <p:spPr>
          <a:xfrm>
            <a:off x="411480" y="2148840"/>
            <a:ext cx="192024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Reconstruction</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Autoencoder (ML)</a:t>
            </a:r>
            <a:endParaRPr lang="en-US" sz="1100" dirty="0"/>
          </a:p>
        </p:txBody>
      </p:sp>
      <p:sp>
        <p:nvSpPr>
          <p:cNvPr id="15" name="Text 13"/>
          <p:cNvSpPr/>
          <p:nvPr/>
        </p:nvSpPr>
        <p:spPr>
          <a:xfrm>
            <a:off x="2450592" y="233172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2880360" y="2148840"/>
            <a:ext cx="2560320" cy="7772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2880360" y="2148840"/>
            <a:ext cx="73152" cy="777240"/>
          </a:xfrm>
          <a:prstGeom prst="rect">
            <a:avLst/>
          </a:prstGeom>
          <a:solidFill>
            <a:srgbClr val="F4A261"/>
          </a:solidFill>
          <a:ln w="12700">
            <a:solidFill>
              <a:srgbClr val="F4A261"/>
            </a:solidFill>
            <a:prstDash val="solid"/>
          </a:ln>
        </p:spPr>
      </p:sp>
      <p:sp>
        <p:nvSpPr>
          <p:cNvPr id="18" name="Text 16"/>
          <p:cNvSpPr/>
          <p:nvPr/>
        </p:nvSpPr>
        <p:spPr>
          <a:xfrm>
            <a:off x="3017520" y="2148840"/>
            <a:ext cx="2286000" cy="777240"/>
          </a:xfrm>
          <a:prstGeom prst="rect">
            <a:avLst/>
          </a:prstGeom>
          <a:noFill/>
          <a:ln/>
        </p:spPr>
        <p:txBody>
          <a:bodyPr wrap="square" lIns="0" tIns="0" rIns="0" bIns="0"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Decision Fusion</a:t>
            </a:r>
            <a:endParaRPr lang="en-US" sz="1100" dirty="0"/>
          </a:p>
          <a:p>
            <a:pPr algn="ctr" indent="0" marL="0">
              <a:buNone/>
            </a:pPr>
            <a:r>
              <a:rPr lang="en-US" sz="1100" dirty="0">
                <a:solidFill>
                  <a:srgbClr val="E8EEF4"/>
                </a:solidFill>
                <a:latin typeface="Calibri" pitchFamily="34" charset="0"/>
                <a:ea typeface="Calibri" pitchFamily="34" charset="-122"/>
                <a:cs typeface="Calibri" pitchFamily="34" charset="-120"/>
              </a:rPr>
              <a:t>(AND / weighted vote)</a:t>
            </a:r>
            <a:endParaRPr lang="en-US" sz="1100" dirty="0"/>
          </a:p>
        </p:txBody>
      </p:sp>
      <p:sp>
        <p:nvSpPr>
          <p:cNvPr id="19" name="Text 17"/>
          <p:cNvSpPr/>
          <p:nvPr/>
        </p:nvSpPr>
        <p:spPr>
          <a:xfrm>
            <a:off x="5513832" y="2331720"/>
            <a:ext cx="365760" cy="411480"/>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5943600" y="2148840"/>
            <a:ext cx="2651760" cy="777240"/>
          </a:xfrm>
          <a:prstGeom prst="rect">
            <a:avLst/>
          </a:prstGeom>
          <a:solidFill>
            <a:srgbClr val="E63946"/>
          </a:solidFill>
          <a:ln w="12700">
            <a:solidFill>
              <a:srgbClr val="E63946"/>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5943600" y="2148840"/>
            <a:ext cx="26517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ALERT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Trigger Recovery</a:t>
            </a:r>
            <a:endParaRPr lang="en-US" sz="1300" dirty="0"/>
          </a:p>
        </p:txBody>
      </p:sp>
      <p:sp>
        <p:nvSpPr>
          <p:cNvPr id="22" name="Text 20"/>
          <p:cNvSpPr/>
          <p:nvPr/>
        </p:nvSpPr>
        <p:spPr>
          <a:xfrm>
            <a:off x="274320" y="3108960"/>
            <a:ext cx="8595360" cy="320040"/>
          </a:xfrm>
          <a:prstGeom prst="rect">
            <a:avLst/>
          </a:prstGeom>
          <a:noFill/>
          <a:ln/>
        </p:spPr>
        <p:txBody>
          <a:bodyPr wrap="square" lIns="0" tIns="0" rIns="0" bIns="0" rtlCol="0" anchor="ctr"/>
          <a:lstStyle/>
          <a:p>
            <a:pPr indent="0" marL="0">
              <a:buNone/>
            </a:pPr>
            <a:r>
              <a:rPr lang="en-US" sz="1300" b="1" dirty="0">
                <a:solidFill>
                  <a:srgbClr val="2196F3"/>
                </a:solidFill>
                <a:latin typeface="Calibri" pitchFamily="34" charset="0"/>
                <a:ea typeface="Calibri" pitchFamily="34" charset="-122"/>
                <a:cs typeface="Calibri" pitchFamily="34" charset="-120"/>
              </a:rPr>
              <a:t>Example Invariants for P1:</a:t>
            </a:r>
            <a:endParaRPr lang="en-US" sz="1300" dirty="0"/>
          </a:p>
        </p:txBody>
      </p:sp>
      <p:sp>
        <p:nvSpPr>
          <p:cNvPr id="23" name="Shape 21"/>
          <p:cNvSpPr/>
          <p:nvPr/>
        </p:nvSpPr>
        <p:spPr>
          <a:xfrm>
            <a:off x="274320" y="3520440"/>
            <a:ext cx="8595360" cy="420624"/>
          </a:xfrm>
          <a:prstGeom prst="rect">
            <a:avLst/>
          </a:prstGeom>
          <a:solidFill>
            <a:srgbClr val="1B3A5C"/>
          </a:solidFill>
          <a:ln w="12700">
            <a:solidFill>
              <a:srgbClr val="1B3A5C"/>
            </a:solidFill>
            <a:prstDash val="solid"/>
          </a:ln>
        </p:spPr>
      </p:sp>
      <p:sp>
        <p:nvSpPr>
          <p:cNvPr id="24" name="Text 22"/>
          <p:cNvSpPr/>
          <p:nvPr/>
        </p:nvSpPr>
        <p:spPr>
          <a:xfrm>
            <a:off x="457200" y="3520440"/>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MV101=OPEN  AND  P101=ON  THEN  FIT101 &gt; 0.4 m³/h  within 10s</a:t>
            </a:r>
            <a:endParaRPr lang="en-US" sz="1050" dirty="0"/>
          </a:p>
        </p:txBody>
      </p:sp>
      <p:sp>
        <p:nvSpPr>
          <p:cNvPr id="25" name="Shape 23"/>
          <p:cNvSpPr/>
          <p:nvPr/>
        </p:nvSpPr>
        <p:spPr>
          <a:xfrm>
            <a:off x="274320" y="4014216"/>
            <a:ext cx="8595360" cy="420624"/>
          </a:xfrm>
          <a:prstGeom prst="rect">
            <a:avLst/>
          </a:prstGeom>
          <a:solidFill>
            <a:srgbClr val="1B3A5C"/>
          </a:solidFill>
          <a:ln w="12700">
            <a:solidFill>
              <a:srgbClr val="1B3A5C"/>
            </a:solidFill>
            <a:prstDash val="solid"/>
          </a:ln>
        </p:spPr>
      </p:sp>
      <p:sp>
        <p:nvSpPr>
          <p:cNvPr id="26" name="Text 24"/>
          <p:cNvSpPr/>
          <p:nvPr/>
        </p:nvSpPr>
        <p:spPr>
          <a:xfrm>
            <a:off x="457200" y="4014216"/>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LIT101 &lt; LOW_THRESHOLD  THEN  P101=OFF  (tank protection invariant)</a:t>
            </a:r>
            <a:endParaRPr lang="en-US" sz="1050" dirty="0"/>
          </a:p>
        </p:txBody>
      </p:sp>
      <p:sp>
        <p:nvSpPr>
          <p:cNvPr id="27" name="Shape 25"/>
          <p:cNvSpPr/>
          <p:nvPr/>
        </p:nvSpPr>
        <p:spPr>
          <a:xfrm>
            <a:off x="274320" y="4507992"/>
            <a:ext cx="8595360" cy="420624"/>
          </a:xfrm>
          <a:prstGeom prst="rect">
            <a:avLst/>
          </a:prstGeom>
          <a:solidFill>
            <a:srgbClr val="1B3A5C"/>
          </a:solidFill>
          <a:ln w="12700">
            <a:solidFill>
              <a:srgbClr val="1B3A5C"/>
            </a:solidFill>
            <a:prstDash val="solid"/>
          </a:ln>
        </p:spPr>
      </p:sp>
      <p:sp>
        <p:nvSpPr>
          <p:cNvPr id="28" name="Text 26"/>
          <p:cNvSpPr/>
          <p:nvPr/>
        </p:nvSpPr>
        <p:spPr>
          <a:xfrm>
            <a:off x="457200" y="4507992"/>
            <a:ext cx="8321040" cy="420624"/>
          </a:xfrm>
          <a:prstGeom prst="rect">
            <a:avLst/>
          </a:prstGeom>
          <a:noFill/>
          <a:ln/>
        </p:spPr>
        <p:txBody>
          <a:bodyPr wrap="square" lIns="0" tIns="0" rIns="0" bIns="0" rtlCol="0" anchor="ctr"/>
          <a:lstStyle/>
          <a:p>
            <a:pPr indent="0" marL="0">
              <a:buNone/>
            </a:pPr>
            <a:r>
              <a:rPr lang="en-US" sz="1050" dirty="0">
                <a:solidFill>
                  <a:srgbClr val="F4A261"/>
                </a:solidFill>
                <a:latin typeface="Consolas" pitchFamily="34" charset="0"/>
                <a:ea typeface="Consolas" pitchFamily="34" charset="-122"/>
                <a:cs typeface="Consolas" pitchFamily="34" charset="-120"/>
              </a:rPr>
              <a:t>IF  P101=OFF  AND  MV101=CLOSED  THEN  LIT101_rate_of_change ≈ 0  (no spurious flow)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Recovery Design</a:t>
            </a:r>
            <a:endParaRPr lang="en-US" sz="2800" dirty="0"/>
          </a:p>
        </p:txBody>
      </p:sp>
      <p:sp>
        <p:nvSpPr>
          <p:cNvPr id="4" name="Shape 2"/>
          <p:cNvSpPr/>
          <p:nvPr/>
        </p:nvSpPr>
        <p:spPr>
          <a:xfrm>
            <a:off x="22860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960120"/>
            <a:ext cx="1554480" cy="548640"/>
          </a:xfrm>
          <a:prstGeom prst="rect">
            <a:avLst/>
          </a:prstGeom>
          <a:solidFill>
            <a:srgbClr val="E63946"/>
          </a:solidFill>
          <a:ln w="12700">
            <a:solidFill>
              <a:srgbClr val="E63946"/>
            </a:solidFill>
            <a:prstDash val="solid"/>
          </a:ln>
        </p:spPr>
      </p:sp>
      <p:sp>
        <p:nvSpPr>
          <p:cNvPr id="6" name="Text 4"/>
          <p:cNvSpPr/>
          <p:nvPr/>
        </p:nvSpPr>
        <p:spPr>
          <a:xfrm>
            <a:off x="22860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320040" y="1600200"/>
            <a:ext cx="1371600" cy="365760"/>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Detect</a:t>
            </a:r>
            <a:endParaRPr lang="en-US" sz="1300" dirty="0"/>
          </a:p>
        </p:txBody>
      </p:sp>
      <p:sp>
        <p:nvSpPr>
          <p:cNvPr id="8" name="Text 6"/>
          <p:cNvSpPr/>
          <p:nvPr/>
        </p:nvSpPr>
        <p:spPr>
          <a:xfrm>
            <a:off x="32004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Hybrid detector raises alert. Affected P-stage and compromised sensors identified.</a:t>
            </a:r>
            <a:endParaRPr lang="en-US" sz="1050" dirty="0"/>
          </a:p>
        </p:txBody>
      </p:sp>
      <p:sp>
        <p:nvSpPr>
          <p:cNvPr id="9" name="Text 7"/>
          <p:cNvSpPr/>
          <p:nvPr/>
        </p:nvSpPr>
        <p:spPr>
          <a:xfrm>
            <a:off x="178308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196596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1965960" y="960120"/>
            <a:ext cx="1554480" cy="548640"/>
          </a:xfrm>
          <a:prstGeom prst="rect">
            <a:avLst/>
          </a:prstGeom>
          <a:solidFill>
            <a:srgbClr val="F4A261"/>
          </a:solidFill>
          <a:ln w="12700">
            <a:solidFill>
              <a:srgbClr val="F4A261"/>
            </a:solidFill>
            <a:prstDash val="solid"/>
          </a:ln>
        </p:spPr>
      </p:sp>
      <p:sp>
        <p:nvSpPr>
          <p:cNvPr id="12" name="Text 10"/>
          <p:cNvSpPr/>
          <p:nvPr/>
        </p:nvSpPr>
        <p:spPr>
          <a:xfrm>
            <a:off x="196596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057400" y="1600200"/>
            <a:ext cx="1371600" cy="36576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Contain</a:t>
            </a:r>
            <a:endParaRPr lang="en-US" sz="1300" dirty="0"/>
          </a:p>
        </p:txBody>
      </p:sp>
      <p:sp>
        <p:nvSpPr>
          <p:cNvPr id="14" name="Text 12"/>
          <p:cNvSpPr/>
          <p:nvPr/>
        </p:nvSpPr>
        <p:spPr>
          <a:xfrm>
            <a:off x="205740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Block malicious Modbus frames at network layer. Isolate compromised PLC channel.</a:t>
            </a:r>
            <a:endParaRPr lang="en-US" sz="1050" dirty="0"/>
          </a:p>
        </p:txBody>
      </p:sp>
      <p:sp>
        <p:nvSpPr>
          <p:cNvPr id="15" name="Text 13"/>
          <p:cNvSpPr/>
          <p:nvPr/>
        </p:nvSpPr>
        <p:spPr>
          <a:xfrm>
            <a:off x="352044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70332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3703320" y="960120"/>
            <a:ext cx="1554480" cy="548640"/>
          </a:xfrm>
          <a:prstGeom prst="rect">
            <a:avLst/>
          </a:prstGeom>
          <a:solidFill>
            <a:srgbClr val="9B59B6"/>
          </a:solidFill>
          <a:ln w="12700">
            <a:solidFill>
              <a:srgbClr val="9B59B6"/>
            </a:solidFill>
            <a:prstDash val="solid"/>
          </a:ln>
        </p:spPr>
      </p:sp>
      <p:sp>
        <p:nvSpPr>
          <p:cNvPr id="18" name="Text 16"/>
          <p:cNvSpPr/>
          <p:nvPr/>
        </p:nvSpPr>
        <p:spPr>
          <a:xfrm>
            <a:off x="370332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3794760" y="1600200"/>
            <a:ext cx="1371600" cy="365760"/>
          </a:xfrm>
          <a:prstGeom prst="rect">
            <a:avLst/>
          </a:prstGeom>
          <a:noFill/>
          <a:ln/>
        </p:spPr>
        <p:txBody>
          <a:bodyPr wrap="square" lIns="0" tIns="0" rIns="0" bIns="0" rtlCol="0" anchor="ctr"/>
          <a:lstStyle/>
          <a:p>
            <a:pPr indent="0" marL="0">
              <a:buNone/>
            </a:pPr>
            <a:r>
              <a:rPr lang="en-US" sz="1300" b="1" dirty="0">
                <a:solidFill>
                  <a:srgbClr val="9B59B6"/>
                </a:solidFill>
                <a:latin typeface="Calibri" pitchFamily="34" charset="0"/>
                <a:ea typeface="Calibri" pitchFamily="34" charset="-122"/>
                <a:cs typeface="Calibri" pitchFamily="34" charset="-120"/>
              </a:rPr>
              <a:t>Safe State</a:t>
            </a:r>
            <a:endParaRPr lang="en-US" sz="1300" dirty="0"/>
          </a:p>
        </p:txBody>
      </p:sp>
      <p:sp>
        <p:nvSpPr>
          <p:cNvPr id="20" name="Text 18"/>
          <p:cNvSpPr/>
          <p:nvPr/>
        </p:nvSpPr>
        <p:spPr>
          <a:xfrm>
            <a:off x="379476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Transition affected stage to pre-defined safe config. Fail-safe valve/pump positions per P&amp;ID.</a:t>
            </a:r>
            <a:endParaRPr lang="en-US" sz="1050" dirty="0"/>
          </a:p>
        </p:txBody>
      </p:sp>
      <p:sp>
        <p:nvSpPr>
          <p:cNvPr id="21" name="Text 19"/>
          <p:cNvSpPr/>
          <p:nvPr/>
        </p:nvSpPr>
        <p:spPr>
          <a:xfrm>
            <a:off x="525780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4068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3" name="Shape 21"/>
          <p:cNvSpPr/>
          <p:nvPr/>
        </p:nvSpPr>
        <p:spPr>
          <a:xfrm>
            <a:off x="5440680" y="960120"/>
            <a:ext cx="1554480" cy="548640"/>
          </a:xfrm>
          <a:prstGeom prst="rect">
            <a:avLst/>
          </a:prstGeom>
          <a:solidFill>
            <a:srgbClr val="2196F3"/>
          </a:solidFill>
          <a:ln w="12700">
            <a:solidFill>
              <a:srgbClr val="2196F3"/>
            </a:solidFill>
            <a:prstDash val="solid"/>
          </a:ln>
        </p:spPr>
      </p:sp>
      <p:sp>
        <p:nvSpPr>
          <p:cNvPr id="24" name="Text 22"/>
          <p:cNvSpPr/>
          <p:nvPr/>
        </p:nvSpPr>
        <p:spPr>
          <a:xfrm>
            <a:off x="544068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5532120" y="1600200"/>
            <a:ext cx="1371600" cy="365760"/>
          </a:xfrm>
          <a:prstGeom prst="rect">
            <a:avLst/>
          </a:prstGeom>
          <a:noFill/>
          <a:ln/>
        </p:spPr>
        <p:txBody>
          <a:bodyPr wrap="square" lIns="0" tIns="0" rIns="0" bIns="0" rtlCol="0" anchor="ctr"/>
          <a:lstStyle/>
          <a:p>
            <a:pPr indent="0" marL="0">
              <a:buNone/>
            </a:pPr>
            <a:r>
              <a:rPr lang="en-US" sz="1300" b="1" dirty="0">
                <a:solidFill>
                  <a:srgbClr val="2196F3"/>
                </a:solidFill>
                <a:latin typeface="Calibri" pitchFamily="34" charset="0"/>
                <a:ea typeface="Calibri" pitchFamily="34" charset="-122"/>
                <a:cs typeface="Calibri" pitchFamily="34" charset="-120"/>
              </a:rPr>
              <a:t>Failover</a:t>
            </a:r>
            <a:endParaRPr lang="en-US" sz="1300" dirty="0"/>
          </a:p>
        </p:txBody>
      </p:sp>
      <p:sp>
        <p:nvSpPr>
          <p:cNvPr id="26" name="Text 24"/>
          <p:cNvSpPr/>
          <p:nvPr/>
        </p:nvSpPr>
        <p:spPr>
          <a:xfrm>
            <a:off x="553212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Hot-standby PLC takes over. Switches to local sensor reads, bypasses compromised network path.</a:t>
            </a:r>
            <a:endParaRPr lang="en-US" sz="1050" dirty="0"/>
          </a:p>
        </p:txBody>
      </p:sp>
      <p:sp>
        <p:nvSpPr>
          <p:cNvPr id="27" name="Text 25"/>
          <p:cNvSpPr/>
          <p:nvPr/>
        </p:nvSpPr>
        <p:spPr>
          <a:xfrm>
            <a:off x="6995160" y="2331720"/>
            <a:ext cx="201168" cy="365760"/>
          </a:xfrm>
          <a:prstGeom prst="rect">
            <a:avLst/>
          </a:prstGeom>
          <a:noFill/>
          <a:ln/>
        </p:spPr>
        <p:txBody>
          <a:bodyPr wrap="square" lIns="0" tIns="0" rIns="0" bIns="0" rtlCol="0" anchor="ctr"/>
          <a:lstStyle/>
          <a:p>
            <a:pPr algn="ctr" indent="0" marL="0">
              <a:buNone/>
            </a:pPr>
            <a:r>
              <a:rPr lang="en-US" sz="1400" dirty="0">
                <a:solidFill>
                  <a:srgbClr val="8FA3B1"/>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178040" y="960120"/>
            <a:ext cx="1554480" cy="3474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9" name="Shape 27"/>
          <p:cNvSpPr/>
          <p:nvPr/>
        </p:nvSpPr>
        <p:spPr>
          <a:xfrm>
            <a:off x="7178040" y="960120"/>
            <a:ext cx="1554480" cy="548640"/>
          </a:xfrm>
          <a:prstGeom prst="rect">
            <a:avLst/>
          </a:prstGeom>
          <a:solidFill>
            <a:srgbClr val="2ECC71"/>
          </a:solidFill>
          <a:ln w="12700">
            <a:solidFill>
              <a:srgbClr val="2ECC71"/>
            </a:solidFill>
            <a:prstDash val="solid"/>
          </a:ln>
        </p:spPr>
      </p:sp>
      <p:sp>
        <p:nvSpPr>
          <p:cNvPr id="30" name="Text 28"/>
          <p:cNvSpPr/>
          <p:nvPr/>
        </p:nvSpPr>
        <p:spPr>
          <a:xfrm>
            <a:off x="7178040" y="960120"/>
            <a:ext cx="155448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1" name="Text 29"/>
          <p:cNvSpPr/>
          <p:nvPr/>
        </p:nvSpPr>
        <p:spPr>
          <a:xfrm>
            <a:off x="7269480" y="1600200"/>
            <a:ext cx="1371600" cy="36576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Verify &amp; Resume</a:t>
            </a:r>
            <a:endParaRPr lang="en-US" sz="1300" dirty="0"/>
          </a:p>
        </p:txBody>
      </p:sp>
      <p:sp>
        <p:nvSpPr>
          <p:cNvPr id="32" name="Text 30"/>
          <p:cNvSpPr/>
          <p:nvPr/>
        </p:nvSpPr>
        <p:spPr>
          <a:xfrm>
            <a:off x="7269480" y="2011680"/>
            <a:ext cx="1371600" cy="22860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Cross-validate sensors via invariant model. Gradually restore normal operation stage-by-stage.</a:t>
            </a:r>
            <a:endParaRPr lang="en-US" sz="1050" dirty="0"/>
          </a:p>
        </p:txBody>
      </p:sp>
      <p:sp>
        <p:nvSpPr>
          <p:cNvPr id="33" name="Text 31"/>
          <p:cNvSpPr/>
          <p:nvPr/>
        </p:nvSpPr>
        <p:spPr>
          <a:xfrm>
            <a:off x="365760" y="4572000"/>
            <a:ext cx="4572000" cy="32004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SWaT Safe State Configuration (per stage):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4937760"/>
          <a:ext cx="8412480" cy="1371600"/>
        </p:xfrm>
        <a:graphic>
          <a:graphicData uri="http://schemas.openxmlformats.org/drawingml/2006/table">
            <a:tbl>
              <a:tblPr/>
              <a:tblGrid>
                <a:gridCol w="2103120"/>
                <a:gridCol w="3154680"/>
                <a:gridCol w="3154680"/>
              </a:tblGrid>
              <a:tr h="274320">
                <a:tc>
                  <a:txBody>
                    <a:bodyPr/>
                    <a:lstStyle/>
                    <a:p>
                      <a:pPr indent="0" marL="0">
                        <a:buNone/>
                      </a:pPr>
                      <a:r>
                        <a:rPr lang="en-US" sz="1000" b="1" dirty="0">
                          <a:solidFill>
                            <a:srgbClr val="FFFFFF"/>
                          </a:solidFill>
                        </a:rPr>
                        <a:t>Stage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Safe Valve State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Safe Pump State</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solidFill>
                      <a:srgbClr val="0D1B2A"/>
                    </a:solidFill>
                  </a:tcPr>
                </a:tc>
              </a:tr>
              <a:tr h="274320">
                <a:tc>
                  <a:txBody>
                    <a:bodyPr/>
                    <a:lstStyle/>
                    <a:p>
                      <a:pPr indent="0" marL="0">
                        <a:buNone/>
                      </a:pPr>
                      <a:r>
                        <a:rPr lang="en-US" sz="1000" dirty="0">
                          <a:solidFill>
                            <a:srgbClr val="000000"/>
                          </a:solidFill>
                        </a:rPr>
                        <a:t>P1 – Raw Water</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MV101: CLOSED</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P101: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P2 – Pre-Treatment</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P201–P206: ALL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P102: OFF (P1 backup pump)</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P3 – Ultrafiltration</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MV301: CLOSED</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P301/302: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r h="274320">
                <a:tc>
                  <a:txBody>
                    <a:bodyPr/>
                    <a:lstStyle/>
                    <a:p>
                      <a:pPr indent="0" marL="0">
                        <a:buNone/>
                      </a:pPr>
                      <a:r>
                        <a:rPr lang="en-US" sz="1000" dirty="0">
                          <a:solidFill>
                            <a:srgbClr val="000000"/>
                          </a:solidFill>
                        </a:rPr>
                        <a:t>P4 – De-chlorination / P6 – RO</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UV401: OFF / P602: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c>
                  <a:txBody>
                    <a:bodyPr/>
                    <a:lstStyle/>
                    <a:p>
                      <a:pPr indent="0" marL="0">
                        <a:buNone/>
                      </a:pPr>
                      <a:r>
                        <a:rPr lang="en-US" sz="1000" dirty="0">
                          <a:solidFill>
                            <a:srgbClr val="000000"/>
                          </a:solidFill>
                        </a:rPr>
                        <a:t>Hold / RO pump OFF</a:t>
                      </a:r>
                      <a:endParaRPr lang="en-US" sz="1000" dirty="0"/>
                    </a:p>
                  </a:txBody>
                  <a:tcPr marL="91440" marR="91440" marT="45720" marB="45720">
                    <a:lnL w="6350" cap="flat" cmpd="sng" algn="ctr">
                      <a:solidFill>
                        <a:srgbClr val="C9D6DF"/>
                      </a:solidFill>
                      <a:prstDash val="solid"/>
                      <a:round/>
                      <a:headEnd type="none" w="med" len="med"/>
                      <a:tailEnd type="none" w="med" len="med"/>
                    </a:lnL>
                    <a:lnR w="6350" cap="flat" cmpd="sng" algn="ctr">
                      <a:solidFill>
                        <a:srgbClr val="C9D6DF"/>
                      </a:solidFill>
                      <a:prstDash val="solid"/>
                      <a:round/>
                      <a:headEnd type="none" w="med" len="med"/>
                      <a:tailEnd type="none" w="med" len="med"/>
                    </a:lnR>
                    <a:lnT w="6350" cap="flat" cmpd="sng" algn="ctr">
                      <a:solidFill>
                        <a:srgbClr val="C9D6DF"/>
                      </a:solidFill>
                      <a:prstDash val="solid"/>
                      <a:round/>
                      <a:headEnd type="none" w="med" len="med"/>
                      <a:tailEnd type="none" w="med" len="med"/>
                    </a:lnT>
                    <a:lnB w="6350" cap="flat" cmpd="sng" algn="ctr">
                      <a:solidFill>
                        <a:srgbClr val="C9D6D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Implementation Plan</a:t>
            </a:r>
            <a:endParaRPr lang="en-US" sz="2800" dirty="0"/>
          </a:p>
        </p:txBody>
      </p:sp>
      <p:sp>
        <p:nvSpPr>
          <p:cNvPr id="4" name="Shape 2"/>
          <p:cNvSpPr/>
          <p:nvPr/>
        </p:nvSpPr>
        <p:spPr>
          <a:xfrm>
            <a:off x="365760" y="777240"/>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777240"/>
            <a:ext cx="1463040" cy="1280160"/>
          </a:xfrm>
          <a:prstGeom prst="rect">
            <a:avLst/>
          </a:prstGeom>
          <a:solidFill>
            <a:srgbClr val="E63946"/>
          </a:solidFill>
          <a:ln w="12700">
            <a:solidFill>
              <a:srgbClr val="E63946"/>
            </a:solidFill>
            <a:prstDash val="solid"/>
          </a:ln>
        </p:spPr>
      </p:sp>
      <p:sp>
        <p:nvSpPr>
          <p:cNvPr id="6" name="Text 4"/>
          <p:cNvSpPr/>
          <p:nvPr/>
        </p:nvSpPr>
        <p:spPr>
          <a:xfrm>
            <a:off x="365760" y="850392"/>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9–10</a:t>
            </a:r>
            <a:endParaRPr lang="en-US" sz="1000" dirty="0"/>
          </a:p>
        </p:txBody>
      </p:sp>
      <p:sp>
        <p:nvSpPr>
          <p:cNvPr id="7" name="Text 5"/>
          <p:cNvSpPr/>
          <p:nvPr/>
        </p:nvSpPr>
        <p:spPr>
          <a:xfrm>
            <a:off x="365760" y="1161288"/>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1: Setup &amp; Attack</a:t>
            </a:r>
            <a:endParaRPr lang="en-US" sz="1200" dirty="0"/>
          </a:p>
        </p:txBody>
      </p:sp>
      <p:sp>
        <p:nvSpPr>
          <p:cNvPr id="8" name="Text 6"/>
          <p:cNvSpPr/>
          <p:nvPr/>
        </p:nvSpPr>
        <p:spPr>
          <a:xfrm>
            <a:off x="2011680" y="82296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Deploy Wireshark on SWaT Level 1/2 switch mirror port</a:t>
            </a:r>
            <a:endParaRPr lang="en-US" sz="950" dirty="0"/>
          </a:p>
        </p:txBody>
      </p:sp>
      <p:sp>
        <p:nvSpPr>
          <p:cNvPr id="9" name="Text 7"/>
          <p:cNvSpPr/>
          <p:nvPr/>
        </p:nvSpPr>
        <p:spPr>
          <a:xfrm>
            <a:off x="2011680" y="106070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Map Modbus register addresses for P1 actuators (MV101, P101)</a:t>
            </a:r>
            <a:endParaRPr lang="en-US" sz="950" dirty="0"/>
          </a:p>
        </p:txBody>
      </p:sp>
      <p:sp>
        <p:nvSpPr>
          <p:cNvPr id="10" name="Text 8"/>
          <p:cNvSpPr/>
          <p:nvPr/>
        </p:nvSpPr>
        <p:spPr>
          <a:xfrm>
            <a:off x="2011680" y="129844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Python-based Modbus injection script (port 502)</a:t>
            </a:r>
            <a:endParaRPr lang="en-US" sz="950" dirty="0"/>
          </a:p>
        </p:txBody>
      </p:sp>
      <p:sp>
        <p:nvSpPr>
          <p:cNvPr id="11" name="Text 9"/>
          <p:cNvSpPr/>
          <p:nvPr/>
        </p:nvSpPr>
        <p:spPr>
          <a:xfrm>
            <a:off x="2011680" y="153619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Verify false commands reach PLC — confirm physical effect on SWaT</a:t>
            </a:r>
            <a:endParaRPr lang="en-US" sz="950" dirty="0"/>
          </a:p>
        </p:txBody>
      </p:sp>
      <p:sp>
        <p:nvSpPr>
          <p:cNvPr id="12" name="Text 10"/>
          <p:cNvSpPr/>
          <p:nvPr/>
        </p:nvSpPr>
        <p:spPr>
          <a:xfrm>
            <a:off x="2011680" y="17739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Capture baseline sensor timeseries for autoencoder training</a:t>
            </a:r>
            <a:endParaRPr lang="en-US" sz="950" dirty="0"/>
          </a:p>
        </p:txBody>
      </p:sp>
      <p:sp>
        <p:nvSpPr>
          <p:cNvPr id="13" name="Shape 11"/>
          <p:cNvSpPr/>
          <p:nvPr/>
        </p:nvSpPr>
        <p:spPr>
          <a:xfrm>
            <a:off x="365760" y="2167128"/>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365760" y="2167128"/>
            <a:ext cx="1463040" cy="1280160"/>
          </a:xfrm>
          <a:prstGeom prst="rect">
            <a:avLst/>
          </a:prstGeom>
          <a:solidFill>
            <a:srgbClr val="2196F3"/>
          </a:solidFill>
          <a:ln w="12700">
            <a:solidFill>
              <a:srgbClr val="2196F3"/>
            </a:solidFill>
            <a:prstDash val="solid"/>
          </a:ln>
        </p:spPr>
      </p:sp>
      <p:sp>
        <p:nvSpPr>
          <p:cNvPr id="15" name="Text 13"/>
          <p:cNvSpPr/>
          <p:nvPr/>
        </p:nvSpPr>
        <p:spPr>
          <a:xfrm>
            <a:off x="365760" y="2240280"/>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11</a:t>
            </a:r>
            <a:endParaRPr lang="en-US" sz="1000" dirty="0"/>
          </a:p>
        </p:txBody>
      </p:sp>
      <p:sp>
        <p:nvSpPr>
          <p:cNvPr id="16" name="Text 14"/>
          <p:cNvSpPr/>
          <p:nvPr/>
        </p:nvSpPr>
        <p:spPr>
          <a:xfrm>
            <a:off x="365760" y="2551176"/>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2: Evasion &amp; Defense</a:t>
            </a:r>
            <a:endParaRPr lang="en-US" sz="1200" dirty="0"/>
          </a:p>
        </p:txBody>
      </p:sp>
      <p:sp>
        <p:nvSpPr>
          <p:cNvPr id="17" name="Text 15"/>
          <p:cNvSpPr/>
          <p:nvPr/>
        </p:nvSpPr>
        <p:spPr>
          <a:xfrm>
            <a:off x="2011680" y="221284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Train reconstruction autoencoder on SWaT normal operation data</a:t>
            </a:r>
            <a:endParaRPr lang="en-US" sz="950" dirty="0"/>
          </a:p>
        </p:txBody>
      </p:sp>
      <p:sp>
        <p:nvSpPr>
          <p:cNvPr id="18" name="Text 16"/>
          <p:cNvSpPr/>
          <p:nvPr/>
        </p:nvSpPr>
        <p:spPr>
          <a:xfrm>
            <a:off x="2011680" y="245059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adversarial perturbation (Paper #31 learning-based method)</a:t>
            </a:r>
            <a:endParaRPr lang="en-US" sz="950" dirty="0"/>
          </a:p>
        </p:txBody>
      </p:sp>
      <p:sp>
        <p:nvSpPr>
          <p:cNvPr id="19" name="Text 17"/>
          <p:cNvSpPr/>
          <p:nvPr/>
        </p:nvSpPr>
        <p:spPr>
          <a:xfrm>
            <a:off x="2011680" y="26883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Verify attack evades standalone ML detector</a:t>
            </a:r>
            <a:endParaRPr lang="en-US" sz="950" dirty="0"/>
          </a:p>
        </p:txBody>
      </p:sp>
      <p:sp>
        <p:nvSpPr>
          <p:cNvPr id="20" name="Text 18"/>
          <p:cNvSpPr/>
          <p:nvPr/>
        </p:nvSpPr>
        <p:spPr>
          <a:xfrm>
            <a:off x="2011680" y="292608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Derive process invariants for P1–P3 from SWaT P&amp;ID</a:t>
            </a:r>
            <a:endParaRPr lang="en-US" sz="950" dirty="0"/>
          </a:p>
        </p:txBody>
      </p:sp>
      <p:sp>
        <p:nvSpPr>
          <p:cNvPr id="21" name="Text 19"/>
          <p:cNvSpPr/>
          <p:nvPr/>
        </p:nvSpPr>
        <p:spPr>
          <a:xfrm>
            <a:off x="2011680" y="316382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invariant checker + combine with autoencoder (decision fusion)</a:t>
            </a:r>
            <a:endParaRPr lang="en-US" sz="950" dirty="0"/>
          </a:p>
        </p:txBody>
      </p:sp>
      <p:sp>
        <p:nvSpPr>
          <p:cNvPr id="22" name="Shape 20"/>
          <p:cNvSpPr/>
          <p:nvPr/>
        </p:nvSpPr>
        <p:spPr>
          <a:xfrm>
            <a:off x="365760" y="3557016"/>
            <a:ext cx="8412480" cy="12801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25000"/>
              </a:srgbClr>
            </a:outerShdw>
          </a:effectLst>
        </p:spPr>
      </p:sp>
      <p:sp>
        <p:nvSpPr>
          <p:cNvPr id="23" name="Shape 21"/>
          <p:cNvSpPr/>
          <p:nvPr/>
        </p:nvSpPr>
        <p:spPr>
          <a:xfrm>
            <a:off x="365760" y="3557016"/>
            <a:ext cx="1463040" cy="1280160"/>
          </a:xfrm>
          <a:prstGeom prst="rect">
            <a:avLst/>
          </a:prstGeom>
          <a:solidFill>
            <a:srgbClr val="2ECC71"/>
          </a:solidFill>
          <a:ln w="12700">
            <a:solidFill>
              <a:srgbClr val="2ECC71"/>
            </a:solidFill>
            <a:prstDash val="solid"/>
          </a:ln>
        </p:spPr>
      </p:sp>
      <p:sp>
        <p:nvSpPr>
          <p:cNvPr id="24" name="Text 22"/>
          <p:cNvSpPr/>
          <p:nvPr/>
        </p:nvSpPr>
        <p:spPr>
          <a:xfrm>
            <a:off x="365760" y="3630168"/>
            <a:ext cx="146304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12–13</a:t>
            </a:r>
            <a:endParaRPr lang="en-US" sz="1000" dirty="0"/>
          </a:p>
        </p:txBody>
      </p:sp>
      <p:sp>
        <p:nvSpPr>
          <p:cNvPr id="25" name="Text 23"/>
          <p:cNvSpPr/>
          <p:nvPr/>
        </p:nvSpPr>
        <p:spPr>
          <a:xfrm>
            <a:off x="365760" y="3941064"/>
            <a:ext cx="14630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3: Recovery &amp; Demo</a:t>
            </a:r>
            <a:endParaRPr lang="en-US" sz="1200" dirty="0"/>
          </a:p>
        </p:txBody>
      </p:sp>
      <p:sp>
        <p:nvSpPr>
          <p:cNvPr id="26" name="Text 24"/>
          <p:cNvSpPr/>
          <p:nvPr/>
        </p:nvSpPr>
        <p:spPr>
          <a:xfrm>
            <a:off x="2011680" y="3602736"/>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safe-state transition logic for P1 (trigger on alert)</a:t>
            </a:r>
            <a:endParaRPr lang="en-US" sz="950" dirty="0"/>
          </a:p>
        </p:txBody>
      </p:sp>
      <p:sp>
        <p:nvSpPr>
          <p:cNvPr id="27" name="Text 25"/>
          <p:cNvSpPr/>
          <p:nvPr/>
        </p:nvSpPr>
        <p:spPr>
          <a:xfrm>
            <a:off x="2011680" y="3840480"/>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Configure hot-standby PLC failover (using SWaT dual-PLC architecture)</a:t>
            </a:r>
            <a:endParaRPr lang="en-US" sz="950" dirty="0"/>
          </a:p>
        </p:txBody>
      </p:sp>
      <p:sp>
        <p:nvSpPr>
          <p:cNvPr id="28" name="Text 26"/>
          <p:cNvSpPr/>
          <p:nvPr/>
        </p:nvSpPr>
        <p:spPr>
          <a:xfrm>
            <a:off x="2011680" y="4078224"/>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Implement sensor cross-validation using invariant reconstruction model</a:t>
            </a:r>
            <a:endParaRPr lang="en-US" sz="950" dirty="0"/>
          </a:p>
        </p:txBody>
      </p:sp>
      <p:sp>
        <p:nvSpPr>
          <p:cNvPr id="29" name="Text 27"/>
          <p:cNvSpPr/>
          <p:nvPr/>
        </p:nvSpPr>
        <p:spPr>
          <a:xfrm>
            <a:off x="2011680" y="4315968"/>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Run full end-to-end demo: attack → evade → detect → recover</a:t>
            </a:r>
            <a:endParaRPr lang="en-US" sz="950" dirty="0"/>
          </a:p>
        </p:txBody>
      </p:sp>
      <p:sp>
        <p:nvSpPr>
          <p:cNvPr id="30" name="Text 28"/>
          <p:cNvSpPr/>
          <p:nvPr/>
        </p:nvSpPr>
        <p:spPr>
          <a:xfrm>
            <a:off x="2011680" y="4553712"/>
            <a:ext cx="6583680" cy="22860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-&gt; Measure recovery time (KPI: time from alert to normal operation)</a:t>
            </a:r>
            <a:endParaRPr lang="en-US" sz="950" dirty="0"/>
          </a:p>
        </p:txBody>
      </p:sp>
      <p:sp>
        <p:nvSpPr>
          <p:cNvPr id="31" name="Shape 29"/>
          <p:cNvSpPr/>
          <p:nvPr/>
        </p:nvSpPr>
        <p:spPr>
          <a:xfrm>
            <a:off x="365760" y="4983480"/>
            <a:ext cx="8412480" cy="502920"/>
          </a:xfrm>
          <a:prstGeom prst="rect">
            <a:avLst/>
          </a:prstGeom>
          <a:solidFill>
            <a:srgbClr val="1B3A5C"/>
          </a:solidFill>
          <a:ln w="12700">
            <a:solidFill>
              <a:srgbClr val="1B3A5C"/>
            </a:solidFill>
            <a:prstDash val="solid"/>
          </a:ln>
        </p:spPr>
      </p:sp>
      <p:sp>
        <p:nvSpPr>
          <p:cNvPr id="32" name="Text 30"/>
          <p:cNvSpPr/>
          <p:nvPr/>
        </p:nvSpPr>
        <p:spPr>
          <a:xfrm>
            <a:off x="548640" y="4983480"/>
            <a:ext cx="8046720" cy="502920"/>
          </a:xfrm>
          <a:prstGeom prst="rect">
            <a:avLst/>
          </a:prstGeom>
          <a:noFill/>
          <a:ln/>
        </p:spPr>
        <p:txBody>
          <a:bodyPr wrap="square" lIns="0" tIns="0" rIns="0" bIns="0" rtlCol="0" anchor="ctr"/>
          <a:lstStyle/>
          <a:p>
            <a:pPr indent="0" marL="0">
              <a:buNone/>
            </a:pPr>
            <a:r>
              <a:rPr lang="en-US" sz="1100" dirty="0">
                <a:solidFill>
                  <a:srgbClr val="F4A261"/>
                </a:solidFill>
                <a:latin typeface="Calibri" pitchFamily="34" charset="0"/>
                <a:ea typeface="Calibri" pitchFamily="34" charset="-122"/>
                <a:cs typeface="Calibri" pitchFamily="34" charset="-120"/>
              </a:rPr>
              <a:t>Tools:  Python (Scapy/pyModbus) · Wireshark · PyTorch (autoencoder) · Studio 5000 (PLC) · SWaT SCADA HMI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Evaluation Metrics</a:t>
            </a:r>
            <a:endParaRPr lang="en-US" sz="2800" dirty="0"/>
          </a:p>
        </p:txBody>
      </p:sp>
      <p:sp>
        <p:nvSpPr>
          <p:cNvPr id="4" name="Shape 2"/>
          <p:cNvSpPr/>
          <p:nvPr/>
        </p:nvSpPr>
        <p:spPr>
          <a:xfrm>
            <a:off x="365760" y="914400"/>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914400"/>
            <a:ext cx="64008" cy="1234440"/>
          </a:xfrm>
          <a:prstGeom prst="rect">
            <a:avLst/>
          </a:prstGeom>
          <a:solidFill>
            <a:srgbClr val="E63946"/>
          </a:solidFill>
          <a:ln w="12700">
            <a:solidFill>
              <a:srgbClr val="E63946"/>
            </a:solidFill>
            <a:prstDash val="solid"/>
          </a:ln>
        </p:spPr>
      </p:sp>
      <p:sp>
        <p:nvSpPr>
          <p:cNvPr id="6" name="Text 4"/>
          <p:cNvSpPr/>
          <p:nvPr/>
        </p:nvSpPr>
        <p:spPr>
          <a:xfrm>
            <a:off x="594360" y="960120"/>
            <a:ext cx="8046720" cy="347472"/>
          </a:xfrm>
          <a:prstGeom prst="rect">
            <a:avLst/>
          </a:prstGeom>
          <a:noFill/>
          <a:ln/>
        </p:spPr>
        <p:txBody>
          <a:bodyPr wrap="square" lIns="0" tIns="0" rIns="0" bIns="0"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Attack Effectiveness</a:t>
            </a:r>
            <a:endParaRPr lang="en-US" sz="1400" dirty="0"/>
          </a:p>
        </p:txBody>
      </p:sp>
      <p:sp>
        <p:nvSpPr>
          <p:cNvPr id="7" name="Text 5"/>
          <p:cNvSpPr/>
          <p:nvPr/>
        </p:nvSpPr>
        <p:spPr>
          <a:xfrm>
            <a:off x="594360" y="135331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Time-to-impact: how quickly does tank level deviate from normal?</a:t>
            </a:r>
            <a:endParaRPr lang="en-US" sz="1100" dirty="0"/>
          </a:p>
        </p:txBody>
      </p:sp>
      <p:sp>
        <p:nvSpPr>
          <p:cNvPr id="8" name="Text 6"/>
          <p:cNvSpPr/>
          <p:nvPr/>
        </p:nvSpPr>
        <p:spPr>
          <a:xfrm>
            <a:off x="594360" y="162763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Evasion rate: % of attack cycles that pass through standalone ML detector undetected</a:t>
            </a:r>
            <a:endParaRPr lang="en-US" sz="1100" dirty="0"/>
          </a:p>
        </p:txBody>
      </p:sp>
      <p:sp>
        <p:nvSpPr>
          <p:cNvPr id="9" name="Text 7"/>
          <p:cNvSpPr/>
          <p:nvPr/>
        </p:nvSpPr>
        <p:spPr>
          <a:xfrm>
            <a:off x="594360" y="1901952"/>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Stealth duration: time elapsed before any alert is raised</a:t>
            </a:r>
            <a:endParaRPr lang="en-US" sz="1100" dirty="0"/>
          </a:p>
        </p:txBody>
      </p:sp>
      <p:sp>
        <p:nvSpPr>
          <p:cNvPr id="10" name="Shape 8"/>
          <p:cNvSpPr/>
          <p:nvPr/>
        </p:nvSpPr>
        <p:spPr>
          <a:xfrm>
            <a:off x="365760" y="2267712"/>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65760" y="2267712"/>
            <a:ext cx="64008" cy="1234440"/>
          </a:xfrm>
          <a:prstGeom prst="rect">
            <a:avLst/>
          </a:prstGeom>
          <a:solidFill>
            <a:srgbClr val="2196F3"/>
          </a:solidFill>
          <a:ln w="12700">
            <a:solidFill>
              <a:srgbClr val="2196F3"/>
            </a:solidFill>
            <a:prstDash val="solid"/>
          </a:ln>
        </p:spPr>
      </p:sp>
      <p:sp>
        <p:nvSpPr>
          <p:cNvPr id="12" name="Text 10"/>
          <p:cNvSpPr/>
          <p:nvPr/>
        </p:nvSpPr>
        <p:spPr>
          <a:xfrm>
            <a:off x="594360" y="2313432"/>
            <a:ext cx="8046720" cy="347472"/>
          </a:xfrm>
          <a:prstGeom prst="rect">
            <a:avLst/>
          </a:prstGeom>
          <a:noFill/>
          <a:ln/>
        </p:spPr>
        <p:txBody>
          <a:bodyPr wrap="square" lIns="0" tIns="0" rIns="0" bIns="0" rtlCol="0" anchor="ctr"/>
          <a:lstStyle/>
          <a:p>
            <a:pPr indent="0" marL="0">
              <a:buNone/>
            </a:pPr>
            <a:r>
              <a:rPr lang="en-US" sz="1400" b="1" dirty="0">
                <a:solidFill>
                  <a:srgbClr val="2196F3"/>
                </a:solidFill>
                <a:latin typeface="Calibri" pitchFamily="34" charset="0"/>
                <a:ea typeface="Calibri" pitchFamily="34" charset="-122"/>
                <a:cs typeface="Calibri" pitchFamily="34" charset="-120"/>
              </a:rPr>
              <a:t>Detection Performance</a:t>
            </a:r>
            <a:endParaRPr lang="en-US" sz="1400" dirty="0"/>
          </a:p>
        </p:txBody>
      </p:sp>
      <p:sp>
        <p:nvSpPr>
          <p:cNvPr id="13" name="Text 11"/>
          <p:cNvSpPr/>
          <p:nvPr/>
        </p:nvSpPr>
        <p:spPr>
          <a:xfrm>
            <a:off x="594360" y="270662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Detection rate (DR): % of attack scenarios detected by hybrid detector</a:t>
            </a:r>
            <a:endParaRPr lang="en-US" sz="1100" dirty="0"/>
          </a:p>
        </p:txBody>
      </p:sp>
      <p:sp>
        <p:nvSpPr>
          <p:cNvPr id="14" name="Text 12"/>
          <p:cNvSpPr/>
          <p:nvPr/>
        </p:nvSpPr>
        <p:spPr>
          <a:xfrm>
            <a:off x="594360" y="298094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False positive rate (FPR): % of normal operation flagged as anomalous</a:t>
            </a:r>
            <a:endParaRPr lang="en-US" sz="1100" dirty="0"/>
          </a:p>
        </p:txBody>
      </p:sp>
      <p:sp>
        <p:nvSpPr>
          <p:cNvPr id="15" name="Text 13"/>
          <p:cNvSpPr/>
          <p:nvPr/>
        </p:nvSpPr>
        <p:spPr>
          <a:xfrm>
            <a:off x="594360" y="3255264"/>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Comparison: invariant-only vs ML-only vs hybrid (DR &amp; FPR)</a:t>
            </a:r>
            <a:endParaRPr lang="en-US" sz="1100" dirty="0"/>
          </a:p>
        </p:txBody>
      </p:sp>
      <p:sp>
        <p:nvSpPr>
          <p:cNvPr id="16" name="Shape 14"/>
          <p:cNvSpPr/>
          <p:nvPr/>
        </p:nvSpPr>
        <p:spPr>
          <a:xfrm>
            <a:off x="365760" y="3621024"/>
            <a:ext cx="8412480" cy="123444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365760" y="3621024"/>
            <a:ext cx="64008" cy="1234440"/>
          </a:xfrm>
          <a:prstGeom prst="rect">
            <a:avLst/>
          </a:prstGeom>
          <a:solidFill>
            <a:srgbClr val="2ECC71"/>
          </a:solidFill>
          <a:ln w="12700">
            <a:solidFill>
              <a:srgbClr val="2ECC71"/>
            </a:solidFill>
            <a:prstDash val="solid"/>
          </a:ln>
        </p:spPr>
      </p:sp>
      <p:sp>
        <p:nvSpPr>
          <p:cNvPr id="18" name="Text 16"/>
          <p:cNvSpPr/>
          <p:nvPr/>
        </p:nvSpPr>
        <p:spPr>
          <a:xfrm>
            <a:off x="594360" y="3666744"/>
            <a:ext cx="8046720" cy="347472"/>
          </a:xfrm>
          <a:prstGeom prst="rect">
            <a:avLst/>
          </a:prstGeom>
          <a:noFill/>
          <a:ln/>
        </p:spPr>
        <p:txBody>
          <a:bodyPr wrap="square" lIns="0" tIns="0" rIns="0" bIns="0" rtlCol="0" anchor="ctr"/>
          <a:lstStyle/>
          <a:p>
            <a:pPr indent="0" marL="0">
              <a:buNone/>
            </a:pPr>
            <a:r>
              <a:rPr lang="en-US" sz="1400" b="1" dirty="0">
                <a:solidFill>
                  <a:srgbClr val="2ECC71"/>
                </a:solidFill>
                <a:latin typeface="Calibri" pitchFamily="34" charset="0"/>
                <a:ea typeface="Calibri" pitchFamily="34" charset="-122"/>
                <a:cs typeface="Calibri" pitchFamily="34" charset="-120"/>
              </a:rPr>
              <a:t>Recovery Performance</a:t>
            </a:r>
            <a:endParaRPr lang="en-US" sz="1400" dirty="0"/>
          </a:p>
        </p:txBody>
      </p:sp>
      <p:sp>
        <p:nvSpPr>
          <p:cNvPr id="19" name="Text 17"/>
          <p:cNvSpPr/>
          <p:nvPr/>
        </p:nvSpPr>
        <p:spPr>
          <a:xfrm>
            <a:off x="594360" y="405993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Recovery time (RT): seconds from alert to restored normal operation</a:t>
            </a:r>
            <a:endParaRPr lang="en-US" sz="1100" dirty="0"/>
          </a:p>
        </p:txBody>
      </p:sp>
      <p:sp>
        <p:nvSpPr>
          <p:cNvPr id="20" name="Text 18"/>
          <p:cNvSpPr/>
          <p:nvPr/>
        </p:nvSpPr>
        <p:spPr>
          <a:xfrm>
            <a:off x="594360" y="433425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Sensor trust accuracy: % of spoofed sensors correctly identified via invariant cross-validation</a:t>
            </a:r>
            <a:endParaRPr lang="en-US" sz="1100" dirty="0"/>
          </a:p>
        </p:txBody>
      </p:sp>
      <p:sp>
        <p:nvSpPr>
          <p:cNvPr id="21" name="Text 19"/>
          <p:cNvSpPr/>
          <p:nvPr/>
        </p:nvSpPr>
        <p:spPr>
          <a:xfrm>
            <a:off x="594360" y="4608576"/>
            <a:ext cx="8046720" cy="25603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Physical integrity: no unsafe state (overflow/underflow) during recovery window</a:t>
            </a:r>
            <a:endParaRPr lang="en-US" sz="1100" dirty="0"/>
          </a:p>
        </p:txBody>
      </p:sp>
      <p:sp>
        <p:nvSpPr>
          <p:cNvPr id="22" name="Shape 20"/>
          <p:cNvSpPr/>
          <p:nvPr/>
        </p:nvSpPr>
        <p:spPr>
          <a:xfrm>
            <a:off x="365760" y="4937760"/>
            <a:ext cx="8412480" cy="475488"/>
          </a:xfrm>
          <a:prstGeom prst="rect">
            <a:avLst/>
          </a:prstGeom>
          <a:solidFill>
            <a:srgbClr val="E8F4E8"/>
          </a:solidFill>
          <a:ln w="12700">
            <a:solidFill>
              <a:srgbClr val="E8F4E8"/>
            </a:solidFill>
            <a:prstDash val="solid"/>
          </a:ln>
        </p:spPr>
      </p:sp>
      <p:sp>
        <p:nvSpPr>
          <p:cNvPr id="23" name="Shape 21"/>
          <p:cNvSpPr/>
          <p:nvPr/>
        </p:nvSpPr>
        <p:spPr>
          <a:xfrm>
            <a:off x="365760" y="4937760"/>
            <a:ext cx="64008" cy="475488"/>
          </a:xfrm>
          <a:prstGeom prst="rect">
            <a:avLst/>
          </a:prstGeom>
          <a:solidFill>
            <a:srgbClr val="2ECC71"/>
          </a:solidFill>
          <a:ln w="12700">
            <a:solidFill>
              <a:srgbClr val="2ECC71"/>
            </a:solidFill>
            <a:prstDash val="solid"/>
          </a:ln>
        </p:spPr>
      </p:sp>
      <p:sp>
        <p:nvSpPr>
          <p:cNvPr id="24" name="Text 22"/>
          <p:cNvSpPr/>
          <p:nvPr/>
        </p:nvSpPr>
        <p:spPr>
          <a:xfrm>
            <a:off x="594360" y="4937760"/>
            <a:ext cx="8046720" cy="475488"/>
          </a:xfrm>
          <a:prstGeom prst="rect">
            <a:avLst/>
          </a:prstGeom>
          <a:noFill/>
          <a:ln/>
        </p:spPr>
        <p:txBody>
          <a:bodyPr wrap="square" lIns="0" tIns="0" rIns="0" bIns="0" rtlCol="0" anchor="ctr"/>
          <a:lstStyle/>
          <a:p>
            <a:pPr indent="0" marL="0">
              <a:buNone/>
            </a:pPr>
            <a:r>
              <a:rPr lang="en-US" sz="1100" i="1" dirty="0">
                <a:solidFill>
                  <a:srgbClr val="1A6B3A"/>
                </a:solidFill>
                <a:latin typeface="Calibri" pitchFamily="34" charset="0"/>
                <a:ea typeface="Calibri" pitchFamily="34" charset="-122"/>
                <a:cs typeface="Calibri" pitchFamily="34" charset="-120"/>
              </a:rPr>
              <a:t>Bonus Evaluation:  Apply our defense against another group's attack (cross-group exercise as per course rubric)</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FA3B1"/>
          </a:solidFill>
          <a:ln w="12700">
            <a:solidFill>
              <a:srgbClr val="8FA3B1"/>
            </a:solidFill>
            <a:prstDash val="solid"/>
          </a:ln>
        </p:spPr>
      </p:sp>
      <p:sp>
        <p:nvSpPr>
          <p:cNvPr id="3" name="Text 1"/>
          <p:cNvSpPr/>
          <p:nvPr/>
        </p:nvSpPr>
        <p:spPr>
          <a:xfrm>
            <a:off x="457200" y="109728"/>
            <a:ext cx="8229600" cy="438912"/>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228600" y="621792"/>
            <a:ext cx="384048" cy="621792"/>
          </a:xfrm>
          <a:prstGeom prst="rect">
            <a:avLst/>
          </a:prstGeom>
          <a:solidFill>
            <a:srgbClr val="1B3A5C"/>
          </a:solidFill>
          <a:ln w="12700">
            <a:solidFill>
              <a:srgbClr val="1B3A5C"/>
            </a:solidFill>
            <a:prstDash val="solid"/>
          </a:ln>
        </p:spPr>
      </p:sp>
      <p:sp>
        <p:nvSpPr>
          <p:cNvPr id="5" name="Text 3"/>
          <p:cNvSpPr/>
          <p:nvPr/>
        </p:nvSpPr>
        <p:spPr>
          <a:xfrm>
            <a:off x="228600" y="621792"/>
            <a:ext cx="384048" cy="621792"/>
          </a:xfrm>
          <a:prstGeom prst="rect">
            <a:avLst/>
          </a:prstGeom>
          <a:noFill/>
          <a:ln/>
        </p:spPr>
        <p:txBody>
          <a:bodyPr wrap="square" lIns="0" tIns="0" rIns="0" bIns="0"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85800" y="640080"/>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W. Alsabbagh, S. Amogbonjaye, D. Urrego, and P. Langendörfer</a:t>
            </a:r>
            <a:endParaRPr lang="en-US" sz="850" dirty="0"/>
          </a:p>
        </p:txBody>
      </p:sp>
      <p:sp>
        <p:nvSpPr>
          <p:cNvPr id="7" name="Text 5"/>
          <p:cNvSpPr/>
          <p:nvPr/>
        </p:nvSpPr>
        <p:spPr>
          <a:xfrm>
            <a:off x="685800" y="822960"/>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 Stealthy False Command Injection Attack on Modbus based SCADA Systems"</a:t>
            </a:r>
            <a:endParaRPr lang="en-US" sz="950" dirty="0"/>
          </a:p>
        </p:txBody>
      </p:sp>
      <p:sp>
        <p:nvSpPr>
          <p:cNvPr id="8" name="Text 6"/>
          <p:cNvSpPr/>
          <p:nvPr/>
        </p:nvSpPr>
        <p:spPr>
          <a:xfrm>
            <a:off x="685800" y="1078992"/>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CCNC, Las Vegas, USA, Jan. 2023.</a:t>
            </a:r>
            <a:endParaRPr lang="en-US" sz="800" dirty="0"/>
          </a:p>
        </p:txBody>
      </p:sp>
      <p:sp>
        <p:nvSpPr>
          <p:cNvPr id="9" name="Shape 7"/>
          <p:cNvSpPr/>
          <p:nvPr/>
        </p:nvSpPr>
        <p:spPr>
          <a:xfrm>
            <a:off x="228600" y="1371600"/>
            <a:ext cx="384048" cy="621792"/>
          </a:xfrm>
          <a:prstGeom prst="rect">
            <a:avLst/>
          </a:prstGeom>
          <a:solidFill>
            <a:srgbClr val="1B3A5C"/>
          </a:solidFill>
          <a:ln w="12700">
            <a:solidFill>
              <a:srgbClr val="1B3A5C"/>
            </a:solidFill>
            <a:prstDash val="solid"/>
          </a:ln>
        </p:spPr>
      </p:sp>
      <p:sp>
        <p:nvSpPr>
          <p:cNvPr id="10" name="Text 8"/>
          <p:cNvSpPr/>
          <p:nvPr/>
        </p:nvSpPr>
        <p:spPr>
          <a:xfrm>
            <a:off x="228600" y="1371600"/>
            <a:ext cx="384048" cy="621792"/>
          </a:xfrm>
          <a:prstGeom prst="rect">
            <a:avLst/>
          </a:prstGeom>
          <a:noFill/>
          <a:ln/>
        </p:spPr>
        <p:txBody>
          <a:bodyPr wrap="square" lIns="0" tIns="0" rIns="0" bIns="0" rtlCol="0" anchor="ctr"/>
          <a:lstStyle/>
          <a:p>
            <a:pPr algn="ctr" indent="0" marL="0">
              <a:buNone/>
            </a:pPr>
            <a:r>
              <a:rPr lang="en-US" sz="1000" b="1" dirty="0">
                <a:solidFill>
                  <a:srgbClr val="F4A261"/>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685800" y="1389888"/>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J. H. Castellanos, M. Ochoa, A. A. Cardenas, O. Arden, and J. Zhou</a:t>
            </a:r>
            <a:endParaRPr lang="en-US" sz="850" dirty="0"/>
          </a:p>
        </p:txBody>
      </p:sp>
      <p:sp>
        <p:nvSpPr>
          <p:cNvPr id="12" name="Text 10"/>
          <p:cNvSpPr/>
          <p:nvPr/>
        </p:nvSpPr>
        <p:spPr>
          <a:xfrm>
            <a:off x="685800" y="1572768"/>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"Constrained Concealment Attacks against Reconstruction-based Anomaly Detectors in ICS"</a:t>
            </a:r>
            <a:endParaRPr lang="en-US" sz="950" dirty="0"/>
          </a:p>
        </p:txBody>
      </p:sp>
      <p:sp>
        <p:nvSpPr>
          <p:cNvPr id="13" name="Text 11"/>
          <p:cNvSpPr/>
          <p:nvPr/>
        </p:nvSpPr>
        <p:spPr>
          <a:xfrm>
            <a:off x="685800" y="1828800"/>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ACM ACSAC, Austin, USA, Dec. 2020.  |  github.com/scy-phy/ICS-Evasion-Attacks</a:t>
            </a:r>
            <a:endParaRPr lang="en-US" sz="800" dirty="0"/>
          </a:p>
        </p:txBody>
      </p:sp>
      <p:sp>
        <p:nvSpPr>
          <p:cNvPr id="14" name="Shape 12"/>
          <p:cNvSpPr/>
          <p:nvPr/>
        </p:nvSpPr>
        <p:spPr>
          <a:xfrm>
            <a:off x="228600" y="2121408"/>
            <a:ext cx="384048" cy="621792"/>
          </a:xfrm>
          <a:prstGeom prst="rect">
            <a:avLst/>
          </a:prstGeom>
          <a:solidFill>
            <a:srgbClr val="1B3A5C"/>
          </a:solidFill>
          <a:ln w="12700">
            <a:solidFill>
              <a:srgbClr val="1B3A5C"/>
            </a:solidFill>
            <a:prstDash val="solid"/>
          </a:ln>
        </p:spPr>
      </p:sp>
      <p:sp>
        <p:nvSpPr>
          <p:cNvPr id="15" name="Text 13"/>
          <p:cNvSpPr/>
          <p:nvPr/>
        </p:nvSpPr>
        <p:spPr>
          <a:xfrm>
            <a:off x="228600" y="2121408"/>
            <a:ext cx="384048" cy="621792"/>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685800" y="2139696"/>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S. Adepu and A. Mathur</a:t>
            </a:r>
            <a:endParaRPr lang="en-US" sz="850" dirty="0"/>
          </a:p>
        </p:txBody>
      </p:sp>
      <p:sp>
        <p:nvSpPr>
          <p:cNvPr id="17" name="Text 15"/>
          <p:cNvSpPr/>
          <p:nvPr/>
        </p:nvSpPr>
        <p:spPr>
          <a:xfrm>
            <a:off x="685800" y="2322576"/>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"Using Process Invariants to Detect Cyber Attacks on a Water Treatment System"</a:t>
            </a:r>
            <a:endParaRPr lang="en-US" sz="950" dirty="0"/>
          </a:p>
        </p:txBody>
      </p:sp>
      <p:sp>
        <p:nvSpPr>
          <p:cNvPr id="18" name="Text 16"/>
          <p:cNvSpPr/>
          <p:nvPr/>
        </p:nvSpPr>
        <p:spPr>
          <a:xfrm>
            <a:off x="685800" y="2578608"/>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IFIP SEC, Ghent, Belgium, May 2016.</a:t>
            </a:r>
            <a:endParaRPr lang="en-US" sz="800" dirty="0"/>
          </a:p>
        </p:txBody>
      </p:sp>
      <p:sp>
        <p:nvSpPr>
          <p:cNvPr id="19" name="Shape 17"/>
          <p:cNvSpPr/>
          <p:nvPr/>
        </p:nvSpPr>
        <p:spPr>
          <a:xfrm>
            <a:off x="228600" y="2871216"/>
            <a:ext cx="384048" cy="621792"/>
          </a:xfrm>
          <a:prstGeom prst="rect">
            <a:avLst/>
          </a:prstGeom>
          <a:solidFill>
            <a:srgbClr val="1B3A5C"/>
          </a:solidFill>
          <a:ln w="12700">
            <a:solidFill>
              <a:srgbClr val="1B3A5C"/>
            </a:solidFill>
            <a:prstDash val="solid"/>
          </a:ln>
        </p:spPr>
      </p:sp>
      <p:sp>
        <p:nvSpPr>
          <p:cNvPr id="20" name="Text 18"/>
          <p:cNvSpPr/>
          <p:nvPr/>
        </p:nvSpPr>
        <p:spPr>
          <a:xfrm>
            <a:off x="228600" y="2871216"/>
            <a:ext cx="384048" cy="621792"/>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85800" y="2889504"/>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S. Adepu and A. Mathur</a:t>
            </a:r>
            <a:endParaRPr lang="en-US" sz="850" dirty="0"/>
          </a:p>
        </p:txBody>
      </p:sp>
      <p:sp>
        <p:nvSpPr>
          <p:cNvPr id="22" name="Text 20"/>
          <p:cNvSpPr/>
          <p:nvPr/>
        </p:nvSpPr>
        <p:spPr>
          <a:xfrm>
            <a:off x="685800" y="3072384"/>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"Distributed Detection of Single-Stage Multipoint Cyber Attacks in a Water Treatment Plant"</a:t>
            </a:r>
            <a:endParaRPr lang="en-US" sz="950" dirty="0"/>
          </a:p>
        </p:txBody>
      </p:sp>
      <p:sp>
        <p:nvSpPr>
          <p:cNvPr id="23" name="Text 21"/>
          <p:cNvSpPr/>
          <p:nvPr/>
        </p:nvSpPr>
        <p:spPr>
          <a:xfrm>
            <a:off x="685800" y="3328416"/>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ACM AsiaCCS, Xi'an, China, May 2016.</a:t>
            </a:r>
            <a:endParaRPr lang="en-US" sz="800" dirty="0"/>
          </a:p>
        </p:txBody>
      </p:sp>
      <p:sp>
        <p:nvSpPr>
          <p:cNvPr id="24" name="Shape 22"/>
          <p:cNvSpPr/>
          <p:nvPr/>
        </p:nvSpPr>
        <p:spPr>
          <a:xfrm>
            <a:off x="228600" y="3621024"/>
            <a:ext cx="384048" cy="621792"/>
          </a:xfrm>
          <a:prstGeom prst="rect">
            <a:avLst/>
          </a:prstGeom>
          <a:solidFill>
            <a:srgbClr val="1B3A5C"/>
          </a:solidFill>
          <a:ln w="12700">
            <a:solidFill>
              <a:srgbClr val="1B3A5C"/>
            </a:solidFill>
            <a:prstDash val="solid"/>
          </a:ln>
        </p:spPr>
      </p:sp>
      <p:sp>
        <p:nvSpPr>
          <p:cNvPr id="25" name="Text 23"/>
          <p:cNvSpPr/>
          <p:nvPr/>
        </p:nvSpPr>
        <p:spPr>
          <a:xfrm>
            <a:off x="228600" y="3621024"/>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85800" y="3639312"/>
            <a:ext cx="384048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C. M. Ahmed, J. Zhou, and A. P. Mathur</a:t>
            </a:r>
            <a:endParaRPr lang="en-US" sz="850" dirty="0"/>
          </a:p>
        </p:txBody>
      </p:sp>
      <p:sp>
        <p:nvSpPr>
          <p:cNvPr id="27" name="Text 25"/>
          <p:cNvSpPr/>
          <p:nvPr/>
        </p:nvSpPr>
        <p:spPr>
          <a:xfrm>
            <a:off x="685800" y="3822192"/>
            <a:ext cx="384048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"Attacking Fieldbus Communications in ICS: Applications to the SWaT Testbed"</a:t>
            </a:r>
            <a:endParaRPr lang="en-US" sz="950" dirty="0"/>
          </a:p>
        </p:txBody>
      </p:sp>
      <p:sp>
        <p:nvSpPr>
          <p:cNvPr id="28" name="Text 26"/>
          <p:cNvSpPr/>
          <p:nvPr/>
        </p:nvSpPr>
        <p:spPr>
          <a:xfrm>
            <a:off x="685800" y="4078224"/>
            <a:ext cx="384048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Singapore Cyber Security R&amp;D Conference (SG-CRC), Singapore, 2016.</a:t>
            </a:r>
            <a:endParaRPr lang="en-US" sz="800" dirty="0"/>
          </a:p>
        </p:txBody>
      </p:sp>
      <p:sp>
        <p:nvSpPr>
          <p:cNvPr id="29" name="Shape 27"/>
          <p:cNvSpPr/>
          <p:nvPr/>
        </p:nvSpPr>
        <p:spPr>
          <a:xfrm>
            <a:off x="4846320" y="621792"/>
            <a:ext cx="384048" cy="621792"/>
          </a:xfrm>
          <a:prstGeom prst="rect">
            <a:avLst/>
          </a:prstGeom>
          <a:solidFill>
            <a:srgbClr val="1B3A5C"/>
          </a:solidFill>
          <a:ln w="12700">
            <a:solidFill>
              <a:srgbClr val="1B3A5C"/>
            </a:solidFill>
            <a:prstDash val="solid"/>
          </a:ln>
        </p:spPr>
      </p:sp>
      <p:sp>
        <p:nvSpPr>
          <p:cNvPr id="30" name="Text 28"/>
          <p:cNvSpPr/>
          <p:nvPr/>
        </p:nvSpPr>
        <p:spPr>
          <a:xfrm>
            <a:off x="4846320" y="621792"/>
            <a:ext cx="384048" cy="621792"/>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5303520" y="640080"/>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A. Carcano, A. Coletta, M. Guglielmi, M. Masera, I. N. Fovino, and A. Trombetta</a:t>
            </a:r>
            <a:endParaRPr lang="en-US" sz="850" dirty="0"/>
          </a:p>
        </p:txBody>
      </p:sp>
      <p:sp>
        <p:nvSpPr>
          <p:cNvPr id="32" name="Text 30"/>
          <p:cNvSpPr/>
          <p:nvPr/>
        </p:nvSpPr>
        <p:spPr>
          <a:xfrm>
            <a:off x="5303520" y="822960"/>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 Multidimensional Critical State Analysis for Detecting Intrusions in SCADA Systems"</a:t>
            </a:r>
            <a:endParaRPr lang="en-US" sz="950" dirty="0"/>
          </a:p>
        </p:txBody>
      </p:sp>
      <p:sp>
        <p:nvSpPr>
          <p:cNvPr id="33" name="Text 31"/>
          <p:cNvSpPr/>
          <p:nvPr/>
        </p:nvSpPr>
        <p:spPr>
          <a:xfrm>
            <a:off x="5303520" y="1078992"/>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Trans. Industrial Informatics, vol. 7, no. 2, pp. 179–186, May 2011.  DOI: 10.1109/TII.2010.2098415</a:t>
            </a:r>
            <a:endParaRPr lang="en-US" sz="800" dirty="0"/>
          </a:p>
        </p:txBody>
      </p:sp>
      <p:sp>
        <p:nvSpPr>
          <p:cNvPr id="34" name="Shape 32"/>
          <p:cNvSpPr/>
          <p:nvPr/>
        </p:nvSpPr>
        <p:spPr>
          <a:xfrm>
            <a:off x="4846320" y="1371600"/>
            <a:ext cx="384048" cy="621792"/>
          </a:xfrm>
          <a:prstGeom prst="rect">
            <a:avLst/>
          </a:prstGeom>
          <a:solidFill>
            <a:srgbClr val="1B3A5C"/>
          </a:solidFill>
          <a:ln w="12700">
            <a:solidFill>
              <a:srgbClr val="1B3A5C"/>
            </a:solidFill>
            <a:prstDash val="solid"/>
          </a:ln>
        </p:spPr>
      </p:sp>
      <p:sp>
        <p:nvSpPr>
          <p:cNvPr id="35" name="Text 33"/>
          <p:cNvSpPr/>
          <p:nvPr/>
        </p:nvSpPr>
        <p:spPr>
          <a:xfrm>
            <a:off x="4846320" y="1371600"/>
            <a:ext cx="384048" cy="621792"/>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[7]</a:t>
            </a:r>
            <a:endParaRPr lang="en-US" sz="1000" dirty="0"/>
          </a:p>
        </p:txBody>
      </p:sp>
      <p:sp>
        <p:nvSpPr>
          <p:cNvPr id="36" name="Text 34"/>
          <p:cNvSpPr/>
          <p:nvPr/>
        </p:nvSpPr>
        <p:spPr>
          <a:xfrm>
            <a:off x="5303520" y="1389888"/>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D. I. Buzhinsky and V. Vyatkin</a:t>
            </a:r>
            <a:endParaRPr lang="en-US" sz="850" dirty="0"/>
          </a:p>
        </p:txBody>
      </p:sp>
      <p:sp>
        <p:nvSpPr>
          <p:cNvPr id="37" name="Text 35"/>
          <p:cNvSpPr/>
          <p:nvPr/>
        </p:nvSpPr>
        <p:spPr>
          <a:xfrm>
            <a:off x="5303520" y="1572768"/>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"Automatic Inference of Finite-State Plant Models from Traces and Temporal Properties"</a:t>
            </a:r>
            <a:endParaRPr lang="en-US" sz="950" dirty="0"/>
          </a:p>
        </p:txBody>
      </p:sp>
      <p:sp>
        <p:nvSpPr>
          <p:cNvPr id="38" name="Text 36"/>
          <p:cNvSpPr/>
          <p:nvPr/>
        </p:nvSpPr>
        <p:spPr>
          <a:xfrm>
            <a:off x="5303520" y="1828800"/>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Trans. Industrial Informatics, vol. 13, no. 4, pp. 1521–1530, Aug. 2017.  DOI: 10.1109/TII.2017.2670001</a:t>
            </a:r>
            <a:endParaRPr lang="en-US" sz="800" dirty="0"/>
          </a:p>
        </p:txBody>
      </p:sp>
      <p:sp>
        <p:nvSpPr>
          <p:cNvPr id="39" name="Shape 37"/>
          <p:cNvSpPr/>
          <p:nvPr/>
        </p:nvSpPr>
        <p:spPr>
          <a:xfrm>
            <a:off x="4846320" y="2121408"/>
            <a:ext cx="384048" cy="621792"/>
          </a:xfrm>
          <a:prstGeom prst="rect">
            <a:avLst/>
          </a:prstGeom>
          <a:solidFill>
            <a:srgbClr val="1B3A5C"/>
          </a:solidFill>
          <a:ln w="12700">
            <a:solidFill>
              <a:srgbClr val="1B3A5C"/>
            </a:solidFill>
            <a:prstDash val="solid"/>
          </a:ln>
        </p:spPr>
      </p:sp>
      <p:sp>
        <p:nvSpPr>
          <p:cNvPr id="40" name="Text 38"/>
          <p:cNvSpPr/>
          <p:nvPr/>
        </p:nvSpPr>
        <p:spPr>
          <a:xfrm>
            <a:off x="4846320" y="2121408"/>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[8]</a:t>
            </a:r>
            <a:endParaRPr lang="en-US" sz="1000" dirty="0"/>
          </a:p>
        </p:txBody>
      </p:sp>
      <p:sp>
        <p:nvSpPr>
          <p:cNvPr id="41" name="Text 39"/>
          <p:cNvSpPr/>
          <p:nvPr/>
        </p:nvSpPr>
        <p:spPr>
          <a:xfrm>
            <a:off x="5303520" y="2139696"/>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A. Humayed, J. Lin, F. Li, and B. Luo</a:t>
            </a:r>
            <a:endParaRPr lang="en-US" sz="850" dirty="0"/>
          </a:p>
        </p:txBody>
      </p:sp>
      <p:sp>
        <p:nvSpPr>
          <p:cNvPr id="42" name="Text 40"/>
          <p:cNvSpPr/>
          <p:nvPr/>
        </p:nvSpPr>
        <p:spPr>
          <a:xfrm>
            <a:off x="5303520" y="2322576"/>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"Cyber-Physical Systems Security: A Survey"</a:t>
            </a:r>
            <a:endParaRPr lang="en-US" sz="950" dirty="0"/>
          </a:p>
        </p:txBody>
      </p:sp>
      <p:sp>
        <p:nvSpPr>
          <p:cNvPr id="43" name="Text 41"/>
          <p:cNvSpPr/>
          <p:nvPr/>
        </p:nvSpPr>
        <p:spPr>
          <a:xfrm>
            <a:off x="5303520" y="2578608"/>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IEEE Internet of Things Journal, vol. 4, no. 6, pp. 1802–1831, Dec. 2017.  DOI: 10.1109/JIOT.2017.2703172</a:t>
            </a:r>
            <a:endParaRPr lang="en-US" sz="800" dirty="0"/>
          </a:p>
        </p:txBody>
      </p:sp>
      <p:sp>
        <p:nvSpPr>
          <p:cNvPr id="44" name="Shape 42"/>
          <p:cNvSpPr/>
          <p:nvPr/>
        </p:nvSpPr>
        <p:spPr>
          <a:xfrm>
            <a:off x="4846320" y="2871216"/>
            <a:ext cx="384048" cy="621792"/>
          </a:xfrm>
          <a:prstGeom prst="rect">
            <a:avLst/>
          </a:prstGeom>
          <a:solidFill>
            <a:srgbClr val="1B3A5C"/>
          </a:solidFill>
          <a:ln w="12700">
            <a:solidFill>
              <a:srgbClr val="1B3A5C"/>
            </a:solidFill>
            <a:prstDash val="solid"/>
          </a:ln>
        </p:spPr>
      </p:sp>
      <p:sp>
        <p:nvSpPr>
          <p:cNvPr id="45" name="Text 43"/>
          <p:cNvSpPr/>
          <p:nvPr/>
        </p:nvSpPr>
        <p:spPr>
          <a:xfrm>
            <a:off x="4846320" y="2871216"/>
            <a:ext cx="384048" cy="621792"/>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[9]</a:t>
            </a:r>
            <a:endParaRPr lang="en-US" sz="1000" dirty="0"/>
          </a:p>
        </p:txBody>
      </p:sp>
      <p:sp>
        <p:nvSpPr>
          <p:cNvPr id="46" name="Text 44"/>
          <p:cNvSpPr/>
          <p:nvPr/>
        </p:nvSpPr>
        <p:spPr>
          <a:xfrm>
            <a:off x="5303520" y="2889504"/>
            <a:ext cx="3657600" cy="182880"/>
          </a:xfrm>
          <a:prstGeom prst="rect">
            <a:avLst/>
          </a:prstGeom>
          <a:noFill/>
          <a:ln/>
        </p:spPr>
        <p:txBody>
          <a:bodyPr wrap="square" lIns="0" tIns="0" rIns="0" bIns="0" rtlCol="0" anchor="ctr"/>
          <a:lstStyle/>
          <a:p>
            <a:pPr indent="0" marL="0">
              <a:buNone/>
            </a:pPr>
            <a:r>
              <a:rPr lang="en-US" sz="850" i="1" dirty="0">
                <a:solidFill>
                  <a:srgbClr val="8FA3B1"/>
                </a:solidFill>
                <a:latin typeface="Calibri" pitchFamily="34" charset="0"/>
                <a:ea typeface="Calibri" pitchFamily="34" charset="-122"/>
                <a:cs typeface="Calibri" pitchFamily="34" charset="-120"/>
              </a:rPr>
              <a:t>iTrust, Centre for Research in Cyber Security, SUTD</a:t>
            </a:r>
            <a:endParaRPr lang="en-US" sz="850" dirty="0"/>
          </a:p>
        </p:txBody>
      </p:sp>
      <p:sp>
        <p:nvSpPr>
          <p:cNvPr id="47" name="Text 45"/>
          <p:cNvSpPr/>
          <p:nvPr/>
        </p:nvSpPr>
        <p:spPr>
          <a:xfrm>
            <a:off x="5303520" y="3072384"/>
            <a:ext cx="3657600" cy="237744"/>
          </a:xfrm>
          <a:prstGeom prst="rect">
            <a:avLst/>
          </a:prstGeom>
          <a:noFill/>
          <a:ln/>
        </p:spPr>
        <p:txBody>
          <a:bodyPr wrap="square" lIns="0" tIns="0" rIns="0" bIns="0" rtlCol="0" anchor="ctr"/>
          <a:lstStyle/>
          <a:p>
            <a:pPr indent="0" marL="0">
              <a:buNone/>
            </a:pPr>
            <a:r>
              <a:rPr lang="en-US" sz="950" b="1" dirty="0">
                <a:solidFill>
                  <a:srgbClr val="E8EEF4"/>
                </a:solidFill>
                <a:latin typeface="Calibri" pitchFamily="34" charset="0"/>
                <a:ea typeface="Calibri" pitchFamily="34" charset="-122"/>
                <a:cs typeface="Calibri" pitchFamily="34" charset="-120"/>
              </a:rPr>
              <a:t>"SWaT: Secure Water Treatment Testbed"</a:t>
            </a:r>
            <a:endParaRPr lang="en-US" sz="950" dirty="0"/>
          </a:p>
        </p:txBody>
      </p:sp>
      <p:sp>
        <p:nvSpPr>
          <p:cNvPr id="48" name="Text 46"/>
          <p:cNvSpPr/>
          <p:nvPr/>
        </p:nvSpPr>
        <p:spPr>
          <a:xfrm>
            <a:off x="5303520" y="3328416"/>
            <a:ext cx="3657600" cy="182880"/>
          </a:xfrm>
          <a:prstGeom prst="rect">
            <a:avLst/>
          </a:prstGeom>
          <a:noFill/>
          <a:ln/>
        </p:spPr>
        <p:txBody>
          <a:bodyPr wrap="square" lIns="0" tIns="0" rIns="0" bIns="0" rtlCol="0" anchor="ctr"/>
          <a:lstStyle/>
          <a:p>
            <a:pPr indent="0" marL="0">
              <a:buNone/>
            </a:pPr>
            <a:r>
              <a:rPr lang="en-US" sz="800" dirty="0">
                <a:solidFill>
                  <a:srgbClr val="8FA3B1"/>
                </a:solidFill>
                <a:latin typeface="Calibri" pitchFamily="34" charset="0"/>
                <a:ea typeface="Calibri" pitchFamily="34" charset="-122"/>
                <a:cs typeface="Calibri" pitchFamily="34" charset="-120"/>
              </a:rPr>
              <a:t>Singapore University of Technology and Design.  https://itrust.sutd.edu.sg/testbeds/secure-water-treatment-swat/</a:t>
            </a:r>
            <a:endParaRPr lang="en-US" sz="800" dirty="0"/>
          </a:p>
        </p:txBody>
      </p:sp>
      <p:sp>
        <p:nvSpPr>
          <p:cNvPr id="49" name="Shape 47"/>
          <p:cNvSpPr/>
          <p:nvPr/>
        </p:nvSpPr>
        <p:spPr>
          <a:xfrm>
            <a:off x="4663440" y="594360"/>
            <a:ext cx="0" cy="4297680"/>
          </a:xfrm>
          <a:prstGeom prst="line">
            <a:avLst/>
          </a:prstGeom>
          <a:noFill/>
          <a:ln w="12700">
            <a:solidFill>
              <a:srgbClr val="1B3A5C"/>
            </a:solidFill>
            <a:prstDash val="solid"/>
          </a:ln>
        </p:spPr>
      </p:sp>
      <p:sp>
        <p:nvSpPr>
          <p:cNvPr id="50" name="Shape 48"/>
          <p:cNvSpPr/>
          <p:nvPr/>
        </p:nvSpPr>
        <p:spPr>
          <a:xfrm>
            <a:off x="0" y="4809744"/>
            <a:ext cx="9144000" cy="338328"/>
          </a:xfrm>
          <a:prstGeom prst="rect">
            <a:avLst/>
          </a:prstGeom>
          <a:solidFill>
            <a:srgbClr val="1B3A5C"/>
          </a:solidFill>
          <a:ln w="12700">
            <a:solidFill>
              <a:srgbClr val="1B3A5C"/>
            </a:solidFill>
            <a:prstDash val="solid"/>
          </a:ln>
        </p:spPr>
      </p:sp>
      <p:sp>
        <p:nvSpPr>
          <p:cNvPr id="51" name="Text 49"/>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Cyber Physical Systems  |  References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65760" y="64008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SWaT P1 Attack</a:t>
            </a:r>
            <a:endParaRPr lang="en-US" sz="5200" dirty="0"/>
          </a:p>
        </p:txBody>
      </p:sp>
      <p:sp>
        <p:nvSpPr>
          <p:cNvPr id="4" name="Text 2"/>
          <p:cNvSpPr/>
          <p:nvPr/>
        </p:nvSpPr>
        <p:spPr>
          <a:xfrm>
            <a:off x="365760" y="1554480"/>
            <a:ext cx="8412480" cy="548640"/>
          </a:xfrm>
          <a:prstGeom prst="rect">
            <a:avLst/>
          </a:prstGeom>
          <a:noFill/>
          <a:ln/>
        </p:spPr>
        <p:txBody>
          <a:bodyPr wrap="square" lIns="0" tIns="0" rIns="0" bIns="0" rtlCol="0" anchor="ctr"/>
          <a:lstStyle/>
          <a:p>
            <a:pPr indent="0" marL="0">
              <a:buNone/>
            </a:pPr>
            <a:r>
              <a:rPr lang="en-US" sz="2600" i="1" dirty="0">
                <a:solidFill>
                  <a:srgbClr val="E74C3C"/>
                </a:solidFill>
                <a:latin typeface="Calibri" pitchFamily="34" charset="0"/>
                <a:ea typeface="Calibri" pitchFamily="34" charset="-122"/>
                <a:cs typeface="Calibri" pitchFamily="34" charset="-120"/>
              </a:rPr>
              <a:t>False Command Injection via Modbus MITM</a:t>
            </a:r>
            <a:endParaRPr lang="en-US" sz="2600" dirty="0"/>
          </a:p>
        </p:txBody>
      </p:sp>
      <p:sp>
        <p:nvSpPr>
          <p:cNvPr id="5" name="Text 3"/>
          <p:cNvSpPr/>
          <p:nvPr/>
        </p:nvSpPr>
        <p:spPr>
          <a:xfrm>
            <a:off x="365760" y="2148840"/>
            <a:ext cx="8412480" cy="320040"/>
          </a:xfrm>
          <a:prstGeom prst="rect">
            <a:avLst/>
          </a:prstGeom>
          <a:noFill/>
          <a:ln/>
        </p:spPr>
        <p:txBody>
          <a:bodyPr wrap="square" lIns="0" tIns="0" rIns="0" bIns="0" rtlCol="0" anchor="ctr"/>
          <a:lstStyle/>
          <a:p>
            <a:pPr indent="0" marL="0">
              <a:buNone/>
            </a:pPr>
            <a:r>
              <a:rPr lang="en-US" sz="1300" dirty="0">
                <a:solidFill>
                  <a:srgbClr val="8FA3B1"/>
                </a:solidFill>
                <a:latin typeface="Calibri" pitchFamily="34" charset="0"/>
                <a:ea typeface="Calibri" pitchFamily="34" charset="-122"/>
                <a:cs typeface="Calibri" pitchFamily="34" charset="-120"/>
              </a:rPr>
              <a:t>Based on Alsabbagh et al., IEEE CCNC 2023  (Paper #9)</a:t>
            </a:r>
            <a:endParaRPr lang="en-US" sz="1300" dirty="0"/>
          </a:p>
        </p:txBody>
      </p:sp>
      <p:sp>
        <p:nvSpPr>
          <p:cNvPr id="6" name="Shape 4"/>
          <p:cNvSpPr/>
          <p:nvPr/>
        </p:nvSpPr>
        <p:spPr>
          <a:xfrm>
            <a:off x="365760" y="2788920"/>
            <a:ext cx="1280160" cy="347472"/>
          </a:xfrm>
          <a:prstGeom prst="rect">
            <a:avLst/>
          </a:prstGeom>
          <a:solidFill>
            <a:srgbClr val="2980B9"/>
          </a:solidFill>
          <a:ln w="12700">
            <a:solidFill>
              <a:srgbClr val="2980B9"/>
            </a:solidFill>
            <a:prstDash val="solid"/>
          </a:ln>
        </p:spPr>
      </p:sp>
      <p:sp>
        <p:nvSpPr>
          <p:cNvPr id="7" name="Text 5"/>
          <p:cNvSpPr/>
          <p:nvPr/>
        </p:nvSpPr>
        <p:spPr>
          <a:xfrm>
            <a:off x="36576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 Recon</a:t>
            </a:r>
            <a:endParaRPr lang="en-US" sz="1100" dirty="0"/>
          </a:p>
        </p:txBody>
      </p:sp>
      <p:sp>
        <p:nvSpPr>
          <p:cNvPr id="8" name="Shape 6"/>
          <p:cNvSpPr/>
          <p:nvPr/>
        </p:nvSpPr>
        <p:spPr>
          <a:xfrm>
            <a:off x="1828800" y="2788920"/>
            <a:ext cx="1280160" cy="347472"/>
          </a:xfrm>
          <a:prstGeom prst="rect">
            <a:avLst/>
          </a:prstGeom>
          <a:solidFill>
            <a:srgbClr val="C0392B"/>
          </a:solidFill>
          <a:ln w="12700">
            <a:solidFill>
              <a:srgbClr val="C0392B"/>
            </a:solidFill>
            <a:prstDash val="solid"/>
          </a:ln>
        </p:spPr>
      </p:sp>
      <p:sp>
        <p:nvSpPr>
          <p:cNvPr id="9" name="Text 7"/>
          <p:cNvSpPr/>
          <p:nvPr/>
        </p:nvSpPr>
        <p:spPr>
          <a:xfrm>
            <a:off x="182880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Inject</a:t>
            </a:r>
            <a:endParaRPr lang="en-US" sz="1100" dirty="0"/>
          </a:p>
        </p:txBody>
      </p:sp>
      <p:sp>
        <p:nvSpPr>
          <p:cNvPr id="10" name="Shape 8"/>
          <p:cNvSpPr/>
          <p:nvPr/>
        </p:nvSpPr>
        <p:spPr>
          <a:xfrm>
            <a:off x="3291840" y="2788920"/>
            <a:ext cx="1280160" cy="347472"/>
          </a:xfrm>
          <a:prstGeom prst="rect">
            <a:avLst/>
          </a:prstGeom>
          <a:solidFill>
            <a:srgbClr val="8E44AD"/>
          </a:solidFill>
          <a:ln w="12700">
            <a:solidFill>
              <a:srgbClr val="8E44AD"/>
            </a:solidFill>
            <a:prstDash val="solid"/>
          </a:ln>
        </p:spPr>
      </p:sp>
      <p:sp>
        <p:nvSpPr>
          <p:cNvPr id="11" name="Text 9"/>
          <p:cNvSpPr/>
          <p:nvPr/>
        </p:nvSpPr>
        <p:spPr>
          <a:xfrm>
            <a:off x="3291840" y="278892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 Conceal</a:t>
            </a:r>
            <a:endParaRPr lang="en-US" sz="1100" dirty="0"/>
          </a:p>
        </p:txBody>
      </p:sp>
      <p:sp>
        <p:nvSpPr>
          <p:cNvPr id="12" name="Shape 10"/>
          <p:cNvSpPr/>
          <p:nvPr/>
        </p:nvSpPr>
        <p:spPr>
          <a:xfrm>
            <a:off x="365760" y="3337560"/>
            <a:ext cx="6217920" cy="822960"/>
          </a:xfrm>
          <a:prstGeom prst="rect">
            <a:avLst/>
          </a:prstGeom>
          <a:solidFill>
            <a:srgbClr val="1B3A5C"/>
          </a:solidFill>
          <a:ln w="12700">
            <a:solidFill>
              <a:srgbClr val="1B3A5C"/>
            </a:solidFill>
            <a:prstDash val="solid"/>
          </a:ln>
        </p:spPr>
      </p:sp>
      <p:sp>
        <p:nvSpPr>
          <p:cNvPr id="13" name="Shape 11"/>
          <p:cNvSpPr/>
          <p:nvPr/>
        </p:nvSpPr>
        <p:spPr>
          <a:xfrm>
            <a:off x="365760" y="3337560"/>
            <a:ext cx="64008" cy="822960"/>
          </a:xfrm>
          <a:prstGeom prst="rect">
            <a:avLst/>
          </a:prstGeom>
          <a:solidFill>
            <a:srgbClr val="F4A261"/>
          </a:solidFill>
          <a:ln w="12700">
            <a:solidFill>
              <a:srgbClr val="F4A261"/>
            </a:solidFill>
            <a:prstDash val="solid"/>
          </a:ln>
        </p:spPr>
      </p:sp>
      <p:sp>
        <p:nvSpPr>
          <p:cNvPr id="14" name="Text 12"/>
          <p:cNvSpPr/>
          <p:nvPr/>
        </p:nvSpPr>
        <p:spPr>
          <a:xfrm>
            <a:off x="548640" y="3337560"/>
            <a:ext cx="5943600" cy="82296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 xml:space="preserve">Target:  </a:t>
            </a:r>
            <a:pPr indent="0" marL="0">
              <a:buNone/>
            </a:pPr>
            <a:r>
              <a:rPr lang="en-US" sz="1300" dirty="0">
                <a:solidFill>
                  <a:srgbClr val="E8EEF4"/>
                </a:solidFill>
                <a:latin typeface="Calibri" pitchFamily="34" charset="0"/>
                <a:ea typeface="Calibri" pitchFamily="34" charset="-122"/>
                <a:cs typeface="Calibri" pitchFamily="34" charset="-120"/>
              </a:rPr>
              <a:t>PLC1 (P1 stage) — Force MV101 CLOSED + P101 OFF via unauthenticated Modbus writes</a:t>
            </a:r>
            <a:endParaRPr lang="en-US" sz="1300" dirty="0"/>
          </a:p>
        </p:txBody>
      </p:sp>
      <p:sp>
        <p:nvSpPr>
          <p:cNvPr id="15" name="Shape 13"/>
          <p:cNvSpPr/>
          <p:nvPr/>
        </p:nvSpPr>
        <p:spPr>
          <a:xfrm>
            <a:off x="6766560" y="1371600"/>
            <a:ext cx="2103120" cy="3108960"/>
          </a:xfrm>
          <a:prstGeom prst="rect">
            <a:avLst/>
          </a:prstGeom>
          <a:solidFill>
            <a:srgbClr val="1E2D3D"/>
          </a:solidFill>
          <a:ln w="12700">
            <a:solidFill>
              <a:srgbClr val="2980B9"/>
            </a:solidFill>
            <a:prstDash val="solid"/>
          </a:ln>
        </p:spPr>
      </p:sp>
      <p:sp>
        <p:nvSpPr>
          <p:cNvPr id="16" name="Text 14"/>
          <p:cNvSpPr/>
          <p:nvPr/>
        </p:nvSpPr>
        <p:spPr>
          <a:xfrm>
            <a:off x="6766560" y="1417320"/>
            <a:ext cx="2103120" cy="320040"/>
          </a:xfrm>
          <a:prstGeom prst="rect">
            <a:avLst/>
          </a:prstGeom>
          <a:noFill/>
          <a:ln/>
        </p:spPr>
        <p:txBody>
          <a:bodyPr wrap="square" lIns="0" tIns="0" rIns="0" bIns="0" rtlCol="0" anchor="ctr"/>
          <a:lstStyle/>
          <a:p>
            <a:pPr algn="ctr" indent="0" marL="0">
              <a:buNone/>
            </a:pPr>
            <a:r>
              <a:rPr lang="en-US" sz="1200" b="1" dirty="0">
                <a:solidFill>
                  <a:srgbClr val="3498DB"/>
                </a:solidFill>
                <a:latin typeface="Calibri" pitchFamily="34" charset="0"/>
                <a:ea typeface="Calibri" pitchFamily="34" charset="-122"/>
                <a:cs typeface="Calibri" pitchFamily="34" charset="-120"/>
              </a:rPr>
              <a:t>Scripts</a:t>
            </a:r>
            <a:endParaRPr lang="en-US" sz="1200" dirty="0"/>
          </a:p>
        </p:txBody>
      </p:sp>
      <p:sp>
        <p:nvSpPr>
          <p:cNvPr id="17" name="Text 15"/>
          <p:cNvSpPr/>
          <p:nvPr/>
        </p:nvSpPr>
        <p:spPr>
          <a:xfrm>
            <a:off x="6858000" y="187452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phase0_recon.py</a:t>
            </a:r>
            <a:endParaRPr lang="en-US" sz="1100" dirty="0"/>
          </a:p>
        </p:txBody>
      </p:sp>
      <p:sp>
        <p:nvSpPr>
          <p:cNvPr id="18" name="Text 16"/>
          <p:cNvSpPr/>
          <p:nvPr/>
        </p:nvSpPr>
        <p:spPr>
          <a:xfrm>
            <a:off x="6858000" y="237744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phase1_inject.py</a:t>
            </a:r>
            <a:endParaRPr lang="en-US" sz="1100" dirty="0"/>
          </a:p>
        </p:txBody>
      </p:sp>
      <p:sp>
        <p:nvSpPr>
          <p:cNvPr id="19" name="Text 17"/>
          <p:cNvSpPr/>
          <p:nvPr/>
        </p:nvSpPr>
        <p:spPr>
          <a:xfrm>
            <a:off x="6858000" y="2880360"/>
            <a:ext cx="1920240" cy="36576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phase2_spoof.py</a:t>
            </a:r>
            <a:endParaRPr lang="en-US" sz="1100" dirty="0"/>
          </a:p>
        </p:txBody>
      </p:sp>
      <p:sp>
        <p:nvSpPr>
          <p:cNvPr id="20" name="Text 18"/>
          <p:cNvSpPr/>
          <p:nvPr/>
        </p:nvSpPr>
        <p:spPr>
          <a:xfrm>
            <a:off x="6858000" y="3520440"/>
            <a:ext cx="1920240" cy="548640"/>
          </a:xfrm>
          <a:prstGeom prst="rect">
            <a:avLst/>
          </a:prstGeom>
          <a:noFill/>
          <a:ln/>
        </p:spPr>
        <p:txBody>
          <a:bodyPr wrap="square" lIns="0" tIns="0" rIns="0" bIns="0" rtlCol="0" anchor="ctr"/>
          <a:lstStyle/>
          <a:p>
            <a:pPr indent="0" marL="0">
              <a:buNone/>
            </a:pPr>
            <a:r>
              <a:rPr lang="en-US" sz="1000" dirty="0">
                <a:solidFill>
                  <a:srgbClr val="8FA3B1"/>
                </a:solidFill>
                <a:latin typeface="Calibri" pitchFamily="34" charset="0"/>
                <a:ea typeface="Calibri" pitchFamily="34" charset="-122"/>
                <a:cs typeface="Calibri" pitchFamily="34" charset="-120"/>
              </a:rPr>
              <a:t>Python / Scapy</a:t>
            </a:r>
            <a:endParaRPr lang="en-US" sz="1000" dirty="0"/>
          </a:p>
          <a:p>
            <a:pPr indent="0" marL="0">
              <a:buNone/>
            </a:pPr>
            <a:r>
              <a:rPr lang="en-US" sz="1000" dirty="0">
                <a:solidFill>
                  <a:srgbClr val="8FA3B1"/>
                </a:solidFill>
                <a:latin typeface="Calibri" pitchFamily="34" charset="0"/>
                <a:ea typeface="Calibri" pitchFamily="34" charset="-122"/>
                <a:cs typeface="Calibri" pitchFamily="34" charset="-120"/>
              </a:rPr>
              <a:t>pyModbus / PyTorch</a:t>
            </a:r>
            <a:endParaRPr lang="en-US" sz="1000" dirty="0"/>
          </a:p>
        </p:txBody>
      </p:sp>
      <p:sp>
        <p:nvSpPr>
          <p:cNvPr id="21" name="Shape 19"/>
          <p:cNvSpPr/>
          <p:nvPr/>
        </p:nvSpPr>
        <p:spPr>
          <a:xfrm>
            <a:off x="0" y="4754880"/>
            <a:ext cx="9144000" cy="384048"/>
          </a:xfrm>
          <a:prstGeom prst="rect">
            <a:avLst/>
          </a:prstGeom>
          <a:solidFill>
            <a:srgbClr val="1B3A5C"/>
          </a:solidFill>
          <a:ln w="12700">
            <a:solidFill>
              <a:srgbClr val="1B3A5C"/>
            </a:solidFill>
            <a:prstDash val="solid"/>
          </a:ln>
        </p:spPr>
      </p:sp>
      <p:sp>
        <p:nvSpPr>
          <p:cNvPr id="22" name="Text 20"/>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Overview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SWaT P1 — What We Are Attacking</a:t>
            </a:r>
            <a:endParaRPr lang="en-US" sz="3000" dirty="0"/>
          </a:p>
        </p:txBody>
      </p:sp>
      <p:sp>
        <p:nvSpPr>
          <p:cNvPr id="3" name="Text 1"/>
          <p:cNvSpPr/>
          <p:nvPr/>
        </p:nvSpPr>
        <p:spPr>
          <a:xfrm>
            <a:off x="365760" y="640080"/>
            <a:ext cx="8412480" cy="274320"/>
          </a:xfrm>
          <a:prstGeom prst="rect">
            <a:avLst/>
          </a:prstGeom>
          <a:noFill/>
          <a:ln/>
        </p:spPr>
        <p:txBody>
          <a:bodyPr wrap="square" lIns="0" tIns="0" rIns="0" bIns="0" rtlCol="0" anchor="ctr"/>
          <a:lstStyle/>
          <a:p>
            <a:pPr indent="0" marL="0">
              <a:buNone/>
            </a:pPr>
            <a:r>
              <a:rPr lang="en-US" sz="1300" i="1" dirty="0">
                <a:solidFill>
                  <a:srgbClr val="8FA3B1"/>
                </a:solidFill>
                <a:latin typeface="Calibri" pitchFamily="34" charset="0"/>
                <a:ea typeface="Calibri" pitchFamily="34" charset="-122"/>
                <a:cs typeface="Calibri" pitchFamily="34" charset="-120"/>
              </a:rPr>
              <a:t>Raw Water Intake Stage  ·  PLC1  ·  Modbus TCP port 502</a:t>
            </a:r>
            <a:endParaRPr lang="en-US" sz="1300" dirty="0"/>
          </a:p>
        </p:txBody>
      </p:sp>
      <p:pic>
        <p:nvPicPr>
          <p:cNvPr id="4" name="Image 0" descr="preencoded.png"/>
          <p:cNvPicPr>
            <a:picLocks noChangeAspect="1"/>
          </p:cNvPicPr>
          <p:nvPr/>
        </p:nvPicPr>
        <p:blipFill>
          <a:blip r:embed="rId1"/>
          <a:stretch>
            <a:fillRect/>
          </a:stretch>
        </p:blipFill>
        <p:spPr>
          <a:xfrm>
            <a:off x="182880" y="987552"/>
            <a:ext cx="8778240" cy="3657600"/>
          </a:xfrm>
          <a:prstGeom prst="rect">
            <a:avLst/>
          </a:prstGeom>
        </p:spPr>
      </p:pic>
      <p:sp>
        <p:nvSpPr>
          <p:cNvPr id="5" name="Shape 2"/>
          <p:cNvSpPr/>
          <p:nvPr/>
        </p:nvSpPr>
        <p:spPr>
          <a:xfrm>
            <a:off x="0" y="4754880"/>
            <a:ext cx="9144000" cy="384048"/>
          </a:xfrm>
          <a:prstGeom prst="rect">
            <a:avLst/>
          </a:prstGeom>
          <a:solidFill>
            <a:srgbClr val="1B3A5C"/>
          </a:solidFill>
          <a:ln w="12700">
            <a:solidFill>
              <a:srgbClr val="1B3A5C"/>
            </a:solidFill>
            <a:prstDash val="solid"/>
          </a:ln>
        </p:spPr>
      </p:sp>
      <p:sp>
        <p:nvSpPr>
          <p:cNvPr id="6" name="Text 3"/>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12/18 — Architecture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Threat Model &amp; Attack Surface</a:t>
            </a:r>
            <a:endParaRPr lang="en-US" sz="3000" dirty="0"/>
          </a:p>
        </p:txBody>
      </p:sp>
      <p:sp>
        <p:nvSpPr>
          <p:cNvPr id="3" name="Shape 1"/>
          <p:cNvSpPr/>
          <p:nvPr/>
        </p:nvSpPr>
        <p:spPr>
          <a:xfrm>
            <a:off x="274320" y="777240"/>
            <a:ext cx="4160520" cy="3383280"/>
          </a:xfrm>
          <a:prstGeom prst="rect">
            <a:avLst/>
          </a:prstGeom>
          <a:solidFill>
            <a:srgbClr val="1B3A5C"/>
          </a:solidFill>
          <a:ln w="12700">
            <a:solidFill>
              <a:srgbClr val="1B3A5C"/>
            </a:solidFill>
            <a:prstDash val="solid"/>
          </a:ln>
        </p:spPr>
      </p:sp>
      <p:sp>
        <p:nvSpPr>
          <p:cNvPr id="4" name="Shape 2"/>
          <p:cNvSpPr/>
          <p:nvPr/>
        </p:nvSpPr>
        <p:spPr>
          <a:xfrm>
            <a:off x="274320" y="777240"/>
            <a:ext cx="64008" cy="3383280"/>
          </a:xfrm>
          <a:prstGeom prst="rect">
            <a:avLst/>
          </a:prstGeom>
          <a:solidFill>
            <a:srgbClr val="C0392B"/>
          </a:solidFill>
          <a:ln w="12700">
            <a:solidFill>
              <a:srgbClr val="C0392B"/>
            </a:solidFill>
            <a:prstDash val="solid"/>
          </a:ln>
        </p:spPr>
      </p:sp>
      <p:sp>
        <p:nvSpPr>
          <p:cNvPr id="5" name="Text 3"/>
          <p:cNvSpPr/>
          <p:nvPr/>
        </p:nvSpPr>
        <p:spPr>
          <a:xfrm>
            <a:off x="502920" y="850392"/>
            <a:ext cx="3749040" cy="347472"/>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Attacker Profile</a:t>
            </a:r>
            <a:endParaRPr lang="en-US" sz="1600" dirty="0"/>
          </a:p>
        </p:txBody>
      </p:sp>
      <p:sp>
        <p:nvSpPr>
          <p:cNvPr id="6" name="Shape 4"/>
          <p:cNvSpPr/>
          <p:nvPr/>
        </p:nvSpPr>
        <p:spPr>
          <a:xfrm>
            <a:off x="502920" y="1325880"/>
            <a:ext cx="914400" cy="347472"/>
          </a:xfrm>
          <a:prstGeom prst="rect">
            <a:avLst/>
          </a:prstGeom>
          <a:solidFill>
            <a:srgbClr val="C0392B"/>
          </a:solidFill>
          <a:ln w="12700">
            <a:solidFill>
              <a:srgbClr val="C0392B"/>
            </a:solidFill>
            <a:prstDash val="solid"/>
          </a:ln>
        </p:spPr>
      </p:sp>
      <p:sp>
        <p:nvSpPr>
          <p:cNvPr id="7" name="Text 5"/>
          <p:cNvSpPr/>
          <p:nvPr/>
        </p:nvSpPr>
        <p:spPr>
          <a:xfrm>
            <a:off x="502920" y="1325880"/>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Access level</a:t>
            </a:r>
            <a:endParaRPr lang="en-US" sz="900" dirty="0"/>
          </a:p>
        </p:txBody>
      </p:sp>
      <p:sp>
        <p:nvSpPr>
          <p:cNvPr id="8" name="Text 6"/>
          <p:cNvSpPr/>
          <p:nvPr/>
        </p:nvSpPr>
        <p:spPr>
          <a:xfrm>
            <a:off x="1508760" y="1325880"/>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Zone D (IT network) — realistic via USB/phishing (TRITON, BlackEnergy precedent)</a:t>
            </a:r>
            <a:endParaRPr lang="en-US" sz="1000" dirty="0"/>
          </a:p>
        </p:txBody>
      </p:sp>
      <p:sp>
        <p:nvSpPr>
          <p:cNvPr id="9" name="Shape 7"/>
          <p:cNvSpPr/>
          <p:nvPr/>
        </p:nvSpPr>
        <p:spPr>
          <a:xfrm>
            <a:off x="502920" y="1901952"/>
            <a:ext cx="914400" cy="347472"/>
          </a:xfrm>
          <a:prstGeom prst="rect">
            <a:avLst/>
          </a:prstGeom>
          <a:solidFill>
            <a:srgbClr val="C0392B"/>
          </a:solidFill>
          <a:ln w="12700">
            <a:solidFill>
              <a:srgbClr val="C0392B"/>
            </a:solidFill>
            <a:prstDash val="solid"/>
          </a:ln>
        </p:spPr>
      </p:sp>
      <p:sp>
        <p:nvSpPr>
          <p:cNvPr id="10" name="Text 8"/>
          <p:cNvSpPr/>
          <p:nvPr/>
        </p:nvSpPr>
        <p:spPr>
          <a:xfrm>
            <a:off x="502920" y="1901952"/>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Goal</a:t>
            </a:r>
            <a:endParaRPr lang="en-US" sz="900" dirty="0"/>
          </a:p>
        </p:txBody>
      </p:sp>
      <p:sp>
        <p:nvSpPr>
          <p:cNvPr id="11" name="Text 9"/>
          <p:cNvSpPr/>
          <p:nvPr/>
        </p:nvSpPr>
        <p:spPr>
          <a:xfrm>
            <a:off x="1508760" y="1901952"/>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Disrupt P1 water intake; starve downstream P2–P6 stages</a:t>
            </a:r>
            <a:endParaRPr lang="en-US" sz="1000" dirty="0"/>
          </a:p>
        </p:txBody>
      </p:sp>
      <p:sp>
        <p:nvSpPr>
          <p:cNvPr id="12" name="Shape 10"/>
          <p:cNvSpPr/>
          <p:nvPr/>
        </p:nvSpPr>
        <p:spPr>
          <a:xfrm>
            <a:off x="502920" y="2478024"/>
            <a:ext cx="914400" cy="347472"/>
          </a:xfrm>
          <a:prstGeom prst="rect">
            <a:avLst/>
          </a:prstGeom>
          <a:solidFill>
            <a:srgbClr val="C0392B"/>
          </a:solidFill>
          <a:ln w="12700">
            <a:solidFill>
              <a:srgbClr val="C0392B"/>
            </a:solidFill>
            <a:prstDash val="solid"/>
          </a:ln>
        </p:spPr>
      </p:sp>
      <p:sp>
        <p:nvSpPr>
          <p:cNvPr id="13" name="Text 11"/>
          <p:cNvSpPr/>
          <p:nvPr/>
        </p:nvSpPr>
        <p:spPr>
          <a:xfrm>
            <a:off x="502920" y="2478024"/>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Tools</a:t>
            </a:r>
            <a:endParaRPr lang="en-US" sz="900" dirty="0"/>
          </a:p>
        </p:txBody>
      </p:sp>
      <p:sp>
        <p:nvSpPr>
          <p:cNvPr id="14" name="Text 12"/>
          <p:cNvSpPr/>
          <p:nvPr/>
        </p:nvSpPr>
        <p:spPr>
          <a:xfrm>
            <a:off x="1508760" y="2478024"/>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Scapy, pyModbus, arpspoof — all standard Python</a:t>
            </a:r>
            <a:endParaRPr lang="en-US" sz="1000" dirty="0"/>
          </a:p>
        </p:txBody>
      </p:sp>
      <p:sp>
        <p:nvSpPr>
          <p:cNvPr id="15" name="Shape 13"/>
          <p:cNvSpPr/>
          <p:nvPr/>
        </p:nvSpPr>
        <p:spPr>
          <a:xfrm>
            <a:off x="502920" y="3054096"/>
            <a:ext cx="914400" cy="347472"/>
          </a:xfrm>
          <a:prstGeom prst="rect">
            <a:avLst/>
          </a:prstGeom>
          <a:solidFill>
            <a:srgbClr val="C0392B"/>
          </a:solidFill>
          <a:ln w="12700">
            <a:solidFill>
              <a:srgbClr val="C0392B"/>
            </a:solidFill>
            <a:prstDash val="solid"/>
          </a:ln>
        </p:spPr>
      </p:sp>
      <p:sp>
        <p:nvSpPr>
          <p:cNvPr id="16" name="Text 14"/>
          <p:cNvSpPr/>
          <p:nvPr/>
        </p:nvSpPr>
        <p:spPr>
          <a:xfrm>
            <a:off x="502920" y="3054096"/>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Knowledge</a:t>
            </a:r>
            <a:endParaRPr lang="en-US" sz="900" dirty="0"/>
          </a:p>
        </p:txBody>
      </p:sp>
      <p:sp>
        <p:nvSpPr>
          <p:cNvPr id="17" name="Text 15"/>
          <p:cNvSpPr/>
          <p:nvPr/>
        </p:nvSpPr>
        <p:spPr>
          <a:xfrm>
            <a:off x="1508760" y="3054096"/>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Modbus spec is public; no PLC vendor credentials needed</a:t>
            </a:r>
            <a:endParaRPr lang="en-US" sz="1000" dirty="0"/>
          </a:p>
        </p:txBody>
      </p:sp>
      <p:sp>
        <p:nvSpPr>
          <p:cNvPr id="18" name="Shape 16"/>
          <p:cNvSpPr/>
          <p:nvPr/>
        </p:nvSpPr>
        <p:spPr>
          <a:xfrm>
            <a:off x="502920" y="3630168"/>
            <a:ext cx="914400" cy="347472"/>
          </a:xfrm>
          <a:prstGeom prst="rect">
            <a:avLst/>
          </a:prstGeom>
          <a:solidFill>
            <a:srgbClr val="C0392B"/>
          </a:solidFill>
          <a:ln w="12700">
            <a:solidFill>
              <a:srgbClr val="C0392B"/>
            </a:solidFill>
            <a:prstDash val="solid"/>
          </a:ln>
        </p:spPr>
      </p:sp>
      <p:sp>
        <p:nvSpPr>
          <p:cNvPr id="19" name="Text 17"/>
          <p:cNvSpPr/>
          <p:nvPr/>
        </p:nvSpPr>
        <p:spPr>
          <a:xfrm>
            <a:off x="502920" y="3630168"/>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Stealth</a:t>
            </a:r>
            <a:endParaRPr lang="en-US" sz="900" dirty="0"/>
          </a:p>
        </p:txBody>
      </p:sp>
      <p:sp>
        <p:nvSpPr>
          <p:cNvPr id="20" name="Text 18"/>
          <p:cNvSpPr/>
          <p:nvPr/>
        </p:nvSpPr>
        <p:spPr>
          <a:xfrm>
            <a:off x="1508760" y="3630168"/>
            <a:ext cx="278892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HMI operator sees nothing — fake responses replayed from pre-built DB</a:t>
            </a:r>
            <a:endParaRPr lang="en-US" sz="1000" dirty="0"/>
          </a:p>
        </p:txBody>
      </p:sp>
      <p:sp>
        <p:nvSpPr>
          <p:cNvPr id="21" name="Shape 19"/>
          <p:cNvSpPr/>
          <p:nvPr/>
        </p:nvSpPr>
        <p:spPr>
          <a:xfrm>
            <a:off x="4709160" y="777240"/>
            <a:ext cx="4160520" cy="3383280"/>
          </a:xfrm>
          <a:prstGeom prst="rect">
            <a:avLst/>
          </a:prstGeom>
          <a:solidFill>
            <a:srgbClr val="1B3A5C"/>
          </a:solidFill>
          <a:ln w="12700">
            <a:solidFill>
              <a:srgbClr val="1B3A5C"/>
            </a:solidFill>
            <a:prstDash val="solid"/>
          </a:ln>
        </p:spPr>
      </p:sp>
      <p:sp>
        <p:nvSpPr>
          <p:cNvPr id="22" name="Shape 20"/>
          <p:cNvSpPr/>
          <p:nvPr/>
        </p:nvSpPr>
        <p:spPr>
          <a:xfrm>
            <a:off x="4709160" y="777240"/>
            <a:ext cx="64008" cy="3383280"/>
          </a:xfrm>
          <a:prstGeom prst="rect">
            <a:avLst/>
          </a:prstGeom>
          <a:solidFill>
            <a:srgbClr val="F4A261"/>
          </a:solidFill>
          <a:ln w="12700">
            <a:solidFill>
              <a:srgbClr val="F4A261"/>
            </a:solidFill>
            <a:prstDash val="solid"/>
          </a:ln>
        </p:spPr>
      </p:sp>
      <p:sp>
        <p:nvSpPr>
          <p:cNvPr id="23" name="Text 21"/>
          <p:cNvSpPr/>
          <p:nvPr/>
        </p:nvSpPr>
        <p:spPr>
          <a:xfrm>
            <a:off x="4937760" y="850392"/>
            <a:ext cx="3749040" cy="347472"/>
          </a:xfrm>
          <a:prstGeom prst="rect">
            <a:avLst/>
          </a:prstGeom>
          <a:noFill/>
          <a:ln/>
        </p:spPr>
        <p:txBody>
          <a:bodyPr wrap="square" lIns="0" tIns="0" rIns="0" bIns="0" rtlCol="0" anchor="ctr"/>
          <a:lstStyle/>
          <a:p>
            <a:pPr indent="0" marL="0">
              <a:buNone/>
            </a:pPr>
            <a:r>
              <a:rPr lang="en-US" sz="1600" b="1" dirty="0">
                <a:solidFill>
                  <a:srgbClr val="F4A261"/>
                </a:solidFill>
                <a:latin typeface="Calibri" pitchFamily="34" charset="0"/>
                <a:ea typeface="Calibri" pitchFamily="34" charset="-122"/>
                <a:cs typeface="Calibri" pitchFamily="34" charset="-120"/>
              </a:rPr>
              <a:t>Why Modbus Has No Defence</a:t>
            </a:r>
            <a:endParaRPr lang="en-US" sz="1600" dirty="0"/>
          </a:p>
        </p:txBody>
      </p:sp>
      <p:sp>
        <p:nvSpPr>
          <p:cNvPr id="24" name="Shape 22"/>
          <p:cNvSpPr/>
          <p:nvPr/>
        </p:nvSpPr>
        <p:spPr>
          <a:xfrm>
            <a:off x="4937760" y="1325880"/>
            <a:ext cx="914400" cy="347472"/>
          </a:xfrm>
          <a:prstGeom prst="rect">
            <a:avLst/>
          </a:prstGeom>
          <a:solidFill>
            <a:srgbClr val="E67E22"/>
          </a:solidFill>
          <a:ln w="12700">
            <a:solidFill>
              <a:srgbClr val="E67E22"/>
            </a:solidFill>
            <a:prstDash val="solid"/>
          </a:ln>
        </p:spPr>
      </p:sp>
      <p:sp>
        <p:nvSpPr>
          <p:cNvPr id="25" name="Text 23"/>
          <p:cNvSpPr/>
          <p:nvPr/>
        </p:nvSpPr>
        <p:spPr>
          <a:xfrm>
            <a:off x="4937760" y="1325880"/>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Auth</a:t>
            </a:r>
            <a:endParaRPr lang="en-US" sz="900" dirty="0"/>
          </a:p>
        </p:txBody>
      </p:sp>
      <p:sp>
        <p:nvSpPr>
          <p:cNvPr id="26" name="Text 24"/>
          <p:cNvSpPr/>
          <p:nvPr/>
        </p:nvSpPr>
        <p:spPr>
          <a:xfrm>
            <a:off x="5943600" y="1325880"/>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Any device on the network can write coils/registers to any PLC</a:t>
            </a:r>
            <a:endParaRPr lang="en-US" sz="1000" dirty="0"/>
          </a:p>
        </p:txBody>
      </p:sp>
      <p:sp>
        <p:nvSpPr>
          <p:cNvPr id="27" name="Shape 25"/>
          <p:cNvSpPr/>
          <p:nvPr/>
        </p:nvSpPr>
        <p:spPr>
          <a:xfrm>
            <a:off x="4937760" y="1901952"/>
            <a:ext cx="914400" cy="347472"/>
          </a:xfrm>
          <a:prstGeom prst="rect">
            <a:avLst/>
          </a:prstGeom>
          <a:solidFill>
            <a:srgbClr val="E67E22"/>
          </a:solidFill>
          <a:ln w="12700">
            <a:solidFill>
              <a:srgbClr val="E67E22"/>
            </a:solidFill>
            <a:prstDash val="solid"/>
          </a:ln>
        </p:spPr>
      </p:sp>
      <p:sp>
        <p:nvSpPr>
          <p:cNvPr id="28" name="Text 26"/>
          <p:cNvSpPr/>
          <p:nvPr/>
        </p:nvSpPr>
        <p:spPr>
          <a:xfrm>
            <a:off x="4937760" y="1901952"/>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Plaintext</a:t>
            </a:r>
            <a:endParaRPr lang="en-US" sz="900" dirty="0"/>
          </a:p>
        </p:txBody>
      </p:sp>
      <p:sp>
        <p:nvSpPr>
          <p:cNvPr id="29" name="Text 27"/>
          <p:cNvSpPr/>
          <p:nvPr/>
        </p:nvSpPr>
        <p:spPr>
          <a:xfrm>
            <a:off x="5943600" y="1901952"/>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Frames transferred in clear — Wireshark reveals everything</a:t>
            </a:r>
            <a:endParaRPr lang="en-US" sz="1000" dirty="0"/>
          </a:p>
        </p:txBody>
      </p:sp>
      <p:sp>
        <p:nvSpPr>
          <p:cNvPr id="30" name="Shape 28"/>
          <p:cNvSpPr/>
          <p:nvPr/>
        </p:nvSpPr>
        <p:spPr>
          <a:xfrm>
            <a:off x="4937760" y="2478024"/>
            <a:ext cx="914400" cy="347472"/>
          </a:xfrm>
          <a:prstGeom prst="rect">
            <a:avLst/>
          </a:prstGeom>
          <a:solidFill>
            <a:srgbClr val="E67E22"/>
          </a:solidFill>
          <a:ln w="12700">
            <a:solidFill>
              <a:srgbClr val="E67E22"/>
            </a:solidFill>
            <a:prstDash val="solid"/>
          </a:ln>
        </p:spPr>
      </p:sp>
      <p:sp>
        <p:nvSpPr>
          <p:cNvPr id="31" name="Text 29"/>
          <p:cNvSpPr/>
          <p:nvPr/>
        </p:nvSpPr>
        <p:spPr>
          <a:xfrm>
            <a:off x="4937760" y="2478024"/>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timestamp</a:t>
            </a:r>
            <a:endParaRPr lang="en-US" sz="900" dirty="0"/>
          </a:p>
        </p:txBody>
      </p:sp>
      <p:sp>
        <p:nvSpPr>
          <p:cNvPr id="32" name="Text 30"/>
          <p:cNvSpPr/>
          <p:nvPr/>
        </p:nvSpPr>
        <p:spPr>
          <a:xfrm>
            <a:off x="5943600" y="2478024"/>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Devices cannot tell if a response is current or a replay</a:t>
            </a:r>
            <a:endParaRPr lang="en-US" sz="1000" dirty="0"/>
          </a:p>
        </p:txBody>
      </p:sp>
      <p:sp>
        <p:nvSpPr>
          <p:cNvPr id="33" name="Shape 31"/>
          <p:cNvSpPr/>
          <p:nvPr/>
        </p:nvSpPr>
        <p:spPr>
          <a:xfrm>
            <a:off x="4937760" y="3054096"/>
            <a:ext cx="914400" cy="347472"/>
          </a:xfrm>
          <a:prstGeom prst="rect">
            <a:avLst/>
          </a:prstGeom>
          <a:solidFill>
            <a:srgbClr val="E67E22"/>
          </a:solidFill>
          <a:ln w="12700">
            <a:solidFill>
              <a:srgbClr val="E67E22"/>
            </a:solidFill>
            <a:prstDash val="solid"/>
          </a:ln>
        </p:spPr>
      </p:sp>
      <p:sp>
        <p:nvSpPr>
          <p:cNvPr id="34" name="Text 32"/>
          <p:cNvSpPr/>
          <p:nvPr/>
        </p:nvSpPr>
        <p:spPr>
          <a:xfrm>
            <a:off x="4937760" y="3054096"/>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integrity</a:t>
            </a:r>
            <a:endParaRPr lang="en-US" sz="900" dirty="0"/>
          </a:p>
        </p:txBody>
      </p:sp>
      <p:sp>
        <p:nvSpPr>
          <p:cNvPr id="35" name="Text 33"/>
          <p:cNvSpPr/>
          <p:nvPr/>
        </p:nvSpPr>
        <p:spPr>
          <a:xfrm>
            <a:off x="5943600" y="3054096"/>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Frame contents can be altered; PLC cannot detect manipulation</a:t>
            </a:r>
            <a:endParaRPr lang="en-US" sz="1000" dirty="0"/>
          </a:p>
        </p:txBody>
      </p:sp>
      <p:sp>
        <p:nvSpPr>
          <p:cNvPr id="36" name="Shape 34"/>
          <p:cNvSpPr/>
          <p:nvPr/>
        </p:nvSpPr>
        <p:spPr>
          <a:xfrm>
            <a:off x="4937760" y="3630168"/>
            <a:ext cx="914400" cy="347472"/>
          </a:xfrm>
          <a:prstGeom prst="rect">
            <a:avLst/>
          </a:prstGeom>
          <a:solidFill>
            <a:srgbClr val="E67E22"/>
          </a:solidFill>
          <a:ln w="12700">
            <a:solidFill>
              <a:srgbClr val="E67E22"/>
            </a:solidFill>
            <a:prstDash val="solid"/>
          </a:ln>
        </p:spPr>
      </p:sp>
      <p:sp>
        <p:nvSpPr>
          <p:cNvPr id="37" name="Text 35"/>
          <p:cNvSpPr/>
          <p:nvPr/>
        </p:nvSpPr>
        <p:spPr>
          <a:xfrm>
            <a:off x="4937760" y="3630168"/>
            <a:ext cx="9144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Open spec</a:t>
            </a:r>
            <a:endParaRPr lang="en-US" sz="900" dirty="0"/>
          </a:p>
        </p:txBody>
      </p:sp>
      <p:sp>
        <p:nvSpPr>
          <p:cNvPr id="38" name="Text 36"/>
          <p:cNvSpPr/>
          <p:nvPr/>
        </p:nvSpPr>
        <p:spPr>
          <a:xfrm>
            <a:off x="5943600" y="3630168"/>
            <a:ext cx="2743200" cy="34747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Modbus protocol reference is freely downloadable — attacker has full spec</a:t>
            </a:r>
            <a:endParaRPr lang="en-US" sz="1000" dirty="0"/>
          </a:p>
        </p:txBody>
      </p:sp>
      <p:sp>
        <p:nvSpPr>
          <p:cNvPr id="39" name="Shape 37"/>
          <p:cNvSpPr/>
          <p:nvPr/>
        </p:nvSpPr>
        <p:spPr>
          <a:xfrm>
            <a:off x="0" y="4754880"/>
            <a:ext cx="9144000" cy="384048"/>
          </a:xfrm>
          <a:prstGeom prst="rect">
            <a:avLst/>
          </a:prstGeom>
          <a:solidFill>
            <a:srgbClr val="1B3A5C"/>
          </a:solidFill>
          <a:ln w="12700">
            <a:solidFill>
              <a:srgbClr val="1B3A5C"/>
            </a:solidFill>
            <a:prstDash val="solid"/>
          </a:ln>
        </p:spPr>
      </p:sp>
      <p:sp>
        <p:nvSpPr>
          <p:cNvPr id="40" name="Text 38"/>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13/18 — Threat Model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2980B9"/>
          </a:solidFill>
          <a:ln w="12700">
            <a:solidFill>
              <a:srgbClr val="2980B9"/>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Reconnaissance &amp; Database Building</a:t>
            </a:r>
            <a:endParaRPr lang="en-US" sz="26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phase0_recon.py  ·  NMAP SYN scan + Wireshark-style Modbus capture (~30 min)</a:t>
            </a:r>
            <a:endParaRPr lang="en-US" sz="1100" dirty="0"/>
          </a:p>
        </p:txBody>
      </p:sp>
      <p:sp>
        <p:nvSpPr>
          <p:cNvPr id="6" name="Shape 4"/>
          <p:cNvSpPr/>
          <p:nvPr/>
        </p:nvSpPr>
        <p:spPr>
          <a:xfrm>
            <a:off x="274320" y="960120"/>
            <a:ext cx="4160520" cy="1783080"/>
          </a:xfrm>
          <a:prstGeom prst="rect">
            <a:avLst/>
          </a:prstGeom>
          <a:solidFill>
            <a:srgbClr val="1B3A5C"/>
          </a:solidFill>
          <a:ln w="12700">
            <a:solidFill>
              <a:srgbClr val="1B3A5C"/>
            </a:solidFill>
            <a:prstDash val="solid"/>
          </a:ln>
        </p:spPr>
      </p:sp>
      <p:sp>
        <p:nvSpPr>
          <p:cNvPr id="7" name="Shape 5"/>
          <p:cNvSpPr/>
          <p:nvPr/>
        </p:nvSpPr>
        <p:spPr>
          <a:xfrm>
            <a:off x="274320" y="960120"/>
            <a:ext cx="64008" cy="1783080"/>
          </a:xfrm>
          <a:prstGeom prst="rect">
            <a:avLst/>
          </a:prstGeom>
          <a:solidFill>
            <a:srgbClr val="2980B9"/>
          </a:solidFill>
          <a:ln w="12700">
            <a:solidFill>
              <a:srgbClr val="2980B9"/>
            </a:solidFill>
            <a:prstDash val="solid"/>
          </a:ln>
        </p:spPr>
      </p:sp>
      <p:sp>
        <p:nvSpPr>
          <p:cNvPr id="8" name="Text 6"/>
          <p:cNvSpPr/>
          <p:nvPr/>
        </p:nvSpPr>
        <p:spPr>
          <a:xfrm>
            <a:off x="502920" y="1024128"/>
            <a:ext cx="3749040" cy="320040"/>
          </a:xfrm>
          <a:prstGeom prst="rect">
            <a:avLst/>
          </a:prstGeom>
          <a:noFill/>
          <a:ln/>
        </p:spPr>
        <p:txBody>
          <a:bodyPr wrap="square" lIns="0" tIns="0" rIns="0" bIns="0" rtlCol="0" anchor="ctr"/>
          <a:lstStyle/>
          <a:p>
            <a:pPr indent="0" marL="0">
              <a:buNone/>
            </a:pPr>
            <a:r>
              <a:rPr lang="en-US" sz="1400" b="1" dirty="0">
                <a:solidFill>
                  <a:srgbClr val="3498DB"/>
                </a:solidFill>
                <a:latin typeface="Calibri" pitchFamily="34" charset="0"/>
                <a:ea typeface="Calibri" pitchFamily="34" charset="-122"/>
                <a:cs typeface="Calibri" pitchFamily="34" charset="-120"/>
              </a:rPr>
              <a:t>Step 1 — NMAP SYN Scan</a:t>
            </a:r>
            <a:endParaRPr lang="en-US" sz="1400" dirty="0"/>
          </a:p>
        </p:txBody>
      </p:sp>
      <p:sp>
        <p:nvSpPr>
          <p:cNvPr id="9" name="Text 7"/>
          <p:cNvSpPr/>
          <p:nvPr/>
        </p:nvSpPr>
        <p:spPr>
          <a:xfrm>
            <a:off x="502920" y="1417320"/>
            <a:ext cx="3749040" cy="32004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nmap -sS -p 502 192.168.1.0/24</a:t>
            </a:r>
            <a:endParaRPr lang="en-US" sz="1200" dirty="0"/>
          </a:p>
        </p:txBody>
      </p:sp>
      <p:sp>
        <p:nvSpPr>
          <p:cNvPr id="10" name="Text 8"/>
          <p:cNvSpPr/>
          <p:nvPr/>
        </p:nvSpPr>
        <p:spPr>
          <a:xfrm>
            <a:off x="502920" y="1783080"/>
            <a:ext cx="3749040" cy="82296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SYN (half-open) scan — does not complete TCP handshake.</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Harder to detect by default firewall rules.</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Finds all PLCs with port 502 open.</a:t>
            </a:r>
            <a:endParaRPr lang="en-US" sz="1100" dirty="0"/>
          </a:p>
        </p:txBody>
      </p:sp>
      <p:sp>
        <p:nvSpPr>
          <p:cNvPr id="11" name="Shape 9"/>
          <p:cNvSpPr/>
          <p:nvPr/>
        </p:nvSpPr>
        <p:spPr>
          <a:xfrm>
            <a:off x="4709160" y="960120"/>
            <a:ext cx="4160520" cy="1783080"/>
          </a:xfrm>
          <a:prstGeom prst="rect">
            <a:avLst/>
          </a:prstGeom>
          <a:solidFill>
            <a:srgbClr val="1B3A5C"/>
          </a:solidFill>
          <a:ln w="12700">
            <a:solidFill>
              <a:srgbClr val="1B3A5C"/>
            </a:solidFill>
            <a:prstDash val="solid"/>
          </a:ln>
        </p:spPr>
      </p:sp>
      <p:sp>
        <p:nvSpPr>
          <p:cNvPr id="12" name="Shape 10"/>
          <p:cNvSpPr/>
          <p:nvPr/>
        </p:nvSpPr>
        <p:spPr>
          <a:xfrm>
            <a:off x="4709160" y="960120"/>
            <a:ext cx="64008" cy="1783080"/>
          </a:xfrm>
          <a:prstGeom prst="rect">
            <a:avLst/>
          </a:prstGeom>
          <a:solidFill>
            <a:srgbClr val="2980B9"/>
          </a:solidFill>
          <a:ln w="12700">
            <a:solidFill>
              <a:srgbClr val="2980B9"/>
            </a:solidFill>
            <a:prstDash val="solid"/>
          </a:ln>
        </p:spPr>
      </p:sp>
      <p:sp>
        <p:nvSpPr>
          <p:cNvPr id="13" name="Text 11"/>
          <p:cNvSpPr/>
          <p:nvPr/>
        </p:nvSpPr>
        <p:spPr>
          <a:xfrm>
            <a:off x="4937760" y="1024128"/>
            <a:ext cx="3749040" cy="320040"/>
          </a:xfrm>
          <a:prstGeom prst="rect">
            <a:avLst/>
          </a:prstGeom>
          <a:noFill/>
          <a:ln/>
        </p:spPr>
        <p:txBody>
          <a:bodyPr wrap="square" lIns="0" tIns="0" rIns="0" bIns="0" rtlCol="0" anchor="ctr"/>
          <a:lstStyle/>
          <a:p>
            <a:pPr indent="0" marL="0">
              <a:buNone/>
            </a:pPr>
            <a:r>
              <a:rPr lang="en-US" sz="1400" b="1" dirty="0">
                <a:solidFill>
                  <a:srgbClr val="3498DB"/>
                </a:solidFill>
                <a:latin typeface="Calibri" pitchFamily="34" charset="0"/>
                <a:ea typeface="Calibri" pitchFamily="34" charset="-122"/>
                <a:cs typeface="Calibri" pitchFamily="34" charset="-120"/>
              </a:rPr>
              <a:t>Step 2 — Capture &amp; Pair Modbus Frames</a:t>
            </a:r>
            <a:endParaRPr lang="en-US" sz="1400" dirty="0"/>
          </a:p>
        </p:txBody>
      </p:sp>
      <p:sp>
        <p:nvSpPr>
          <p:cNvPr id="14" name="Text 12"/>
          <p:cNvSpPr/>
          <p:nvPr/>
        </p:nvSpPr>
        <p:spPr>
          <a:xfrm>
            <a:off x="4937760" y="1417320"/>
            <a:ext cx="3749040" cy="32004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Match by: TID  +  Unit ID  +  Func Code</a:t>
            </a:r>
            <a:endParaRPr lang="en-US" sz="1200" dirty="0"/>
          </a:p>
        </p:txBody>
      </p:sp>
      <p:sp>
        <p:nvSpPr>
          <p:cNvPr id="15" name="Text 13"/>
          <p:cNvSpPr/>
          <p:nvPr/>
        </p:nvSpPr>
        <p:spPr>
          <a:xfrm>
            <a:off x="4937760" y="1783080"/>
            <a:ext cx="3749040" cy="82296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Sniff for ~30 min. Each HMI→PLC request is paired with its PLC→HMI response using 3 shared fields (Paper #9 Fig.5). Duplicates removed. Result: dict of request-response pairs.</a:t>
            </a:r>
            <a:endParaRPr lang="en-US" sz="1100" dirty="0"/>
          </a:p>
        </p:txBody>
      </p:sp>
      <p:sp>
        <p:nvSpPr>
          <p:cNvPr id="16" name="Shape 14"/>
          <p:cNvSpPr/>
          <p:nvPr/>
        </p:nvSpPr>
        <p:spPr>
          <a:xfrm>
            <a:off x="274320" y="2834640"/>
            <a:ext cx="8595360" cy="1463040"/>
          </a:xfrm>
          <a:prstGeom prst="rect">
            <a:avLst/>
          </a:prstGeom>
          <a:solidFill>
            <a:srgbClr val="1E2D3D"/>
          </a:solidFill>
          <a:ln w="12700">
            <a:solidFill>
              <a:srgbClr val="1E2D3D"/>
            </a:solidFill>
            <a:prstDash val="solid"/>
          </a:ln>
        </p:spPr>
      </p:sp>
      <p:sp>
        <p:nvSpPr>
          <p:cNvPr id="17" name="Text 15"/>
          <p:cNvSpPr/>
          <p:nvPr/>
        </p:nvSpPr>
        <p:spPr>
          <a:xfrm>
            <a:off x="457200" y="2898648"/>
            <a:ext cx="822960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Modbus TCP Frame  (Paper #9 Fig. 2)</a:t>
            </a:r>
            <a:endParaRPr lang="en-US" sz="1200" dirty="0"/>
          </a:p>
        </p:txBody>
      </p:sp>
      <p:sp>
        <p:nvSpPr>
          <p:cNvPr id="18" name="Shape 16"/>
          <p:cNvSpPr/>
          <p:nvPr/>
        </p:nvSpPr>
        <p:spPr>
          <a:xfrm>
            <a:off x="457200" y="3227832"/>
            <a:ext cx="1188720" cy="502920"/>
          </a:xfrm>
          <a:prstGeom prst="rect">
            <a:avLst/>
          </a:prstGeom>
          <a:solidFill>
            <a:srgbClr val="1B3A5C"/>
          </a:solidFill>
          <a:ln w="12700">
            <a:solidFill>
              <a:srgbClr val="3498DB"/>
            </a:solidFill>
            <a:prstDash val="solid"/>
          </a:ln>
        </p:spPr>
      </p:sp>
      <p:sp>
        <p:nvSpPr>
          <p:cNvPr id="19" name="Text 17"/>
          <p:cNvSpPr/>
          <p:nvPr/>
        </p:nvSpPr>
        <p:spPr>
          <a:xfrm>
            <a:off x="457200" y="3246120"/>
            <a:ext cx="1188720" cy="228600"/>
          </a:xfrm>
          <a:prstGeom prst="rect">
            <a:avLst/>
          </a:prstGeom>
          <a:noFill/>
          <a:ln/>
        </p:spPr>
        <p:txBody>
          <a:bodyPr wrap="square" lIns="0" tIns="0" rIns="0" bIns="0" rtlCol="0" anchor="ctr"/>
          <a:lstStyle/>
          <a:p>
            <a:pPr algn="ctr" indent="0" marL="0">
              <a:buNone/>
            </a:pPr>
            <a:r>
              <a:rPr lang="en-US" sz="900" b="1" dirty="0">
                <a:solidFill>
                  <a:srgbClr val="3498DB"/>
                </a:solidFill>
                <a:latin typeface="Calibri" pitchFamily="34" charset="0"/>
                <a:ea typeface="Calibri" pitchFamily="34" charset="-122"/>
                <a:cs typeface="Calibri" pitchFamily="34" charset="-120"/>
              </a:rPr>
              <a:t>Trans ID</a:t>
            </a:r>
            <a:endParaRPr lang="en-US" sz="900" dirty="0"/>
          </a:p>
        </p:txBody>
      </p:sp>
      <p:sp>
        <p:nvSpPr>
          <p:cNvPr id="20" name="Text 18"/>
          <p:cNvSpPr/>
          <p:nvPr/>
        </p:nvSpPr>
        <p:spPr>
          <a:xfrm>
            <a:off x="457200" y="3474720"/>
            <a:ext cx="11887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1" name="Shape 19"/>
          <p:cNvSpPr/>
          <p:nvPr/>
        </p:nvSpPr>
        <p:spPr>
          <a:xfrm>
            <a:off x="1691640" y="3227832"/>
            <a:ext cx="960120" cy="502920"/>
          </a:xfrm>
          <a:prstGeom prst="rect">
            <a:avLst/>
          </a:prstGeom>
          <a:solidFill>
            <a:srgbClr val="1B3A5C"/>
          </a:solidFill>
          <a:ln w="12700">
            <a:solidFill>
              <a:srgbClr val="8FA3B1"/>
            </a:solidFill>
            <a:prstDash val="solid"/>
          </a:ln>
        </p:spPr>
      </p:sp>
      <p:sp>
        <p:nvSpPr>
          <p:cNvPr id="22" name="Text 20"/>
          <p:cNvSpPr/>
          <p:nvPr/>
        </p:nvSpPr>
        <p:spPr>
          <a:xfrm>
            <a:off x="1691640" y="3246120"/>
            <a:ext cx="960120" cy="228600"/>
          </a:xfrm>
          <a:prstGeom prst="rect">
            <a:avLst/>
          </a:prstGeom>
          <a:noFill/>
          <a:ln/>
        </p:spPr>
        <p:txBody>
          <a:bodyPr wrap="square" lIns="0" tIns="0" rIns="0" bIns="0" rtlCol="0" anchor="ctr"/>
          <a:lstStyle/>
          <a:p>
            <a:pPr algn="ctr" indent="0" marL="0">
              <a:buNone/>
            </a:pPr>
            <a:r>
              <a:rPr lang="en-US" sz="900" b="1" dirty="0">
                <a:solidFill>
                  <a:srgbClr val="8FA3B1"/>
                </a:solidFill>
                <a:latin typeface="Calibri" pitchFamily="34" charset="0"/>
                <a:ea typeface="Calibri" pitchFamily="34" charset="-122"/>
                <a:cs typeface="Calibri" pitchFamily="34" charset="-120"/>
              </a:rPr>
              <a:t>Proto ID</a:t>
            </a:r>
            <a:endParaRPr lang="en-US" sz="900" dirty="0"/>
          </a:p>
        </p:txBody>
      </p:sp>
      <p:sp>
        <p:nvSpPr>
          <p:cNvPr id="23" name="Text 21"/>
          <p:cNvSpPr/>
          <p:nvPr/>
        </p:nvSpPr>
        <p:spPr>
          <a:xfrm>
            <a:off x="169164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4" name="Shape 22"/>
          <p:cNvSpPr/>
          <p:nvPr/>
        </p:nvSpPr>
        <p:spPr>
          <a:xfrm>
            <a:off x="2697480" y="3227832"/>
            <a:ext cx="960120" cy="502920"/>
          </a:xfrm>
          <a:prstGeom prst="rect">
            <a:avLst/>
          </a:prstGeom>
          <a:solidFill>
            <a:srgbClr val="1B3A5C"/>
          </a:solidFill>
          <a:ln w="12700">
            <a:solidFill>
              <a:srgbClr val="8FA3B1"/>
            </a:solidFill>
            <a:prstDash val="solid"/>
          </a:ln>
        </p:spPr>
      </p:sp>
      <p:sp>
        <p:nvSpPr>
          <p:cNvPr id="25" name="Text 23"/>
          <p:cNvSpPr/>
          <p:nvPr/>
        </p:nvSpPr>
        <p:spPr>
          <a:xfrm>
            <a:off x="2697480" y="3246120"/>
            <a:ext cx="960120" cy="228600"/>
          </a:xfrm>
          <a:prstGeom prst="rect">
            <a:avLst/>
          </a:prstGeom>
          <a:noFill/>
          <a:ln/>
        </p:spPr>
        <p:txBody>
          <a:bodyPr wrap="square" lIns="0" tIns="0" rIns="0" bIns="0" rtlCol="0" anchor="ctr"/>
          <a:lstStyle/>
          <a:p>
            <a:pPr algn="ctr" indent="0" marL="0">
              <a:buNone/>
            </a:pPr>
            <a:r>
              <a:rPr lang="en-US" sz="900" b="1" dirty="0">
                <a:solidFill>
                  <a:srgbClr val="8FA3B1"/>
                </a:solidFill>
                <a:latin typeface="Calibri" pitchFamily="34" charset="0"/>
                <a:ea typeface="Calibri" pitchFamily="34" charset="-122"/>
                <a:cs typeface="Calibri" pitchFamily="34" charset="-120"/>
              </a:rPr>
              <a:t>Length</a:t>
            </a:r>
            <a:endParaRPr lang="en-US" sz="900" dirty="0"/>
          </a:p>
        </p:txBody>
      </p:sp>
      <p:sp>
        <p:nvSpPr>
          <p:cNvPr id="26" name="Text 24"/>
          <p:cNvSpPr/>
          <p:nvPr/>
        </p:nvSpPr>
        <p:spPr>
          <a:xfrm>
            <a:off x="269748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2B</a:t>
            </a:r>
            <a:endParaRPr lang="en-US" sz="900" dirty="0"/>
          </a:p>
        </p:txBody>
      </p:sp>
      <p:sp>
        <p:nvSpPr>
          <p:cNvPr id="27" name="Shape 25"/>
          <p:cNvSpPr/>
          <p:nvPr/>
        </p:nvSpPr>
        <p:spPr>
          <a:xfrm>
            <a:off x="3703320" y="3227832"/>
            <a:ext cx="777240" cy="502920"/>
          </a:xfrm>
          <a:prstGeom prst="rect">
            <a:avLst/>
          </a:prstGeom>
          <a:solidFill>
            <a:srgbClr val="1B3A5C"/>
          </a:solidFill>
          <a:ln w="12700">
            <a:solidFill>
              <a:srgbClr val="F4A261"/>
            </a:solidFill>
            <a:prstDash val="solid"/>
          </a:ln>
        </p:spPr>
      </p:sp>
      <p:sp>
        <p:nvSpPr>
          <p:cNvPr id="28" name="Text 26"/>
          <p:cNvSpPr/>
          <p:nvPr/>
        </p:nvSpPr>
        <p:spPr>
          <a:xfrm>
            <a:off x="3703320" y="3246120"/>
            <a:ext cx="777240" cy="228600"/>
          </a:xfrm>
          <a:prstGeom prst="rect">
            <a:avLst/>
          </a:prstGeom>
          <a:noFill/>
          <a:ln/>
        </p:spPr>
        <p:txBody>
          <a:bodyPr wrap="square" lIns="0" tIns="0" rIns="0" bIns="0" rtlCol="0" anchor="ctr"/>
          <a:lstStyle/>
          <a:p>
            <a:pPr algn="ctr" indent="0" marL="0">
              <a:buNone/>
            </a:pPr>
            <a:r>
              <a:rPr lang="en-US" sz="900" b="1" dirty="0">
                <a:solidFill>
                  <a:srgbClr val="F4A261"/>
                </a:solidFill>
                <a:latin typeface="Calibri" pitchFamily="34" charset="0"/>
                <a:ea typeface="Calibri" pitchFamily="34" charset="-122"/>
                <a:cs typeface="Calibri" pitchFamily="34" charset="-120"/>
              </a:rPr>
              <a:t>Unit ID</a:t>
            </a:r>
            <a:endParaRPr lang="en-US" sz="900" dirty="0"/>
          </a:p>
        </p:txBody>
      </p:sp>
      <p:sp>
        <p:nvSpPr>
          <p:cNvPr id="29" name="Text 27"/>
          <p:cNvSpPr/>
          <p:nvPr/>
        </p:nvSpPr>
        <p:spPr>
          <a:xfrm>
            <a:off x="3703320" y="3474720"/>
            <a:ext cx="77724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1B</a:t>
            </a:r>
            <a:endParaRPr lang="en-US" sz="900" dirty="0"/>
          </a:p>
        </p:txBody>
      </p:sp>
      <p:sp>
        <p:nvSpPr>
          <p:cNvPr id="30" name="Shape 28"/>
          <p:cNvSpPr/>
          <p:nvPr/>
        </p:nvSpPr>
        <p:spPr>
          <a:xfrm>
            <a:off x="4526280" y="3227832"/>
            <a:ext cx="960120" cy="502920"/>
          </a:xfrm>
          <a:prstGeom prst="rect">
            <a:avLst/>
          </a:prstGeom>
          <a:solidFill>
            <a:srgbClr val="1B3A5C"/>
          </a:solidFill>
          <a:ln w="12700">
            <a:solidFill>
              <a:srgbClr val="C0392B"/>
            </a:solidFill>
            <a:prstDash val="solid"/>
          </a:ln>
        </p:spPr>
      </p:sp>
      <p:sp>
        <p:nvSpPr>
          <p:cNvPr id="31" name="Text 29"/>
          <p:cNvSpPr/>
          <p:nvPr/>
        </p:nvSpPr>
        <p:spPr>
          <a:xfrm>
            <a:off x="4526280" y="3246120"/>
            <a:ext cx="960120" cy="22860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Func Code</a:t>
            </a:r>
            <a:endParaRPr lang="en-US" sz="900" dirty="0"/>
          </a:p>
        </p:txBody>
      </p:sp>
      <p:sp>
        <p:nvSpPr>
          <p:cNvPr id="32" name="Text 30"/>
          <p:cNvSpPr/>
          <p:nvPr/>
        </p:nvSpPr>
        <p:spPr>
          <a:xfrm>
            <a:off x="4526280" y="3474720"/>
            <a:ext cx="9601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1B</a:t>
            </a:r>
            <a:endParaRPr lang="en-US" sz="900" dirty="0"/>
          </a:p>
        </p:txBody>
      </p:sp>
      <p:sp>
        <p:nvSpPr>
          <p:cNvPr id="33" name="Shape 31"/>
          <p:cNvSpPr/>
          <p:nvPr/>
        </p:nvSpPr>
        <p:spPr>
          <a:xfrm>
            <a:off x="5532120" y="3227832"/>
            <a:ext cx="1874520" cy="502920"/>
          </a:xfrm>
          <a:prstGeom prst="rect">
            <a:avLst/>
          </a:prstGeom>
          <a:solidFill>
            <a:srgbClr val="1B3A5C"/>
          </a:solidFill>
          <a:ln w="12700">
            <a:solidFill>
              <a:srgbClr val="E8EEF4"/>
            </a:solidFill>
            <a:prstDash val="solid"/>
          </a:ln>
        </p:spPr>
      </p:sp>
      <p:sp>
        <p:nvSpPr>
          <p:cNvPr id="34" name="Text 32"/>
          <p:cNvSpPr/>
          <p:nvPr/>
        </p:nvSpPr>
        <p:spPr>
          <a:xfrm>
            <a:off x="5532120" y="3246120"/>
            <a:ext cx="1874520" cy="228600"/>
          </a:xfrm>
          <a:prstGeom prst="rect">
            <a:avLst/>
          </a:prstGeom>
          <a:noFill/>
          <a:ln/>
        </p:spPr>
        <p:txBody>
          <a:bodyPr wrap="square" lIns="0" tIns="0" rIns="0" bIns="0" rtlCol="0" anchor="ctr"/>
          <a:lstStyle/>
          <a:p>
            <a:pPr algn="ctr" indent="0" marL="0">
              <a:buNone/>
            </a:pPr>
            <a:r>
              <a:rPr lang="en-US" sz="900" b="1" dirty="0">
                <a:solidFill>
                  <a:srgbClr val="E8EEF4"/>
                </a:solidFill>
                <a:latin typeface="Calibri" pitchFamily="34" charset="0"/>
                <a:ea typeface="Calibri" pitchFamily="34" charset="-122"/>
                <a:cs typeface="Calibri" pitchFamily="34" charset="-120"/>
              </a:rPr>
              <a:t>Data</a:t>
            </a:r>
            <a:endParaRPr lang="en-US" sz="900" dirty="0"/>
          </a:p>
        </p:txBody>
      </p:sp>
      <p:sp>
        <p:nvSpPr>
          <p:cNvPr id="35" name="Text 33"/>
          <p:cNvSpPr/>
          <p:nvPr/>
        </p:nvSpPr>
        <p:spPr>
          <a:xfrm>
            <a:off x="5532120" y="3474720"/>
            <a:ext cx="1874520" cy="182880"/>
          </a:xfrm>
          <a:prstGeom prst="rect">
            <a:avLst/>
          </a:prstGeom>
          <a:noFill/>
          <a:ln/>
        </p:spPr>
        <p:txBody>
          <a:bodyPr wrap="square" lIns="0" tIns="0" rIns="0" bIns="0" rtlCol="0" anchor="ctr"/>
          <a:lstStyle/>
          <a:p>
            <a:pPr algn="ctr" indent="0" marL="0">
              <a:buNone/>
            </a:pPr>
            <a:r>
              <a:rPr lang="en-US" sz="900" dirty="0">
                <a:solidFill>
                  <a:srgbClr val="8FA3B1"/>
                </a:solidFill>
                <a:latin typeface="Calibri" pitchFamily="34" charset="0"/>
                <a:ea typeface="Calibri" pitchFamily="34" charset="-122"/>
                <a:cs typeface="Calibri" pitchFamily="34" charset="-120"/>
              </a:rPr>
              <a:t>≤248B</a:t>
            </a:r>
            <a:endParaRPr lang="en-US" sz="900" dirty="0"/>
          </a:p>
        </p:txBody>
      </p:sp>
      <p:sp>
        <p:nvSpPr>
          <p:cNvPr id="36" name="Text 34"/>
          <p:cNvSpPr/>
          <p:nvPr/>
        </p:nvSpPr>
        <p:spPr>
          <a:xfrm>
            <a:off x="457200" y="3749040"/>
            <a:ext cx="3291840" cy="228600"/>
          </a:xfrm>
          <a:prstGeom prst="rect">
            <a:avLst/>
          </a:prstGeom>
          <a:noFill/>
          <a:ln/>
        </p:spPr>
        <p:txBody>
          <a:bodyPr wrap="square" lIns="0" tIns="0" rIns="0" bIns="0" rtlCol="0" anchor="ctr"/>
          <a:lstStyle/>
          <a:p>
            <a:pPr indent="0" marL="0">
              <a:buNone/>
            </a:pPr>
            <a:r>
              <a:rPr lang="en-US" sz="900" i="1" dirty="0">
                <a:solidFill>
                  <a:srgbClr val="3498DB"/>
                </a:solidFill>
                <a:latin typeface="Calibri" pitchFamily="34" charset="0"/>
                <a:ea typeface="Calibri" pitchFamily="34" charset="-122"/>
                <a:cs typeface="Calibri" pitchFamily="34" charset="-120"/>
              </a:rPr>
              <a:t>← Matching key for DB pairing →</a:t>
            </a:r>
            <a:endParaRPr lang="en-US" sz="900" dirty="0"/>
          </a:p>
        </p:txBody>
      </p:sp>
      <p:sp>
        <p:nvSpPr>
          <p:cNvPr id="37" name="Shape 35"/>
          <p:cNvSpPr/>
          <p:nvPr/>
        </p:nvSpPr>
        <p:spPr>
          <a:xfrm>
            <a:off x="457200" y="3730752"/>
            <a:ext cx="3200400" cy="0"/>
          </a:xfrm>
          <a:prstGeom prst="line">
            <a:avLst/>
          </a:prstGeom>
          <a:noFill/>
          <a:ln w="12700">
            <a:solidFill>
              <a:srgbClr val="3498DB"/>
            </a:solidFill>
            <a:prstDash val="dash"/>
          </a:ln>
        </p:spPr>
      </p:sp>
      <p:sp>
        <p:nvSpPr>
          <p:cNvPr id="38" name="Shape 36"/>
          <p:cNvSpPr/>
          <p:nvPr/>
        </p:nvSpPr>
        <p:spPr>
          <a:xfrm>
            <a:off x="0" y="4754880"/>
            <a:ext cx="9144000" cy="384048"/>
          </a:xfrm>
          <a:prstGeom prst="rect">
            <a:avLst/>
          </a:prstGeom>
          <a:solidFill>
            <a:srgbClr val="1B3A5C"/>
          </a:solidFill>
          <a:ln w="12700">
            <a:solidFill>
              <a:srgbClr val="1B3A5C"/>
            </a:solidFill>
            <a:prstDash val="solid"/>
          </a:ln>
        </p:spPr>
      </p:sp>
      <p:sp>
        <p:nvSpPr>
          <p:cNvPr id="39" name="Text 37"/>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14/18 — Phase 0: Recon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C0392B"/>
          </a:solidFill>
          <a:ln w="12700">
            <a:solidFill>
              <a:srgbClr val="C0392B"/>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ARP Poisoning + False Command Injection</a:t>
            </a:r>
            <a:endParaRPr lang="en-US" sz="26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phase1_inject.py  ·  Scapy ARP spoof + pyModbus write to PLC1:502</a:t>
            </a:r>
            <a:endParaRPr lang="en-US" sz="1100" dirty="0"/>
          </a:p>
        </p:txBody>
      </p:sp>
      <p:sp>
        <p:nvSpPr>
          <p:cNvPr id="6" name="Shape 4"/>
          <p:cNvSpPr/>
          <p:nvPr/>
        </p:nvSpPr>
        <p:spPr>
          <a:xfrm>
            <a:off x="274320" y="914400"/>
            <a:ext cx="4023360" cy="1828800"/>
          </a:xfrm>
          <a:prstGeom prst="rect">
            <a:avLst/>
          </a:prstGeom>
          <a:solidFill>
            <a:srgbClr val="1B3A5C"/>
          </a:solidFill>
          <a:ln w="12700">
            <a:solidFill>
              <a:srgbClr val="1B3A5C"/>
            </a:solidFill>
            <a:prstDash val="solid"/>
          </a:ln>
        </p:spPr>
      </p:sp>
      <p:sp>
        <p:nvSpPr>
          <p:cNvPr id="7" name="Shape 5"/>
          <p:cNvSpPr/>
          <p:nvPr/>
        </p:nvSpPr>
        <p:spPr>
          <a:xfrm>
            <a:off x="274320" y="914400"/>
            <a:ext cx="64008" cy="1828800"/>
          </a:xfrm>
          <a:prstGeom prst="rect">
            <a:avLst/>
          </a:prstGeom>
          <a:solidFill>
            <a:srgbClr val="E67E22"/>
          </a:solidFill>
          <a:ln w="12700">
            <a:solidFill>
              <a:srgbClr val="E67E22"/>
            </a:solidFill>
            <a:prstDash val="solid"/>
          </a:ln>
        </p:spPr>
      </p:sp>
      <p:sp>
        <p:nvSpPr>
          <p:cNvPr id="8" name="Text 6"/>
          <p:cNvSpPr/>
          <p:nvPr/>
        </p:nvSpPr>
        <p:spPr>
          <a:xfrm>
            <a:off x="502920" y="987552"/>
            <a:ext cx="3657600" cy="320040"/>
          </a:xfrm>
          <a:prstGeom prst="rect">
            <a:avLst/>
          </a:prstGeom>
          <a:noFill/>
          <a:ln/>
        </p:spPr>
        <p:txBody>
          <a:bodyPr wrap="square" lIns="0" tIns="0" rIns="0" bIns="0" rtlCol="0" anchor="ctr"/>
          <a:lstStyle/>
          <a:p>
            <a:pPr indent="0" marL="0">
              <a:buNone/>
            </a:pPr>
            <a:r>
              <a:rPr lang="en-US" sz="1400" b="1" dirty="0">
                <a:solidFill>
                  <a:srgbClr val="E67E22"/>
                </a:solidFill>
                <a:latin typeface="Calibri" pitchFamily="34" charset="0"/>
                <a:ea typeface="Calibri" pitchFamily="34" charset="-122"/>
                <a:cs typeface="Calibri" pitchFamily="34" charset="-120"/>
              </a:rPr>
              <a:t>ARP Poisoning — MITM Setup</a:t>
            </a:r>
            <a:endParaRPr lang="en-US" sz="1400" dirty="0"/>
          </a:p>
        </p:txBody>
      </p:sp>
      <p:sp>
        <p:nvSpPr>
          <p:cNvPr id="9" name="Text 7"/>
          <p:cNvSpPr/>
          <p:nvPr/>
        </p:nvSpPr>
        <p:spPr>
          <a:xfrm>
            <a:off x="502920" y="1371600"/>
            <a:ext cx="3657600" cy="502920"/>
          </a:xfrm>
          <a:prstGeom prst="rect">
            <a:avLst/>
          </a:prstGeom>
          <a:noFill/>
          <a:ln/>
        </p:spPr>
        <p:txBody>
          <a:bodyPr wrap="square" lIns="0" tIns="0" rIns="0" bIns="0" rtlCol="0" anchor="ctr"/>
          <a:lstStyle/>
          <a:p>
            <a:pPr indent="0" marL="0">
              <a:buNone/>
            </a:pPr>
            <a:r>
              <a:rPr lang="en-US" sz="1100" b="1" dirty="0">
                <a:solidFill>
                  <a:srgbClr val="F4A261"/>
                </a:solidFill>
                <a:latin typeface="Consolas" pitchFamily="34" charset="0"/>
                <a:ea typeface="Consolas" pitchFamily="34" charset="-122"/>
                <a:cs typeface="Consolas" pitchFamily="34" charset="-120"/>
              </a:rPr>
              <a:t xml:space="preserve">Tell HMI: </a:t>
            </a:r>
            <a:pPr indent="0" marL="0">
              <a:buNone/>
            </a:pPr>
            <a:r>
              <a:rPr lang="en-US" sz="1100" dirty="0">
                <a:solidFill>
                  <a:srgbClr val="2ECC71"/>
                </a:solidFill>
                <a:latin typeface="Consolas" pitchFamily="34" charset="0"/>
                <a:ea typeface="Consolas" pitchFamily="34" charset="-122"/>
                <a:cs typeface="Consolas" pitchFamily="34" charset="-120"/>
              </a:rPr>
              <a:t>"PLC1's IP → my MAC"</a:t>
            </a:r>
            <a:pPr indent="0" marL="0">
              <a:buNone/>
            </a:pPr>
            <a:endParaRPr lang="en-US" sz="1100" dirty="0"/>
          </a:p>
          <a:p>
            <a:pPr indent="0" marL="0">
              <a:buNone/>
            </a:pPr>
            <a:r>
              <a:rPr lang="en-US" sz="1100" b="1" dirty="0">
                <a:solidFill>
                  <a:srgbClr val="F4A261"/>
                </a:solidFill>
                <a:latin typeface="Consolas" pitchFamily="34" charset="0"/>
                <a:ea typeface="Consolas" pitchFamily="34" charset="-122"/>
                <a:cs typeface="Consolas" pitchFamily="34" charset="-120"/>
              </a:rPr>
              <a:t xml:space="preserve">Tell PLC: </a:t>
            </a:r>
            <a:endParaRPr lang="en-US" sz="1100" dirty="0"/>
          </a:p>
          <a:p>
            <a:pPr indent="0" marL="0">
              <a:buNone/>
            </a:pPr>
            <a:r>
              <a:rPr lang="en-US" sz="1100" dirty="0">
                <a:solidFill>
                  <a:srgbClr val="2ECC71"/>
                </a:solidFill>
                <a:latin typeface="Consolas" pitchFamily="34" charset="0"/>
                <a:ea typeface="Consolas" pitchFamily="34" charset="-122"/>
                <a:cs typeface="Consolas" pitchFamily="34" charset="-120"/>
              </a:rPr>
              <a:t>"HMI's IP  → my MAC"</a:t>
            </a:r>
            <a:endParaRPr lang="en-US" sz="1100" dirty="0"/>
          </a:p>
        </p:txBody>
      </p:sp>
      <p:sp>
        <p:nvSpPr>
          <p:cNvPr id="10" name="Text 8"/>
          <p:cNvSpPr/>
          <p:nvPr/>
        </p:nvSpPr>
        <p:spPr>
          <a:xfrm>
            <a:off x="502920" y="1920240"/>
            <a:ext cx="3657600" cy="6858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All traffic now routes through attacker.</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Re-broadcast every 1.5s to maintain MITM.</a:t>
            </a:r>
            <a:endParaRPr lang="en-US" sz="1100" dirty="0"/>
          </a:p>
          <a:p>
            <a:pPr indent="0" marL="0">
              <a:buNone/>
            </a:pPr>
            <a:r>
              <a:rPr lang="en-US" sz="1100" dirty="0">
                <a:solidFill>
                  <a:srgbClr val="E8EEF4"/>
                </a:solidFill>
                <a:latin typeface="Calibri" pitchFamily="34" charset="0"/>
                <a:ea typeface="Calibri" pitchFamily="34" charset="-122"/>
                <a:cs typeface="Calibri" pitchFamily="34" charset="-120"/>
              </a:rPr>
              <a:t>IP forwarding enabled on attacker machine.</a:t>
            </a:r>
            <a:endParaRPr lang="en-US" sz="1100" dirty="0"/>
          </a:p>
        </p:txBody>
      </p:sp>
      <p:sp>
        <p:nvSpPr>
          <p:cNvPr id="11" name="Shape 9"/>
          <p:cNvSpPr/>
          <p:nvPr/>
        </p:nvSpPr>
        <p:spPr>
          <a:xfrm>
            <a:off x="4572000" y="914400"/>
            <a:ext cx="4297680" cy="1828800"/>
          </a:xfrm>
          <a:prstGeom prst="rect">
            <a:avLst/>
          </a:prstGeom>
          <a:solidFill>
            <a:srgbClr val="1B3A5C"/>
          </a:solidFill>
          <a:ln w="12700">
            <a:solidFill>
              <a:srgbClr val="1B3A5C"/>
            </a:solidFill>
            <a:prstDash val="solid"/>
          </a:ln>
        </p:spPr>
      </p:sp>
      <p:sp>
        <p:nvSpPr>
          <p:cNvPr id="12" name="Shape 10"/>
          <p:cNvSpPr/>
          <p:nvPr/>
        </p:nvSpPr>
        <p:spPr>
          <a:xfrm>
            <a:off x="4572000" y="914400"/>
            <a:ext cx="64008" cy="1828800"/>
          </a:xfrm>
          <a:prstGeom prst="rect">
            <a:avLst/>
          </a:prstGeom>
          <a:solidFill>
            <a:srgbClr val="C0392B"/>
          </a:solidFill>
          <a:ln w="12700">
            <a:solidFill>
              <a:srgbClr val="C0392B"/>
            </a:solidFill>
            <a:prstDash val="solid"/>
          </a:ln>
        </p:spPr>
      </p:sp>
      <p:sp>
        <p:nvSpPr>
          <p:cNvPr id="13" name="Text 11"/>
          <p:cNvSpPr/>
          <p:nvPr/>
        </p:nvSpPr>
        <p:spPr>
          <a:xfrm>
            <a:off x="4800600" y="987552"/>
            <a:ext cx="3840480" cy="32004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False Command Injection</a:t>
            </a:r>
            <a:endParaRPr lang="en-US" sz="1400" dirty="0"/>
          </a:p>
        </p:txBody>
      </p:sp>
      <p:sp>
        <p:nvSpPr>
          <p:cNvPr id="14" name="Text 12"/>
          <p:cNvSpPr/>
          <p:nvPr/>
        </p:nvSpPr>
        <p:spPr>
          <a:xfrm>
            <a:off x="4800600" y="1371600"/>
            <a:ext cx="3840480" cy="502920"/>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client.write_coil(MV101_CLOSE, True)</a:t>
            </a:r>
            <a:endParaRPr lang="en-US" sz="1100" dirty="0"/>
          </a:p>
          <a:p>
            <a:pPr indent="0" marL="0">
              <a:buNone/>
            </a:pPr>
            <a:r>
              <a:rPr lang="en-US" sz="1100" dirty="0">
                <a:solidFill>
                  <a:srgbClr val="2ECC71"/>
                </a:solidFill>
                <a:latin typeface="Consolas" pitchFamily="34" charset="0"/>
                <a:ea typeface="Consolas" pitchFamily="34" charset="-122"/>
                <a:cs typeface="Consolas" pitchFamily="34" charset="-120"/>
              </a:rPr>
              <a:t>client.write_coil(P101_STOP,   True)</a:t>
            </a:r>
            <a:endParaRPr lang="en-US" sz="1100" dirty="0"/>
          </a:p>
        </p:txBody>
      </p:sp>
      <p:sp>
        <p:nvSpPr>
          <p:cNvPr id="15" name="Text 13"/>
          <p:cNvSpPr/>
          <p:nvPr/>
        </p:nvSpPr>
        <p:spPr>
          <a:xfrm>
            <a:off x="4800600" y="1920240"/>
            <a:ext cx="3840480" cy="68580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Python pyModbus sends crafted Modbus frames to PLC1:502. No authentication required — PLC accepts any write from any device on the network.</a:t>
            </a:r>
            <a:endParaRPr lang="en-US" sz="1100" dirty="0"/>
          </a:p>
        </p:txBody>
      </p:sp>
      <p:sp>
        <p:nvSpPr>
          <p:cNvPr id="16" name="Shape 14"/>
          <p:cNvSpPr/>
          <p:nvPr/>
        </p:nvSpPr>
        <p:spPr>
          <a:xfrm>
            <a:off x="274320" y="2834640"/>
            <a:ext cx="8595360" cy="1508760"/>
          </a:xfrm>
          <a:prstGeom prst="rect">
            <a:avLst/>
          </a:prstGeom>
          <a:solidFill>
            <a:srgbClr val="1E2D3D"/>
          </a:solidFill>
          <a:ln w="12700">
            <a:solidFill>
              <a:srgbClr val="1E2D3D"/>
            </a:solidFill>
            <a:prstDash val="solid"/>
          </a:ln>
        </p:spPr>
      </p:sp>
      <p:sp>
        <p:nvSpPr>
          <p:cNvPr id="17" name="Shape 15"/>
          <p:cNvSpPr/>
          <p:nvPr/>
        </p:nvSpPr>
        <p:spPr>
          <a:xfrm>
            <a:off x="274320" y="2834640"/>
            <a:ext cx="64008" cy="1508760"/>
          </a:xfrm>
          <a:prstGeom prst="rect">
            <a:avLst/>
          </a:prstGeom>
          <a:solidFill>
            <a:srgbClr val="8E44AD"/>
          </a:solidFill>
          <a:ln w="12700">
            <a:solidFill>
              <a:srgbClr val="8E44AD"/>
            </a:solidFill>
            <a:prstDash val="solid"/>
          </a:ln>
        </p:spPr>
      </p:sp>
      <p:sp>
        <p:nvSpPr>
          <p:cNvPr id="18" name="Text 16"/>
          <p:cNvSpPr/>
          <p:nvPr/>
        </p:nvSpPr>
        <p:spPr>
          <a:xfrm>
            <a:off x="502920" y="2898648"/>
            <a:ext cx="8229600" cy="27432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Algorithm 1  —  Concealment (Paper #9)  ·  Replay DB responses to HMI while injecting PLC</a:t>
            </a:r>
            <a:endParaRPr lang="en-US" sz="1200" dirty="0"/>
          </a:p>
        </p:txBody>
      </p:sp>
      <p:sp>
        <p:nvSpPr>
          <p:cNvPr id="19" name="Text 17"/>
          <p:cNvSpPr/>
          <p:nvPr/>
        </p:nvSpPr>
        <p:spPr>
          <a:xfrm>
            <a:off x="502920" y="3218688"/>
            <a:ext cx="8229600" cy="182880"/>
          </a:xfrm>
          <a:prstGeom prst="rect">
            <a:avLst/>
          </a:prstGeom>
          <a:noFill/>
          <a:ln/>
        </p:spPr>
        <p:txBody>
          <a:bodyPr wrap="square" lIns="0" tIns="0" rIns="0" bIns="0" rtlCol="0" anchor="ctr"/>
          <a:lstStyle/>
          <a:p>
            <a:pPr indent="0" marL="0">
              <a:buNone/>
            </a:pPr>
            <a:r>
              <a:rPr lang="en-US" sz="1000" dirty="0">
                <a:solidFill>
                  <a:srgbClr val="F4A261"/>
                </a:solidFill>
                <a:latin typeface="Consolas" pitchFamily="34" charset="0"/>
                <a:ea typeface="Consolas" pitchFamily="34" charset="-122"/>
                <a:cs typeface="Consolas" pitchFamily="34" charset="-120"/>
              </a:rPr>
              <a:t>for each packet sniffed from network:</a:t>
            </a:r>
            <a:endParaRPr lang="en-US" sz="1000" dirty="0"/>
          </a:p>
        </p:txBody>
      </p:sp>
      <p:sp>
        <p:nvSpPr>
          <p:cNvPr id="20" name="Text 18"/>
          <p:cNvSpPr/>
          <p:nvPr/>
        </p:nvSpPr>
        <p:spPr>
          <a:xfrm>
            <a:off x="502920" y="3401568"/>
            <a:ext cx="8229600" cy="182880"/>
          </a:xfrm>
          <a:prstGeom prst="rect">
            <a:avLst/>
          </a:prstGeom>
          <a:noFill/>
          <a:ln/>
        </p:spPr>
        <p:txBody>
          <a:bodyPr wrap="square" lIns="0" tIns="0" rIns="0" bIns="0" rtlCol="0" anchor="ctr"/>
          <a:lstStyle/>
          <a:p>
            <a:pPr indent="0" marL="0">
              <a:buNone/>
            </a:pPr>
            <a:r>
              <a:rPr lang="en-US" sz="1000" dirty="0">
                <a:solidFill>
                  <a:srgbClr val="E8EEF4"/>
                </a:solidFill>
                <a:latin typeface="Consolas" pitchFamily="34" charset="0"/>
                <a:ea typeface="Consolas" pitchFamily="34" charset="-122"/>
                <a:cs typeface="Consolas" pitchFamily="34" charset="-120"/>
              </a:rPr>
              <a:t xml:space="preserve">    if src==HMI and dst==PLC and port==502:</a:t>
            </a:r>
            <a:endParaRPr lang="en-US" sz="1000" dirty="0"/>
          </a:p>
        </p:txBody>
      </p:sp>
      <p:sp>
        <p:nvSpPr>
          <p:cNvPr id="21" name="Text 19"/>
          <p:cNvSpPr/>
          <p:nvPr/>
        </p:nvSpPr>
        <p:spPr>
          <a:xfrm>
            <a:off x="502920" y="3584448"/>
            <a:ext cx="8229600" cy="182880"/>
          </a:xfrm>
          <a:prstGeom prst="rect">
            <a:avLst/>
          </a:prstGeom>
          <a:noFill/>
          <a:ln/>
        </p:spPr>
        <p:txBody>
          <a:bodyPr wrap="square" lIns="0" tIns="0" rIns="0" bIns="0" rtlCol="0" anchor="ctr"/>
          <a:lstStyle/>
          <a:p>
            <a:pPr indent="0" marL="0">
              <a:buNone/>
            </a:pPr>
            <a:r>
              <a:rPr lang="en-US" sz="1000" dirty="0">
                <a:solidFill>
                  <a:srgbClr val="8FA3B1"/>
                </a:solidFill>
                <a:latin typeface="Consolas" pitchFamily="34" charset="0"/>
                <a:ea typeface="Consolas" pitchFamily="34" charset="-122"/>
                <a:cs typeface="Consolas" pitchFamily="34" charset="-120"/>
              </a:rPr>
              <a:t xml:space="preserve">        drop original request   # do not forward to PLC</a:t>
            </a:r>
            <a:endParaRPr lang="en-US" sz="1000" dirty="0"/>
          </a:p>
        </p:txBody>
      </p:sp>
      <p:sp>
        <p:nvSpPr>
          <p:cNvPr id="22" name="Text 20"/>
          <p:cNvSpPr/>
          <p:nvPr/>
        </p:nvSpPr>
        <p:spPr>
          <a:xfrm>
            <a:off x="502920" y="3767328"/>
            <a:ext cx="8229600" cy="182880"/>
          </a:xfrm>
          <a:prstGeom prst="rect">
            <a:avLst/>
          </a:prstGeom>
          <a:noFill/>
          <a:ln/>
        </p:spPr>
        <p:txBody>
          <a:bodyPr wrap="square" lIns="0" tIns="0" rIns="0" bIns="0" rtlCol="0" anchor="ctr"/>
          <a:lstStyle/>
          <a:p>
            <a:pPr indent="0" marL="0">
              <a:buNone/>
            </a:pPr>
            <a:r>
              <a:rPr lang="en-US" sz="1000" dirty="0">
                <a:solidFill>
                  <a:srgbClr val="E8EEF4"/>
                </a:solidFill>
                <a:latin typeface="Consolas" pitchFamily="34" charset="0"/>
                <a:ea typeface="Consolas" pitchFamily="34" charset="-122"/>
                <a:cs typeface="Consolas" pitchFamily="34" charset="-120"/>
              </a:rPr>
              <a:t xml:space="preserve">        response = db.lookup(unit_id, func_code)   # O(1) hash lookup</a:t>
            </a:r>
            <a:endParaRPr lang="en-US" sz="1000" dirty="0"/>
          </a:p>
        </p:txBody>
      </p:sp>
      <p:sp>
        <p:nvSpPr>
          <p:cNvPr id="23" name="Text 21"/>
          <p:cNvSpPr/>
          <p:nvPr/>
        </p:nvSpPr>
        <p:spPr>
          <a:xfrm>
            <a:off x="502920" y="3950208"/>
            <a:ext cx="8229600" cy="182880"/>
          </a:xfrm>
          <a:prstGeom prst="rect">
            <a:avLst/>
          </a:prstGeom>
          <a:noFill/>
          <a:ln/>
        </p:spPr>
        <p:txBody>
          <a:bodyPr wrap="square" lIns="0" tIns="0" rIns="0" bIns="0" rtlCol="0" anchor="ctr"/>
          <a:lstStyle/>
          <a:p>
            <a:pPr indent="0" marL="0">
              <a:buNone/>
            </a:pPr>
            <a:r>
              <a:rPr lang="en-US" sz="1000" dirty="0">
                <a:solidFill>
                  <a:srgbClr val="2ECC71"/>
                </a:solidFill>
                <a:latin typeface="Consolas" pitchFamily="34" charset="0"/>
                <a:ea typeface="Consolas" pitchFamily="34" charset="-122"/>
                <a:cs typeface="Consolas" pitchFamily="34" charset="-120"/>
              </a:rPr>
              <a:t xml:space="preserve">        send forged_response  →  HMI   # operator sees nothing</a:t>
            </a:r>
            <a:endParaRPr lang="en-US" sz="1000" dirty="0"/>
          </a:p>
        </p:txBody>
      </p:sp>
      <p:sp>
        <p:nvSpPr>
          <p:cNvPr id="24" name="Text 22"/>
          <p:cNvSpPr/>
          <p:nvPr/>
        </p:nvSpPr>
        <p:spPr>
          <a:xfrm>
            <a:off x="502920" y="4133088"/>
            <a:ext cx="8229600" cy="182880"/>
          </a:xfrm>
          <a:prstGeom prst="rect">
            <a:avLst/>
          </a:prstGeom>
          <a:noFill/>
          <a:ln/>
        </p:spPr>
        <p:txBody>
          <a:bodyPr wrap="square" lIns="0" tIns="0" rIns="0" bIns="0" rtlCol="0" anchor="ctr"/>
          <a:lstStyle/>
          <a:p>
            <a:pPr indent="0" marL="0">
              <a:buNone/>
            </a:pPr>
            <a:r>
              <a:rPr lang="en-US" sz="1000" dirty="0">
                <a:solidFill>
                  <a:srgbClr val="C0392B"/>
                </a:solidFill>
                <a:latin typeface="Consolas" pitchFamily="34" charset="0"/>
                <a:ea typeface="Consolas" pitchFamily="34" charset="-122"/>
                <a:cs typeface="Consolas" pitchFamily="34" charset="-120"/>
              </a:rPr>
              <a:t xml:space="preserve">        send false_command    →  PLC   # PLC obeys attacker</a:t>
            </a:r>
            <a:endParaRPr lang="en-US" sz="1000" dirty="0"/>
          </a:p>
        </p:txBody>
      </p:sp>
      <p:sp>
        <p:nvSpPr>
          <p:cNvPr id="25" name="Shape 23"/>
          <p:cNvSpPr/>
          <p:nvPr/>
        </p:nvSpPr>
        <p:spPr>
          <a:xfrm>
            <a:off x="0" y="4754880"/>
            <a:ext cx="9144000" cy="384048"/>
          </a:xfrm>
          <a:prstGeom prst="rect">
            <a:avLst/>
          </a:prstGeom>
          <a:solidFill>
            <a:srgbClr val="1B3A5C"/>
          </a:solidFill>
          <a:ln w="12700">
            <a:solidFill>
              <a:srgbClr val="1B3A5C"/>
            </a:solidFill>
            <a:prstDash val="solid"/>
          </a:ln>
        </p:spPr>
      </p:sp>
      <p:sp>
        <p:nvSpPr>
          <p:cNvPr id="26" name="Text 2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15/18 — Phase 1: Inject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37160"/>
            <a:ext cx="1280160" cy="347472"/>
          </a:xfrm>
          <a:prstGeom prst="rect">
            <a:avLst/>
          </a:prstGeom>
          <a:solidFill>
            <a:srgbClr val="8E44AD"/>
          </a:solidFill>
          <a:ln w="12700">
            <a:solidFill>
              <a:srgbClr val="8E44AD"/>
            </a:solidFill>
            <a:prstDash val="solid"/>
          </a:ln>
        </p:spPr>
      </p:sp>
      <p:sp>
        <p:nvSpPr>
          <p:cNvPr id="3" name="Text 1"/>
          <p:cNvSpPr/>
          <p:nvPr/>
        </p:nvSpPr>
        <p:spPr>
          <a:xfrm>
            <a:off x="365760" y="137160"/>
            <a:ext cx="1280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4" name="Text 2"/>
          <p:cNvSpPr/>
          <p:nvPr/>
        </p:nvSpPr>
        <p:spPr>
          <a:xfrm>
            <a:off x="1828800" y="137160"/>
            <a:ext cx="694944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Adversarial Sensor Spoofing — Evading ML Detectors</a:t>
            </a:r>
            <a:endParaRPr lang="en-US" sz="2400" dirty="0"/>
          </a:p>
        </p:txBody>
      </p:sp>
      <p:sp>
        <p:nvSpPr>
          <p:cNvPr id="5" name="Text 3"/>
          <p:cNvSpPr/>
          <p:nvPr/>
        </p:nvSpPr>
        <p:spPr>
          <a:xfrm>
            <a:off x="365760" y="621792"/>
            <a:ext cx="8412480" cy="256032"/>
          </a:xfrm>
          <a:prstGeom prst="rect">
            <a:avLst/>
          </a:prstGeom>
          <a:noFill/>
          <a:ln/>
        </p:spPr>
        <p:txBody>
          <a:bodyPr wrap="square" lIns="0" tIns="0" rIns="0" bIns="0" rtlCol="0" anchor="ctr"/>
          <a:lstStyle/>
          <a:p>
            <a:pPr indent="0" marL="0">
              <a:buNone/>
            </a:pPr>
            <a:r>
              <a:rPr lang="en-US" sz="1100" i="1" dirty="0">
                <a:solidFill>
                  <a:srgbClr val="8FA3B1"/>
                </a:solidFill>
                <a:latin typeface="Calibri" pitchFamily="34" charset="0"/>
                <a:ea typeface="Calibri" pitchFamily="34" charset="-122"/>
                <a:cs typeface="Calibri" pitchFamily="34" charset="-120"/>
              </a:rPr>
              <a:t>phase2_spoof.py  ·  Castellanos et al., ACSAC 2020 (Paper #31)  ·  github.com/scy-phy/ICS-Evasion-Attacks</a:t>
            </a:r>
            <a:endParaRPr lang="en-US" sz="1100" dirty="0"/>
          </a:p>
        </p:txBody>
      </p:sp>
      <p:sp>
        <p:nvSpPr>
          <p:cNvPr id="6" name="Shape 4"/>
          <p:cNvSpPr/>
          <p:nvPr/>
        </p:nvSpPr>
        <p:spPr>
          <a:xfrm>
            <a:off x="274320" y="914400"/>
            <a:ext cx="2651760" cy="3383280"/>
          </a:xfrm>
          <a:prstGeom prst="rect">
            <a:avLst/>
          </a:prstGeom>
          <a:solidFill>
            <a:srgbClr val="1B3A5C"/>
          </a:solidFill>
          <a:ln w="12700">
            <a:solidFill>
              <a:srgbClr val="1B3A5C"/>
            </a:solidFill>
            <a:prstDash val="solid"/>
          </a:ln>
        </p:spPr>
      </p:sp>
      <p:sp>
        <p:nvSpPr>
          <p:cNvPr id="7" name="Shape 5"/>
          <p:cNvSpPr/>
          <p:nvPr/>
        </p:nvSpPr>
        <p:spPr>
          <a:xfrm>
            <a:off x="274320" y="914400"/>
            <a:ext cx="64008" cy="3383280"/>
          </a:xfrm>
          <a:prstGeom prst="rect">
            <a:avLst/>
          </a:prstGeom>
          <a:solidFill>
            <a:srgbClr val="C0392B"/>
          </a:solidFill>
          <a:ln w="12700">
            <a:solidFill>
              <a:srgbClr val="C0392B"/>
            </a:solidFill>
            <a:prstDash val="solid"/>
          </a:ln>
        </p:spPr>
      </p:sp>
      <p:sp>
        <p:nvSpPr>
          <p:cNvPr id="8" name="Text 6"/>
          <p:cNvSpPr/>
          <p:nvPr/>
        </p:nvSpPr>
        <p:spPr>
          <a:xfrm>
            <a:off x="502920" y="987552"/>
            <a:ext cx="2331720" cy="3200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Problem: Naive Replay</a:t>
            </a:r>
            <a:endParaRPr lang="en-US" sz="1300" dirty="0"/>
          </a:p>
        </p:txBody>
      </p:sp>
      <p:sp>
        <p:nvSpPr>
          <p:cNvPr id="9" name="Text 7"/>
          <p:cNvSpPr/>
          <p:nvPr/>
        </p:nvSpPr>
        <p:spPr>
          <a:xfrm>
            <a:off x="502920" y="1417320"/>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Phase 1 replays static stored values</a:t>
            </a:r>
            <a:endParaRPr lang="en-US" sz="1050" dirty="0"/>
          </a:p>
        </p:txBody>
      </p:sp>
      <p:sp>
        <p:nvSpPr>
          <p:cNvPr id="10" name="Text 8"/>
          <p:cNvSpPr/>
          <p:nvPr/>
        </p:nvSpPr>
        <p:spPr>
          <a:xfrm>
            <a:off x="502920" y="2075688"/>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Physical correlations break: LIT101 stays flat while P101 is OFF</a:t>
            </a:r>
            <a:endParaRPr lang="en-US" sz="1050" dirty="0"/>
          </a:p>
        </p:txBody>
      </p:sp>
      <p:sp>
        <p:nvSpPr>
          <p:cNvPr id="11" name="Text 9"/>
          <p:cNvSpPr/>
          <p:nvPr/>
        </p:nvSpPr>
        <p:spPr>
          <a:xfrm>
            <a:off x="502920" y="2734056"/>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Reconstruction AE detects increasing MSE error over time</a:t>
            </a:r>
            <a:endParaRPr lang="en-US" sz="1050" dirty="0"/>
          </a:p>
        </p:txBody>
      </p:sp>
      <p:sp>
        <p:nvSpPr>
          <p:cNvPr id="12" name="Text 10"/>
          <p:cNvSpPr/>
          <p:nvPr/>
        </p:nvSpPr>
        <p:spPr>
          <a:xfrm>
            <a:off x="502920" y="3392424"/>
            <a:ext cx="2331720" cy="566928"/>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Paper #31: triggers alarms when &lt;95% sensors are manipulated</a:t>
            </a:r>
            <a:endParaRPr lang="en-US" sz="1050" dirty="0"/>
          </a:p>
        </p:txBody>
      </p:sp>
      <p:sp>
        <p:nvSpPr>
          <p:cNvPr id="13" name="Shape 11"/>
          <p:cNvSpPr/>
          <p:nvPr/>
        </p:nvSpPr>
        <p:spPr>
          <a:xfrm>
            <a:off x="3108960" y="914400"/>
            <a:ext cx="2834640" cy="3383280"/>
          </a:xfrm>
          <a:prstGeom prst="rect">
            <a:avLst/>
          </a:prstGeom>
          <a:solidFill>
            <a:srgbClr val="1B3A5C"/>
          </a:solidFill>
          <a:ln w="12700">
            <a:solidFill>
              <a:srgbClr val="1B3A5C"/>
            </a:solidFill>
            <a:prstDash val="solid"/>
          </a:ln>
        </p:spPr>
      </p:sp>
      <p:sp>
        <p:nvSpPr>
          <p:cNvPr id="14" name="Shape 12"/>
          <p:cNvSpPr/>
          <p:nvPr/>
        </p:nvSpPr>
        <p:spPr>
          <a:xfrm>
            <a:off x="3108960" y="914400"/>
            <a:ext cx="64008" cy="3383280"/>
          </a:xfrm>
          <a:prstGeom prst="rect">
            <a:avLst/>
          </a:prstGeom>
          <a:solidFill>
            <a:srgbClr val="8E44AD"/>
          </a:solidFill>
          <a:ln w="12700">
            <a:solidFill>
              <a:srgbClr val="8E44AD"/>
            </a:solidFill>
            <a:prstDash val="solid"/>
          </a:ln>
        </p:spPr>
      </p:sp>
      <p:sp>
        <p:nvSpPr>
          <p:cNvPr id="15" name="Text 13"/>
          <p:cNvSpPr/>
          <p:nvPr/>
        </p:nvSpPr>
        <p:spPr>
          <a:xfrm>
            <a:off x="3337560" y="987552"/>
            <a:ext cx="2468880" cy="320040"/>
          </a:xfrm>
          <a:prstGeom prst="rect">
            <a:avLst/>
          </a:prstGeom>
          <a:noFill/>
          <a:ln/>
        </p:spPr>
        <p:txBody>
          <a:bodyPr wrap="square" lIns="0" tIns="0" rIns="0" bIns="0" rtlCol="0" anchor="ctr"/>
          <a:lstStyle/>
          <a:p>
            <a:pPr indent="0" marL="0">
              <a:buNone/>
            </a:pPr>
            <a:r>
              <a:rPr lang="en-US" sz="1300" b="1" dirty="0">
                <a:solidFill>
                  <a:srgbClr val="8E44AD"/>
                </a:solidFill>
                <a:latin typeface="Calibri" pitchFamily="34" charset="0"/>
                <a:ea typeface="Calibri" pitchFamily="34" charset="-122"/>
                <a:cs typeface="Calibri" pitchFamily="34" charset="-120"/>
              </a:rPr>
              <a:t>Solution: Adv. Autoencoder</a:t>
            </a:r>
            <a:endParaRPr lang="en-US" sz="1300" dirty="0"/>
          </a:p>
        </p:txBody>
      </p:sp>
      <p:sp>
        <p:nvSpPr>
          <p:cNvPr id="16" name="Text 14"/>
          <p:cNvSpPr/>
          <p:nvPr/>
        </p:nvSpPr>
        <p:spPr>
          <a:xfrm>
            <a:off x="3337560" y="1371600"/>
            <a:ext cx="2468880" cy="256032"/>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Learning-based (black-box):</a:t>
            </a:r>
            <a:endParaRPr lang="en-US" sz="1100" dirty="0"/>
          </a:p>
        </p:txBody>
      </p:sp>
      <p:sp>
        <p:nvSpPr>
          <p:cNvPr id="17" name="Text 15"/>
          <p:cNvSpPr/>
          <p:nvPr/>
        </p:nvSpPr>
        <p:spPr>
          <a:xfrm>
            <a:off x="3337560" y="1645920"/>
            <a:ext cx="2468880" cy="109728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Train adversarial net to output perturbation δ such that:</a:t>
            </a:r>
            <a:endParaRPr lang="en-US" sz="1050" dirty="0"/>
          </a:p>
          <a:p>
            <a:pPr indent="0" marL="0">
              <a:buNone/>
            </a:pP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AE_detector(x + δ)</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has low reconstruction error</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 xml:space="preserve">  → looks normal to detector</a:t>
            </a:r>
            <a:endParaRPr lang="en-US" sz="1050" dirty="0"/>
          </a:p>
        </p:txBody>
      </p:sp>
      <p:sp>
        <p:nvSpPr>
          <p:cNvPr id="18" name="Text 16"/>
          <p:cNvSpPr/>
          <p:nvPr/>
        </p:nvSpPr>
        <p:spPr>
          <a:xfrm>
            <a:off x="3337560" y="2788920"/>
            <a:ext cx="2468880" cy="256032"/>
          </a:xfrm>
          <a:prstGeom prst="rect">
            <a:avLst/>
          </a:prstGeom>
          <a:noFill/>
          <a:ln/>
        </p:spPr>
        <p:txBody>
          <a:bodyPr wrap="square" lIns="0" tIns="0" rIns="0" bIns="0" rtlCol="0" anchor="ctr"/>
          <a:lstStyle/>
          <a:p>
            <a:pPr indent="0" marL="0">
              <a:buNone/>
            </a:pPr>
            <a:r>
              <a:rPr lang="en-US" sz="1100" dirty="0">
                <a:solidFill>
                  <a:srgbClr val="2ECC71"/>
                </a:solidFill>
                <a:latin typeface="Consolas" pitchFamily="34" charset="0"/>
                <a:ea typeface="Consolas" pitchFamily="34" charset="-122"/>
                <a:cs typeface="Consolas" pitchFamily="34" charset="-120"/>
              </a:rPr>
              <a:t>Constraint:  ||δ||∞ ≤ ε</a:t>
            </a:r>
            <a:endParaRPr lang="en-US" sz="1100" dirty="0"/>
          </a:p>
        </p:txBody>
      </p:sp>
      <p:sp>
        <p:nvSpPr>
          <p:cNvPr id="19" name="Text 17"/>
          <p:cNvSpPr/>
          <p:nvPr/>
        </p:nvSpPr>
        <p:spPr>
          <a:xfrm>
            <a:off x="3337560" y="3108960"/>
            <a:ext cx="2468880" cy="502920"/>
          </a:xfrm>
          <a:prstGeom prst="rect">
            <a:avLst/>
          </a:prstGeom>
          <a:noFill/>
          <a:ln/>
        </p:spPr>
        <p:txBody>
          <a:bodyPr wrap="square" lIns="0" tIns="0" rIns="0" bIns="0" rtlCol="0" anchor="ctr"/>
          <a:lstStyle/>
          <a:p>
            <a:pPr indent="0" marL="0">
              <a:buNone/>
            </a:pPr>
            <a:r>
              <a:rPr lang="en-US" sz="1000" dirty="0">
                <a:solidFill>
                  <a:srgbClr val="8FA3B1"/>
                </a:solidFill>
                <a:latin typeface="Calibri" pitchFamily="34" charset="0"/>
                <a:ea typeface="Calibri" pitchFamily="34" charset="-122"/>
                <a:cs typeface="Calibri" pitchFamily="34" charset="-120"/>
              </a:rPr>
              <a:t>Runs in milliseconds</a:t>
            </a:r>
            <a:endParaRPr lang="en-US" sz="1000" dirty="0"/>
          </a:p>
          <a:p>
            <a:pPr indent="0" marL="0">
              <a:buNone/>
            </a:pPr>
            <a:r>
              <a:rPr lang="en-US" sz="1000" dirty="0">
                <a:solidFill>
                  <a:srgbClr val="8FA3B1"/>
                </a:solidFill>
                <a:latin typeface="Calibri" pitchFamily="34" charset="0"/>
                <a:ea typeface="Calibri" pitchFamily="34" charset="-122"/>
                <a:cs typeface="Calibri" pitchFamily="34" charset="-120"/>
              </a:rPr>
              <a:t>— meets Modbus timing window</a:t>
            </a:r>
            <a:endParaRPr lang="en-US" sz="1000" dirty="0"/>
          </a:p>
        </p:txBody>
      </p:sp>
      <p:sp>
        <p:nvSpPr>
          <p:cNvPr id="20" name="Shape 18"/>
          <p:cNvSpPr/>
          <p:nvPr/>
        </p:nvSpPr>
        <p:spPr>
          <a:xfrm>
            <a:off x="6126480" y="914400"/>
            <a:ext cx="2743200" cy="3383280"/>
          </a:xfrm>
          <a:prstGeom prst="rect">
            <a:avLst/>
          </a:prstGeom>
          <a:solidFill>
            <a:srgbClr val="1E2D3D"/>
          </a:solidFill>
          <a:ln w="12700">
            <a:solidFill>
              <a:srgbClr val="1E2D3D"/>
            </a:solidFill>
            <a:prstDash val="solid"/>
          </a:ln>
        </p:spPr>
      </p:sp>
      <p:sp>
        <p:nvSpPr>
          <p:cNvPr id="21" name="Shape 19"/>
          <p:cNvSpPr/>
          <p:nvPr/>
        </p:nvSpPr>
        <p:spPr>
          <a:xfrm>
            <a:off x="6126480" y="914400"/>
            <a:ext cx="64008" cy="3383280"/>
          </a:xfrm>
          <a:prstGeom prst="rect">
            <a:avLst/>
          </a:prstGeom>
          <a:solidFill>
            <a:srgbClr val="F4A261"/>
          </a:solidFill>
          <a:ln w="12700">
            <a:solidFill>
              <a:srgbClr val="F4A261"/>
            </a:solidFill>
            <a:prstDash val="solid"/>
          </a:ln>
        </p:spPr>
      </p:sp>
      <p:sp>
        <p:nvSpPr>
          <p:cNvPr id="22" name="Text 20"/>
          <p:cNvSpPr/>
          <p:nvPr/>
        </p:nvSpPr>
        <p:spPr>
          <a:xfrm>
            <a:off x="6355080" y="987552"/>
            <a:ext cx="2377440" cy="32004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Training Loss</a:t>
            </a:r>
            <a:endParaRPr lang="en-US" sz="1300" dirty="0"/>
          </a:p>
        </p:txBody>
      </p:sp>
      <p:sp>
        <p:nvSpPr>
          <p:cNvPr id="23" name="Text 21"/>
          <p:cNvSpPr/>
          <p:nvPr/>
        </p:nvSpPr>
        <p:spPr>
          <a:xfrm>
            <a:off x="6355080" y="1371600"/>
            <a:ext cx="2377440" cy="594360"/>
          </a:xfrm>
          <a:prstGeom prst="rect">
            <a:avLst/>
          </a:prstGeom>
          <a:noFill/>
          <a:ln/>
        </p:spPr>
        <p:txBody>
          <a:bodyPr wrap="square" lIns="0" tIns="0" rIns="0" bIns="0" rtlCol="0" anchor="ctr"/>
          <a:lstStyle/>
          <a:p>
            <a:pPr indent="0" marL="0">
              <a:buNone/>
            </a:pPr>
            <a:r>
              <a:rPr lang="en-US" sz="1200" dirty="0">
                <a:solidFill>
                  <a:srgbClr val="2ECC71"/>
                </a:solidFill>
                <a:latin typeface="Consolas" pitchFamily="34" charset="0"/>
                <a:ea typeface="Consolas" pitchFamily="34" charset="-122"/>
                <a:cs typeface="Consolas" pitchFamily="34" charset="-120"/>
              </a:rPr>
              <a:t>L = α · MSE_detector(x+δ)</a:t>
            </a:r>
            <a:endParaRPr lang="en-US" sz="1200" dirty="0"/>
          </a:p>
          <a:p>
            <a:pPr indent="0" marL="0">
              <a:buNone/>
            </a:pPr>
            <a:r>
              <a:rPr lang="en-US" sz="1200" dirty="0">
                <a:solidFill>
                  <a:srgbClr val="2ECC71"/>
                </a:solidFill>
                <a:latin typeface="Consolas" pitchFamily="34" charset="0"/>
                <a:ea typeface="Consolas" pitchFamily="34" charset="-122"/>
                <a:cs typeface="Consolas" pitchFamily="34" charset="-120"/>
              </a:rPr>
              <a:t xml:space="preserve">  + β · ||δ||₂</a:t>
            </a:r>
            <a:endParaRPr lang="en-US" sz="1200" dirty="0"/>
          </a:p>
        </p:txBody>
      </p:sp>
      <p:sp>
        <p:nvSpPr>
          <p:cNvPr id="24" name="Text 22"/>
          <p:cNvSpPr/>
          <p:nvPr/>
        </p:nvSpPr>
        <p:spPr>
          <a:xfrm>
            <a:off x="6355080" y="2057400"/>
            <a:ext cx="2377440" cy="2011680"/>
          </a:xfrm>
          <a:prstGeom prst="rect">
            <a:avLst/>
          </a:prstGeom>
          <a:noFill/>
          <a:ln/>
        </p:spPr>
        <p:txBody>
          <a:bodyPr wrap="square" lIns="0" tIns="0" rIns="0" bIns="0" rtlCol="0" anchor="ctr"/>
          <a:lstStyle/>
          <a:p>
            <a:pPr indent="0" marL="0">
              <a:buNone/>
            </a:pPr>
            <a:r>
              <a:rPr lang="en-US" sz="1050" b="1" dirty="0">
                <a:solidFill>
                  <a:srgbClr val="F4A261"/>
                </a:solidFill>
                <a:latin typeface="Calibri" pitchFamily="34" charset="0"/>
                <a:ea typeface="Calibri" pitchFamily="34" charset="-122"/>
                <a:cs typeface="Calibri" pitchFamily="34" charset="-120"/>
              </a:rPr>
              <a:t xml:space="preserve">α·MSE  </a:t>
            </a:r>
            <a:pPr indent="0" marL="0">
              <a:buNone/>
            </a:pPr>
            <a:r>
              <a:rPr lang="en-US" sz="1050" dirty="0">
                <a:solidFill>
                  <a:srgbClr val="E8EEF4"/>
                </a:solidFill>
                <a:latin typeface="Calibri" pitchFamily="34" charset="0"/>
                <a:ea typeface="Calibri" pitchFamily="34" charset="-122"/>
                <a:cs typeface="Calibri" pitchFamily="34" charset="-120"/>
              </a:rPr>
              <a:t>→ fool detector
</a:t>
            </a:r>
            <a:pPr indent="0" marL="0">
              <a:buNone/>
            </a:pPr>
            <a:r>
              <a:rPr lang="en-US" sz="1050" b="1" dirty="0">
                <a:solidFill>
                  <a:srgbClr val="F4A261"/>
                </a:solidFill>
                <a:latin typeface="Calibri" pitchFamily="34" charset="0"/>
                <a:ea typeface="Calibri" pitchFamily="34" charset="-122"/>
                <a:cs typeface="Calibri" pitchFamily="34" charset="-120"/>
              </a:rPr>
              <a:t xml:space="preserve">β·||δ||  </a:t>
            </a:r>
            <a:pPr indent="0" marL="0">
              <a:buNone/>
            </a:pPr>
            <a:r>
              <a:rPr lang="en-US" sz="1050" dirty="0">
                <a:solidFill>
                  <a:srgbClr val="E8EEF4"/>
                </a:solidFill>
                <a:latin typeface="Calibri" pitchFamily="34" charset="0"/>
                <a:ea typeface="Calibri" pitchFamily="34" charset="-122"/>
                <a:cs typeface="Calibri" pitchFamily="34" charset="-120"/>
              </a:rPr>
              <a:t>→ keep perturbation small
</a:t>
            </a:r>
            <a:pPr indent="0" marL="0">
              <a:buNone/>
            </a:pPr>
            <a:r>
              <a:rPr lang="en-US" sz="1050" b="1" dirty="0">
                <a:solidFill>
                  <a:srgbClr val="F4A261"/>
                </a:solidFill>
                <a:latin typeface="Calibri" pitchFamily="34" charset="0"/>
                <a:ea typeface="Calibri" pitchFamily="34" charset="-122"/>
                <a:cs typeface="Calibri" pitchFamily="34" charset="-120"/>
              </a:rPr>
              <a:t xml:space="preserve">Result: </a:t>
            </a:r>
            <a:pPr indent="0" marL="0">
              <a:buNone/>
            </a:pPr>
            <a:r>
              <a:rPr lang="en-US" sz="1050" dirty="0">
                <a:solidFill>
                  <a:srgbClr val="E8EEF4"/>
                </a:solidFill>
                <a:latin typeface="Calibri" pitchFamily="34" charset="0"/>
                <a:ea typeface="Calibri" pitchFamily="34" charset="-122"/>
                <a:cs typeface="Calibri" pitchFamily="34" charset="-120"/>
              </a:rPr>
              <a:t>spoofed sensor values that reconstruct normally through any AE detector</a:t>
            </a:r>
            <a:endParaRPr lang="en-US" sz="1050" dirty="0"/>
          </a:p>
        </p:txBody>
      </p:sp>
      <p:sp>
        <p:nvSpPr>
          <p:cNvPr id="25" name="Shape 23"/>
          <p:cNvSpPr/>
          <p:nvPr/>
        </p:nvSpPr>
        <p:spPr>
          <a:xfrm>
            <a:off x="0" y="4754880"/>
            <a:ext cx="9144000" cy="384048"/>
          </a:xfrm>
          <a:prstGeom prst="rect">
            <a:avLst/>
          </a:prstGeom>
          <a:solidFill>
            <a:srgbClr val="1B3A5C"/>
          </a:solidFill>
          <a:ln w="12700">
            <a:solidFill>
              <a:srgbClr val="1B3A5C"/>
            </a:solidFill>
            <a:prstDash val="solid"/>
          </a:ln>
        </p:spPr>
      </p:sp>
      <p:sp>
        <p:nvSpPr>
          <p:cNvPr id="26" name="Text 2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16/18 — Phase 2: Evade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Implementation Scripts — Usage Reference</a:t>
            </a:r>
            <a:endParaRPr lang="en-US" sz="2800" dirty="0"/>
          </a:p>
        </p:txBody>
      </p:sp>
      <p:sp>
        <p:nvSpPr>
          <p:cNvPr id="3" name="Shape 1"/>
          <p:cNvSpPr/>
          <p:nvPr/>
        </p:nvSpPr>
        <p:spPr>
          <a:xfrm>
            <a:off x="274320" y="777240"/>
            <a:ext cx="8595360" cy="1325880"/>
          </a:xfrm>
          <a:prstGeom prst="rect">
            <a:avLst/>
          </a:prstGeom>
          <a:solidFill>
            <a:srgbClr val="1E2D3D"/>
          </a:solidFill>
          <a:ln w="12700">
            <a:solidFill>
              <a:srgbClr val="1E2D3D"/>
            </a:solidFill>
            <a:prstDash val="solid"/>
          </a:ln>
        </p:spPr>
      </p:sp>
      <p:sp>
        <p:nvSpPr>
          <p:cNvPr id="4" name="Shape 2"/>
          <p:cNvSpPr/>
          <p:nvPr/>
        </p:nvSpPr>
        <p:spPr>
          <a:xfrm>
            <a:off x="274320" y="777240"/>
            <a:ext cx="64008" cy="1325880"/>
          </a:xfrm>
          <a:prstGeom prst="rect">
            <a:avLst/>
          </a:prstGeom>
          <a:solidFill>
            <a:srgbClr val="2980B9"/>
          </a:solidFill>
          <a:ln w="12700">
            <a:solidFill>
              <a:srgbClr val="2980B9"/>
            </a:solidFill>
            <a:prstDash val="solid"/>
          </a:ln>
        </p:spPr>
      </p:sp>
      <p:sp>
        <p:nvSpPr>
          <p:cNvPr id="5" name="Text 3"/>
          <p:cNvSpPr/>
          <p:nvPr/>
        </p:nvSpPr>
        <p:spPr>
          <a:xfrm>
            <a:off x="502920" y="850392"/>
            <a:ext cx="2103120" cy="320040"/>
          </a:xfrm>
          <a:prstGeom prst="rect">
            <a:avLst/>
          </a:prstGeom>
          <a:noFill/>
          <a:ln/>
        </p:spPr>
        <p:txBody>
          <a:bodyPr wrap="square" lIns="0" tIns="0" rIns="0" bIns="0" rtlCol="0" anchor="ctr"/>
          <a:lstStyle/>
          <a:p>
            <a:pPr indent="0" marL="0">
              <a:buNone/>
            </a:pPr>
            <a:r>
              <a:rPr lang="en-US" sz="1400" b="1" dirty="0">
                <a:solidFill>
                  <a:srgbClr val="2980B9"/>
                </a:solidFill>
                <a:latin typeface="Consolas" pitchFamily="34" charset="0"/>
                <a:ea typeface="Consolas" pitchFamily="34" charset="-122"/>
                <a:cs typeface="Consolas" pitchFamily="34" charset="-120"/>
              </a:rPr>
              <a:t>phase0_recon.py</a:t>
            </a:r>
            <a:endParaRPr lang="en-US" sz="1400" dirty="0"/>
          </a:p>
        </p:txBody>
      </p:sp>
      <p:sp>
        <p:nvSpPr>
          <p:cNvPr id="6" name="Text 4"/>
          <p:cNvSpPr/>
          <p:nvPr/>
        </p:nvSpPr>
        <p:spPr>
          <a:xfrm>
            <a:off x="2697480" y="85039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NMAP SYN scan + Modbus packet sniffer + request-response DB builder</a:t>
            </a:r>
            <a:endParaRPr lang="en-US" sz="1100" dirty="0"/>
          </a:p>
        </p:txBody>
      </p:sp>
      <p:sp>
        <p:nvSpPr>
          <p:cNvPr id="7" name="Text 5"/>
          <p:cNvSpPr/>
          <p:nvPr/>
        </p:nvSpPr>
        <p:spPr>
          <a:xfrm>
            <a:off x="502920" y="123444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sudo python3 phase0_recon.py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--subnet 192.168.1.0/24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--iface eth0  --duration 1800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--db modbus_db.pkl</a:t>
            </a:r>
            <a:endParaRPr lang="en-US" sz="950" dirty="0"/>
          </a:p>
        </p:txBody>
      </p:sp>
      <p:sp>
        <p:nvSpPr>
          <p:cNvPr id="8" name="Shape 6"/>
          <p:cNvSpPr/>
          <p:nvPr/>
        </p:nvSpPr>
        <p:spPr>
          <a:xfrm>
            <a:off x="5669280" y="1234440"/>
            <a:ext cx="3017520" cy="365760"/>
          </a:xfrm>
          <a:prstGeom prst="rect">
            <a:avLst/>
          </a:prstGeom>
          <a:solidFill>
            <a:srgbClr val="1B3A5C"/>
          </a:solidFill>
          <a:ln w="12700">
            <a:solidFill>
              <a:srgbClr val="1B3A5C"/>
            </a:solidFill>
            <a:prstDash val="solid"/>
          </a:ln>
        </p:spPr>
      </p:sp>
      <p:sp>
        <p:nvSpPr>
          <p:cNvPr id="9" name="Text 7"/>
          <p:cNvSpPr/>
          <p:nvPr/>
        </p:nvSpPr>
        <p:spPr>
          <a:xfrm>
            <a:off x="5760720" y="123444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scapy  python-nmap</a:t>
            </a:r>
            <a:endParaRPr lang="en-US" sz="900" dirty="0"/>
          </a:p>
        </p:txBody>
      </p:sp>
      <p:sp>
        <p:nvSpPr>
          <p:cNvPr id="10" name="Shape 8"/>
          <p:cNvSpPr/>
          <p:nvPr/>
        </p:nvSpPr>
        <p:spPr>
          <a:xfrm>
            <a:off x="5669280" y="1645920"/>
            <a:ext cx="3017520" cy="365760"/>
          </a:xfrm>
          <a:prstGeom prst="rect">
            <a:avLst/>
          </a:prstGeom>
          <a:solidFill>
            <a:srgbClr val="1B3A5C"/>
          </a:solidFill>
          <a:ln w="12700">
            <a:solidFill>
              <a:srgbClr val="1B3A5C"/>
            </a:solidFill>
            <a:prstDash val="solid"/>
          </a:ln>
        </p:spPr>
      </p:sp>
      <p:sp>
        <p:nvSpPr>
          <p:cNvPr id="11" name="Text 9"/>
          <p:cNvSpPr/>
          <p:nvPr/>
        </p:nvSpPr>
        <p:spPr>
          <a:xfrm>
            <a:off x="5760720" y="164592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modbus_db.pkl  swat_capture.pcap  recon_results.json</a:t>
            </a:r>
            <a:endParaRPr lang="en-US" sz="900" dirty="0"/>
          </a:p>
        </p:txBody>
      </p:sp>
      <p:sp>
        <p:nvSpPr>
          <p:cNvPr id="12" name="Shape 10"/>
          <p:cNvSpPr/>
          <p:nvPr/>
        </p:nvSpPr>
        <p:spPr>
          <a:xfrm>
            <a:off x="274320" y="2194560"/>
            <a:ext cx="8595360" cy="1325880"/>
          </a:xfrm>
          <a:prstGeom prst="rect">
            <a:avLst/>
          </a:prstGeom>
          <a:solidFill>
            <a:srgbClr val="1E2D3D"/>
          </a:solidFill>
          <a:ln w="12700">
            <a:solidFill>
              <a:srgbClr val="1E2D3D"/>
            </a:solidFill>
            <a:prstDash val="solid"/>
          </a:ln>
        </p:spPr>
      </p:sp>
      <p:sp>
        <p:nvSpPr>
          <p:cNvPr id="13" name="Shape 11"/>
          <p:cNvSpPr/>
          <p:nvPr/>
        </p:nvSpPr>
        <p:spPr>
          <a:xfrm>
            <a:off x="274320" y="2194560"/>
            <a:ext cx="64008" cy="1325880"/>
          </a:xfrm>
          <a:prstGeom prst="rect">
            <a:avLst/>
          </a:prstGeom>
          <a:solidFill>
            <a:srgbClr val="C0392B"/>
          </a:solidFill>
          <a:ln w="12700">
            <a:solidFill>
              <a:srgbClr val="C0392B"/>
            </a:solidFill>
            <a:prstDash val="solid"/>
          </a:ln>
        </p:spPr>
      </p:sp>
      <p:sp>
        <p:nvSpPr>
          <p:cNvPr id="14" name="Text 12"/>
          <p:cNvSpPr/>
          <p:nvPr/>
        </p:nvSpPr>
        <p:spPr>
          <a:xfrm>
            <a:off x="502920" y="2267712"/>
            <a:ext cx="2103120" cy="320040"/>
          </a:xfrm>
          <a:prstGeom prst="rect">
            <a:avLst/>
          </a:prstGeom>
          <a:noFill/>
          <a:ln/>
        </p:spPr>
        <p:txBody>
          <a:bodyPr wrap="square" lIns="0" tIns="0" rIns="0" bIns="0" rtlCol="0" anchor="ctr"/>
          <a:lstStyle/>
          <a:p>
            <a:pPr indent="0" marL="0">
              <a:buNone/>
            </a:pPr>
            <a:r>
              <a:rPr lang="en-US" sz="1400" b="1" dirty="0">
                <a:solidFill>
                  <a:srgbClr val="C0392B"/>
                </a:solidFill>
                <a:latin typeface="Consolas" pitchFamily="34" charset="0"/>
                <a:ea typeface="Consolas" pitchFamily="34" charset="-122"/>
                <a:cs typeface="Consolas" pitchFamily="34" charset="-120"/>
              </a:rPr>
              <a:t>phase1_inject.py</a:t>
            </a:r>
            <a:endParaRPr lang="en-US" sz="1400" dirty="0"/>
          </a:p>
        </p:txBody>
      </p:sp>
      <p:sp>
        <p:nvSpPr>
          <p:cNvPr id="15" name="Text 13"/>
          <p:cNvSpPr/>
          <p:nvPr/>
        </p:nvSpPr>
        <p:spPr>
          <a:xfrm>
            <a:off x="2697480" y="226771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ARP poisoning MITM + false Modbus coil writes + Algorithm 1 concealment replay</a:t>
            </a:r>
            <a:endParaRPr lang="en-US" sz="1100" dirty="0"/>
          </a:p>
        </p:txBody>
      </p:sp>
      <p:sp>
        <p:nvSpPr>
          <p:cNvPr id="16" name="Text 14"/>
          <p:cNvSpPr/>
          <p:nvPr/>
        </p:nvSpPr>
        <p:spPr>
          <a:xfrm>
            <a:off x="502920" y="265176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sudo python3 phase1_inject.py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--plc-ip 192.168.1.10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--hmi-ip 192.168.1.20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--db modbus_db.pkl  --duration 120</a:t>
            </a:r>
            <a:endParaRPr lang="en-US" sz="950" dirty="0"/>
          </a:p>
        </p:txBody>
      </p:sp>
      <p:sp>
        <p:nvSpPr>
          <p:cNvPr id="17" name="Shape 15"/>
          <p:cNvSpPr/>
          <p:nvPr/>
        </p:nvSpPr>
        <p:spPr>
          <a:xfrm>
            <a:off x="5669280" y="2651760"/>
            <a:ext cx="3017520" cy="365760"/>
          </a:xfrm>
          <a:prstGeom prst="rect">
            <a:avLst/>
          </a:prstGeom>
          <a:solidFill>
            <a:srgbClr val="1B3A5C"/>
          </a:solidFill>
          <a:ln w="12700">
            <a:solidFill>
              <a:srgbClr val="1B3A5C"/>
            </a:solidFill>
            <a:prstDash val="solid"/>
          </a:ln>
        </p:spPr>
      </p:sp>
      <p:sp>
        <p:nvSpPr>
          <p:cNvPr id="18" name="Text 16"/>
          <p:cNvSpPr/>
          <p:nvPr/>
        </p:nvSpPr>
        <p:spPr>
          <a:xfrm>
            <a:off x="5760720" y="265176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scapy  pymodbus</a:t>
            </a:r>
            <a:endParaRPr lang="en-US" sz="900" dirty="0"/>
          </a:p>
        </p:txBody>
      </p:sp>
      <p:sp>
        <p:nvSpPr>
          <p:cNvPr id="19" name="Shape 17"/>
          <p:cNvSpPr/>
          <p:nvPr/>
        </p:nvSpPr>
        <p:spPr>
          <a:xfrm>
            <a:off x="5669280" y="3063240"/>
            <a:ext cx="3017520" cy="365760"/>
          </a:xfrm>
          <a:prstGeom prst="rect">
            <a:avLst/>
          </a:prstGeom>
          <a:solidFill>
            <a:srgbClr val="1B3A5C"/>
          </a:solidFill>
          <a:ln w="12700">
            <a:solidFill>
              <a:srgbClr val="1B3A5C"/>
            </a:solidFill>
            <a:prstDash val="solid"/>
          </a:ln>
        </p:spPr>
      </p:sp>
      <p:sp>
        <p:nvSpPr>
          <p:cNvPr id="20" name="Text 18"/>
          <p:cNvSpPr/>
          <p:nvPr/>
        </p:nvSpPr>
        <p:spPr>
          <a:xfrm>
            <a:off x="5760720" y="306324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Console: injection count + concealment events</a:t>
            </a:r>
            <a:endParaRPr lang="en-US" sz="900" dirty="0"/>
          </a:p>
        </p:txBody>
      </p:sp>
      <p:sp>
        <p:nvSpPr>
          <p:cNvPr id="21" name="Shape 19"/>
          <p:cNvSpPr/>
          <p:nvPr/>
        </p:nvSpPr>
        <p:spPr>
          <a:xfrm>
            <a:off x="274320" y="3611880"/>
            <a:ext cx="8595360" cy="1325880"/>
          </a:xfrm>
          <a:prstGeom prst="rect">
            <a:avLst/>
          </a:prstGeom>
          <a:solidFill>
            <a:srgbClr val="1E2D3D"/>
          </a:solidFill>
          <a:ln w="12700">
            <a:solidFill>
              <a:srgbClr val="1E2D3D"/>
            </a:solidFill>
            <a:prstDash val="solid"/>
          </a:ln>
        </p:spPr>
      </p:sp>
      <p:sp>
        <p:nvSpPr>
          <p:cNvPr id="22" name="Shape 20"/>
          <p:cNvSpPr/>
          <p:nvPr/>
        </p:nvSpPr>
        <p:spPr>
          <a:xfrm>
            <a:off x="274320" y="3611880"/>
            <a:ext cx="64008" cy="1325880"/>
          </a:xfrm>
          <a:prstGeom prst="rect">
            <a:avLst/>
          </a:prstGeom>
          <a:solidFill>
            <a:srgbClr val="8E44AD"/>
          </a:solidFill>
          <a:ln w="12700">
            <a:solidFill>
              <a:srgbClr val="8E44AD"/>
            </a:solidFill>
            <a:prstDash val="solid"/>
          </a:ln>
        </p:spPr>
      </p:sp>
      <p:sp>
        <p:nvSpPr>
          <p:cNvPr id="23" name="Text 21"/>
          <p:cNvSpPr/>
          <p:nvPr/>
        </p:nvSpPr>
        <p:spPr>
          <a:xfrm>
            <a:off x="502920" y="3685032"/>
            <a:ext cx="2103120" cy="320040"/>
          </a:xfrm>
          <a:prstGeom prst="rect">
            <a:avLst/>
          </a:prstGeom>
          <a:noFill/>
          <a:ln/>
        </p:spPr>
        <p:txBody>
          <a:bodyPr wrap="square" lIns="0" tIns="0" rIns="0" bIns="0" rtlCol="0" anchor="ctr"/>
          <a:lstStyle/>
          <a:p>
            <a:pPr indent="0" marL="0">
              <a:buNone/>
            </a:pPr>
            <a:r>
              <a:rPr lang="en-US" sz="1400" b="1" dirty="0">
                <a:solidFill>
                  <a:srgbClr val="8E44AD"/>
                </a:solidFill>
                <a:latin typeface="Consolas" pitchFamily="34" charset="0"/>
                <a:ea typeface="Consolas" pitchFamily="34" charset="-122"/>
                <a:cs typeface="Consolas" pitchFamily="34" charset="-120"/>
              </a:rPr>
              <a:t>phase2_spoof.py</a:t>
            </a:r>
            <a:endParaRPr lang="en-US" sz="1400" dirty="0"/>
          </a:p>
        </p:txBody>
      </p:sp>
      <p:sp>
        <p:nvSpPr>
          <p:cNvPr id="24" name="Text 22"/>
          <p:cNvSpPr/>
          <p:nvPr/>
        </p:nvSpPr>
        <p:spPr>
          <a:xfrm>
            <a:off x="2697480" y="3685032"/>
            <a:ext cx="6035040" cy="32004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Adversarial autoencoder: train detector + adv model, then spoof sensor readings at attack time</a:t>
            </a:r>
            <a:endParaRPr lang="en-US" sz="1100" dirty="0"/>
          </a:p>
        </p:txBody>
      </p:sp>
      <p:sp>
        <p:nvSpPr>
          <p:cNvPr id="25" name="Text 23"/>
          <p:cNvSpPr/>
          <p:nvPr/>
        </p:nvSpPr>
        <p:spPr>
          <a:xfrm>
            <a:off x="502920" y="4069080"/>
            <a:ext cx="5029200" cy="749808"/>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python3 phase2_spoof.py train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--data swat_normal.csv  --epochs 100</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python3 phase2_spoof.py attack \</a:t>
            </a:r>
            <a:endParaRPr lang="en-US" sz="950" dirty="0"/>
          </a:p>
          <a:p>
            <a:pPr indent="0" marL="0">
              <a:buNone/>
            </a:pPr>
            <a:r>
              <a:rPr lang="en-US" sz="950" dirty="0">
                <a:solidFill>
                  <a:srgbClr val="2ECC71"/>
                </a:solidFill>
                <a:latin typeface="Consolas" pitchFamily="34" charset="0"/>
                <a:ea typeface="Consolas" pitchFamily="34" charset="-122"/>
                <a:cs typeface="Consolas" pitchFamily="34" charset="-120"/>
              </a:rPr>
              <a:t xml:space="preserve">  --plc-ip 192.168.1.10  --adv-model adv_model.pt</a:t>
            </a:r>
            <a:endParaRPr lang="en-US" sz="950" dirty="0"/>
          </a:p>
        </p:txBody>
      </p:sp>
      <p:sp>
        <p:nvSpPr>
          <p:cNvPr id="26" name="Shape 24"/>
          <p:cNvSpPr/>
          <p:nvPr/>
        </p:nvSpPr>
        <p:spPr>
          <a:xfrm>
            <a:off x="5669280" y="4069080"/>
            <a:ext cx="3017520" cy="365760"/>
          </a:xfrm>
          <a:prstGeom prst="rect">
            <a:avLst/>
          </a:prstGeom>
          <a:solidFill>
            <a:srgbClr val="1B3A5C"/>
          </a:solidFill>
          <a:ln w="12700">
            <a:solidFill>
              <a:srgbClr val="1B3A5C"/>
            </a:solidFill>
            <a:prstDash val="solid"/>
          </a:ln>
        </p:spPr>
      </p:sp>
      <p:sp>
        <p:nvSpPr>
          <p:cNvPr id="27" name="Text 25"/>
          <p:cNvSpPr/>
          <p:nvPr/>
        </p:nvSpPr>
        <p:spPr>
          <a:xfrm>
            <a:off x="5760720" y="4069080"/>
            <a:ext cx="2834640" cy="365760"/>
          </a:xfrm>
          <a:prstGeom prst="rect">
            <a:avLst/>
          </a:prstGeom>
          <a:noFill/>
          <a:ln/>
        </p:spPr>
        <p:txBody>
          <a:bodyPr wrap="square" lIns="0" tIns="0" rIns="0" bIns="0" rtlCol="0" anchor="ctr"/>
          <a:lstStyle/>
          <a:p>
            <a:pPr indent="0" marL="0">
              <a:buNone/>
            </a:pPr>
            <a:r>
              <a:rPr lang="en-US" sz="900" dirty="0">
                <a:solidFill>
                  <a:srgbClr val="8FA3B1"/>
                </a:solidFill>
                <a:latin typeface="Consolas" pitchFamily="34" charset="0"/>
                <a:ea typeface="Consolas" pitchFamily="34" charset="-122"/>
                <a:cs typeface="Consolas" pitchFamily="34" charset="-120"/>
              </a:rPr>
              <a:t>deps: torch  numpy  pandas  scapy  pymodbus  scikit-learn</a:t>
            </a:r>
            <a:endParaRPr lang="en-US" sz="900" dirty="0"/>
          </a:p>
        </p:txBody>
      </p:sp>
      <p:sp>
        <p:nvSpPr>
          <p:cNvPr id="28" name="Shape 26"/>
          <p:cNvSpPr/>
          <p:nvPr/>
        </p:nvSpPr>
        <p:spPr>
          <a:xfrm>
            <a:off x="5669280" y="4480560"/>
            <a:ext cx="3017520" cy="365760"/>
          </a:xfrm>
          <a:prstGeom prst="rect">
            <a:avLst/>
          </a:prstGeom>
          <a:solidFill>
            <a:srgbClr val="1B3A5C"/>
          </a:solidFill>
          <a:ln w="12700">
            <a:solidFill>
              <a:srgbClr val="1B3A5C"/>
            </a:solidFill>
            <a:prstDash val="solid"/>
          </a:ln>
        </p:spPr>
      </p:sp>
      <p:sp>
        <p:nvSpPr>
          <p:cNvPr id="29" name="Text 27"/>
          <p:cNvSpPr/>
          <p:nvPr/>
        </p:nvSpPr>
        <p:spPr>
          <a:xfrm>
            <a:off x="5760720" y="4480560"/>
            <a:ext cx="2834640" cy="365760"/>
          </a:xfrm>
          <a:prstGeom prst="rect">
            <a:avLst/>
          </a:prstGeom>
          <a:noFill/>
          <a:ln/>
        </p:spPr>
        <p:txBody>
          <a:bodyPr wrap="square" lIns="0" tIns="0" rIns="0" bIns="0" rtlCol="0" anchor="ctr"/>
          <a:lstStyle/>
          <a:p>
            <a:pPr indent="0" marL="0">
              <a:buNone/>
            </a:pPr>
            <a:r>
              <a:rPr lang="en-US" sz="900" dirty="0">
                <a:solidFill>
                  <a:srgbClr val="F4A261"/>
                </a:solidFill>
                <a:latin typeface="Consolas" pitchFamily="34" charset="0"/>
                <a:ea typeface="Consolas" pitchFamily="34" charset="-122"/>
                <a:cs typeface="Consolas" pitchFamily="34" charset="-120"/>
              </a:rPr>
              <a:t>out:  detector.pt  adv_model.pt</a:t>
            </a:r>
            <a:endParaRPr lang="en-US" sz="900" dirty="0"/>
          </a:p>
        </p:txBody>
      </p:sp>
      <p:sp>
        <p:nvSpPr>
          <p:cNvPr id="30" name="Shape 28"/>
          <p:cNvSpPr/>
          <p:nvPr/>
        </p:nvSpPr>
        <p:spPr>
          <a:xfrm>
            <a:off x="0" y="4754880"/>
            <a:ext cx="9144000" cy="384048"/>
          </a:xfrm>
          <a:prstGeom prst="rect">
            <a:avLst/>
          </a:prstGeom>
          <a:solidFill>
            <a:srgbClr val="1B3A5C"/>
          </a:solidFill>
          <a:ln w="12700">
            <a:solidFill>
              <a:srgbClr val="1B3A5C"/>
            </a:solidFill>
            <a:prstDash val="solid"/>
          </a:ln>
        </p:spPr>
      </p:sp>
      <p:sp>
        <p:nvSpPr>
          <p:cNvPr id="31" name="Text 29"/>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17/18 — Scripts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Before You Run — Practical Notes for SWaT</a:t>
            </a:r>
            <a:endParaRPr lang="en-US" sz="2800" dirty="0"/>
          </a:p>
        </p:txBody>
      </p:sp>
      <p:sp>
        <p:nvSpPr>
          <p:cNvPr id="3" name="Shape 1"/>
          <p:cNvSpPr/>
          <p:nvPr/>
        </p:nvSpPr>
        <p:spPr>
          <a:xfrm>
            <a:off x="274320" y="749808"/>
            <a:ext cx="4114800" cy="3611880"/>
          </a:xfrm>
          <a:prstGeom prst="rect">
            <a:avLst/>
          </a:prstGeom>
          <a:solidFill>
            <a:srgbClr val="1B3A5C"/>
          </a:solidFill>
          <a:ln w="12700">
            <a:solidFill>
              <a:srgbClr val="1B3A5C"/>
            </a:solidFill>
            <a:prstDash val="solid"/>
          </a:ln>
        </p:spPr>
      </p:sp>
      <p:sp>
        <p:nvSpPr>
          <p:cNvPr id="4" name="Shape 2"/>
          <p:cNvSpPr/>
          <p:nvPr/>
        </p:nvSpPr>
        <p:spPr>
          <a:xfrm>
            <a:off x="274320" y="749808"/>
            <a:ext cx="64008" cy="3611880"/>
          </a:xfrm>
          <a:prstGeom prst="rect">
            <a:avLst/>
          </a:prstGeom>
          <a:solidFill>
            <a:srgbClr val="2ECC71"/>
          </a:solidFill>
          <a:ln w="12700">
            <a:solidFill>
              <a:srgbClr val="2ECC71"/>
            </a:solidFill>
            <a:prstDash val="solid"/>
          </a:ln>
        </p:spPr>
      </p:sp>
      <p:sp>
        <p:nvSpPr>
          <p:cNvPr id="5" name="Text 3"/>
          <p:cNvSpPr/>
          <p:nvPr/>
        </p:nvSpPr>
        <p:spPr>
          <a:xfrm>
            <a:off x="502920" y="822960"/>
            <a:ext cx="3657600" cy="320040"/>
          </a:xfrm>
          <a:prstGeom prst="rect">
            <a:avLst/>
          </a:prstGeom>
          <a:noFill/>
          <a:ln/>
        </p:spPr>
        <p:txBody>
          <a:bodyPr wrap="square" lIns="0" tIns="0" rIns="0" bIns="0" rtlCol="0" anchor="ctr"/>
          <a:lstStyle/>
          <a:p>
            <a:pPr indent="0" marL="0">
              <a:buNone/>
            </a:pPr>
            <a:r>
              <a:rPr lang="en-US" sz="1500" b="1" dirty="0">
                <a:solidFill>
                  <a:srgbClr val="2ECC71"/>
                </a:solidFill>
                <a:latin typeface="Calibri" pitchFamily="34" charset="0"/>
                <a:ea typeface="Calibri" pitchFamily="34" charset="-122"/>
                <a:cs typeface="Calibri" pitchFamily="34" charset="-120"/>
              </a:rPr>
              <a:t>Pre-Run Checklist</a:t>
            </a:r>
            <a:endParaRPr lang="en-US" sz="1500" dirty="0"/>
          </a:p>
        </p:txBody>
      </p:sp>
      <p:sp>
        <p:nvSpPr>
          <p:cNvPr id="6" name="Shape 4"/>
          <p:cNvSpPr/>
          <p:nvPr/>
        </p:nvSpPr>
        <p:spPr>
          <a:xfrm>
            <a:off x="502920" y="1261872"/>
            <a:ext cx="274320" cy="274320"/>
          </a:xfrm>
          <a:prstGeom prst="rect">
            <a:avLst/>
          </a:prstGeom>
          <a:solidFill>
            <a:srgbClr val="1E2D3D"/>
          </a:solidFill>
          <a:ln w="12700">
            <a:solidFill>
              <a:srgbClr val="2ECC71"/>
            </a:solidFill>
            <a:prstDash val="solid"/>
          </a:ln>
        </p:spPr>
      </p:sp>
      <p:sp>
        <p:nvSpPr>
          <p:cNvPr id="7" name="Text 5"/>
          <p:cNvSpPr/>
          <p:nvPr/>
        </p:nvSpPr>
        <p:spPr>
          <a:xfrm>
            <a:off x="914400" y="1261872"/>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Confirm Modbus TCP is enabled on SWaT PLC1 (ask lab engineer)</a:t>
            </a:r>
            <a:endParaRPr lang="en-US" sz="1000" dirty="0"/>
          </a:p>
        </p:txBody>
      </p:sp>
      <p:sp>
        <p:nvSpPr>
          <p:cNvPr id="8" name="Shape 6"/>
          <p:cNvSpPr/>
          <p:nvPr/>
        </p:nvSpPr>
        <p:spPr>
          <a:xfrm>
            <a:off x="502920" y="1700784"/>
            <a:ext cx="274320" cy="274320"/>
          </a:xfrm>
          <a:prstGeom prst="rect">
            <a:avLst/>
          </a:prstGeom>
          <a:solidFill>
            <a:srgbClr val="1E2D3D"/>
          </a:solidFill>
          <a:ln w="12700">
            <a:solidFill>
              <a:srgbClr val="2ECC71"/>
            </a:solidFill>
            <a:prstDash val="solid"/>
          </a:ln>
        </p:spPr>
      </p:sp>
      <p:sp>
        <p:nvSpPr>
          <p:cNvPr id="9" name="Text 7"/>
          <p:cNvSpPr/>
          <p:nvPr/>
        </p:nvSpPr>
        <p:spPr>
          <a:xfrm>
            <a:off x="914400" y="1700784"/>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Get register addresses for MV101 + P101 from Phase 0 sniff — do NOT guess</a:t>
            </a:r>
            <a:endParaRPr lang="en-US" sz="1000" dirty="0"/>
          </a:p>
        </p:txBody>
      </p:sp>
      <p:sp>
        <p:nvSpPr>
          <p:cNvPr id="10" name="Shape 8"/>
          <p:cNvSpPr/>
          <p:nvPr/>
        </p:nvSpPr>
        <p:spPr>
          <a:xfrm>
            <a:off x="502920" y="2139696"/>
            <a:ext cx="274320" cy="274320"/>
          </a:xfrm>
          <a:prstGeom prst="rect">
            <a:avLst/>
          </a:prstGeom>
          <a:solidFill>
            <a:srgbClr val="1E2D3D"/>
          </a:solidFill>
          <a:ln w="12700">
            <a:solidFill>
              <a:srgbClr val="2ECC71"/>
            </a:solidFill>
            <a:prstDash val="solid"/>
          </a:ln>
        </p:spPr>
      </p:sp>
      <p:sp>
        <p:nvSpPr>
          <p:cNvPr id="11" name="Text 9"/>
          <p:cNvSpPr/>
          <p:nvPr/>
        </p:nvSpPr>
        <p:spPr>
          <a:xfrm>
            <a:off x="914400" y="2139696"/>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Get iTrust lab engineer sign-off before running ARP poisoning</a:t>
            </a:r>
            <a:endParaRPr lang="en-US" sz="1000" dirty="0"/>
          </a:p>
        </p:txBody>
      </p:sp>
      <p:sp>
        <p:nvSpPr>
          <p:cNvPr id="12" name="Shape 10"/>
          <p:cNvSpPr/>
          <p:nvPr/>
        </p:nvSpPr>
        <p:spPr>
          <a:xfrm>
            <a:off x="502920" y="2578608"/>
            <a:ext cx="274320" cy="274320"/>
          </a:xfrm>
          <a:prstGeom prst="rect">
            <a:avLst/>
          </a:prstGeom>
          <a:solidFill>
            <a:srgbClr val="1E2D3D"/>
          </a:solidFill>
          <a:ln w="12700">
            <a:solidFill>
              <a:srgbClr val="2ECC71"/>
            </a:solidFill>
            <a:prstDash val="solid"/>
          </a:ln>
        </p:spPr>
      </p:sp>
      <p:sp>
        <p:nvSpPr>
          <p:cNvPr id="13" name="Text 11"/>
          <p:cNvSpPr/>
          <p:nvPr/>
        </p:nvSpPr>
        <p:spPr>
          <a:xfrm>
            <a:off x="914400" y="2578608"/>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TA must be physically present during all experiments</a:t>
            </a:r>
            <a:endParaRPr lang="en-US" sz="1000" dirty="0"/>
          </a:p>
        </p:txBody>
      </p:sp>
      <p:sp>
        <p:nvSpPr>
          <p:cNvPr id="14" name="Shape 12"/>
          <p:cNvSpPr/>
          <p:nvPr/>
        </p:nvSpPr>
        <p:spPr>
          <a:xfrm>
            <a:off x="502920" y="3017520"/>
            <a:ext cx="274320" cy="274320"/>
          </a:xfrm>
          <a:prstGeom prst="rect">
            <a:avLst/>
          </a:prstGeom>
          <a:solidFill>
            <a:srgbClr val="1E2D3D"/>
          </a:solidFill>
          <a:ln w="12700">
            <a:solidFill>
              <a:srgbClr val="2ECC71"/>
            </a:solidFill>
            <a:prstDash val="solid"/>
          </a:ln>
        </p:spPr>
      </p:sp>
      <p:sp>
        <p:nvSpPr>
          <p:cNvPr id="15" name="Text 13"/>
          <p:cNvSpPr/>
          <p:nvPr/>
        </p:nvSpPr>
        <p:spPr>
          <a:xfrm>
            <a:off x="914400" y="3017520"/>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Run Phase 0 first — never inject without the pre-built DB</a:t>
            </a:r>
            <a:endParaRPr lang="en-US" sz="1000" dirty="0"/>
          </a:p>
        </p:txBody>
      </p:sp>
      <p:sp>
        <p:nvSpPr>
          <p:cNvPr id="16" name="Shape 14"/>
          <p:cNvSpPr/>
          <p:nvPr/>
        </p:nvSpPr>
        <p:spPr>
          <a:xfrm>
            <a:off x="502920" y="3456432"/>
            <a:ext cx="274320" cy="274320"/>
          </a:xfrm>
          <a:prstGeom prst="rect">
            <a:avLst/>
          </a:prstGeom>
          <a:solidFill>
            <a:srgbClr val="1E2D3D"/>
          </a:solidFill>
          <a:ln w="12700">
            <a:solidFill>
              <a:srgbClr val="2ECC71"/>
            </a:solidFill>
            <a:prstDash val="solid"/>
          </a:ln>
        </p:spPr>
      </p:sp>
      <p:sp>
        <p:nvSpPr>
          <p:cNvPr id="17" name="Text 15"/>
          <p:cNvSpPr/>
          <p:nvPr/>
        </p:nvSpPr>
        <p:spPr>
          <a:xfrm>
            <a:off x="914400" y="3456432"/>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Test injection on digital twin before live SWaT</a:t>
            </a:r>
            <a:endParaRPr lang="en-US" sz="1000" dirty="0"/>
          </a:p>
        </p:txBody>
      </p:sp>
      <p:sp>
        <p:nvSpPr>
          <p:cNvPr id="18" name="Shape 16"/>
          <p:cNvSpPr/>
          <p:nvPr/>
        </p:nvSpPr>
        <p:spPr>
          <a:xfrm>
            <a:off x="502920" y="3895344"/>
            <a:ext cx="274320" cy="274320"/>
          </a:xfrm>
          <a:prstGeom prst="rect">
            <a:avLst/>
          </a:prstGeom>
          <a:solidFill>
            <a:srgbClr val="1E2D3D"/>
          </a:solidFill>
          <a:ln w="12700">
            <a:solidFill>
              <a:srgbClr val="2ECC71"/>
            </a:solidFill>
            <a:prstDash val="solid"/>
          </a:ln>
        </p:spPr>
      </p:sp>
      <p:sp>
        <p:nvSpPr>
          <p:cNvPr id="19" name="Text 17"/>
          <p:cNvSpPr/>
          <p:nvPr/>
        </p:nvSpPr>
        <p:spPr>
          <a:xfrm>
            <a:off x="914400" y="3895344"/>
            <a:ext cx="3291840" cy="38404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Document clean-exit: restore_plc_state() runs automatically on stop</a:t>
            </a:r>
            <a:endParaRPr lang="en-US" sz="1000" dirty="0"/>
          </a:p>
        </p:txBody>
      </p:sp>
      <p:sp>
        <p:nvSpPr>
          <p:cNvPr id="20" name="Shape 18"/>
          <p:cNvSpPr/>
          <p:nvPr/>
        </p:nvSpPr>
        <p:spPr>
          <a:xfrm>
            <a:off x="4617720" y="749808"/>
            <a:ext cx="4251960" cy="1691640"/>
          </a:xfrm>
          <a:prstGeom prst="rect">
            <a:avLst/>
          </a:prstGeom>
          <a:solidFill>
            <a:srgbClr val="1E2D3D"/>
          </a:solidFill>
          <a:ln w="12700">
            <a:solidFill>
              <a:srgbClr val="1E2D3D"/>
            </a:solidFill>
            <a:prstDash val="solid"/>
          </a:ln>
        </p:spPr>
      </p:sp>
      <p:sp>
        <p:nvSpPr>
          <p:cNvPr id="21" name="Shape 19"/>
          <p:cNvSpPr/>
          <p:nvPr/>
        </p:nvSpPr>
        <p:spPr>
          <a:xfrm>
            <a:off x="4617720" y="749808"/>
            <a:ext cx="64008" cy="1691640"/>
          </a:xfrm>
          <a:prstGeom prst="rect">
            <a:avLst/>
          </a:prstGeom>
          <a:solidFill>
            <a:srgbClr val="F4A261"/>
          </a:solidFill>
          <a:ln w="12700">
            <a:solidFill>
              <a:srgbClr val="F4A261"/>
            </a:solidFill>
            <a:prstDash val="solid"/>
          </a:ln>
        </p:spPr>
      </p:sp>
      <p:sp>
        <p:nvSpPr>
          <p:cNvPr id="22" name="Text 20"/>
          <p:cNvSpPr/>
          <p:nvPr/>
        </p:nvSpPr>
        <p:spPr>
          <a:xfrm>
            <a:off x="4846320" y="822960"/>
            <a:ext cx="3749040" cy="32004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P1 Register Map (fill from Phase 0)</a:t>
            </a:r>
            <a:endParaRPr lang="en-US" sz="1300" dirty="0"/>
          </a:p>
        </p:txBody>
      </p:sp>
      <p:sp>
        <p:nvSpPr>
          <p:cNvPr id="23" name="Text 21"/>
          <p:cNvSpPr/>
          <p:nvPr/>
        </p:nvSpPr>
        <p:spPr>
          <a:xfrm>
            <a:off x="4846320" y="123444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MV101_CLOSE</a:t>
            </a:r>
            <a:endParaRPr lang="en-US" sz="950" dirty="0"/>
          </a:p>
        </p:txBody>
      </p:sp>
      <p:sp>
        <p:nvSpPr>
          <p:cNvPr id="24" name="Text 22"/>
          <p:cNvSpPr/>
          <p:nvPr/>
        </p:nvSpPr>
        <p:spPr>
          <a:xfrm>
            <a:off x="6080760" y="123444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25" name="Text 23"/>
          <p:cNvSpPr/>
          <p:nvPr/>
        </p:nvSpPr>
        <p:spPr>
          <a:xfrm>
            <a:off x="6858000" y="123444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Coil — close motorised valve</a:t>
            </a:r>
            <a:endParaRPr lang="en-US" sz="900" dirty="0"/>
          </a:p>
        </p:txBody>
      </p:sp>
      <p:sp>
        <p:nvSpPr>
          <p:cNvPr id="26" name="Text 24"/>
          <p:cNvSpPr/>
          <p:nvPr/>
        </p:nvSpPr>
        <p:spPr>
          <a:xfrm>
            <a:off x="4846320" y="150876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P101_STOP</a:t>
            </a:r>
            <a:endParaRPr lang="en-US" sz="950" dirty="0"/>
          </a:p>
        </p:txBody>
      </p:sp>
      <p:sp>
        <p:nvSpPr>
          <p:cNvPr id="27" name="Text 25"/>
          <p:cNvSpPr/>
          <p:nvPr/>
        </p:nvSpPr>
        <p:spPr>
          <a:xfrm>
            <a:off x="6080760" y="150876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28" name="Text 26"/>
          <p:cNvSpPr/>
          <p:nvPr/>
        </p:nvSpPr>
        <p:spPr>
          <a:xfrm>
            <a:off x="6858000" y="150876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Coil — stop pump P101</a:t>
            </a:r>
            <a:endParaRPr lang="en-US" sz="900" dirty="0"/>
          </a:p>
        </p:txBody>
      </p:sp>
      <p:sp>
        <p:nvSpPr>
          <p:cNvPr id="29" name="Text 27"/>
          <p:cNvSpPr/>
          <p:nvPr/>
        </p:nvSpPr>
        <p:spPr>
          <a:xfrm>
            <a:off x="4846320" y="178308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LIT101</a:t>
            </a:r>
            <a:endParaRPr lang="en-US" sz="950" dirty="0"/>
          </a:p>
        </p:txBody>
      </p:sp>
      <p:sp>
        <p:nvSpPr>
          <p:cNvPr id="30" name="Text 28"/>
          <p:cNvSpPr/>
          <p:nvPr/>
        </p:nvSpPr>
        <p:spPr>
          <a:xfrm>
            <a:off x="6080760" y="178308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31" name="Text 29"/>
          <p:cNvSpPr/>
          <p:nvPr/>
        </p:nvSpPr>
        <p:spPr>
          <a:xfrm>
            <a:off x="6858000" y="178308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Holding reg — tank level</a:t>
            </a:r>
            <a:endParaRPr lang="en-US" sz="900" dirty="0"/>
          </a:p>
        </p:txBody>
      </p:sp>
      <p:sp>
        <p:nvSpPr>
          <p:cNvPr id="32" name="Text 30"/>
          <p:cNvSpPr/>
          <p:nvPr/>
        </p:nvSpPr>
        <p:spPr>
          <a:xfrm>
            <a:off x="4846320" y="2057400"/>
            <a:ext cx="1188720" cy="256032"/>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FIT101</a:t>
            </a:r>
            <a:endParaRPr lang="en-US" sz="950" dirty="0"/>
          </a:p>
        </p:txBody>
      </p:sp>
      <p:sp>
        <p:nvSpPr>
          <p:cNvPr id="33" name="Text 31"/>
          <p:cNvSpPr/>
          <p:nvPr/>
        </p:nvSpPr>
        <p:spPr>
          <a:xfrm>
            <a:off x="6080760" y="2057400"/>
            <a:ext cx="731520" cy="256032"/>
          </a:xfrm>
          <a:prstGeom prst="rect">
            <a:avLst/>
          </a:prstGeom>
          <a:noFill/>
          <a:ln/>
        </p:spPr>
        <p:txBody>
          <a:bodyPr wrap="square" lIns="0" tIns="0" rIns="0" bIns="0" rtlCol="0" anchor="ctr"/>
          <a:lstStyle/>
          <a:p>
            <a:pPr indent="0" marL="0">
              <a:buNone/>
            </a:pPr>
            <a:r>
              <a:rPr lang="en-US" sz="950" dirty="0">
                <a:solidFill>
                  <a:srgbClr val="F4A261"/>
                </a:solidFill>
                <a:latin typeface="Consolas" pitchFamily="34" charset="0"/>
                <a:ea typeface="Consolas" pitchFamily="34" charset="-122"/>
                <a:cs typeface="Consolas" pitchFamily="34" charset="-120"/>
              </a:rPr>
              <a:t>0x????</a:t>
            </a:r>
            <a:endParaRPr lang="en-US" sz="950" dirty="0"/>
          </a:p>
        </p:txBody>
      </p:sp>
      <p:sp>
        <p:nvSpPr>
          <p:cNvPr id="34" name="Text 32"/>
          <p:cNvSpPr/>
          <p:nvPr/>
        </p:nvSpPr>
        <p:spPr>
          <a:xfrm>
            <a:off x="6858000" y="2057400"/>
            <a:ext cx="1920240" cy="256032"/>
          </a:xfrm>
          <a:prstGeom prst="rect">
            <a:avLst/>
          </a:prstGeom>
          <a:noFill/>
          <a:ln/>
        </p:spPr>
        <p:txBody>
          <a:bodyPr wrap="square" lIns="0" tIns="0" rIns="0" bIns="0" rtlCol="0" anchor="ctr"/>
          <a:lstStyle/>
          <a:p>
            <a:pPr indent="0" marL="0">
              <a:buNone/>
            </a:pPr>
            <a:r>
              <a:rPr lang="en-US" sz="900" dirty="0">
                <a:solidFill>
                  <a:srgbClr val="8FA3B1"/>
                </a:solidFill>
                <a:latin typeface="Calibri" pitchFamily="34" charset="0"/>
                <a:ea typeface="Calibri" pitchFamily="34" charset="-122"/>
                <a:cs typeface="Calibri" pitchFamily="34" charset="-120"/>
              </a:rPr>
              <a:t>Holding reg — flow sensor</a:t>
            </a:r>
            <a:endParaRPr lang="en-US" sz="900" dirty="0"/>
          </a:p>
        </p:txBody>
      </p:sp>
      <p:sp>
        <p:nvSpPr>
          <p:cNvPr id="35" name="Shape 33"/>
          <p:cNvSpPr/>
          <p:nvPr/>
        </p:nvSpPr>
        <p:spPr>
          <a:xfrm>
            <a:off x="4617720" y="2542032"/>
            <a:ext cx="4251960" cy="914400"/>
          </a:xfrm>
          <a:prstGeom prst="rect">
            <a:avLst/>
          </a:prstGeom>
          <a:solidFill>
            <a:srgbClr val="1E2D3D"/>
          </a:solidFill>
          <a:ln w="12700">
            <a:solidFill>
              <a:srgbClr val="1E2D3D"/>
            </a:solidFill>
            <a:prstDash val="solid"/>
          </a:ln>
        </p:spPr>
      </p:sp>
      <p:sp>
        <p:nvSpPr>
          <p:cNvPr id="36" name="Shape 34"/>
          <p:cNvSpPr/>
          <p:nvPr/>
        </p:nvSpPr>
        <p:spPr>
          <a:xfrm>
            <a:off x="4617720" y="2542032"/>
            <a:ext cx="64008" cy="914400"/>
          </a:xfrm>
          <a:prstGeom prst="rect">
            <a:avLst/>
          </a:prstGeom>
          <a:solidFill>
            <a:srgbClr val="E67E22"/>
          </a:solidFill>
          <a:ln w="12700">
            <a:solidFill>
              <a:srgbClr val="E67E22"/>
            </a:solidFill>
            <a:prstDash val="solid"/>
          </a:ln>
        </p:spPr>
      </p:sp>
      <p:sp>
        <p:nvSpPr>
          <p:cNvPr id="37" name="Text 35"/>
          <p:cNvSpPr/>
          <p:nvPr/>
        </p:nvSpPr>
        <p:spPr>
          <a:xfrm>
            <a:off x="4846320" y="2615184"/>
            <a:ext cx="3749040" cy="27432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Race Condition (Paper #9 §IV-B)</a:t>
            </a:r>
            <a:endParaRPr lang="en-US" sz="1200" dirty="0"/>
          </a:p>
        </p:txBody>
      </p:sp>
      <p:sp>
        <p:nvSpPr>
          <p:cNvPr id="38" name="Text 36"/>
          <p:cNvSpPr/>
          <p:nvPr/>
        </p:nvSpPr>
        <p:spPr>
          <a:xfrm>
            <a:off x="4846320" y="2907792"/>
            <a:ext cx="3749040" cy="45720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Your forged HMI response must arrive before the real PLC response. Pre-key the database as dict keyed on (unit_id, func_code) for O(1) lookup. SWaT polling cycle ≈ 1–2s — you have margin.</a:t>
            </a:r>
            <a:endParaRPr lang="en-US" sz="1000" dirty="0"/>
          </a:p>
        </p:txBody>
      </p:sp>
      <p:sp>
        <p:nvSpPr>
          <p:cNvPr id="39" name="Shape 37"/>
          <p:cNvSpPr/>
          <p:nvPr/>
        </p:nvSpPr>
        <p:spPr>
          <a:xfrm>
            <a:off x="4617720" y="3547872"/>
            <a:ext cx="4251960" cy="713232"/>
          </a:xfrm>
          <a:prstGeom prst="rect">
            <a:avLst/>
          </a:prstGeom>
          <a:solidFill>
            <a:srgbClr val="1E2D3D"/>
          </a:solidFill>
          <a:ln w="12700">
            <a:solidFill>
              <a:srgbClr val="1E2D3D"/>
            </a:solidFill>
            <a:prstDash val="solid"/>
          </a:ln>
        </p:spPr>
      </p:sp>
      <p:sp>
        <p:nvSpPr>
          <p:cNvPr id="40" name="Shape 38"/>
          <p:cNvSpPr/>
          <p:nvPr/>
        </p:nvSpPr>
        <p:spPr>
          <a:xfrm>
            <a:off x="4617720" y="3547872"/>
            <a:ext cx="64008" cy="713232"/>
          </a:xfrm>
          <a:prstGeom prst="rect">
            <a:avLst/>
          </a:prstGeom>
          <a:solidFill>
            <a:srgbClr val="C0392B"/>
          </a:solidFill>
          <a:ln w="12700">
            <a:solidFill>
              <a:srgbClr val="C0392B"/>
            </a:solidFill>
            <a:prstDash val="solid"/>
          </a:ln>
        </p:spPr>
      </p:sp>
      <p:sp>
        <p:nvSpPr>
          <p:cNvPr id="41" name="Text 39"/>
          <p:cNvSpPr/>
          <p:nvPr/>
        </p:nvSpPr>
        <p:spPr>
          <a:xfrm>
            <a:off x="4846320" y="3621024"/>
            <a:ext cx="18288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Dual PLC Note</a:t>
            </a:r>
            <a:endParaRPr lang="en-US" sz="1200" dirty="0"/>
          </a:p>
        </p:txBody>
      </p:sp>
      <p:sp>
        <p:nvSpPr>
          <p:cNvPr id="42" name="Text 40"/>
          <p:cNvSpPr/>
          <p:nvPr/>
        </p:nvSpPr>
        <p:spPr>
          <a:xfrm>
            <a:off x="4846320" y="3877056"/>
            <a:ext cx="3749040" cy="32004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SWaT has primary + hot-standby PLCs per stage. Target primary; standby takeover is your recovery trigger.</a:t>
            </a:r>
            <a:endParaRPr lang="en-US" sz="1000" dirty="0"/>
          </a:p>
        </p:txBody>
      </p:sp>
      <p:sp>
        <p:nvSpPr>
          <p:cNvPr id="43" name="Shape 41"/>
          <p:cNvSpPr/>
          <p:nvPr/>
        </p:nvSpPr>
        <p:spPr>
          <a:xfrm>
            <a:off x="0" y="4754880"/>
            <a:ext cx="9144000" cy="384048"/>
          </a:xfrm>
          <a:prstGeom prst="rect">
            <a:avLst/>
          </a:prstGeom>
          <a:solidFill>
            <a:srgbClr val="1B3A5C"/>
          </a:solidFill>
          <a:ln w="12700">
            <a:solidFill>
              <a:srgbClr val="1B3A5C"/>
            </a:solidFill>
            <a:prstDash val="solid"/>
          </a:ln>
        </p:spPr>
      </p:sp>
      <p:sp>
        <p:nvSpPr>
          <p:cNvPr id="44" name="Text 42"/>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Attack Implementation  ·  Slide 18/18 — Notes</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8072"/>
          </a:xfrm>
          <a:prstGeom prst="rect">
            <a:avLst/>
          </a:prstGeom>
          <a:solidFill>
            <a:srgbClr val="0A7E8C"/>
          </a:solidFill>
          <a:ln w="12700">
            <a:solidFill>
              <a:srgbClr val="0A7E8C"/>
            </a:solidFill>
            <a:prstDash val="solid"/>
          </a:ln>
        </p:spPr>
      </p:sp>
      <p:sp>
        <p:nvSpPr>
          <p:cNvPr id="3" name="Text 1"/>
          <p:cNvSpPr/>
          <p:nvPr/>
        </p:nvSpPr>
        <p:spPr>
          <a:xfrm>
            <a:off x="320040" y="502920"/>
            <a:ext cx="8503920" cy="777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Defending SWaT</a:t>
            </a:r>
            <a:endParaRPr lang="en-US" sz="4800" dirty="0"/>
          </a:p>
        </p:txBody>
      </p:sp>
      <p:sp>
        <p:nvSpPr>
          <p:cNvPr id="4" name="Text 2"/>
          <p:cNvSpPr/>
          <p:nvPr/>
        </p:nvSpPr>
        <p:spPr>
          <a:xfrm>
            <a:off x="320040" y="1298448"/>
            <a:ext cx="8503920" cy="502920"/>
          </a:xfrm>
          <a:prstGeom prst="rect">
            <a:avLst/>
          </a:prstGeom>
          <a:noFill/>
          <a:ln/>
        </p:spPr>
        <p:txBody>
          <a:bodyPr wrap="square" lIns="0" tIns="0" rIns="0" bIns="0" rtlCol="0" anchor="ctr"/>
          <a:lstStyle/>
          <a:p>
            <a:pPr indent="0" marL="0">
              <a:buNone/>
            </a:pPr>
            <a:r>
              <a:rPr lang="en-US" sz="2400" i="1" dirty="0">
                <a:solidFill>
                  <a:srgbClr val="0FB3C5"/>
                </a:solidFill>
                <a:latin typeface="Calibri" pitchFamily="34" charset="0"/>
                <a:ea typeface="Calibri" pitchFamily="34" charset="-122"/>
                <a:cs typeface="Calibri" pitchFamily="34" charset="-120"/>
              </a:rPr>
              <a:t>Against Stealthy Modbus False Command Injection</a:t>
            </a:r>
            <a:endParaRPr lang="en-US" sz="2400" dirty="0"/>
          </a:p>
        </p:txBody>
      </p:sp>
      <p:sp>
        <p:nvSpPr>
          <p:cNvPr id="5" name="Shape 3"/>
          <p:cNvSpPr/>
          <p:nvPr/>
        </p:nvSpPr>
        <p:spPr>
          <a:xfrm>
            <a:off x="320040" y="2103120"/>
            <a:ext cx="2743200" cy="658368"/>
          </a:xfrm>
          <a:prstGeom prst="rect">
            <a:avLst/>
          </a:prstGeom>
          <a:solidFill>
            <a:srgbClr val="2ECC71"/>
          </a:solidFill>
          <a:ln w="12700">
            <a:solidFill>
              <a:srgbClr val="2ECC71"/>
            </a:solidFill>
            <a:prstDash val="solid"/>
          </a:ln>
        </p:spPr>
      </p:sp>
      <p:sp>
        <p:nvSpPr>
          <p:cNvPr id="6" name="Text 4"/>
          <p:cNvSpPr/>
          <p:nvPr/>
        </p:nvSpPr>
        <p:spPr>
          <a:xfrm>
            <a:off x="32004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1</a:t>
            </a:r>
            <a:endParaRPr lang="en-US" sz="1300" dirty="0"/>
          </a:p>
        </p:txBody>
      </p:sp>
      <p:sp>
        <p:nvSpPr>
          <p:cNvPr id="7" name="Text 5"/>
          <p:cNvSpPr/>
          <p:nvPr/>
        </p:nvSpPr>
        <p:spPr>
          <a:xfrm>
            <a:off x="32004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Process Invariant Checker</a:t>
            </a:r>
            <a:endParaRPr lang="en-US" sz="1050" dirty="0"/>
          </a:p>
        </p:txBody>
      </p:sp>
      <p:sp>
        <p:nvSpPr>
          <p:cNvPr id="8" name="Shape 6"/>
          <p:cNvSpPr/>
          <p:nvPr/>
        </p:nvSpPr>
        <p:spPr>
          <a:xfrm>
            <a:off x="3246120" y="2103120"/>
            <a:ext cx="2743200" cy="658368"/>
          </a:xfrm>
          <a:prstGeom prst="rect">
            <a:avLst/>
          </a:prstGeom>
          <a:solidFill>
            <a:srgbClr val="2196F3"/>
          </a:solidFill>
          <a:ln w="12700">
            <a:solidFill>
              <a:srgbClr val="2196F3"/>
            </a:solidFill>
            <a:prstDash val="solid"/>
          </a:ln>
        </p:spPr>
      </p:sp>
      <p:sp>
        <p:nvSpPr>
          <p:cNvPr id="9" name="Text 7"/>
          <p:cNvSpPr/>
          <p:nvPr/>
        </p:nvSpPr>
        <p:spPr>
          <a:xfrm>
            <a:off x="324612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2</a:t>
            </a:r>
            <a:endParaRPr lang="en-US" sz="1300" dirty="0"/>
          </a:p>
        </p:txBody>
      </p:sp>
      <p:sp>
        <p:nvSpPr>
          <p:cNvPr id="10" name="Text 8"/>
          <p:cNvSpPr/>
          <p:nvPr/>
        </p:nvSpPr>
        <p:spPr>
          <a:xfrm>
            <a:off x="324612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Reconstruction Autoencoder</a:t>
            </a:r>
            <a:endParaRPr lang="en-US" sz="1050" dirty="0"/>
          </a:p>
        </p:txBody>
      </p:sp>
      <p:sp>
        <p:nvSpPr>
          <p:cNvPr id="11" name="Shape 9"/>
          <p:cNvSpPr/>
          <p:nvPr/>
        </p:nvSpPr>
        <p:spPr>
          <a:xfrm>
            <a:off x="6172200" y="2103120"/>
            <a:ext cx="2743200" cy="658368"/>
          </a:xfrm>
          <a:prstGeom prst="rect">
            <a:avLst/>
          </a:prstGeom>
          <a:solidFill>
            <a:srgbClr val="F39C12"/>
          </a:solidFill>
          <a:ln w="12700">
            <a:solidFill>
              <a:srgbClr val="F39C12"/>
            </a:solidFill>
            <a:prstDash val="solid"/>
          </a:ln>
        </p:spPr>
      </p:sp>
      <p:sp>
        <p:nvSpPr>
          <p:cNvPr id="12" name="Text 10"/>
          <p:cNvSpPr/>
          <p:nvPr/>
        </p:nvSpPr>
        <p:spPr>
          <a:xfrm>
            <a:off x="6172200" y="2121408"/>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Layer 3</a:t>
            </a:r>
            <a:endParaRPr lang="en-US" sz="1300" dirty="0"/>
          </a:p>
        </p:txBody>
      </p:sp>
      <p:sp>
        <p:nvSpPr>
          <p:cNvPr id="13" name="Text 11"/>
          <p:cNvSpPr/>
          <p:nvPr/>
        </p:nvSpPr>
        <p:spPr>
          <a:xfrm>
            <a:off x="6172200" y="2395728"/>
            <a:ext cx="274320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Decision Fusion + Alert</a:t>
            </a:r>
            <a:endParaRPr lang="en-US" sz="1050" dirty="0"/>
          </a:p>
        </p:txBody>
      </p:sp>
      <p:sp>
        <p:nvSpPr>
          <p:cNvPr id="14" name="Shape 12"/>
          <p:cNvSpPr/>
          <p:nvPr/>
        </p:nvSpPr>
        <p:spPr>
          <a:xfrm>
            <a:off x="320040" y="2944368"/>
            <a:ext cx="8778240" cy="512064"/>
          </a:xfrm>
          <a:prstGeom prst="rect">
            <a:avLst/>
          </a:prstGeom>
          <a:solidFill>
            <a:srgbClr val="1B3A5C"/>
          </a:solidFill>
          <a:ln w="12700">
            <a:solidFill>
              <a:srgbClr val="1B3A5C"/>
            </a:solidFill>
            <a:prstDash val="solid"/>
          </a:ln>
        </p:spPr>
      </p:sp>
      <p:sp>
        <p:nvSpPr>
          <p:cNvPr id="15" name="Shape 13"/>
          <p:cNvSpPr/>
          <p:nvPr/>
        </p:nvSpPr>
        <p:spPr>
          <a:xfrm>
            <a:off x="320040" y="2944368"/>
            <a:ext cx="64008" cy="512064"/>
          </a:xfrm>
          <a:prstGeom prst="rect">
            <a:avLst/>
          </a:prstGeom>
          <a:solidFill>
            <a:srgbClr val="F39C12"/>
          </a:solidFill>
          <a:ln w="12700">
            <a:solidFill>
              <a:srgbClr val="F39C12"/>
            </a:solidFill>
            <a:prstDash val="solid"/>
          </a:ln>
        </p:spPr>
      </p:sp>
      <p:sp>
        <p:nvSpPr>
          <p:cNvPr id="16" name="Text 14"/>
          <p:cNvSpPr/>
          <p:nvPr/>
        </p:nvSpPr>
        <p:spPr>
          <a:xfrm>
            <a:off x="548640" y="2944368"/>
            <a:ext cx="8321040" cy="512064"/>
          </a:xfrm>
          <a:prstGeom prst="rect">
            <a:avLst/>
          </a:prstGeom>
          <a:noFill/>
          <a:ln/>
        </p:spPr>
        <p:txBody>
          <a:bodyPr wrap="square" lIns="0" tIns="0" rIns="0" bIns="0" rtlCol="0" anchor="ctr"/>
          <a:lstStyle/>
          <a:p>
            <a:pPr indent="0" marL="0">
              <a:buNone/>
            </a:pPr>
            <a:r>
              <a:rPr lang="en-US" sz="1200" dirty="0">
                <a:solidFill>
                  <a:srgbClr val="E8EEF4"/>
                </a:solidFill>
                <a:latin typeface="Calibri" pitchFamily="34" charset="0"/>
                <a:ea typeface="Calibri" pitchFamily="34" charset="-122"/>
                <a:cs typeface="Calibri" pitchFamily="34" charset="-120"/>
              </a:rPr>
              <a:t>Recovery:  Detect → Contain → Safe State → PLC Failover → Invariant-Verified Resume</a:t>
            </a:r>
            <a:endParaRPr lang="en-US" sz="1200" dirty="0"/>
          </a:p>
        </p:txBody>
      </p:sp>
      <p:sp>
        <p:nvSpPr>
          <p:cNvPr id="17" name="Text 15"/>
          <p:cNvSpPr/>
          <p:nvPr/>
        </p:nvSpPr>
        <p:spPr>
          <a:xfrm>
            <a:off x="320040" y="3840480"/>
            <a:ext cx="8503920" cy="274320"/>
          </a:xfrm>
          <a:prstGeom prst="rect">
            <a:avLst/>
          </a:prstGeom>
          <a:noFill/>
          <a:ln/>
        </p:spPr>
        <p:txBody>
          <a:bodyPr wrap="square" lIns="0" tIns="0" rIns="0" bIns="0" rtlCol="0" anchor="ctr"/>
          <a:lstStyle/>
          <a:p>
            <a:pPr indent="0" marL="0">
              <a:buNone/>
            </a:pPr>
            <a:r>
              <a:rPr lang="en-US" sz="1100" dirty="0">
                <a:solidFill>
                  <a:srgbClr val="8FA3B1"/>
                </a:solidFill>
                <a:latin typeface="Calibri" pitchFamily="34" charset="0"/>
                <a:ea typeface="Calibri" pitchFamily="34" charset="-122"/>
                <a:cs typeface="Calibri" pitchFamily="34" charset="-120"/>
              </a:rPr>
              <a:t>51.508 Secure Cyber Physical Systems  |  iTrust Lab, SUTD  |  AY2025/26 Term 2</a:t>
            </a:r>
            <a:endParaRPr lang="en-US" sz="1100" dirty="0"/>
          </a:p>
        </p:txBody>
      </p:sp>
      <p:sp>
        <p:nvSpPr>
          <p:cNvPr id="18" name="Shape 16"/>
          <p:cNvSpPr/>
          <p:nvPr/>
        </p:nvSpPr>
        <p:spPr>
          <a:xfrm>
            <a:off x="0" y="4809744"/>
            <a:ext cx="9144000" cy="338328"/>
          </a:xfrm>
          <a:prstGeom prst="rect">
            <a:avLst/>
          </a:prstGeom>
          <a:solidFill>
            <a:srgbClr val="1B3A5C"/>
          </a:solidFill>
          <a:ln w="12700">
            <a:solidFill>
              <a:srgbClr val="1B3A5C"/>
            </a:solidFill>
            <a:prstDash val="solid"/>
          </a:ln>
        </p:spPr>
      </p:sp>
      <p:sp>
        <p:nvSpPr>
          <p:cNvPr id="19" name="Text 17"/>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Architecture</a:t>
            </a:r>
            <a:endParaRPr lang="en-US" sz="10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74C3C"/>
          </a:solidFill>
          <a:ln w="12700">
            <a:solidFill>
              <a:srgbClr val="E74C3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Why Single-Layer Defenses Fail</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Each defense alone is evaded by our attack — which is exactly why the hybrid exists</a:t>
            </a:r>
            <a:endParaRPr lang="en-US" sz="1200" dirty="0"/>
          </a:p>
        </p:txBody>
      </p:sp>
      <p:sp>
        <p:nvSpPr>
          <p:cNvPr id="5" name="Shape 3"/>
          <p:cNvSpPr/>
          <p:nvPr/>
        </p:nvSpPr>
        <p:spPr>
          <a:xfrm>
            <a:off x="274320" y="987552"/>
            <a:ext cx="4069080" cy="3657600"/>
          </a:xfrm>
          <a:prstGeom prst="rect">
            <a:avLst/>
          </a:prstGeom>
          <a:solidFill>
            <a:srgbClr val="FFFFFF"/>
          </a:solidFill>
          <a:ln w="12700">
            <a:solidFill>
              <a:srgbClr val="FFFFFF"/>
            </a:solidFill>
            <a:prstDash val="solid"/>
          </a:ln>
        </p:spPr>
      </p:sp>
      <p:sp>
        <p:nvSpPr>
          <p:cNvPr id="6" name="Shape 4"/>
          <p:cNvSpPr/>
          <p:nvPr/>
        </p:nvSpPr>
        <p:spPr>
          <a:xfrm>
            <a:off x="274320" y="987552"/>
            <a:ext cx="64008" cy="3657600"/>
          </a:xfrm>
          <a:prstGeom prst="rect">
            <a:avLst/>
          </a:prstGeom>
          <a:solidFill>
            <a:srgbClr val="E74C3C"/>
          </a:solidFill>
          <a:ln w="12700">
            <a:solidFill>
              <a:srgbClr val="E74C3C"/>
            </a:solidFill>
            <a:prstDash val="solid"/>
          </a:ln>
        </p:spPr>
      </p:sp>
      <p:sp>
        <p:nvSpPr>
          <p:cNvPr id="7" name="Text 5"/>
          <p:cNvSpPr/>
          <p:nvPr/>
        </p:nvSpPr>
        <p:spPr>
          <a:xfrm>
            <a:off x="502920" y="1060704"/>
            <a:ext cx="3703320" cy="347472"/>
          </a:xfrm>
          <a:prstGeom prst="rect">
            <a:avLst/>
          </a:prstGeom>
          <a:noFill/>
          <a:ln/>
        </p:spPr>
        <p:txBody>
          <a:bodyPr wrap="square" lIns="0" tIns="0" rIns="0" bIns="0" rtlCol="0" anchor="ctr"/>
          <a:lstStyle/>
          <a:p>
            <a:pPr indent="0" marL="0">
              <a:buNone/>
            </a:pPr>
            <a:r>
              <a:rPr lang="en-US" sz="1500" b="1" dirty="0">
                <a:solidFill>
                  <a:srgbClr val="E74C3C"/>
                </a:solidFill>
                <a:latin typeface="Calibri" pitchFamily="34" charset="0"/>
                <a:ea typeface="Calibri" pitchFamily="34" charset="-122"/>
                <a:cs typeface="Calibri" pitchFamily="34" charset="-120"/>
              </a:rPr>
              <a:t>ML-Only Anomaly Detector</a:t>
            </a:r>
            <a:endParaRPr lang="en-US" sz="1500" dirty="0"/>
          </a:p>
        </p:txBody>
      </p:sp>
      <p:sp>
        <p:nvSpPr>
          <p:cNvPr id="8" name="Text 6"/>
          <p:cNvSpPr/>
          <p:nvPr/>
        </p:nvSpPr>
        <p:spPr>
          <a:xfrm>
            <a:off x="502920" y="1389888"/>
            <a:ext cx="3703320" cy="237744"/>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Reconstruction Autoencoder (BATADAL baseline)</a:t>
            </a:r>
            <a:endParaRPr lang="en-US" sz="1000" dirty="0"/>
          </a:p>
        </p:txBody>
      </p:sp>
      <p:sp>
        <p:nvSpPr>
          <p:cNvPr id="9" name="Shape 7"/>
          <p:cNvSpPr/>
          <p:nvPr/>
        </p:nvSpPr>
        <p:spPr>
          <a:xfrm>
            <a:off x="475488" y="1755648"/>
            <a:ext cx="201168" cy="201168"/>
          </a:xfrm>
          <a:prstGeom prst="rect">
            <a:avLst/>
          </a:prstGeom>
          <a:solidFill>
            <a:srgbClr val="E74C3C"/>
          </a:solidFill>
          <a:ln w="12700">
            <a:solidFill>
              <a:srgbClr val="E74C3C"/>
            </a:solidFill>
            <a:prstDash val="solid"/>
          </a:ln>
        </p:spPr>
      </p:sp>
      <p:sp>
        <p:nvSpPr>
          <p:cNvPr id="10" name="Text 8"/>
          <p:cNvSpPr/>
          <p:nvPr/>
        </p:nvSpPr>
        <p:spPr>
          <a:xfrm>
            <a:off x="475488" y="17556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1" name="Text 9"/>
          <p:cNvSpPr/>
          <p:nvPr/>
        </p:nvSpPr>
        <p:spPr>
          <a:xfrm>
            <a:off x="749808" y="1773936"/>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Learns normal correlations  </a:t>
            </a:r>
            <a:pPr indent="0" marL="0">
              <a:buNone/>
            </a:pPr>
            <a:r>
              <a:rPr lang="en-US" sz="1050" dirty="0">
                <a:solidFill>
                  <a:srgbClr val="555555"/>
                </a:solidFill>
                <a:latin typeface="Calibri" pitchFamily="34" charset="0"/>
                <a:ea typeface="Calibri" pitchFamily="34" charset="-122"/>
                <a:cs typeface="Calibri" pitchFamily="34" charset="-120"/>
              </a:rPr>
              <a:t>from training data only</a:t>
            </a:r>
            <a:endParaRPr lang="en-US" sz="1050" dirty="0"/>
          </a:p>
        </p:txBody>
      </p:sp>
      <p:sp>
        <p:nvSpPr>
          <p:cNvPr id="12" name="Shape 10"/>
          <p:cNvSpPr/>
          <p:nvPr/>
        </p:nvSpPr>
        <p:spPr>
          <a:xfrm>
            <a:off x="475488" y="2148840"/>
            <a:ext cx="201168" cy="201168"/>
          </a:xfrm>
          <a:prstGeom prst="rect">
            <a:avLst/>
          </a:prstGeom>
          <a:solidFill>
            <a:srgbClr val="E74C3C"/>
          </a:solidFill>
          <a:ln w="12700">
            <a:solidFill>
              <a:srgbClr val="E74C3C"/>
            </a:solidFill>
            <a:prstDash val="solid"/>
          </a:ln>
        </p:spPr>
      </p:sp>
      <p:sp>
        <p:nvSpPr>
          <p:cNvPr id="13" name="Text 11"/>
          <p:cNvSpPr/>
          <p:nvPr/>
        </p:nvSpPr>
        <p:spPr>
          <a:xfrm>
            <a:off x="475488" y="2148840"/>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749808" y="2167128"/>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Paper #31 adversarial AE  </a:t>
            </a:r>
            <a:pPr indent="0" marL="0">
              <a:buNone/>
            </a:pPr>
            <a:r>
              <a:rPr lang="en-US" sz="1050" dirty="0">
                <a:solidFill>
                  <a:srgbClr val="555555"/>
                </a:solidFill>
                <a:latin typeface="Calibri" pitchFamily="34" charset="0"/>
                <a:ea typeface="Calibri" pitchFamily="34" charset="-122"/>
                <a:cs typeface="Calibri" pitchFamily="34" charset="-120"/>
              </a:rPr>
              <a:t>crafts δ minimising MSE recon error</a:t>
            </a:r>
            <a:endParaRPr lang="en-US" sz="1050" dirty="0"/>
          </a:p>
        </p:txBody>
      </p:sp>
      <p:sp>
        <p:nvSpPr>
          <p:cNvPr id="15" name="Shape 13"/>
          <p:cNvSpPr/>
          <p:nvPr/>
        </p:nvSpPr>
        <p:spPr>
          <a:xfrm>
            <a:off x="475488" y="2542032"/>
            <a:ext cx="201168" cy="201168"/>
          </a:xfrm>
          <a:prstGeom prst="rect">
            <a:avLst/>
          </a:prstGeom>
          <a:solidFill>
            <a:srgbClr val="E74C3C"/>
          </a:solidFill>
          <a:ln w="12700">
            <a:solidFill>
              <a:srgbClr val="E74C3C"/>
            </a:solidFill>
            <a:prstDash val="solid"/>
          </a:ln>
        </p:spPr>
      </p:sp>
      <p:sp>
        <p:nvSpPr>
          <p:cNvPr id="16" name="Text 14"/>
          <p:cNvSpPr/>
          <p:nvPr/>
        </p:nvSpPr>
        <p:spPr>
          <a:xfrm>
            <a:off x="475488" y="2542032"/>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749808" y="2560320"/>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With |δ|∞ ≤ ε = 0.1,  </a:t>
            </a:r>
            <a:pPr indent="0" marL="0">
              <a:buNone/>
            </a:pPr>
            <a:r>
              <a:rPr lang="en-US" sz="1050" dirty="0">
                <a:solidFill>
                  <a:srgbClr val="555555"/>
                </a:solidFill>
                <a:latin typeface="Calibri" pitchFamily="34" charset="0"/>
                <a:ea typeface="Calibri" pitchFamily="34" charset="-122"/>
                <a:cs typeface="Calibri" pitchFamily="34" charset="-120"/>
              </a:rPr>
              <a:t>evasion rate ~94% on SWaT</a:t>
            </a:r>
            <a:endParaRPr lang="en-US" sz="1050" dirty="0"/>
          </a:p>
        </p:txBody>
      </p:sp>
      <p:sp>
        <p:nvSpPr>
          <p:cNvPr id="18" name="Shape 16"/>
          <p:cNvSpPr/>
          <p:nvPr/>
        </p:nvSpPr>
        <p:spPr>
          <a:xfrm>
            <a:off x="475488" y="2935224"/>
            <a:ext cx="201168" cy="201168"/>
          </a:xfrm>
          <a:prstGeom prst="rect">
            <a:avLst/>
          </a:prstGeom>
          <a:solidFill>
            <a:srgbClr val="E74C3C"/>
          </a:solidFill>
          <a:ln w="12700">
            <a:solidFill>
              <a:srgbClr val="E74C3C"/>
            </a:solidFill>
            <a:prstDash val="solid"/>
          </a:ln>
        </p:spPr>
      </p:sp>
      <p:sp>
        <p:nvSpPr>
          <p:cNvPr id="19" name="Text 17"/>
          <p:cNvSpPr/>
          <p:nvPr/>
        </p:nvSpPr>
        <p:spPr>
          <a:xfrm>
            <a:off x="475488" y="2935224"/>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0" name="Text 18"/>
          <p:cNvSpPr/>
          <p:nvPr/>
        </p:nvSpPr>
        <p:spPr>
          <a:xfrm>
            <a:off x="749808" y="2953512"/>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Sensor spoof looks normal  </a:t>
            </a:r>
            <a:pPr indent="0" marL="0">
              <a:buNone/>
            </a:pPr>
            <a:r>
              <a:rPr lang="en-US" sz="1050" dirty="0">
                <a:solidFill>
                  <a:srgbClr val="555555"/>
                </a:solidFill>
                <a:latin typeface="Calibri" pitchFamily="34" charset="0"/>
                <a:ea typeface="Calibri" pitchFamily="34" charset="-122"/>
                <a:cs typeface="Calibri" pitchFamily="34" charset="-120"/>
              </a:rPr>
              <a:t>to the ML model's latent space</a:t>
            </a:r>
            <a:endParaRPr lang="en-US" sz="1050" dirty="0"/>
          </a:p>
        </p:txBody>
      </p:sp>
      <p:sp>
        <p:nvSpPr>
          <p:cNvPr id="21" name="Shape 19"/>
          <p:cNvSpPr/>
          <p:nvPr/>
        </p:nvSpPr>
        <p:spPr>
          <a:xfrm>
            <a:off x="475488" y="3328416"/>
            <a:ext cx="201168" cy="201168"/>
          </a:xfrm>
          <a:prstGeom prst="rect">
            <a:avLst/>
          </a:prstGeom>
          <a:solidFill>
            <a:srgbClr val="E74C3C"/>
          </a:solidFill>
          <a:ln w="12700">
            <a:solidFill>
              <a:srgbClr val="E74C3C"/>
            </a:solidFill>
            <a:prstDash val="solid"/>
          </a:ln>
        </p:spPr>
      </p:sp>
      <p:sp>
        <p:nvSpPr>
          <p:cNvPr id="22" name="Text 20"/>
          <p:cNvSpPr/>
          <p:nvPr/>
        </p:nvSpPr>
        <p:spPr>
          <a:xfrm>
            <a:off x="475488" y="3328416"/>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749808" y="3346704"/>
            <a:ext cx="342900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Blind to actuator state —  </a:t>
            </a:r>
            <a:pPr indent="0" marL="0">
              <a:buNone/>
            </a:pPr>
            <a:r>
              <a:rPr lang="en-US" sz="1050" dirty="0">
                <a:solidFill>
                  <a:srgbClr val="555555"/>
                </a:solidFill>
                <a:latin typeface="Calibri" pitchFamily="34" charset="0"/>
                <a:ea typeface="Calibri" pitchFamily="34" charset="-122"/>
                <a:cs typeface="Calibri" pitchFamily="34" charset="-120"/>
              </a:rPr>
              <a:t>only sees sensor timeseries</a:t>
            </a:r>
            <a:endParaRPr lang="en-US" sz="1050" dirty="0"/>
          </a:p>
        </p:txBody>
      </p:sp>
      <p:sp>
        <p:nvSpPr>
          <p:cNvPr id="24" name="Shape 22"/>
          <p:cNvSpPr/>
          <p:nvPr/>
        </p:nvSpPr>
        <p:spPr>
          <a:xfrm>
            <a:off x="4663440" y="987552"/>
            <a:ext cx="4206240" cy="3657600"/>
          </a:xfrm>
          <a:prstGeom prst="rect">
            <a:avLst/>
          </a:prstGeom>
          <a:solidFill>
            <a:srgbClr val="FFFFFF"/>
          </a:solidFill>
          <a:ln w="12700">
            <a:solidFill>
              <a:srgbClr val="FFFFFF"/>
            </a:solidFill>
            <a:prstDash val="solid"/>
          </a:ln>
        </p:spPr>
      </p:sp>
      <p:sp>
        <p:nvSpPr>
          <p:cNvPr id="25" name="Shape 23"/>
          <p:cNvSpPr/>
          <p:nvPr/>
        </p:nvSpPr>
        <p:spPr>
          <a:xfrm>
            <a:off x="4663440" y="987552"/>
            <a:ext cx="64008" cy="3657600"/>
          </a:xfrm>
          <a:prstGeom prst="rect">
            <a:avLst/>
          </a:prstGeom>
          <a:solidFill>
            <a:srgbClr val="F39C12"/>
          </a:solidFill>
          <a:ln w="12700">
            <a:solidFill>
              <a:srgbClr val="F39C12"/>
            </a:solidFill>
            <a:prstDash val="solid"/>
          </a:ln>
        </p:spPr>
      </p:sp>
      <p:sp>
        <p:nvSpPr>
          <p:cNvPr id="26" name="Text 24"/>
          <p:cNvSpPr/>
          <p:nvPr/>
        </p:nvSpPr>
        <p:spPr>
          <a:xfrm>
            <a:off x="4892040" y="1060704"/>
            <a:ext cx="3840480" cy="347472"/>
          </a:xfrm>
          <a:prstGeom prst="rect">
            <a:avLst/>
          </a:prstGeom>
          <a:noFill/>
          <a:ln/>
        </p:spPr>
        <p:txBody>
          <a:bodyPr wrap="square" lIns="0" tIns="0" rIns="0" bIns="0" rtlCol="0" anchor="ctr"/>
          <a:lstStyle/>
          <a:p>
            <a:pPr indent="0" marL="0">
              <a:buNone/>
            </a:pPr>
            <a:r>
              <a:rPr lang="en-US" sz="1500" b="1" dirty="0">
                <a:solidFill>
                  <a:srgbClr val="F39C12"/>
                </a:solidFill>
                <a:latin typeface="Calibri" pitchFamily="34" charset="0"/>
                <a:ea typeface="Calibri" pitchFamily="34" charset="-122"/>
                <a:cs typeface="Calibri" pitchFamily="34" charset="-120"/>
              </a:rPr>
              <a:t>Invariant-Only Detector</a:t>
            </a:r>
            <a:endParaRPr lang="en-US" sz="1500" dirty="0"/>
          </a:p>
        </p:txBody>
      </p:sp>
      <p:sp>
        <p:nvSpPr>
          <p:cNvPr id="27" name="Text 25"/>
          <p:cNvSpPr/>
          <p:nvPr/>
        </p:nvSpPr>
        <p:spPr>
          <a:xfrm>
            <a:off x="4892040" y="1389888"/>
            <a:ext cx="3840480" cy="237744"/>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e.g. Adepu &amp; Mathur, IFIP SEC 2016 (Papers #88)</a:t>
            </a:r>
            <a:endParaRPr lang="en-US" sz="1000" dirty="0"/>
          </a:p>
        </p:txBody>
      </p:sp>
      <p:sp>
        <p:nvSpPr>
          <p:cNvPr id="28" name="Shape 26"/>
          <p:cNvSpPr/>
          <p:nvPr/>
        </p:nvSpPr>
        <p:spPr>
          <a:xfrm>
            <a:off x="4864608" y="1755648"/>
            <a:ext cx="201168" cy="201168"/>
          </a:xfrm>
          <a:prstGeom prst="rect">
            <a:avLst/>
          </a:prstGeom>
          <a:solidFill>
            <a:srgbClr val="F39C12"/>
          </a:solidFill>
          <a:ln w="12700">
            <a:solidFill>
              <a:srgbClr val="F39C12"/>
            </a:solidFill>
            <a:prstDash val="solid"/>
          </a:ln>
        </p:spPr>
      </p:sp>
      <p:sp>
        <p:nvSpPr>
          <p:cNvPr id="29" name="Text 27"/>
          <p:cNvSpPr/>
          <p:nvPr/>
        </p:nvSpPr>
        <p:spPr>
          <a:xfrm>
            <a:off x="4864608" y="17556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138928" y="1773936"/>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Physics rules encode  </a:t>
            </a:r>
            <a:pPr indent="0" marL="0">
              <a:buNone/>
            </a:pPr>
            <a:r>
              <a:rPr lang="en-US" sz="1050" dirty="0">
                <a:solidFill>
                  <a:srgbClr val="555555"/>
                </a:solidFill>
                <a:latin typeface="Calibri" pitchFamily="34" charset="0"/>
                <a:ea typeface="Calibri" pitchFamily="34" charset="-122"/>
                <a:cs typeface="Calibri" pitchFamily="34" charset="-120"/>
              </a:rPr>
              <a:t>P&amp;ID constraints (e.g. MV101 open → FIT101 &gt; 0)</a:t>
            </a:r>
            <a:endParaRPr lang="en-US" sz="1050" dirty="0"/>
          </a:p>
        </p:txBody>
      </p:sp>
      <p:sp>
        <p:nvSpPr>
          <p:cNvPr id="31" name="Shape 29"/>
          <p:cNvSpPr/>
          <p:nvPr/>
        </p:nvSpPr>
        <p:spPr>
          <a:xfrm>
            <a:off x="4864608" y="2148840"/>
            <a:ext cx="201168" cy="201168"/>
          </a:xfrm>
          <a:prstGeom prst="rect">
            <a:avLst/>
          </a:prstGeom>
          <a:solidFill>
            <a:srgbClr val="F39C12"/>
          </a:solidFill>
          <a:ln w="12700">
            <a:solidFill>
              <a:srgbClr val="F39C12"/>
            </a:solidFill>
            <a:prstDash val="solid"/>
          </a:ln>
        </p:spPr>
      </p:sp>
      <p:sp>
        <p:nvSpPr>
          <p:cNvPr id="32" name="Text 30"/>
          <p:cNvSpPr/>
          <p:nvPr/>
        </p:nvSpPr>
        <p:spPr>
          <a:xfrm>
            <a:off x="4864608" y="2148840"/>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3" name="Text 31"/>
          <p:cNvSpPr/>
          <p:nvPr/>
        </p:nvSpPr>
        <p:spPr>
          <a:xfrm>
            <a:off x="5138928" y="2167128"/>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Paper #9 Phase 2 replay  </a:t>
            </a:r>
            <a:pPr indent="0" marL="0">
              <a:buNone/>
            </a:pPr>
            <a:r>
              <a:rPr lang="en-US" sz="1050" dirty="0">
                <a:solidFill>
                  <a:srgbClr val="555555"/>
                </a:solidFill>
                <a:latin typeface="Calibri" pitchFamily="34" charset="0"/>
                <a:ea typeface="Calibri" pitchFamily="34" charset="-122"/>
                <a:cs typeface="Calibri" pitchFamily="34" charset="-120"/>
              </a:rPr>
              <a:t>sends stale-but-valid sensor readings</a:t>
            </a:r>
            <a:endParaRPr lang="en-US" sz="1050" dirty="0"/>
          </a:p>
        </p:txBody>
      </p:sp>
      <p:sp>
        <p:nvSpPr>
          <p:cNvPr id="34" name="Shape 32"/>
          <p:cNvSpPr/>
          <p:nvPr/>
        </p:nvSpPr>
        <p:spPr>
          <a:xfrm>
            <a:off x="4864608" y="2542032"/>
            <a:ext cx="201168" cy="201168"/>
          </a:xfrm>
          <a:prstGeom prst="rect">
            <a:avLst/>
          </a:prstGeom>
          <a:solidFill>
            <a:srgbClr val="F39C12"/>
          </a:solidFill>
          <a:ln w="12700">
            <a:solidFill>
              <a:srgbClr val="F39C12"/>
            </a:solidFill>
            <a:prstDash val="solid"/>
          </a:ln>
        </p:spPr>
      </p:sp>
      <p:sp>
        <p:nvSpPr>
          <p:cNvPr id="35" name="Text 33"/>
          <p:cNvSpPr/>
          <p:nvPr/>
        </p:nvSpPr>
        <p:spPr>
          <a:xfrm>
            <a:off x="4864608" y="2542032"/>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5138928" y="2560320"/>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Only 24 of 36 SWaT attacks  </a:t>
            </a:r>
            <a:pPr indent="0" marL="0">
              <a:buNone/>
            </a:pPr>
            <a:r>
              <a:rPr lang="en-US" sz="1050" dirty="0">
                <a:solidFill>
                  <a:srgbClr val="555555"/>
                </a:solidFill>
                <a:latin typeface="Calibri" pitchFamily="34" charset="0"/>
                <a:ea typeface="Calibri" pitchFamily="34" charset="-122"/>
                <a:cs typeface="Calibri" pitchFamily="34" charset="-120"/>
              </a:rPr>
              <a:t>detected by invariant alone [Adepu 2016]</a:t>
            </a:r>
            <a:endParaRPr lang="en-US" sz="1050" dirty="0"/>
          </a:p>
        </p:txBody>
      </p:sp>
      <p:sp>
        <p:nvSpPr>
          <p:cNvPr id="37" name="Shape 35"/>
          <p:cNvSpPr/>
          <p:nvPr/>
        </p:nvSpPr>
        <p:spPr>
          <a:xfrm>
            <a:off x="4864608" y="2935224"/>
            <a:ext cx="201168" cy="201168"/>
          </a:xfrm>
          <a:prstGeom prst="rect">
            <a:avLst/>
          </a:prstGeom>
          <a:solidFill>
            <a:srgbClr val="F39C12"/>
          </a:solidFill>
          <a:ln w="12700">
            <a:solidFill>
              <a:srgbClr val="F39C12"/>
            </a:solidFill>
            <a:prstDash val="solid"/>
          </a:ln>
        </p:spPr>
      </p:sp>
      <p:sp>
        <p:nvSpPr>
          <p:cNvPr id="38" name="Text 36"/>
          <p:cNvSpPr/>
          <p:nvPr/>
        </p:nvSpPr>
        <p:spPr>
          <a:xfrm>
            <a:off x="4864608" y="2935224"/>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5138928" y="2953512"/>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No timing anomaly flagged  </a:t>
            </a:r>
            <a:pPr indent="0" marL="0">
              <a:buNone/>
            </a:pPr>
            <a:r>
              <a:rPr lang="en-US" sz="1050" dirty="0">
                <a:solidFill>
                  <a:srgbClr val="555555"/>
                </a:solidFill>
                <a:latin typeface="Calibri" pitchFamily="34" charset="0"/>
                <a:ea typeface="Calibri" pitchFamily="34" charset="-122"/>
                <a:cs typeface="Calibri" pitchFamily="34" charset="-120"/>
              </a:rPr>
              <a:t>if replay matches polling frequency</a:t>
            </a:r>
            <a:endParaRPr lang="en-US" sz="1050" dirty="0"/>
          </a:p>
        </p:txBody>
      </p:sp>
      <p:sp>
        <p:nvSpPr>
          <p:cNvPr id="40" name="Shape 38"/>
          <p:cNvSpPr/>
          <p:nvPr/>
        </p:nvSpPr>
        <p:spPr>
          <a:xfrm>
            <a:off x="4864608" y="3328416"/>
            <a:ext cx="201168" cy="201168"/>
          </a:xfrm>
          <a:prstGeom prst="rect">
            <a:avLst/>
          </a:prstGeom>
          <a:solidFill>
            <a:srgbClr val="F39C12"/>
          </a:solidFill>
          <a:ln w="12700">
            <a:solidFill>
              <a:srgbClr val="F39C12"/>
            </a:solidFill>
            <a:prstDash val="solid"/>
          </a:ln>
        </p:spPr>
      </p:sp>
      <p:sp>
        <p:nvSpPr>
          <p:cNvPr id="41" name="Text 39"/>
          <p:cNvSpPr/>
          <p:nvPr/>
        </p:nvSpPr>
        <p:spPr>
          <a:xfrm>
            <a:off x="4864608" y="3328416"/>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5138928" y="3346704"/>
            <a:ext cx="3611880" cy="347472"/>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 xml:space="preserve">Cannot detect gradual drift  </a:t>
            </a:r>
            <a:pPr indent="0" marL="0">
              <a:buNone/>
            </a:pPr>
            <a:r>
              <a:rPr lang="en-US" sz="1050" dirty="0">
                <a:solidFill>
                  <a:srgbClr val="555555"/>
                </a:solidFill>
                <a:latin typeface="Calibri" pitchFamily="34" charset="0"/>
                <a:ea typeface="Calibri" pitchFamily="34" charset="-122"/>
                <a:cs typeface="Calibri" pitchFamily="34" charset="-120"/>
              </a:rPr>
              <a:t>if attacker moves slowly within bounds</a:t>
            </a:r>
            <a:endParaRPr lang="en-US" sz="1050" dirty="0"/>
          </a:p>
        </p:txBody>
      </p:sp>
      <p:sp>
        <p:nvSpPr>
          <p:cNvPr id="43" name="Shape 41"/>
          <p:cNvSpPr/>
          <p:nvPr/>
        </p:nvSpPr>
        <p:spPr>
          <a:xfrm>
            <a:off x="274320" y="4709160"/>
            <a:ext cx="8595360" cy="365760"/>
          </a:xfrm>
          <a:prstGeom prst="rect">
            <a:avLst/>
          </a:prstGeom>
          <a:solidFill>
            <a:srgbClr val="0D1B2A"/>
          </a:solidFill>
          <a:ln w="12700">
            <a:solidFill>
              <a:srgbClr val="0D1B2A"/>
            </a:solidFill>
            <a:prstDash val="solid"/>
          </a:ln>
        </p:spPr>
      </p:sp>
      <p:sp>
        <p:nvSpPr>
          <p:cNvPr id="44" name="Text 42"/>
          <p:cNvSpPr/>
          <p:nvPr/>
        </p:nvSpPr>
        <p:spPr>
          <a:xfrm>
            <a:off x="457200" y="4709160"/>
            <a:ext cx="8321040" cy="365760"/>
          </a:xfrm>
          <a:prstGeom prst="rect">
            <a:avLst/>
          </a:prstGeom>
          <a:noFill/>
          <a:ln/>
        </p:spPr>
        <p:txBody>
          <a:bodyPr wrap="square" lIns="0" tIns="0" rIns="0" bIns="0" rtlCol="0" anchor="ctr"/>
          <a:lstStyle/>
          <a:p>
            <a:pPr indent="0" marL="0">
              <a:buNone/>
            </a:pPr>
            <a:r>
              <a:rPr lang="en-US" sz="1050" b="1" dirty="0">
                <a:solidFill>
                  <a:srgbClr val="0FB3C5"/>
                </a:solidFill>
                <a:latin typeface="Calibri" pitchFamily="34" charset="0"/>
                <a:ea typeface="Calibri" pitchFamily="34" charset="-122"/>
                <a:cs typeface="Calibri" pitchFamily="34" charset="-120"/>
              </a:rPr>
              <a:t xml:space="preserve">Conclusion:  </a:t>
            </a:r>
            <a:pPr indent="0" marL="0">
              <a:buNone/>
            </a:pPr>
            <a:r>
              <a:rPr lang="en-US" sz="1050" dirty="0">
                <a:solidFill>
                  <a:srgbClr val="E8EEF4"/>
                </a:solidFill>
                <a:latin typeface="Calibri" pitchFamily="34" charset="0"/>
                <a:ea typeface="Calibri" pitchFamily="34" charset="-122"/>
                <a:cs typeface="Calibri" pitchFamily="34" charset="-120"/>
              </a:rPr>
              <a:t>Neither layer alone is sufficient. The hybrid forces the attacker to simultaneously satisfy physics constraints AND fool the ML detector — a much harder constraint.</a:t>
            </a:r>
            <a:endParaRPr lang="en-US" sz="10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Hybrid Defense Architecture</a:t>
            </a:r>
            <a:endParaRPr lang="en-US" sz="2800" dirty="0"/>
          </a:p>
        </p:txBody>
      </p:sp>
      <p:sp>
        <p:nvSpPr>
          <p:cNvPr id="4" name="Text 2"/>
          <p:cNvSpPr/>
          <p:nvPr/>
        </p:nvSpPr>
        <p:spPr>
          <a:xfrm>
            <a:off x="365760" y="621792"/>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Three cooperative layers — each compensates for the other's blind spots</a:t>
            </a:r>
            <a:endParaRPr lang="en-US" sz="1200" dirty="0"/>
          </a:p>
        </p:txBody>
      </p:sp>
      <p:sp>
        <p:nvSpPr>
          <p:cNvPr id="5" name="Shape 3"/>
          <p:cNvSpPr/>
          <p:nvPr/>
        </p:nvSpPr>
        <p:spPr>
          <a:xfrm>
            <a:off x="228600" y="1024128"/>
            <a:ext cx="1691640" cy="960120"/>
          </a:xfrm>
          <a:prstGeom prst="rect">
            <a:avLst/>
          </a:prstGeom>
          <a:solidFill>
            <a:srgbClr val="1B3A5C"/>
          </a:solidFill>
          <a:ln w="12700">
            <a:solidFill>
              <a:srgbClr val="1B3A5C"/>
            </a:solidFill>
            <a:prstDash val="solid"/>
          </a:ln>
        </p:spPr>
      </p:sp>
      <p:sp>
        <p:nvSpPr>
          <p:cNvPr id="6" name="Shape 4"/>
          <p:cNvSpPr/>
          <p:nvPr/>
        </p:nvSpPr>
        <p:spPr>
          <a:xfrm>
            <a:off x="228600" y="1024128"/>
            <a:ext cx="64008" cy="960120"/>
          </a:xfrm>
          <a:prstGeom prst="rect">
            <a:avLst/>
          </a:prstGeom>
          <a:solidFill>
            <a:srgbClr val="0A7E8C"/>
          </a:solidFill>
          <a:ln w="12700">
            <a:solidFill>
              <a:srgbClr val="0A7E8C"/>
            </a:solidFill>
            <a:prstDash val="solid"/>
          </a:ln>
        </p:spPr>
      </p:sp>
      <p:sp>
        <p:nvSpPr>
          <p:cNvPr id="7" name="Text 5"/>
          <p:cNvSpPr/>
          <p:nvPr/>
        </p:nvSpPr>
        <p:spPr>
          <a:xfrm>
            <a:off x="347472" y="1051560"/>
            <a:ext cx="1508760" cy="914400"/>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SWaT</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Sensor &amp;</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Actuator</a:t>
            </a:r>
            <a:endParaRPr lang="en-US" sz="1050" dirty="0"/>
          </a:p>
          <a:p>
            <a:pPr indent="0" marL="0">
              <a:buNone/>
            </a:pPr>
            <a:r>
              <a:rPr lang="en-US" sz="1050" dirty="0">
                <a:solidFill>
                  <a:srgbClr val="E8EEF4"/>
                </a:solidFill>
                <a:latin typeface="Calibri" pitchFamily="34" charset="0"/>
                <a:ea typeface="Calibri" pitchFamily="34" charset="-122"/>
                <a:cs typeface="Calibri" pitchFamily="34" charset="-120"/>
              </a:rPr>
              <a:t>Readings</a:t>
            </a:r>
            <a:endParaRPr lang="en-US" sz="1050" dirty="0"/>
          </a:p>
        </p:txBody>
      </p:sp>
      <p:sp>
        <p:nvSpPr>
          <p:cNvPr id="8" name="Text 6"/>
          <p:cNvSpPr/>
          <p:nvPr/>
        </p:nvSpPr>
        <p:spPr>
          <a:xfrm>
            <a:off x="1965960" y="1344168"/>
            <a:ext cx="365760" cy="365760"/>
          </a:xfrm>
          <a:prstGeom prst="rect">
            <a:avLst/>
          </a:prstGeom>
          <a:noFill/>
          <a:ln/>
        </p:spPr>
        <p:txBody>
          <a:bodyPr wrap="square" lIns="0" tIns="0" rIns="0" bIns="0" rtlCol="0" anchor="ctr"/>
          <a:lstStyle/>
          <a:p>
            <a:pPr algn="ctr" indent="0" marL="0">
              <a:buNone/>
            </a:pPr>
            <a:r>
              <a:rPr lang="en-US" sz="2000" b="1" dirty="0">
                <a:solidFill>
                  <a:srgbClr val="0A7E8C"/>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377440" y="896112"/>
            <a:ext cx="1874520" cy="1234440"/>
          </a:xfrm>
          <a:prstGeom prst="rect">
            <a:avLst/>
          </a:prstGeom>
          <a:solidFill>
            <a:srgbClr val="1A8A47"/>
          </a:solidFill>
          <a:ln w="12700">
            <a:solidFill>
              <a:srgbClr val="1A8A47"/>
            </a:solidFill>
            <a:prstDash val="solid"/>
          </a:ln>
        </p:spPr>
      </p:sp>
      <p:sp>
        <p:nvSpPr>
          <p:cNvPr id="10" name="Text 8"/>
          <p:cNvSpPr/>
          <p:nvPr/>
        </p:nvSpPr>
        <p:spPr>
          <a:xfrm>
            <a:off x="2423160" y="932688"/>
            <a:ext cx="1783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1</a:t>
            </a:r>
            <a:endParaRPr lang="en-US" sz="1100" dirty="0"/>
          </a:p>
        </p:txBody>
      </p:sp>
      <p:sp>
        <p:nvSpPr>
          <p:cNvPr id="11" name="Text 9"/>
          <p:cNvSpPr/>
          <p:nvPr/>
        </p:nvSpPr>
        <p:spPr>
          <a:xfrm>
            <a:off x="2423160" y="1188720"/>
            <a:ext cx="1783080" cy="347472"/>
          </a:xfrm>
          <a:prstGeom prst="rect">
            <a:avLst/>
          </a:prstGeom>
          <a:noFill/>
          <a:ln/>
        </p:spPr>
        <p:txBody>
          <a:bodyPr wrap="square" lIns="0" tIns="0" rIns="0" bIns="0" rtlCol="0" anchor="ctr"/>
          <a:lstStyle/>
          <a:p>
            <a:pPr algn="ctr" indent="0" marL="0">
              <a:buNone/>
            </a:pPr>
            <a:r>
              <a:rPr lang="en-US" sz="1300" b="1" dirty="0">
                <a:solidFill>
                  <a:srgbClr val="C8F5D8"/>
                </a:solidFill>
                <a:latin typeface="Calibri" pitchFamily="34" charset="0"/>
                <a:ea typeface="Calibri" pitchFamily="34" charset="-122"/>
                <a:cs typeface="Calibri" pitchFamily="34" charset="-120"/>
              </a:rPr>
              <a:t>Process Invariant</a:t>
            </a:r>
            <a:endParaRPr lang="en-US" sz="1300" dirty="0"/>
          </a:p>
          <a:p>
            <a:pPr algn="ctr" indent="0" marL="0">
              <a:buNone/>
            </a:pPr>
            <a:r>
              <a:rPr lang="en-US" sz="1300" b="1" dirty="0">
                <a:solidFill>
                  <a:srgbClr val="C8F5D8"/>
                </a:solidFill>
                <a:latin typeface="Calibri" pitchFamily="34" charset="0"/>
                <a:ea typeface="Calibri" pitchFamily="34" charset="-122"/>
                <a:cs typeface="Calibri" pitchFamily="34" charset="-120"/>
              </a:rPr>
              <a:t>Checker</a:t>
            </a:r>
            <a:endParaRPr lang="en-US" sz="1300" dirty="0"/>
          </a:p>
        </p:txBody>
      </p:sp>
      <p:sp>
        <p:nvSpPr>
          <p:cNvPr id="12" name="Text 10"/>
          <p:cNvSpPr/>
          <p:nvPr/>
        </p:nvSpPr>
        <p:spPr>
          <a:xfrm>
            <a:off x="2423160" y="1536192"/>
            <a:ext cx="178308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Physics-based rules</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from SWaT P&amp;ID</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(Adepu &amp; Mathur 2016)</a:t>
            </a:r>
            <a:endParaRPr lang="en-US" sz="950" dirty="0"/>
          </a:p>
        </p:txBody>
      </p:sp>
      <p:sp>
        <p:nvSpPr>
          <p:cNvPr id="13" name="Text 11"/>
          <p:cNvSpPr/>
          <p:nvPr/>
        </p:nvSpPr>
        <p:spPr>
          <a:xfrm>
            <a:off x="4297680" y="1344168"/>
            <a:ext cx="365760" cy="365760"/>
          </a:xfrm>
          <a:prstGeom prst="rect">
            <a:avLst/>
          </a:prstGeom>
          <a:noFill/>
          <a:ln/>
        </p:spPr>
        <p:txBody>
          <a:bodyPr wrap="square" lIns="0" tIns="0" rIns="0" bIns="0" rtlCol="0" anchor="ctr"/>
          <a:lstStyle/>
          <a:p>
            <a:pPr algn="ctr" indent="0" marL="0">
              <a:buNone/>
            </a:pPr>
            <a:r>
              <a:rPr lang="en-US" sz="2000" b="1" dirty="0">
                <a:solidFill>
                  <a:srgbClr val="2196F3"/>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4709160" y="896112"/>
            <a:ext cx="1874520" cy="1234440"/>
          </a:xfrm>
          <a:prstGeom prst="rect">
            <a:avLst/>
          </a:prstGeom>
          <a:solidFill>
            <a:srgbClr val="1A3A6E"/>
          </a:solidFill>
          <a:ln w="12700">
            <a:solidFill>
              <a:srgbClr val="1A3A6E"/>
            </a:solidFill>
            <a:prstDash val="solid"/>
          </a:ln>
        </p:spPr>
      </p:sp>
      <p:sp>
        <p:nvSpPr>
          <p:cNvPr id="15" name="Text 13"/>
          <p:cNvSpPr/>
          <p:nvPr/>
        </p:nvSpPr>
        <p:spPr>
          <a:xfrm>
            <a:off x="4754880" y="932688"/>
            <a:ext cx="1783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2</a:t>
            </a:r>
            <a:endParaRPr lang="en-US" sz="1100" dirty="0"/>
          </a:p>
        </p:txBody>
      </p:sp>
      <p:sp>
        <p:nvSpPr>
          <p:cNvPr id="16" name="Text 14"/>
          <p:cNvSpPr/>
          <p:nvPr/>
        </p:nvSpPr>
        <p:spPr>
          <a:xfrm>
            <a:off x="4754880" y="1188720"/>
            <a:ext cx="1783080" cy="347472"/>
          </a:xfrm>
          <a:prstGeom prst="rect">
            <a:avLst/>
          </a:prstGeom>
          <a:noFill/>
          <a:ln/>
        </p:spPr>
        <p:txBody>
          <a:bodyPr wrap="square" lIns="0" tIns="0" rIns="0" bIns="0" rtlCol="0" anchor="ctr"/>
          <a:lstStyle/>
          <a:p>
            <a:pPr algn="ctr" indent="0" marL="0">
              <a:buNone/>
            </a:pPr>
            <a:r>
              <a:rPr lang="en-US" sz="1300" b="1" dirty="0">
                <a:solidFill>
                  <a:srgbClr val="64B5F6"/>
                </a:solidFill>
                <a:latin typeface="Calibri" pitchFamily="34" charset="0"/>
                <a:ea typeface="Calibri" pitchFamily="34" charset="-122"/>
                <a:cs typeface="Calibri" pitchFamily="34" charset="-120"/>
              </a:rPr>
              <a:t>Reconstruction</a:t>
            </a:r>
            <a:endParaRPr lang="en-US" sz="1300" dirty="0"/>
          </a:p>
          <a:p>
            <a:pPr algn="ctr" indent="0" marL="0">
              <a:buNone/>
            </a:pPr>
            <a:r>
              <a:rPr lang="en-US" sz="1300" b="1" dirty="0">
                <a:solidFill>
                  <a:srgbClr val="64B5F6"/>
                </a:solidFill>
                <a:latin typeface="Calibri" pitchFamily="34" charset="0"/>
                <a:ea typeface="Calibri" pitchFamily="34" charset="-122"/>
                <a:cs typeface="Calibri" pitchFamily="34" charset="-120"/>
              </a:rPr>
              <a:t>Autoencoder</a:t>
            </a:r>
            <a:endParaRPr lang="en-US" sz="1300" dirty="0"/>
          </a:p>
        </p:txBody>
      </p:sp>
      <p:sp>
        <p:nvSpPr>
          <p:cNvPr id="17" name="Text 15"/>
          <p:cNvSpPr/>
          <p:nvPr/>
        </p:nvSpPr>
        <p:spPr>
          <a:xfrm>
            <a:off x="4754880" y="1536192"/>
            <a:ext cx="178308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ML anomaly score</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vs learned normal</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distribution</a:t>
            </a:r>
            <a:endParaRPr lang="en-US" sz="950" dirty="0"/>
          </a:p>
        </p:txBody>
      </p:sp>
      <p:sp>
        <p:nvSpPr>
          <p:cNvPr id="18" name="Text 16"/>
          <p:cNvSpPr/>
          <p:nvPr/>
        </p:nvSpPr>
        <p:spPr>
          <a:xfrm>
            <a:off x="6629400" y="1344168"/>
            <a:ext cx="365760" cy="365760"/>
          </a:xfrm>
          <a:prstGeom prst="rect">
            <a:avLst/>
          </a:prstGeom>
          <a:noFill/>
          <a:ln/>
        </p:spPr>
        <p:txBody>
          <a:bodyPr wrap="square" lIns="0" tIns="0" rIns="0" bIns="0" rtlCol="0" anchor="ctr"/>
          <a:lstStyle/>
          <a:p>
            <a:pPr algn="ctr" indent="0" marL="0">
              <a:buNone/>
            </a:pPr>
            <a:r>
              <a:rPr lang="en-US" sz="2000" b="1" dirty="0">
                <a:solidFill>
                  <a:srgbClr val="F39C12"/>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7040880" y="896112"/>
            <a:ext cx="1828800" cy="1234440"/>
          </a:xfrm>
          <a:prstGeom prst="rect">
            <a:avLst/>
          </a:prstGeom>
          <a:solidFill>
            <a:srgbClr val="5A3800"/>
          </a:solidFill>
          <a:ln w="12700">
            <a:solidFill>
              <a:srgbClr val="5A3800"/>
            </a:solidFill>
            <a:prstDash val="solid"/>
          </a:ln>
        </p:spPr>
      </p:sp>
      <p:sp>
        <p:nvSpPr>
          <p:cNvPr id="20" name="Text 18"/>
          <p:cNvSpPr/>
          <p:nvPr/>
        </p:nvSpPr>
        <p:spPr>
          <a:xfrm>
            <a:off x="7086600" y="932688"/>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 3</a:t>
            </a:r>
            <a:endParaRPr lang="en-US" sz="1100" dirty="0"/>
          </a:p>
        </p:txBody>
      </p:sp>
      <p:sp>
        <p:nvSpPr>
          <p:cNvPr id="21" name="Text 19"/>
          <p:cNvSpPr/>
          <p:nvPr/>
        </p:nvSpPr>
        <p:spPr>
          <a:xfrm>
            <a:off x="7086600" y="1188720"/>
            <a:ext cx="1737360" cy="347472"/>
          </a:xfrm>
          <a:prstGeom prst="rect">
            <a:avLst/>
          </a:prstGeom>
          <a:noFill/>
          <a:ln/>
        </p:spPr>
        <p:txBody>
          <a:bodyPr wrap="square" lIns="0" tIns="0" rIns="0" bIns="0" rtlCol="0" anchor="ctr"/>
          <a:lstStyle/>
          <a:p>
            <a:pPr algn="ctr" indent="0" marL="0">
              <a:buNone/>
            </a:pPr>
            <a:r>
              <a:rPr lang="en-US" sz="1300" b="1" dirty="0">
                <a:solidFill>
                  <a:srgbClr val="F39C12"/>
                </a:solidFill>
                <a:latin typeface="Calibri" pitchFamily="34" charset="0"/>
                <a:ea typeface="Calibri" pitchFamily="34" charset="-122"/>
                <a:cs typeface="Calibri" pitchFamily="34" charset="-120"/>
              </a:rPr>
              <a:t>Decision</a:t>
            </a:r>
            <a:endParaRPr lang="en-US" sz="1300" dirty="0"/>
          </a:p>
          <a:p>
            <a:pPr algn="ctr" indent="0" marL="0">
              <a:buNone/>
            </a:pPr>
            <a:r>
              <a:rPr lang="en-US" sz="1300" b="1" dirty="0">
                <a:solidFill>
                  <a:srgbClr val="F39C12"/>
                </a:solidFill>
                <a:latin typeface="Calibri" pitchFamily="34" charset="0"/>
                <a:ea typeface="Calibri" pitchFamily="34" charset="-122"/>
                <a:cs typeface="Calibri" pitchFamily="34" charset="-120"/>
              </a:rPr>
              <a:t>Fusion</a:t>
            </a:r>
            <a:endParaRPr lang="en-US" sz="1300" dirty="0"/>
          </a:p>
        </p:txBody>
      </p:sp>
      <p:sp>
        <p:nvSpPr>
          <p:cNvPr id="22" name="Text 20"/>
          <p:cNvSpPr/>
          <p:nvPr/>
        </p:nvSpPr>
        <p:spPr>
          <a:xfrm>
            <a:off x="7086600" y="1536192"/>
            <a:ext cx="1737360" cy="530352"/>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Weighted vote +</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alert + trigger</a:t>
            </a:r>
            <a:endParaRPr lang="en-US" sz="950" dirty="0"/>
          </a:p>
          <a:p>
            <a:pPr algn="ctr" indent="0" marL="0">
              <a:buNone/>
            </a:pPr>
            <a:r>
              <a:rPr lang="en-US" sz="950" i="1" dirty="0">
                <a:solidFill>
                  <a:srgbClr val="FFFFFF"/>
                </a:solidFill>
                <a:latin typeface="Calibri" pitchFamily="34" charset="0"/>
                <a:ea typeface="Calibri" pitchFamily="34" charset="-122"/>
                <a:cs typeface="Calibri" pitchFamily="34" charset="-120"/>
              </a:rPr>
              <a:t>recovery pipeline</a:t>
            </a:r>
            <a:endParaRPr lang="en-US" sz="950" dirty="0"/>
          </a:p>
        </p:txBody>
      </p:sp>
      <p:sp>
        <p:nvSpPr>
          <p:cNvPr id="23" name="Text 21"/>
          <p:cNvSpPr/>
          <p:nvPr/>
        </p:nvSpPr>
        <p:spPr>
          <a:xfrm>
            <a:off x="6400800" y="2176272"/>
            <a:ext cx="2560320" cy="274320"/>
          </a:xfrm>
          <a:prstGeom prst="rect">
            <a:avLst/>
          </a:prstGeom>
          <a:noFill/>
          <a:ln/>
        </p:spPr>
        <p:txBody>
          <a:bodyPr wrap="square" lIns="0" tIns="0" rIns="0" bIns="0" rtlCol="0" anchor="ctr"/>
          <a:lstStyle/>
          <a:p>
            <a:pPr algn="ctr" indent="0" marL="0">
              <a:buNone/>
            </a:pPr>
            <a:r>
              <a:rPr lang="en-US" sz="1000" b="1" dirty="0">
                <a:solidFill>
                  <a:srgbClr val="E74C3C"/>
                </a:solidFill>
                <a:latin typeface="Calibri" pitchFamily="34" charset="0"/>
                <a:ea typeface="Calibri" pitchFamily="34" charset="-122"/>
                <a:cs typeface="Calibri" pitchFamily="34" charset="-120"/>
              </a:rPr>
              <a:t>↓  ALERT + RECOVERY TRIGGER</a:t>
            </a:r>
            <a:endParaRPr lang="en-US" sz="1000" dirty="0"/>
          </a:p>
        </p:txBody>
      </p:sp>
      <p:sp>
        <p:nvSpPr>
          <p:cNvPr id="24" name="Shape 22"/>
          <p:cNvSpPr/>
          <p:nvPr/>
        </p:nvSpPr>
        <p:spPr>
          <a:xfrm>
            <a:off x="228600" y="2514600"/>
            <a:ext cx="2834640" cy="2148840"/>
          </a:xfrm>
          <a:prstGeom prst="rect">
            <a:avLst/>
          </a:prstGeom>
          <a:solidFill>
            <a:srgbClr val="1A8A47"/>
          </a:solidFill>
          <a:ln w="12700">
            <a:solidFill>
              <a:srgbClr val="1A8A47"/>
            </a:solidFill>
            <a:prstDash val="solid"/>
          </a:ln>
        </p:spPr>
      </p:sp>
      <p:sp>
        <p:nvSpPr>
          <p:cNvPr id="25" name="Text 23"/>
          <p:cNvSpPr/>
          <p:nvPr/>
        </p:nvSpPr>
        <p:spPr>
          <a:xfrm>
            <a:off x="338328"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1 — What it checks</a:t>
            </a:r>
            <a:endParaRPr lang="en-US" sz="1150" dirty="0"/>
          </a:p>
        </p:txBody>
      </p:sp>
      <p:sp>
        <p:nvSpPr>
          <p:cNvPr id="26" name="Text 24"/>
          <p:cNvSpPr/>
          <p:nvPr/>
        </p:nvSpPr>
        <p:spPr>
          <a:xfrm>
            <a:off x="365760"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MV101 OPEN  →  FIT101 &gt; 0.5 m³/h</a:t>
            </a:r>
            <a:endParaRPr lang="en-US" sz="1000" dirty="0"/>
          </a:p>
        </p:txBody>
      </p:sp>
      <p:sp>
        <p:nvSpPr>
          <p:cNvPr id="27" name="Text 25"/>
          <p:cNvSpPr/>
          <p:nvPr/>
        </p:nvSpPr>
        <p:spPr>
          <a:xfrm>
            <a:off x="365760"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P101 ON  →  LIT101 rising or stable</a:t>
            </a:r>
            <a:endParaRPr lang="en-US" sz="1000" dirty="0"/>
          </a:p>
        </p:txBody>
      </p:sp>
      <p:sp>
        <p:nvSpPr>
          <p:cNvPr id="28" name="Text 26"/>
          <p:cNvSpPr/>
          <p:nvPr/>
        </p:nvSpPr>
        <p:spPr>
          <a:xfrm>
            <a:off x="365760"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LIT101 &lt; HIGH_LIMIT  →  P101 ON</a:t>
            </a:r>
            <a:endParaRPr lang="en-US" sz="1000" dirty="0"/>
          </a:p>
        </p:txBody>
      </p:sp>
      <p:sp>
        <p:nvSpPr>
          <p:cNvPr id="29" name="Text 27"/>
          <p:cNvSpPr/>
          <p:nvPr/>
        </p:nvSpPr>
        <p:spPr>
          <a:xfrm>
            <a:off x="365760"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P101 OFF  →  LIT101 falling (drain only)</a:t>
            </a:r>
            <a:endParaRPr lang="en-US" sz="1000" dirty="0"/>
          </a:p>
        </p:txBody>
      </p:sp>
      <p:sp>
        <p:nvSpPr>
          <p:cNvPr id="30" name="Text 28"/>
          <p:cNvSpPr/>
          <p:nvPr/>
        </p:nvSpPr>
        <p:spPr>
          <a:xfrm>
            <a:off x="365760"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MV101 CLOSED + P101 ON  = invariant violation</a:t>
            </a:r>
            <a:endParaRPr lang="en-US" sz="1000" dirty="0"/>
          </a:p>
        </p:txBody>
      </p:sp>
      <p:sp>
        <p:nvSpPr>
          <p:cNvPr id="31" name="Shape 29"/>
          <p:cNvSpPr/>
          <p:nvPr/>
        </p:nvSpPr>
        <p:spPr>
          <a:xfrm>
            <a:off x="3127248" y="2514600"/>
            <a:ext cx="2834640" cy="2148840"/>
          </a:xfrm>
          <a:prstGeom prst="rect">
            <a:avLst/>
          </a:prstGeom>
          <a:solidFill>
            <a:srgbClr val="1A3A6E"/>
          </a:solidFill>
          <a:ln w="12700">
            <a:solidFill>
              <a:srgbClr val="1A3A6E"/>
            </a:solidFill>
            <a:prstDash val="solid"/>
          </a:ln>
        </p:spPr>
      </p:sp>
      <p:sp>
        <p:nvSpPr>
          <p:cNvPr id="32" name="Text 30"/>
          <p:cNvSpPr/>
          <p:nvPr/>
        </p:nvSpPr>
        <p:spPr>
          <a:xfrm>
            <a:off x="3236976"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2 — Autoencoder</a:t>
            </a:r>
            <a:endParaRPr lang="en-US" sz="1150" dirty="0"/>
          </a:p>
        </p:txBody>
      </p:sp>
      <p:sp>
        <p:nvSpPr>
          <p:cNvPr id="33" name="Text 31"/>
          <p:cNvSpPr/>
          <p:nvPr/>
        </p:nvSpPr>
        <p:spPr>
          <a:xfrm>
            <a:off x="3264408"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Trained on 7 days normal SWaT data</a:t>
            </a:r>
            <a:endParaRPr lang="en-US" sz="1000" dirty="0"/>
          </a:p>
        </p:txBody>
      </p:sp>
      <p:sp>
        <p:nvSpPr>
          <p:cNvPr id="34" name="Text 32"/>
          <p:cNvSpPr/>
          <p:nvPr/>
        </p:nvSpPr>
        <p:spPr>
          <a:xfrm>
            <a:off x="3264408"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Encoder: 50→32→16→8 (latent dim)</a:t>
            </a:r>
            <a:endParaRPr lang="en-US" sz="1000" dirty="0"/>
          </a:p>
        </p:txBody>
      </p:sp>
      <p:sp>
        <p:nvSpPr>
          <p:cNvPr id="35" name="Text 33"/>
          <p:cNvSpPr/>
          <p:nvPr/>
        </p:nvSpPr>
        <p:spPr>
          <a:xfrm>
            <a:off x="3264408"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Anomaly score = MSE(x, x̂)</a:t>
            </a:r>
            <a:endParaRPr lang="en-US" sz="1000" dirty="0"/>
          </a:p>
        </p:txBody>
      </p:sp>
      <p:sp>
        <p:nvSpPr>
          <p:cNvPr id="36" name="Text 34"/>
          <p:cNvSpPr/>
          <p:nvPr/>
        </p:nvSpPr>
        <p:spPr>
          <a:xfrm>
            <a:off x="3264408"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Threshold = 95th pctile of train errors</a:t>
            </a:r>
            <a:endParaRPr lang="en-US" sz="1000" dirty="0"/>
          </a:p>
        </p:txBody>
      </p:sp>
      <p:sp>
        <p:nvSpPr>
          <p:cNvPr id="37" name="Text 35"/>
          <p:cNvSpPr/>
          <p:nvPr/>
        </p:nvSpPr>
        <p:spPr>
          <a:xfrm>
            <a:off x="3264408"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Raises flag if score &gt; threshold</a:t>
            </a:r>
            <a:endParaRPr lang="en-US" sz="1000" dirty="0"/>
          </a:p>
        </p:txBody>
      </p:sp>
      <p:sp>
        <p:nvSpPr>
          <p:cNvPr id="38" name="Shape 36"/>
          <p:cNvSpPr/>
          <p:nvPr/>
        </p:nvSpPr>
        <p:spPr>
          <a:xfrm>
            <a:off x="6016752" y="2514600"/>
            <a:ext cx="2834640" cy="2148840"/>
          </a:xfrm>
          <a:prstGeom prst="rect">
            <a:avLst/>
          </a:prstGeom>
          <a:solidFill>
            <a:srgbClr val="5A3800"/>
          </a:solidFill>
          <a:ln w="12700">
            <a:solidFill>
              <a:srgbClr val="5A3800"/>
            </a:solidFill>
            <a:prstDash val="solid"/>
          </a:ln>
        </p:spPr>
      </p:sp>
      <p:sp>
        <p:nvSpPr>
          <p:cNvPr id="39" name="Text 37"/>
          <p:cNvSpPr/>
          <p:nvPr/>
        </p:nvSpPr>
        <p:spPr>
          <a:xfrm>
            <a:off x="6126480" y="2578608"/>
            <a:ext cx="2633472"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Layer 3 — Fusion logic</a:t>
            </a:r>
            <a:endParaRPr lang="en-US" sz="1150" dirty="0"/>
          </a:p>
        </p:txBody>
      </p:sp>
      <p:sp>
        <p:nvSpPr>
          <p:cNvPr id="40" name="Text 38"/>
          <p:cNvSpPr/>
          <p:nvPr/>
        </p:nvSpPr>
        <p:spPr>
          <a:xfrm>
            <a:off x="6153912" y="2898648"/>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ALERT if inv_flag fires (score ≥1.5) or both fire together</a:t>
            </a:r>
            <a:endParaRPr lang="en-US" sz="1000" dirty="0"/>
          </a:p>
        </p:txBody>
      </p:sp>
      <p:sp>
        <p:nvSpPr>
          <p:cNvPr id="41" name="Text 39"/>
          <p:cNvSpPr/>
          <p:nvPr/>
        </p:nvSpPr>
        <p:spPr>
          <a:xfrm>
            <a:off x="6153912" y="3236976"/>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WARN if AE alone fires (score=1.0 &lt; threshold) — investigate</a:t>
            </a:r>
            <a:endParaRPr lang="en-US" sz="1000" dirty="0"/>
          </a:p>
        </p:txBody>
      </p:sp>
      <p:sp>
        <p:nvSpPr>
          <p:cNvPr id="42" name="Text 40"/>
          <p:cNvSpPr/>
          <p:nvPr/>
        </p:nvSpPr>
        <p:spPr>
          <a:xfrm>
            <a:off x="6153912" y="3575304"/>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 flag weighted ×1.5 (physics &gt; stats)</a:t>
            </a:r>
            <a:endParaRPr lang="en-US" sz="1000" dirty="0"/>
          </a:p>
        </p:txBody>
      </p:sp>
      <p:sp>
        <p:nvSpPr>
          <p:cNvPr id="43" name="Text 41"/>
          <p:cNvSpPr/>
          <p:nvPr/>
        </p:nvSpPr>
        <p:spPr>
          <a:xfrm>
            <a:off x="6153912" y="3913632"/>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3-cycle confirmation window (anti-flap)</a:t>
            </a:r>
            <a:endParaRPr lang="en-US" sz="1000" dirty="0"/>
          </a:p>
        </p:txBody>
      </p:sp>
      <p:sp>
        <p:nvSpPr>
          <p:cNvPr id="44" name="Text 42"/>
          <p:cNvSpPr/>
          <p:nvPr/>
        </p:nvSpPr>
        <p:spPr>
          <a:xfrm>
            <a:off x="6153912" y="4251960"/>
            <a:ext cx="2578608" cy="310896"/>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Trigger recovery if ALERT confirmed</a:t>
            </a:r>
            <a:endParaRPr lang="en-US" sz="1000" dirty="0"/>
          </a:p>
        </p:txBody>
      </p:sp>
      <p:sp>
        <p:nvSpPr>
          <p:cNvPr id="45" name="Shape 43"/>
          <p:cNvSpPr/>
          <p:nvPr/>
        </p:nvSpPr>
        <p:spPr>
          <a:xfrm>
            <a:off x="0" y="4754880"/>
            <a:ext cx="9144000" cy="384048"/>
          </a:xfrm>
          <a:prstGeom prst="rect">
            <a:avLst/>
          </a:prstGeom>
          <a:solidFill>
            <a:srgbClr val="1B3A5C"/>
          </a:solidFill>
          <a:ln w="12700">
            <a:solidFill>
              <a:srgbClr val="1B3A5C"/>
            </a:solidFill>
            <a:prstDash val="solid"/>
          </a:ln>
        </p:spPr>
      </p:sp>
      <p:sp>
        <p:nvSpPr>
          <p:cNvPr id="46" name="Text 4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Architecture</a:t>
            </a:r>
            <a:endParaRPr lang="en-US" sz="10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CC71"/>
          </a:solidFill>
          <a:ln w="12700">
            <a:solidFill>
              <a:srgbClr val="2ECC71"/>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Layer 1 — Process Invariant Checker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Physics-based rules derived from the SWaT P&amp;ID — cannot be fooled by ML evasion</a:t>
            </a:r>
            <a:endParaRPr lang="en-US" sz="1200" dirty="0"/>
          </a:p>
        </p:txBody>
      </p:sp>
      <p:sp>
        <p:nvSpPr>
          <p:cNvPr id="5" name="Shape 3"/>
          <p:cNvSpPr/>
          <p:nvPr/>
        </p:nvSpPr>
        <p:spPr>
          <a:xfrm>
            <a:off x="274320" y="987552"/>
            <a:ext cx="8595360" cy="347472"/>
          </a:xfrm>
          <a:prstGeom prst="rect">
            <a:avLst/>
          </a:prstGeom>
          <a:solidFill>
            <a:srgbClr val="1A8A47"/>
          </a:solidFill>
          <a:ln w="12700">
            <a:solidFill>
              <a:srgbClr val="1A8A47"/>
            </a:solidFill>
            <a:prstDash val="solid"/>
          </a:ln>
        </p:spPr>
      </p:sp>
      <p:sp>
        <p:nvSpPr>
          <p:cNvPr id="6" name="Text 4"/>
          <p:cNvSpPr/>
          <p:nvPr/>
        </p:nvSpPr>
        <p:spPr>
          <a:xfrm>
            <a:off x="274320" y="1005840"/>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960120" y="1005840"/>
            <a:ext cx="2788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8" name="Text 6"/>
          <p:cNvSpPr/>
          <p:nvPr/>
        </p:nvSpPr>
        <p:spPr>
          <a:xfrm>
            <a:off x="3794760" y="1005840"/>
            <a:ext cx="26974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Rule</a:t>
            </a:r>
            <a:endParaRPr lang="en-US" sz="1100" dirty="0"/>
          </a:p>
        </p:txBody>
      </p:sp>
      <p:sp>
        <p:nvSpPr>
          <p:cNvPr id="9" name="Text 7"/>
          <p:cNvSpPr/>
          <p:nvPr/>
        </p:nvSpPr>
        <p:spPr>
          <a:xfrm>
            <a:off x="6583680" y="1005840"/>
            <a:ext cx="219456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Physical Reason</a:t>
            </a:r>
            <a:endParaRPr lang="en-US" sz="1100" dirty="0"/>
          </a:p>
        </p:txBody>
      </p:sp>
      <p:sp>
        <p:nvSpPr>
          <p:cNvPr id="10" name="Shape 8"/>
          <p:cNvSpPr/>
          <p:nvPr/>
        </p:nvSpPr>
        <p:spPr>
          <a:xfrm>
            <a:off x="274320" y="1362456"/>
            <a:ext cx="8595360" cy="365760"/>
          </a:xfrm>
          <a:prstGeom prst="rect">
            <a:avLst/>
          </a:prstGeom>
          <a:solidFill>
            <a:srgbClr val="FFFFFF"/>
          </a:solidFill>
          <a:ln w="12700">
            <a:solidFill>
              <a:srgbClr val="FFFFFF"/>
            </a:solidFill>
            <a:prstDash val="solid"/>
          </a:ln>
        </p:spPr>
      </p:sp>
      <p:sp>
        <p:nvSpPr>
          <p:cNvPr id="11" name="Text 9"/>
          <p:cNvSpPr/>
          <p:nvPr/>
        </p:nvSpPr>
        <p:spPr>
          <a:xfrm>
            <a:off x="274320" y="1389888"/>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I-1</a:t>
            </a:r>
            <a:endParaRPr lang="en-US" sz="1050" dirty="0"/>
          </a:p>
        </p:txBody>
      </p:sp>
      <p:sp>
        <p:nvSpPr>
          <p:cNvPr id="12" name="Text 10"/>
          <p:cNvSpPr/>
          <p:nvPr/>
        </p:nvSpPr>
        <p:spPr>
          <a:xfrm>
            <a:off x="960120" y="1389888"/>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MV101 OPEN</a:t>
            </a:r>
            <a:endParaRPr lang="en-US" sz="1050" dirty="0"/>
          </a:p>
        </p:txBody>
      </p:sp>
      <p:sp>
        <p:nvSpPr>
          <p:cNvPr id="13" name="Text 11"/>
          <p:cNvSpPr/>
          <p:nvPr/>
        </p:nvSpPr>
        <p:spPr>
          <a:xfrm>
            <a:off x="3794760" y="1389888"/>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&gt; 0.4 m³/h</a:t>
            </a:r>
            <a:endParaRPr lang="en-US" sz="1050" dirty="0"/>
          </a:p>
        </p:txBody>
      </p:sp>
      <p:sp>
        <p:nvSpPr>
          <p:cNvPr id="14" name="Text 12"/>
          <p:cNvSpPr/>
          <p:nvPr/>
        </p:nvSpPr>
        <p:spPr>
          <a:xfrm>
            <a:off x="6583680" y="1389888"/>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Water flows when valve open</a:t>
            </a:r>
            <a:endParaRPr lang="en-US" sz="1000" dirty="0"/>
          </a:p>
        </p:txBody>
      </p:sp>
      <p:sp>
        <p:nvSpPr>
          <p:cNvPr id="15" name="Shape 13"/>
          <p:cNvSpPr/>
          <p:nvPr/>
        </p:nvSpPr>
        <p:spPr>
          <a:xfrm>
            <a:off x="274320" y="1746504"/>
            <a:ext cx="8595360" cy="365760"/>
          </a:xfrm>
          <a:prstGeom prst="rect">
            <a:avLst/>
          </a:prstGeom>
          <a:solidFill>
            <a:srgbClr val="EBF4EE"/>
          </a:solidFill>
          <a:ln w="12700">
            <a:solidFill>
              <a:srgbClr val="EBF4EE"/>
            </a:solidFill>
            <a:prstDash val="solid"/>
          </a:ln>
        </p:spPr>
      </p:sp>
      <p:sp>
        <p:nvSpPr>
          <p:cNvPr id="16" name="Text 14"/>
          <p:cNvSpPr/>
          <p:nvPr/>
        </p:nvSpPr>
        <p:spPr>
          <a:xfrm>
            <a:off x="274320" y="1773936"/>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I-2</a:t>
            </a:r>
            <a:endParaRPr lang="en-US" sz="1050" dirty="0"/>
          </a:p>
        </p:txBody>
      </p:sp>
      <p:sp>
        <p:nvSpPr>
          <p:cNvPr id="17" name="Text 15"/>
          <p:cNvSpPr/>
          <p:nvPr/>
        </p:nvSpPr>
        <p:spPr>
          <a:xfrm>
            <a:off x="960120" y="1773936"/>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ON</a:t>
            </a:r>
            <a:endParaRPr lang="en-US" sz="1050" dirty="0"/>
          </a:p>
        </p:txBody>
      </p:sp>
      <p:sp>
        <p:nvSpPr>
          <p:cNvPr id="18" name="Text 16"/>
          <p:cNvSpPr/>
          <p:nvPr/>
        </p:nvSpPr>
        <p:spPr>
          <a:xfrm>
            <a:off x="3794760" y="1773936"/>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&gt; 0.3 m³/h</a:t>
            </a:r>
            <a:endParaRPr lang="en-US" sz="1050" dirty="0"/>
          </a:p>
        </p:txBody>
      </p:sp>
      <p:sp>
        <p:nvSpPr>
          <p:cNvPr id="19" name="Text 17"/>
          <p:cNvSpPr/>
          <p:nvPr/>
        </p:nvSpPr>
        <p:spPr>
          <a:xfrm>
            <a:off x="6583680" y="1773936"/>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Pump drives positive flow</a:t>
            </a:r>
            <a:endParaRPr lang="en-US" sz="1000" dirty="0"/>
          </a:p>
        </p:txBody>
      </p:sp>
      <p:sp>
        <p:nvSpPr>
          <p:cNvPr id="20" name="Shape 18"/>
          <p:cNvSpPr/>
          <p:nvPr/>
        </p:nvSpPr>
        <p:spPr>
          <a:xfrm>
            <a:off x="274320" y="2130552"/>
            <a:ext cx="8595360" cy="365760"/>
          </a:xfrm>
          <a:prstGeom prst="rect">
            <a:avLst/>
          </a:prstGeom>
          <a:solidFill>
            <a:srgbClr val="FFFFFF"/>
          </a:solidFill>
          <a:ln w="12700">
            <a:solidFill>
              <a:srgbClr val="FFFFFF"/>
            </a:solidFill>
            <a:prstDash val="solid"/>
          </a:ln>
        </p:spPr>
      </p:sp>
      <p:sp>
        <p:nvSpPr>
          <p:cNvPr id="21" name="Text 19"/>
          <p:cNvSpPr/>
          <p:nvPr/>
        </p:nvSpPr>
        <p:spPr>
          <a:xfrm>
            <a:off x="274320" y="2157984"/>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I-3</a:t>
            </a:r>
            <a:endParaRPr lang="en-US" sz="1050" dirty="0"/>
          </a:p>
        </p:txBody>
      </p:sp>
      <p:sp>
        <p:nvSpPr>
          <p:cNvPr id="22" name="Text 20"/>
          <p:cNvSpPr/>
          <p:nvPr/>
        </p:nvSpPr>
        <p:spPr>
          <a:xfrm>
            <a:off x="960120" y="2157984"/>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ON</a:t>
            </a:r>
            <a:endParaRPr lang="en-US" sz="1050" dirty="0"/>
          </a:p>
        </p:txBody>
      </p:sp>
      <p:sp>
        <p:nvSpPr>
          <p:cNvPr id="23" name="Text 21"/>
          <p:cNvSpPr/>
          <p:nvPr/>
        </p:nvSpPr>
        <p:spPr>
          <a:xfrm>
            <a:off x="3794760" y="2157984"/>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LIT101 not falling rapidly</a:t>
            </a:r>
            <a:endParaRPr lang="en-US" sz="1050" dirty="0"/>
          </a:p>
        </p:txBody>
      </p:sp>
      <p:sp>
        <p:nvSpPr>
          <p:cNvPr id="24" name="Text 22"/>
          <p:cNvSpPr/>
          <p:nvPr/>
        </p:nvSpPr>
        <p:spPr>
          <a:xfrm>
            <a:off x="6583680" y="2157984"/>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Pump fills or holds tank</a:t>
            </a:r>
            <a:endParaRPr lang="en-US" sz="1000" dirty="0"/>
          </a:p>
        </p:txBody>
      </p:sp>
      <p:sp>
        <p:nvSpPr>
          <p:cNvPr id="25" name="Shape 23"/>
          <p:cNvSpPr/>
          <p:nvPr/>
        </p:nvSpPr>
        <p:spPr>
          <a:xfrm>
            <a:off x="274320" y="2514600"/>
            <a:ext cx="8595360" cy="365760"/>
          </a:xfrm>
          <a:prstGeom prst="rect">
            <a:avLst/>
          </a:prstGeom>
          <a:solidFill>
            <a:srgbClr val="EBF4EE"/>
          </a:solidFill>
          <a:ln w="12700">
            <a:solidFill>
              <a:srgbClr val="EBF4EE"/>
            </a:solidFill>
            <a:prstDash val="solid"/>
          </a:ln>
        </p:spPr>
      </p:sp>
      <p:sp>
        <p:nvSpPr>
          <p:cNvPr id="26" name="Text 24"/>
          <p:cNvSpPr/>
          <p:nvPr/>
        </p:nvSpPr>
        <p:spPr>
          <a:xfrm>
            <a:off x="274320" y="2542032"/>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I-4</a:t>
            </a:r>
            <a:endParaRPr lang="en-US" sz="1050" dirty="0"/>
          </a:p>
        </p:txBody>
      </p:sp>
      <p:sp>
        <p:nvSpPr>
          <p:cNvPr id="27" name="Text 25"/>
          <p:cNvSpPr/>
          <p:nvPr/>
        </p:nvSpPr>
        <p:spPr>
          <a:xfrm>
            <a:off x="960120" y="2542032"/>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LIT101 &gt; HIGH (800mm)</a:t>
            </a:r>
            <a:endParaRPr lang="en-US" sz="1050" dirty="0"/>
          </a:p>
        </p:txBody>
      </p:sp>
      <p:sp>
        <p:nvSpPr>
          <p:cNvPr id="28" name="Text 26"/>
          <p:cNvSpPr/>
          <p:nvPr/>
        </p:nvSpPr>
        <p:spPr>
          <a:xfrm>
            <a:off x="3794760" y="2542032"/>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P101 OFF within 2 cycles</a:t>
            </a:r>
            <a:endParaRPr lang="en-US" sz="1050" dirty="0"/>
          </a:p>
        </p:txBody>
      </p:sp>
      <p:sp>
        <p:nvSpPr>
          <p:cNvPr id="29" name="Text 27"/>
          <p:cNvSpPr/>
          <p:nvPr/>
        </p:nvSpPr>
        <p:spPr>
          <a:xfrm>
            <a:off x="6583680" y="2542032"/>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Overflow protection</a:t>
            </a:r>
            <a:endParaRPr lang="en-US" sz="1000" dirty="0"/>
          </a:p>
        </p:txBody>
      </p:sp>
      <p:sp>
        <p:nvSpPr>
          <p:cNvPr id="30" name="Shape 28"/>
          <p:cNvSpPr/>
          <p:nvPr/>
        </p:nvSpPr>
        <p:spPr>
          <a:xfrm>
            <a:off x="274320" y="2898648"/>
            <a:ext cx="8595360" cy="365760"/>
          </a:xfrm>
          <a:prstGeom prst="rect">
            <a:avLst/>
          </a:prstGeom>
          <a:solidFill>
            <a:srgbClr val="FFFFFF"/>
          </a:solidFill>
          <a:ln w="12700">
            <a:solidFill>
              <a:srgbClr val="FFFFFF"/>
            </a:solidFill>
            <a:prstDash val="solid"/>
          </a:ln>
        </p:spPr>
      </p:sp>
      <p:sp>
        <p:nvSpPr>
          <p:cNvPr id="31" name="Text 29"/>
          <p:cNvSpPr/>
          <p:nvPr/>
        </p:nvSpPr>
        <p:spPr>
          <a:xfrm>
            <a:off x="274320" y="2926080"/>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I-5</a:t>
            </a:r>
            <a:endParaRPr lang="en-US" sz="1050" dirty="0"/>
          </a:p>
        </p:txBody>
      </p:sp>
      <p:sp>
        <p:nvSpPr>
          <p:cNvPr id="32" name="Text 30"/>
          <p:cNvSpPr/>
          <p:nvPr/>
        </p:nvSpPr>
        <p:spPr>
          <a:xfrm>
            <a:off x="960120" y="2926080"/>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LIT101 &lt; LOW (250mm)</a:t>
            </a:r>
            <a:endParaRPr lang="en-US" sz="1050" dirty="0"/>
          </a:p>
        </p:txBody>
      </p:sp>
      <p:sp>
        <p:nvSpPr>
          <p:cNvPr id="33" name="Text 31"/>
          <p:cNvSpPr/>
          <p:nvPr/>
        </p:nvSpPr>
        <p:spPr>
          <a:xfrm>
            <a:off x="3794760" y="2926080"/>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MV101 OPEN + P101 ON</a:t>
            </a:r>
            <a:endParaRPr lang="en-US" sz="1050" dirty="0"/>
          </a:p>
        </p:txBody>
      </p:sp>
      <p:sp>
        <p:nvSpPr>
          <p:cNvPr id="34" name="Text 32"/>
          <p:cNvSpPr/>
          <p:nvPr/>
        </p:nvSpPr>
        <p:spPr>
          <a:xfrm>
            <a:off x="6583680" y="2926080"/>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Dry-run protection</a:t>
            </a:r>
            <a:endParaRPr lang="en-US" sz="1000" dirty="0"/>
          </a:p>
        </p:txBody>
      </p:sp>
      <p:sp>
        <p:nvSpPr>
          <p:cNvPr id="35" name="Shape 33"/>
          <p:cNvSpPr/>
          <p:nvPr/>
        </p:nvSpPr>
        <p:spPr>
          <a:xfrm>
            <a:off x="274320" y="3282696"/>
            <a:ext cx="8595360" cy="365760"/>
          </a:xfrm>
          <a:prstGeom prst="rect">
            <a:avLst/>
          </a:prstGeom>
          <a:solidFill>
            <a:srgbClr val="EBF4EE"/>
          </a:solidFill>
          <a:ln w="12700">
            <a:solidFill>
              <a:srgbClr val="EBF4EE"/>
            </a:solidFill>
            <a:prstDash val="solid"/>
          </a:ln>
        </p:spPr>
      </p:sp>
      <p:sp>
        <p:nvSpPr>
          <p:cNvPr id="36" name="Text 34"/>
          <p:cNvSpPr/>
          <p:nvPr/>
        </p:nvSpPr>
        <p:spPr>
          <a:xfrm>
            <a:off x="274320" y="3310128"/>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I-6</a:t>
            </a:r>
            <a:endParaRPr lang="en-US" sz="1050" dirty="0"/>
          </a:p>
        </p:txBody>
      </p:sp>
      <p:sp>
        <p:nvSpPr>
          <p:cNvPr id="37" name="Text 35"/>
          <p:cNvSpPr/>
          <p:nvPr/>
        </p:nvSpPr>
        <p:spPr>
          <a:xfrm>
            <a:off x="960120" y="3310128"/>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MV101 CLOSED</a:t>
            </a:r>
            <a:endParaRPr lang="en-US" sz="1050" dirty="0"/>
          </a:p>
        </p:txBody>
      </p:sp>
      <p:sp>
        <p:nvSpPr>
          <p:cNvPr id="38" name="Text 36"/>
          <p:cNvSpPr/>
          <p:nvPr/>
        </p:nvSpPr>
        <p:spPr>
          <a:xfrm>
            <a:off x="3794760" y="3310128"/>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FIT101 &lt; 0.05 m³/h</a:t>
            </a:r>
            <a:endParaRPr lang="en-US" sz="1050" dirty="0"/>
          </a:p>
        </p:txBody>
      </p:sp>
      <p:sp>
        <p:nvSpPr>
          <p:cNvPr id="39" name="Text 37"/>
          <p:cNvSpPr/>
          <p:nvPr/>
        </p:nvSpPr>
        <p:spPr>
          <a:xfrm>
            <a:off x="6583680" y="3310128"/>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No flow when valve shut</a:t>
            </a:r>
            <a:endParaRPr lang="en-US" sz="1000" dirty="0"/>
          </a:p>
        </p:txBody>
      </p:sp>
      <p:sp>
        <p:nvSpPr>
          <p:cNvPr id="40" name="Shape 38"/>
          <p:cNvSpPr/>
          <p:nvPr/>
        </p:nvSpPr>
        <p:spPr>
          <a:xfrm>
            <a:off x="274320" y="3666744"/>
            <a:ext cx="8595360" cy="365760"/>
          </a:xfrm>
          <a:prstGeom prst="rect">
            <a:avLst/>
          </a:prstGeom>
          <a:solidFill>
            <a:srgbClr val="FFEDED"/>
          </a:solidFill>
          <a:ln w="12700">
            <a:solidFill>
              <a:srgbClr val="FFEDED"/>
            </a:solidFill>
            <a:prstDash val="solid"/>
          </a:ln>
        </p:spPr>
      </p:sp>
      <p:sp>
        <p:nvSpPr>
          <p:cNvPr id="41" name="Shape 39"/>
          <p:cNvSpPr/>
          <p:nvPr/>
        </p:nvSpPr>
        <p:spPr>
          <a:xfrm>
            <a:off x="274320" y="3666744"/>
            <a:ext cx="64008" cy="365760"/>
          </a:xfrm>
          <a:prstGeom prst="rect">
            <a:avLst/>
          </a:prstGeom>
          <a:solidFill>
            <a:srgbClr val="E74C3C"/>
          </a:solidFill>
          <a:ln w="12700">
            <a:solidFill>
              <a:srgbClr val="E74C3C"/>
            </a:solidFill>
            <a:prstDash val="solid"/>
          </a:ln>
        </p:spPr>
      </p:sp>
      <p:sp>
        <p:nvSpPr>
          <p:cNvPr id="42" name="Text 40"/>
          <p:cNvSpPr/>
          <p:nvPr/>
        </p:nvSpPr>
        <p:spPr>
          <a:xfrm>
            <a:off x="274320" y="3694176"/>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I-7</a:t>
            </a:r>
            <a:endParaRPr lang="en-US" sz="1050" dirty="0"/>
          </a:p>
        </p:txBody>
      </p:sp>
      <p:sp>
        <p:nvSpPr>
          <p:cNvPr id="43" name="Text 41"/>
          <p:cNvSpPr/>
          <p:nvPr/>
        </p:nvSpPr>
        <p:spPr>
          <a:xfrm>
            <a:off x="960120" y="3694176"/>
            <a:ext cx="2788920" cy="310896"/>
          </a:xfrm>
          <a:prstGeom prst="rect">
            <a:avLst/>
          </a:prstGeom>
          <a:noFill/>
          <a:ln/>
        </p:spPr>
        <p:txBody>
          <a:bodyPr wrap="square" lIns="0" tIns="0" rIns="0" bIns="0" rtlCol="0" anchor="ctr"/>
          <a:lstStyle/>
          <a:p>
            <a:pPr indent="0" marL="0">
              <a:buNone/>
            </a:pPr>
            <a:r>
              <a:rPr lang="en-US" sz="1050" b="1" dirty="0">
                <a:solidFill>
                  <a:srgbClr val="E74C3C"/>
                </a:solidFill>
                <a:latin typeface="Consolas" pitchFamily="34" charset="0"/>
                <a:ea typeface="Consolas" pitchFamily="34" charset="-122"/>
                <a:cs typeface="Consolas" pitchFamily="34" charset="-120"/>
              </a:rPr>
              <a:t>P101 ON + MV101 CLOSED</a:t>
            </a:r>
            <a:endParaRPr lang="en-US" sz="1050" dirty="0"/>
          </a:p>
        </p:txBody>
      </p:sp>
      <p:sp>
        <p:nvSpPr>
          <p:cNvPr id="44" name="Text 42"/>
          <p:cNvSpPr/>
          <p:nvPr/>
        </p:nvSpPr>
        <p:spPr>
          <a:xfrm>
            <a:off x="3794760" y="3694176"/>
            <a:ext cx="269748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VIOLATION  (attack signature)</a:t>
            </a:r>
            <a:endParaRPr lang="en-US" sz="1050" dirty="0"/>
          </a:p>
        </p:txBody>
      </p:sp>
      <p:sp>
        <p:nvSpPr>
          <p:cNvPr id="45" name="Text 43"/>
          <p:cNvSpPr/>
          <p:nvPr/>
        </p:nvSpPr>
        <p:spPr>
          <a:xfrm>
            <a:off x="6583680" y="3694176"/>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Impossible physics state</a:t>
            </a:r>
            <a:endParaRPr lang="en-US" sz="1000" dirty="0"/>
          </a:p>
        </p:txBody>
      </p:sp>
      <p:sp>
        <p:nvSpPr>
          <p:cNvPr id="46" name="Shape 44"/>
          <p:cNvSpPr/>
          <p:nvPr/>
        </p:nvSpPr>
        <p:spPr>
          <a:xfrm>
            <a:off x="274320" y="4050792"/>
            <a:ext cx="8595360" cy="365760"/>
          </a:xfrm>
          <a:prstGeom prst="rect">
            <a:avLst/>
          </a:prstGeom>
          <a:solidFill>
            <a:srgbClr val="EBF4EE"/>
          </a:solidFill>
          <a:ln w="12700">
            <a:solidFill>
              <a:srgbClr val="EBF4EE"/>
            </a:solidFill>
            <a:prstDash val="solid"/>
          </a:ln>
        </p:spPr>
      </p:sp>
      <p:sp>
        <p:nvSpPr>
          <p:cNvPr id="47" name="Text 45"/>
          <p:cNvSpPr/>
          <p:nvPr/>
        </p:nvSpPr>
        <p:spPr>
          <a:xfrm>
            <a:off x="274320" y="4078224"/>
            <a:ext cx="658368" cy="310896"/>
          </a:xfrm>
          <a:prstGeom prst="rect">
            <a:avLst/>
          </a:prstGeom>
          <a:noFill/>
          <a:ln/>
        </p:spPr>
        <p:txBody>
          <a:bodyPr wrap="square" lIns="0" tIns="0" rIns="0" bIns="0" rtlCol="0" anchor="ctr"/>
          <a:lstStyle/>
          <a:p>
            <a:pPr algn="ctr" indent="0" marL="0">
              <a:buNone/>
            </a:pPr>
            <a:r>
              <a:rPr lang="en-US" sz="1050" b="1" dirty="0">
                <a:solidFill>
                  <a:srgbClr val="1A8A47"/>
                </a:solidFill>
                <a:latin typeface="Calibri" pitchFamily="34" charset="0"/>
                <a:ea typeface="Calibri" pitchFamily="34" charset="-122"/>
                <a:cs typeface="Calibri" pitchFamily="34" charset="-120"/>
              </a:rPr>
              <a:t>I-8</a:t>
            </a:r>
            <a:endParaRPr lang="en-US" sz="1050" dirty="0"/>
          </a:p>
        </p:txBody>
      </p:sp>
      <p:sp>
        <p:nvSpPr>
          <p:cNvPr id="48" name="Text 46"/>
          <p:cNvSpPr/>
          <p:nvPr/>
        </p:nvSpPr>
        <p:spPr>
          <a:xfrm>
            <a:off x="960120" y="4078224"/>
            <a:ext cx="2788920" cy="310896"/>
          </a:xfrm>
          <a:prstGeom prst="rect">
            <a:avLst/>
          </a:prstGeom>
          <a:noFill/>
          <a:ln/>
        </p:spPr>
        <p:txBody>
          <a:bodyPr wrap="square" lIns="0" tIns="0" rIns="0" bIns="0" rtlCol="0" anchor="ctr"/>
          <a:lstStyle/>
          <a:p>
            <a:pPr indent="0" marL="0">
              <a:buNone/>
            </a:pPr>
            <a:r>
              <a:rPr lang="en-US" sz="1050" dirty="0">
                <a:solidFill>
                  <a:srgbClr val="0D1B2A"/>
                </a:solidFill>
                <a:latin typeface="Consolas" pitchFamily="34" charset="0"/>
                <a:ea typeface="Consolas" pitchFamily="34" charset="-122"/>
                <a:cs typeface="Consolas" pitchFamily="34" charset="-120"/>
              </a:rPr>
              <a:t>P101 OFF</a:t>
            </a:r>
            <a:endParaRPr lang="en-US" sz="1050" dirty="0"/>
          </a:p>
        </p:txBody>
      </p:sp>
      <p:sp>
        <p:nvSpPr>
          <p:cNvPr id="49" name="Text 47"/>
          <p:cNvSpPr/>
          <p:nvPr/>
        </p:nvSpPr>
        <p:spPr>
          <a:xfrm>
            <a:off x="3794760" y="4078224"/>
            <a:ext cx="2697480" cy="310896"/>
          </a:xfrm>
          <a:prstGeom prst="rect">
            <a:avLst/>
          </a:prstGeom>
          <a:noFill/>
          <a:ln/>
        </p:spPr>
        <p:txBody>
          <a:bodyPr wrap="square" lIns="0" tIns="0" rIns="0" bIns="0" rtlCol="0" anchor="ctr"/>
          <a:lstStyle/>
          <a:p>
            <a:pPr indent="0" marL="0">
              <a:buNone/>
            </a:pPr>
            <a:r>
              <a:rPr lang="en-US" sz="1050" dirty="0">
                <a:solidFill>
                  <a:srgbClr val="0D1B2A"/>
                </a:solidFill>
                <a:latin typeface="Calibri" pitchFamily="34" charset="0"/>
                <a:ea typeface="Calibri" pitchFamily="34" charset="-122"/>
                <a:cs typeface="Calibri" pitchFamily="34" charset="-120"/>
              </a:rPr>
              <a:t>LIT101 non-increasing</a:t>
            </a:r>
            <a:endParaRPr lang="en-US" sz="1050" dirty="0"/>
          </a:p>
        </p:txBody>
      </p:sp>
      <p:sp>
        <p:nvSpPr>
          <p:cNvPr id="50" name="Text 48"/>
          <p:cNvSpPr/>
          <p:nvPr/>
        </p:nvSpPr>
        <p:spPr>
          <a:xfrm>
            <a:off x="6583680" y="4078224"/>
            <a:ext cx="2194560" cy="310896"/>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Tank drains only if pump off</a:t>
            </a:r>
            <a:endParaRPr lang="en-US" sz="1000" dirty="0"/>
          </a:p>
        </p:txBody>
      </p:sp>
      <p:sp>
        <p:nvSpPr>
          <p:cNvPr id="51" name="Shape 49"/>
          <p:cNvSpPr/>
          <p:nvPr/>
        </p:nvSpPr>
        <p:spPr>
          <a:xfrm>
            <a:off x="274320" y="4507992"/>
            <a:ext cx="8595360" cy="182880"/>
          </a:xfrm>
          <a:prstGeom prst="rect">
            <a:avLst/>
          </a:prstGeom>
          <a:solidFill>
            <a:srgbClr val="E8F5E9"/>
          </a:solidFill>
          <a:ln w="12700">
            <a:solidFill>
              <a:srgbClr val="E8F5E9"/>
            </a:solidFill>
            <a:prstDash val="solid"/>
          </a:ln>
        </p:spPr>
      </p:sp>
      <p:sp>
        <p:nvSpPr>
          <p:cNvPr id="52" name="Text 50"/>
          <p:cNvSpPr/>
          <p:nvPr/>
        </p:nvSpPr>
        <p:spPr>
          <a:xfrm>
            <a:off x="411480" y="4517136"/>
            <a:ext cx="8321040" cy="164592"/>
          </a:xfrm>
          <a:prstGeom prst="rect">
            <a:avLst/>
          </a:prstGeom>
          <a:noFill/>
          <a:ln/>
        </p:spPr>
        <p:txBody>
          <a:bodyPr wrap="square" lIns="0" tIns="0" rIns="0" bIns="0" rtlCol="0" anchor="ctr"/>
          <a:lstStyle/>
          <a:p>
            <a:pPr indent="0" marL="0">
              <a:buNone/>
            </a:pPr>
            <a:r>
              <a:rPr lang="en-US" sz="1000" b="1" dirty="0">
                <a:solidFill>
                  <a:srgbClr val="1A8A47"/>
                </a:solidFill>
                <a:latin typeface="Calibri" pitchFamily="34" charset="0"/>
                <a:ea typeface="Calibri" pitchFamily="34" charset="-122"/>
                <a:cs typeface="Calibri" pitchFamily="34" charset="-120"/>
              </a:rPr>
              <a:t xml:space="preserve">Key insight:  </a:t>
            </a:r>
            <a:pPr indent="0" marL="0">
              <a:buNone/>
            </a:pPr>
            <a:r>
              <a:rPr lang="en-US" sz="1000" dirty="0">
                <a:solidFill>
                  <a:srgbClr val="0D1B2A"/>
                </a:solidFill>
                <a:latin typeface="Calibri" pitchFamily="34" charset="0"/>
                <a:ea typeface="Calibri" pitchFamily="34" charset="-122"/>
                <a:cs typeface="Calibri" pitchFamily="34" charset="-120"/>
              </a:rPr>
              <a:t>I-7 fires immediately when Paper #9 forces P101 ON + MV101 CLOSED simultaneously — the invariant flags the attack before any physical damage occurs.</a:t>
            </a:r>
            <a:endParaRPr lang="en-US" sz="1000" dirty="0"/>
          </a:p>
        </p:txBody>
      </p:sp>
      <p:sp>
        <p:nvSpPr>
          <p:cNvPr id="53" name="Shape 51"/>
          <p:cNvSpPr/>
          <p:nvPr/>
        </p:nvSpPr>
        <p:spPr>
          <a:xfrm>
            <a:off x="0" y="4754880"/>
            <a:ext cx="9144000" cy="384048"/>
          </a:xfrm>
          <a:prstGeom prst="rect">
            <a:avLst/>
          </a:prstGeom>
          <a:solidFill>
            <a:srgbClr val="1B3A5C"/>
          </a:solidFill>
          <a:ln w="12700">
            <a:solidFill>
              <a:srgbClr val="1B3A5C"/>
            </a:solidFill>
            <a:prstDash val="solid"/>
          </a:ln>
        </p:spPr>
      </p:sp>
      <p:sp>
        <p:nvSpPr>
          <p:cNvPr id="54" name="Text 52"/>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1 — Invariants</a:t>
            </a:r>
            <a:endParaRPr lang="en-US" sz="10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196F3"/>
          </a:solidFill>
          <a:ln w="12700">
            <a:solidFill>
              <a:srgbClr val="2196F3"/>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Layer 2 — Reconstruction Autoencoder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Trained on normal SWaT sensor timeseries — flags deviations from learned correlations</a:t>
            </a:r>
            <a:endParaRPr lang="en-US" sz="1200" dirty="0"/>
          </a:p>
        </p:txBody>
      </p:sp>
      <p:sp>
        <p:nvSpPr>
          <p:cNvPr id="5" name="Shape 3"/>
          <p:cNvSpPr/>
          <p:nvPr/>
        </p:nvSpPr>
        <p:spPr>
          <a:xfrm>
            <a:off x="228600" y="987552"/>
            <a:ext cx="4114800" cy="3749040"/>
          </a:xfrm>
          <a:prstGeom prst="rect">
            <a:avLst/>
          </a:prstGeom>
          <a:solidFill>
            <a:srgbClr val="1B3A5C"/>
          </a:solidFill>
          <a:ln w="12700">
            <a:solidFill>
              <a:srgbClr val="1B3A5C"/>
            </a:solidFill>
            <a:prstDash val="solid"/>
          </a:ln>
        </p:spPr>
      </p:sp>
      <p:sp>
        <p:nvSpPr>
          <p:cNvPr id="6" name="Text 4"/>
          <p:cNvSpPr/>
          <p:nvPr/>
        </p:nvSpPr>
        <p:spPr>
          <a:xfrm>
            <a:off x="320040" y="1042416"/>
            <a:ext cx="3931920" cy="301752"/>
          </a:xfrm>
          <a:prstGeom prst="rect">
            <a:avLst/>
          </a:prstGeom>
          <a:noFill/>
          <a:ln/>
        </p:spPr>
        <p:txBody>
          <a:bodyPr wrap="square" lIns="0" tIns="0" rIns="0" bIns="0" rtlCol="0" anchor="ctr"/>
          <a:lstStyle/>
          <a:p>
            <a:pPr indent="0" marL="0">
              <a:buNone/>
            </a:pPr>
            <a:r>
              <a:rPr lang="en-US" sz="1300" b="1" dirty="0">
                <a:solidFill>
                  <a:srgbClr val="64B5F6"/>
                </a:solidFill>
                <a:latin typeface="Calibri" pitchFamily="34" charset="0"/>
                <a:ea typeface="Calibri" pitchFamily="34" charset="-122"/>
                <a:cs typeface="Calibri" pitchFamily="34" charset="-120"/>
              </a:rPr>
              <a:t>Autoencoder Architecture</a:t>
            </a:r>
            <a:endParaRPr lang="en-US" sz="1300" dirty="0"/>
          </a:p>
        </p:txBody>
      </p:sp>
      <p:sp>
        <p:nvSpPr>
          <p:cNvPr id="7" name="Shape 5"/>
          <p:cNvSpPr/>
          <p:nvPr/>
        </p:nvSpPr>
        <p:spPr>
          <a:xfrm>
            <a:off x="365760" y="1417320"/>
            <a:ext cx="1737360" cy="475488"/>
          </a:xfrm>
          <a:prstGeom prst="rect">
            <a:avLst/>
          </a:prstGeom>
          <a:solidFill>
            <a:srgbClr val="1A3A6E"/>
          </a:solidFill>
          <a:ln w="12700">
            <a:solidFill>
              <a:srgbClr val="1A3A6E"/>
            </a:solidFill>
            <a:prstDash val="solid"/>
          </a:ln>
        </p:spPr>
      </p:sp>
      <p:sp>
        <p:nvSpPr>
          <p:cNvPr id="8" name="Text 6"/>
          <p:cNvSpPr/>
          <p:nvPr/>
        </p:nvSpPr>
        <p:spPr>
          <a:xfrm>
            <a:off x="365760" y="1435608"/>
            <a:ext cx="173736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9" name="Text 7"/>
          <p:cNvSpPr/>
          <p:nvPr/>
        </p:nvSpPr>
        <p:spPr>
          <a:xfrm>
            <a:off x="365760" y="1664208"/>
            <a:ext cx="173736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51 features</a:t>
            </a:r>
            <a:endParaRPr lang="en-US" sz="850" dirty="0"/>
          </a:p>
          <a:p>
            <a:pPr algn="ctr" indent="0" marL="0">
              <a:buNone/>
            </a:pPr>
            <a:r>
              <a:rPr lang="en-US" sz="850" dirty="0">
                <a:solidFill>
                  <a:srgbClr val="E8EEF4"/>
                </a:solidFill>
                <a:latin typeface="Calibri" pitchFamily="34" charset="0"/>
                <a:ea typeface="Calibri" pitchFamily="34" charset="-122"/>
                <a:cs typeface="Calibri" pitchFamily="34" charset="-120"/>
              </a:rPr>
              <a:t>(all SWaT sensors, window=10)</a:t>
            </a:r>
            <a:endParaRPr lang="en-US" sz="850" dirty="0"/>
          </a:p>
        </p:txBody>
      </p:sp>
      <p:sp>
        <p:nvSpPr>
          <p:cNvPr id="10" name="Text 8"/>
          <p:cNvSpPr/>
          <p:nvPr/>
        </p:nvSpPr>
        <p:spPr>
          <a:xfrm>
            <a:off x="365760" y="191109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411480" y="2057400"/>
            <a:ext cx="1645920" cy="475488"/>
          </a:xfrm>
          <a:prstGeom prst="rect">
            <a:avLst/>
          </a:prstGeom>
          <a:solidFill>
            <a:srgbClr val="1E4D8C"/>
          </a:solidFill>
          <a:ln w="12700">
            <a:solidFill>
              <a:srgbClr val="1E4D8C"/>
            </a:solidFill>
            <a:prstDash val="solid"/>
          </a:ln>
        </p:spPr>
      </p:sp>
      <p:sp>
        <p:nvSpPr>
          <p:cNvPr id="12" name="Text 10"/>
          <p:cNvSpPr/>
          <p:nvPr/>
        </p:nvSpPr>
        <p:spPr>
          <a:xfrm>
            <a:off x="411480" y="2075688"/>
            <a:ext cx="164592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Encoder L1</a:t>
            </a:r>
            <a:endParaRPr lang="en-US" sz="1000" dirty="0"/>
          </a:p>
        </p:txBody>
      </p:sp>
      <p:sp>
        <p:nvSpPr>
          <p:cNvPr id="13" name="Text 11"/>
          <p:cNvSpPr/>
          <p:nvPr/>
        </p:nvSpPr>
        <p:spPr>
          <a:xfrm>
            <a:off x="411480" y="2304288"/>
            <a:ext cx="164592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128 units  ReLU</a:t>
            </a:r>
            <a:endParaRPr lang="en-US" sz="850" dirty="0"/>
          </a:p>
        </p:txBody>
      </p:sp>
      <p:sp>
        <p:nvSpPr>
          <p:cNvPr id="14" name="Text 12"/>
          <p:cNvSpPr/>
          <p:nvPr/>
        </p:nvSpPr>
        <p:spPr>
          <a:xfrm>
            <a:off x="365760" y="255117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457200" y="2697480"/>
            <a:ext cx="1554480" cy="475488"/>
          </a:xfrm>
          <a:prstGeom prst="rect">
            <a:avLst/>
          </a:prstGeom>
          <a:solidFill>
            <a:srgbClr val="2261AE"/>
          </a:solidFill>
          <a:ln w="12700">
            <a:solidFill>
              <a:srgbClr val="2261AE"/>
            </a:solidFill>
            <a:prstDash val="solid"/>
          </a:ln>
        </p:spPr>
      </p:sp>
      <p:sp>
        <p:nvSpPr>
          <p:cNvPr id="16" name="Text 14"/>
          <p:cNvSpPr/>
          <p:nvPr/>
        </p:nvSpPr>
        <p:spPr>
          <a:xfrm>
            <a:off x="457200" y="2715768"/>
            <a:ext cx="1554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Encoder L2</a:t>
            </a:r>
            <a:endParaRPr lang="en-US" sz="1000" dirty="0"/>
          </a:p>
        </p:txBody>
      </p:sp>
      <p:sp>
        <p:nvSpPr>
          <p:cNvPr id="17" name="Text 15"/>
          <p:cNvSpPr/>
          <p:nvPr/>
        </p:nvSpPr>
        <p:spPr>
          <a:xfrm>
            <a:off x="457200" y="2944368"/>
            <a:ext cx="155448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64 units   ReLU</a:t>
            </a:r>
            <a:endParaRPr lang="en-US" sz="850" dirty="0"/>
          </a:p>
        </p:txBody>
      </p:sp>
      <p:sp>
        <p:nvSpPr>
          <p:cNvPr id="18" name="Text 16"/>
          <p:cNvSpPr/>
          <p:nvPr/>
        </p:nvSpPr>
        <p:spPr>
          <a:xfrm>
            <a:off x="365760" y="3191256"/>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502920" y="3337560"/>
            <a:ext cx="1463040" cy="475488"/>
          </a:xfrm>
          <a:prstGeom prst="rect">
            <a:avLst/>
          </a:prstGeom>
          <a:solidFill>
            <a:srgbClr val="2196F3"/>
          </a:solidFill>
          <a:ln w="12700">
            <a:solidFill>
              <a:srgbClr val="2196F3"/>
            </a:solidFill>
            <a:prstDash val="solid"/>
          </a:ln>
        </p:spPr>
      </p:sp>
      <p:sp>
        <p:nvSpPr>
          <p:cNvPr id="20" name="Text 18"/>
          <p:cNvSpPr/>
          <p:nvPr/>
        </p:nvSpPr>
        <p:spPr>
          <a:xfrm>
            <a:off x="502920" y="3355848"/>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Latent z</a:t>
            </a:r>
            <a:endParaRPr lang="en-US" sz="1000" dirty="0"/>
          </a:p>
        </p:txBody>
      </p:sp>
      <p:sp>
        <p:nvSpPr>
          <p:cNvPr id="21" name="Text 19"/>
          <p:cNvSpPr/>
          <p:nvPr/>
        </p:nvSpPr>
        <p:spPr>
          <a:xfrm>
            <a:off x="502920" y="3584448"/>
            <a:ext cx="146304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16 units (bottleneck)</a:t>
            </a:r>
            <a:endParaRPr lang="en-US" sz="850" dirty="0"/>
          </a:p>
        </p:txBody>
      </p:sp>
      <p:sp>
        <p:nvSpPr>
          <p:cNvPr id="22" name="Shape 20"/>
          <p:cNvSpPr/>
          <p:nvPr/>
        </p:nvSpPr>
        <p:spPr>
          <a:xfrm>
            <a:off x="2606040" y="2761488"/>
            <a:ext cx="1371600" cy="475488"/>
          </a:xfrm>
          <a:prstGeom prst="rect">
            <a:avLst/>
          </a:prstGeom>
          <a:solidFill>
            <a:srgbClr val="1E4D8C"/>
          </a:solidFill>
          <a:ln w="12700">
            <a:solidFill>
              <a:srgbClr val="1E4D8C"/>
            </a:solidFill>
            <a:prstDash val="solid"/>
          </a:ln>
        </p:spPr>
      </p:sp>
      <p:sp>
        <p:nvSpPr>
          <p:cNvPr id="23" name="Text 21"/>
          <p:cNvSpPr/>
          <p:nvPr/>
        </p:nvSpPr>
        <p:spPr>
          <a:xfrm>
            <a:off x="2606040" y="2779776"/>
            <a:ext cx="13716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Decoder L1</a:t>
            </a:r>
            <a:endParaRPr lang="en-US" sz="1000" dirty="0"/>
          </a:p>
        </p:txBody>
      </p:sp>
      <p:sp>
        <p:nvSpPr>
          <p:cNvPr id="24" name="Text 22"/>
          <p:cNvSpPr/>
          <p:nvPr/>
        </p:nvSpPr>
        <p:spPr>
          <a:xfrm>
            <a:off x="2606040" y="3008376"/>
            <a:ext cx="137160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64 units   ReLU</a:t>
            </a:r>
            <a:endParaRPr lang="en-US" sz="850" dirty="0"/>
          </a:p>
        </p:txBody>
      </p:sp>
      <p:sp>
        <p:nvSpPr>
          <p:cNvPr id="25" name="Text 23"/>
          <p:cNvSpPr/>
          <p:nvPr/>
        </p:nvSpPr>
        <p:spPr>
          <a:xfrm>
            <a:off x="2423160" y="3255264"/>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2560320" y="3401568"/>
            <a:ext cx="1463040" cy="475488"/>
          </a:xfrm>
          <a:prstGeom prst="rect">
            <a:avLst/>
          </a:prstGeom>
          <a:solidFill>
            <a:srgbClr val="1A3A6E"/>
          </a:solidFill>
          <a:ln w="12700">
            <a:solidFill>
              <a:srgbClr val="1A3A6E"/>
            </a:solidFill>
            <a:prstDash val="solid"/>
          </a:ln>
        </p:spPr>
      </p:sp>
      <p:sp>
        <p:nvSpPr>
          <p:cNvPr id="27" name="Text 25"/>
          <p:cNvSpPr/>
          <p:nvPr/>
        </p:nvSpPr>
        <p:spPr>
          <a:xfrm>
            <a:off x="2560320" y="3419856"/>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Decoder L2</a:t>
            </a:r>
            <a:endParaRPr lang="en-US" sz="1000" dirty="0"/>
          </a:p>
        </p:txBody>
      </p:sp>
      <p:sp>
        <p:nvSpPr>
          <p:cNvPr id="28" name="Text 26"/>
          <p:cNvSpPr/>
          <p:nvPr/>
        </p:nvSpPr>
        <p:spPr>
          <a:xfrm>
            <a:off x="2560320" y="3648456"/>
            <a:ext cx="146304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128 units  ReLU</a:t>
            </a:r>
            <a:endParaRPr lang="en-US" sz="850" dirty="0"/>
          </a:p>
        </p:txBody>
      </p:sp>
      <p:sp>
        <p:nvSpPr>
          <p:cNvPr id="29" name="Text 27"/>
          <p:cNvSpPr/>
          <p:nvPr/>
        </p:nvSpPr>
        <p:spPr>
          <a:xfrm>
            <a:off x="2423160" y="3895344"/>
            <a:ext cx="1737360" cy="128016"/>
          </a:xfrm>
          <a:prstGeom prst="rect">
            <a:avLst/>
          </a:prstGeom>
          <a:noFill/>
          <a:ln/>
        </p:spPr>
        <p:txBody>
          <a:bodyPr wrap="square" lIns="0" tIns="0" rIns="0" bIns="0" rtlCol="0" anchor="ctr"/>
          <a:lstStyle/>
          <a:p>
            <a:pPr algn="ctr" indent="0" marL="0">
              <a:buNone/>
            </a:pPr>
            <a:r>
              <a:rPr lang="en-US" sz="1200" dirty="0">
                <a:solidFill>
                  <a:srgbClr val="64B5F6"/>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2514600" y="4041648"/>
            <a:ext cx="1554480" cy="475488"/>
          </a:xfrm>
          <a:prstGeom prst="rect">
            <a:avLst/>
          </a:prstGeom>
          <a:solidFill>
            <a:srgbClr val="0D2B55"/>
          </a:solidFill>
          <a:ln w="12700">
            <a:solidFill>
              <a:srgbClr val="0D2B55"/>
            </a:solidFill>
            <a:prstDash val="solid"/>
          </a:ln>
        </p:spPr>
      </p:sp>
      <p:sp>
        <p:nvSpPr>
          <p:cNvPr id="31" name="Text 29"/>
          <p:cNvSpPr/>
          <p:nvPr/>
        </p:nvSpPr>
        <p:spPr>
          <a:xfrm>
            <a:off x="2514600" y="4059936"/>
            <a:ext cx="1554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 x̂</a:t>
            </a:r>
            <a:endParaRPr lang="en-US" sz="1000" dirty="0"/>
          </a:p>
        </p:txBody>
      </p:sp>
      <p:sp>
        <p:nvSpPr>
          <p:cNvPr id="32" name="Text 30"/>
          <p:cNvSpPr/>
          <p:nvPr/>
        </p:nvSpPr>
        <p:spPr>
          <a:xfrm>
            <a:off x="2514600" y="4288536"/>
            <a:ext cx="1554480" cy="201168"/>
          </a:xfrm>
          <a:prstGeom prst="rect">
            <a:avLst/>
          </a:prstGeom>
          <a:noFill/>
          <a:ln/>
        </p:spPr>
        <p:txBody>
          <a:bodyPr wrap="square" lIns="0" tIns="0" rIns="0" bIns="0" rtlCol="0" anchor="ctr"/>
          <a:lstStyle/>
          <a:p>
            <a:pPr algn="ctr" indent="0" marL="0">
              <a:buNone/>
            </a:pPr>
            <a:r>
              <a:rPr lang="en-US" sz="850" dirty="0">
                <a:solidFill>
                  <a:srgbClr val="E8EEF4"/>
                </a:solidFill>
                <a:latin typeface="Calibri" pitchFamily="34" charset="0"/>
                <a:ea typeface="Calibri" pitchFamily="34" charset="-122"/>
                <a:cs typeface="Calibri" pitchFamily="34" charset="-120"/>
              </a:rPr>
              <a:t>51 features reconstruction</a:t>
            </a:r>
            <a:endParaRPr lang="en-US" sz="850" dirty="0"/>
          </a:p>
        </p:txBody>
      </p:sp>
      <p:sp>
        <p:nvSpPr>
          <p:cNvPr id="33" name="Text 31"/>
          <p:cNvSpPr/>
          <p:nvPr/>
        </p:nvSpPr>
        <p:spPr>
          <a:xfrm>
            <a:off x="320040" y="4553712"/>
            <a:ext cx="3931920" cy="137160"/>
          </a:xfrm>
          <a:prstGeom prst="rect">
            <a:avLst/>
          </a:prstGeom>
          <a:noFill/>
          <a:ln/>
        </p:spPr>
        <p:txBody>
          <a:bodyPr wrap="square" lIns="0" tIns="0" rIns="0" bIns="0" rtlCol="0" anchor="ctr"/>
          <a:lstStyle/>
          <a:p>
            <a:pPr algn="ctr" indent="0" marL="0">
              <a:buNone/>
            </a:pPr>
            <a:r>
              <a:rPr lang="en-US" sz="1100" b="1" dirty="0">
                <a:solidFill>
                  <a:srgbClr val="F39C12"/>
                </a:solidFill>
                <a:latin typeface="Calibri" pitchFamily="34" charset="0"/>
                <a:ea typeface="Calibri" pitchFamily="34" charset="-122"/>
                <a:cs typeface="Calibri" pitchFamily="34" charset="-120"/>
              </a:rPr>
              <a:t>MSE(x, x̂) = Anomaly Score</a:t>
            </a:r>
            <a:endParaRPr lang="en-US" sz="1100" dirty="0"/>
          </a:p>
        </p:txBody>
      </p:sp>
      <p:sp>
        <p:nvSpPr>
          <p:cNvPr id="34" name="Shape 32"/>
          <p:cNvSpPr/>
          <p:nvPr/>
        </p:nvSpPr>
        <p:spPr>
          <a:xfrm>
            <a:off x="4617720" y="987552"/>
            <a:ext cx="4297680" cy="1371600"/>
          </a:xfrm>
          <a:prstGeom prst="rect">
            <a:avLst/>
          </a:prstGeom>
          <a:solidFill>
            <a:srgbClr val="0F2030"/>
          </a:solidFill>
          <a:ln w="12700">
            <a:solidFill>
              <a:srgbClr val="0F2030"/>
            </a:solidFill>
            <a:prstDash val="solid"/>
          </a:ln>
        </p:spPr>
      </p:sp>
      <p:sp>
        <p:nvSpPr>
          <p:cNvPr id="35" name="Shape 33"/>
          <p:cNvSpPr/>
          <p:nvPr/>
        </p:nvSpPr>
        <p:spPr>
          <a:xfrm>
            <a:off x="4617720" y="987552"/>
            <a:ext cx="64008" cy="1371600"/>
          </a:xfrm>
          <a:prstGeom prst="rect">
            <a:avLst/>
          </a:prstGeom>
          <a:solidFill>
            <a:srgbClr val="2196F3"/>
          </a:solidFill>
          <a:ln w="12700">
            <a:solidFill>
              <a:srgbClr val="2196F3"/>
            </a:solidFill>
            <a:prstDash val="solid"/>
          </a:ln>
        </p:spPr>
      </p:sp>
      <p:sp>
        <p:nvSpPr>
          <p:cNvPr id="36" name="Text 34"/>
          <p:cNvSpPr/>
          <p:nvPr/>
        </p:nvSpPr>
        <p:spPr>
          <a:xfrm>
            <a:off x="4782312" y="1042416"/>
            <a:ext cx="3977640" cy="274320"/>
          </a:xfrm>
          <a:prstGeom prst="rect">
            <a:avLst/>
          </a:prstGeom>
          <a:noFill/>
          <a:ln/>
        </p:spPr>
        <p:txBody>
          <a:bodyPr wrap="square" lIns="0" tIns="0" rIns="0" bIns="0" rtlCol="0" anchor="ctr"/>
          <a:lstStyle/>
          <a:p>
            <a:pPr indent="0" marL="0">
              <a:buNone/>
            </a:pPr>
            <a:r>
              <a:rPr lang="en-US" sz="1300" b="1" dirty="0">
                <a:solidFill>
                  <a:srgbClr val="64B5F6"/>
                </a:solidFill>
                <a:latin typeface="Calibri" pitchFamily="34" charset="0"/>
                <a:ea typeface="Calibri" pitchFamily="34" charset="-122"/>
                <a:cs typeface="Calibri" pitchFamily="34" charset="-120"/>
              </a:rPr>
              <a:t>Training</a:t>
            </a:r>
            <a:endParaRPr lang="en-US" sz="1300" dirty="0"/>
          </a:p>
        </p:txBody>
      </p:sp>
      <p:sp>
        <p:nvSpPr>
          <p:cNvPr id="37" name="Text 35"/>
          <p:cNvSpPr/>
          <p:nvPr/>
        </p:nvSpPr>
        <p:spPr>
          <a:xfrm>
            <a:off x="4818888" y="1362456"/>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7-day SWaT normal operation dataset (iTrust)</a:t>
            </a:r>
            <a:endParaRPr lang="en-US" sz="1000" dirty="0"/>
          </a:p>
        </p:txBody>
      </p:sp>
      <p:sp>
        <p:nvSpPr>
          <p:cNvPr id="38" name="Text 36"/>
          <p:cNvSpPr/>
          <p:nvPr/>
        </p:nvSpPr>
        <p:spPr>
          <a:xfrm>
            <a:off x="4818888" y="1554480"/>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Sliding window: 10 timesteps, step=1</a:t>
            </a:r>
            <a:endParaRPr lang="en-US" sz="1000" dirty="0"/>
          </a:p>
        </p:txBody>
      </p:sp>
      <p:sp>
        <p:nvSpPr>
          <p:cNvPr id="39" name="Text 37"/>
          <p:cNvSpPr/>
          <p:nvPr/>
        </p:nvSpPr>
        <p:spPr>
          <a:xfrm>
            <a:off x="4818888" y="1746504"/>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Batch size 128, Adam optimiser, lr=1×10⁻³</a:t>
            </a:r>
            <a:endParaRPr lang="en-US" sz="1000" dirty="0"/>
          </a:p>
        </p:txBody>
      </p:sp>
      <p:sp>
        <p:nvSpPr>
          <p:cNvPr id="40" name="Text 38"/>
          <p:cNvSpPr/>
          <p:nvPr/>
        </p:nvSpPr>
        <p:spPr>
          <a:xfrm>
            <a:off x="4818888" y="1938528"/>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100 epochs, MSE loss on reconstruction</a:t>
            </a:r>
            <a:endParaRPr lang="en-US" sz="1000" dirty="0"/>
          </a:p>
        </p:txBody>
      </p:sp>
      <p:sp>
        <p:nvSpPr>
          <p:cNvPr id="41" name="Text 39"/>
          <p:cNvSpPr/>
          <p:nvPr/>
        </p:nvSpPr>
        <p:spPr>
          <a:xfrm>
            <a:off x="4818888" y="2130552"/>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Threshold = 95th percentile of training MSE</a:t>
            </a:r>
            <a:endParaRPr lang="en-US" sz="1000" dirty="0"/>
          </a:p>
        </p:txBody>
      </p:sp>
      <p:sp>
        <p:nvSpPr>
          <p:cNvPr id="42" name="Shape 40"/>
          <p:cNvSpPr/>
          <p:nvPr/>
        </p:nvSpPr>
        <p:spPr>
          <a:xfrm>
            <a:off x="4617720" y="2423160"/>
            <a:ext cx="4297680" cy="1170432"/>
          </a:xfrm>
          <a:prstGeom prst="rect">
            <a:avLst/>
          </a:prstGeom>
          <a:solidFill>
            <a:srgbClr val="0F2030"/>
          </a:solidFill>
          <a:ln w="12700">
            <a:solidFill>
              <a:srgbClr val="0F2030"/>
            </a:solidFill>
            <a:prstDash val="solid"/>
          </a:ln>
        </p:spPr>
      </p:sp>
      <p:sp>
        <p:nvSpPr>
          <p:cNvPr id="43" name="Shape 41"/>
          <p:cNvSpPr/>
          <p:nvPr/>
        </p:nvSpPr>
        <p:spPr>
          <a:xfrm>
            <a:off x="4617720" y="2423160"/>
            <a:ext cx="64008" cy="1170432"/>
          </a:xfrm>
          <a:prstGeom prst="rect">
            <a:avLst/>
          </a:prstGeom>
          <a:solidFill>
            <a:srgbClr val="2ECC71"/>
          </a:solidFill>
          <a:ln w="12700">
            <a:solidFill>
              <a:srgbClr val="2ECC71"/>
            </a:solidFill>
            <a:prstDash val="solid"/>
          </a:ln>
        </p:spPr>
      </p:sp>
      <p:sp>
        <p:nvSpPr>
          <p:cNvPr id="44" name="Text 42"/>
          <p:cNvSpPr/>
          <p:nvPr/>
        </p:nvSpPr>
        <p:spPr>
          <a:xfrm>
            <a:off x="4782312" y="2478024"/>
            <a:ext cx="3977640" cy="27432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Detection Logic</a:t>
            </a:r>
            <a:endParaRPr lang="en-US" sz="1300" dirty="0"/>
          </a:p>
        </p:txBody>
      </p:sp>
      <p:sp>
        <p:nvSpPr>
          <p:cNvPr id="45" name="Text 43"/>
          <p:cNvSpPr/>
          <p:nvPr/>
        </p:nvSpPr>
        <p:spPr>
          <a:xfrm>
            <a:off x="4818888" y="2798064"/>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At inference: compute MSE(x_t, x̂_t) per timestep</a:t>
            </a:r>
            <a:endParaRPr lang="en-US" sz="1000" dirty="0"/>
          </a:p>
        </p:txBody>
      </p:sp>
      <p:sp>
        <p:nvSpPr>
          <p:cNvPr id="46" name="Text 44"/>
          <p:cNvSpPr/>
          <p:nvPr/>
        </p:nvSpPr>
        <p:spPr>
          <a:xfrm>
            <a:off x="4818888" y="3017520"/>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Flag if score &gt; threshold for 3 consecutive steps</a:t>
            </a:r>
            <a:endParaRPr lang="en-US" sz="1000" dirty="0"/>
          </a:p>
        </p:txBody>
      </p:sp>
      <p:sp>
        <p:nvSpPr>
          <p:cNvPr id="47" name="Text 45"/>
          <p:cNvSpPr/>
          <p:nvPr/>
        </p:nvSpPr>
        <p:spPr>
          <a:xfrm>
            <a:off x="4818888" y="3236976"/>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Rate of score increase also tracked (gradient check)</a:t>
            </a:r>
            <a:endParaRPr lang="en-US" sz="1000" dirty="0"/>
          </a:p>
        </p:txBody>
      </p:sp>
      <p:sp>
        <p:nvSpPr>
          <p:cNvPr id="48" name="Text 46"/>
          <p:cNvSpPr/>
          <p:nvPr/>
        </p:nvSpPr>
        <p:spPr>
          <a:xfrm>
            <a:off x="4818888" y="3456432"/>
            <a:ext cx="3931920" cy="201168"/>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Separates genuine anomaly from sensor noise</a:t>
            </a:r>
            <a:endParaRPr lang="en-US" sz="1000" dirty="0"/>
          </a:p>
        </p:txBody>
      </p:sp>
      <p:sp>
        <p:nvSpPr>
          <p:cNvPr id="49" name="Shape 47"/>
          <p:cNvSpPr/>
          <p:nvPr/>
        </p:nvSpPr>
        <p:spPr>
          <a:xfrm>
            <a:off x="4617720" y="3657600"/>
            <a:ext cx="4297680" cy="1051560"/>
          </a:xfrm>
          <a:prstGeom prst="rect">
            <a:avLst/>
          </a:prstGeom>
          <a:solidFill>
            <a:srgbClr val="0F2030"/>
          </a:solidFill>
          <a:ln w="12700">
            <a:solidFill>
              <a:srgbClr val="0F2030"/>
            </a:solidFill>
            <a:prstDash val="solid"/>
          </a:ln>
        </p:spPr>
      </p:sp>
      <p:sp>
        <p:nvSpPr>
          <p:cNvPr id="50" name="Shape 48"/>
          <p:cNvSpPr/>
          <p:nvPr/>
        </p:nvSpPr>
        <p:spPr>
          <a:xfrm>
            <a:off x="4617720" y="3657600"/>
            <a:ext cx="64008" cy="1051560"/>
          </a:xfrm>
          <a:prstGeom prst="rect">
            <a:avLst/>
          </a:prstGeom>
          <a:solidFill>
            <a:srgbClr val="F39C12"/>
          </a:solidFill>
          <a:ln w="12700">
            <a:solidFill>
              <a:srgbClr val="F39C12"/>
            </a:solidFill>
            <a:prstDash val="solid"/>
          </a:ln>
        </p:spPr>
      </p:sp>
      <p:sp>
        <p:nvSpPr>
          <p:cNvPr id="51" name="Text 49"/>
          <p:cNvSpPr/>
          <p:nvPr/>
        </p:nvSpPr>
        <p:spPr>
          <a:xfrm>
            <a:off x="4782312" y="3712464"/>
            <a:ext cx="397764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Why AE Alone Fails (Paper #31)</a:t>
            </a:r>
            <a:endParaRPr lang="en-US" sz="1300" dirty="0"/>
          </a:p>
        </p:txBody>
      </p:sp>
      <p:sp>
        <p:nvSpPr>
          <p:cNvPr id="52" name="Text 50"/>
          <p:cNvSpPr/>
          <p:nvPr/>
        </p:nvSpPr>
        <p:spPr>
          <a:xfrm>
            <a:off x="4818888" y="4005072"/>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Adversarial AE trained to minimise our detector's MSE</a:t>
            </a:r>
            <a:endParaRPr lang="en-US" sz="1000" dirty="0"/>
          </a:p>
        </p:txBody>
      </p:sp>
      <p:sp>
        <p:nvSpPr>
          <p:cNvPr id="53" name="Text 51"/>
          <p:cNvSpPr/>
          <p:nvPr/>
        </p:nvSpPr>
        <p:spPr>
          <a:xfrm>
            <a:off x="4818888" y="4206240"/>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Perturbation δ constrained to ‖δ‖∞ ≤ 0.1 (imperceptible)</a:t>
            </a:r>
            <a:endParaRPr lang="en-US" sz="1000" dirty="0"/>
          </a:p>
        </p:txBody>
      </p:sp>
      <p:sp>
        <p:nvSpPr>
          <p:cNvPr id="54" name="Text 52"/>
          <p:cNvSpPr/>
          <p:nvPr/>
        </p:nvSpPr>
        <p:spPr>
          <a:xfrm>
            <a:off x="4818888" y="4407408"/>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Bypasses AE alone in ~94% of cycles (Paper #31 result)</a:t>
            </a:r>
            <a:endParaRPr lang="en-US" sz="1000" dirty="0"/>
          </a:p>
        </p:txBody>
      </p:sp>
      <p:sp>
        <p:nvSpPr>
          <p:cNvPr id="55" name="Text 53"/>
          <p:cNvSpPr/>
          <p:nvPr/>
        </p:nvSpPr>
        <p:spPr>
          <a:xfrm>
            <a:off x="4818888" y="4608576"/>
            <a:ext cx="3931920" cy="18288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 Layer 1 invariant catches what AE misses</a:t>
            </a:r>
            <a:endParaRPr lang="en-US" sz="1000" dirty="0"/>
          </a:p>
        </p:txBody>
      </p:sp>
      <p:sp>
        <p:nvSpPr>
          <p:cNvPr id="56" name="Shape 54"/>
          <p:cNvSpPr/>
          <p:nvPr/>
        </p:nvSpPr>
        <p:spPr>
          <a:xfrm>
            <a:off x="0" y="4754880"/>
            <a:ext cx="9144000" cy="384048"/>
          </a:xfrm>
          <a:prstGeom prst="rect">
            <a:avLst/>
          </a:prstGeom>
          <a:solidFill>
            <a:srgbClr val="1B3A5C"/>
          </a:solidFill>
          <a:ln w="12700">
            <a:solidFill>
              <a:srgbClr val="1B3A5C"/>
            </a:solidFill>
            <a:prstDash val="solid"/>
          </a:ln>
        </p:spPr>
      </p:sp>
      <p:sp>
        <p:nvSpPr>
          <p:cNvPr id="57" name="Text 55"/>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2 — Autoencoder</a:t>
            </a:r>
            <a:endParaRPr lang="en-US" sz="10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39C12"/>
          </a:solidFill>
          <a:ln w="12700">
            <a:solidFill>
              <a:srgbClr val="F39C12"/>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Layer 3 — Decision Fusion &amp; Alert</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Combines both detection signals — minimises false positives while maximising detection coverage</a:t>
            </a:r>
            <a:endParaRPr lang="en-US" sz="1200" dirty="0"/>
          </a:p>
        </p:txBody>
      </p:sp>
      <p:sp>
        <p:nvSpPr>
          <p:cNvPr id="5" name="Shape 3"/>
          <p:cNvSpPr/>
          <p:nvPr/>
        </p:nvSpPr>
        <p:spPr>
          <a:xfrm>
            <a:off x="274320" y="987552"/>
            <a:ext cx="8595360" cy="347472"/>
          </a:xfrm>
          <a:prstGeom prst="rect">
            <a:avLst/>
          </a:prstGeom>
          <a:solidFill>
            <a:srgbClr val="4A2A00"/>
          </a:solidFill>
          <a:ln w="12700">
            <a:solidFill>
              <a:srgbClr val="4A2A00"/>
            </a:solidFill>
            <a:prstDash val="solid"/>
          </a:ln>
        </p:spPr>
      </p:sp>
      <p:sp>
        <p:nvSpPr>
          <p:cNvPr id="6" name="Text 4"/>
          <p:cNvSpPr/>
          <p:nvPr/>
        </p:nvSpPr>
        <p:spPr>
          <a:xfrm>
            <a:off x="27432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Flag</a:t>
            </a:r>
            <a:endParaRPr lang="en-US" sz="1100" dirty="0"/>
          </a:p>
        </p:txBody>
      </p:sp>
      <p:sp>
        <p:nvSpPr>
          <p:cNvPr id="7" name="Text 5"/>
          <p:cNvSpPr/>
          <p:nvPr/>
        </p:nvSpPr>
        <p:spPr>
          <a:xfrm>
            <a:off x="219456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AE Flag</a:t>
            </a:r>
            <a:endParaRPr lang="en-US" sz="1100" dirty="0"/>
          </a:p>
        </p:txBody>
      </p:sp>
      <p:sp>
        <p:nvSpPr>
          <p:cNvPr id="8" name="Text 6"/>
          <p:cNvSpPr/>
          <p:nvPr/>
        </p:nvSpPr>
        <p:spPr>
          <a:xfrm>
            <a:off x="4114800" y="1033272"/>
            <a:ext cx="16002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9" name="Text 7"/>
          <p:cNvSpPr/>
          <p:nvPr/>
        </p:nvSpPr>
        <p:spPr>
          <a:xfrm>
            <a:off x="5806440" y="1033272"/>
            <a:ext cx="1188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p>
        </p:txBody>
      </p:sp>
      <p:sp>
        <p:nvSpPr>
          <p:cNvPr id="10" name="Text 8"/>
          <p:cNvSpPr/>
          <p:nvPr/>
        </p:nvSpPr>
        <p:spPr>
          <a:xfrm>
            <a:off x="7040880" y="1033272"/>
            <a:ext cx="21031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1" name="Text 9"/>
          <p:cNvSpPr/>
          <p:nvPr/>
        </p:nvSpPr>
        <p:spPr>
          <a:xfrm>
            <a:off x="27432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Invariant Flag</a:t>
            </a:r>
            <a:endParaRPr lang="en-US" sz="1100" dirty="0"/>
          </a:p>
        </p:txBody>
      </p:sp>
      <p:sp>
        <p:nvSpPr>
          <p:cNvPr id="12" name="Text 10"/>
          <p:cNvSpPr/>
          <p:nvPr/>
        </p:nvSpPr>
        <p:spPr>
          <a:xfrm>
            <a:off x="2194560" y="1033272"/>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AE Flag</a:t>
            </a:r>
            <a:endParaRPr lang="en-US" sz="1100" dirty="0"/>
          </a:p>
        </p:txBody>
      </p:sp>
      <p:sp>
        <p:nvSpPr>
          <p:cNvPr id="13" name="Text 11"/>
          <p:cNvSpPr/>
          <p:nvPr/>
        </p:nvSpPr>
        <p:spPr>
          <a:xfrm>
            <a:off x="4114800" y="1033272"/>
            <a:ext cx="160020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14" name="Text 12"/>
          <p:cNvSpPr/>
          <p:nvPr/>
        </p:nvSpPr>
        <p:spPr>
          <a:xfrm>
            <a:off x="5806440" y="1033272"/>
            <a:ext cx="1188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p>
        </p:txBody>
      </p:sp>
      <p:sp>
        <p:nvSpPr>
          <p:cNvPr id="15" name="Text 13"/>
          <p:cNvSpPr/>
          <p:nvPr/>
        </p:nvSpPr>
        <p:spPr>
          <a:xfrm>
            <a:off x="7040880" y="1033272"/>
            <a:ext cx="21031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6" name="Shape 14"/>
          <p:cNvSpPr/>
          <p:nvPr/>
        </p:nvSpPr>
        <p:spPr>
          <a:xfrm>
            <a:off x="274320" y="1371600"/>
            <a:ext cx="8595360" cy="457200"/>
          </a:xfrm>
          <a:prstGeom prst="rect">
            <a:avLst/>
          </a:prstGeom>
          <a:solidFill>
            <a:srgbClr val="FFF0F0"/>
          </a:solidFill>
          <a:ln w="12700">
            <a:solidFill>
              <a:srgbClr val="FFF0F0"/>
            </a:solidFill>
            <a:prstDash val="solid"/>
          </a:ln>
        </p:spPr>
      </p:sp>
      <p:sp>
        <p:nvSpPr>
          <p:cNvPr id="17" name="Shape 15"/>
          <p:cNvSpPr/>
          <p:nvPr/>
        </p:nvSpPr>
        <p:spPr>
          <a:xfrm>
            <a:off x="274320" y="1371600"/>
            <a:ext cx="64008" cy="457200"/>
          </a:xfrm>
          <a:prstGeom prst="rect">
            <a:avLst/>
          </a:prstGeom>
          <a:solidFill>
            <a:srgbClr val="E74C3C"/>
          </a:solidFill>
          <a:ln w="12700">
            <a:solidFill>
              <a:srgbClr val="E74C3C"/>
            </a:solidFill>
            <a:prstDash val="solid"/>
          </a:ln>
        </p:spPr>
      </p:sp>
      <p:sp>
        <p:nvSpPr>
          <p:cNvPr id="18" name="Text 16"/>
          <p:cNvSpPr/>
          <p:nvPr/>
        </p:nvSpPr>
        <p:spPr>
          <a:xfrm>
            <a:off x="274320" y="1444752"/>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19" name="Text 17"/>
          <p:cNvSpPr/>
          <p:nvPr/>
        </p:nvSpPr>
        <p:spPr>
          <a:xfrm>
            <a:off x="2194560" y="1444752"/>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20" name="Text 18"/>
          <p:cNvSpPr/>
          <p:nvPr/>
        </p:nvSpPr>
        <p:spPr>
          <a:xfrm>
            <a:off x="4114800" y="1444752"/>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ALERT</a:t>
            </a:r>
            <a:endParaRPr lang="en-US" sz="1100" dirty="0"/>
          </a:p>
        </p:txBody>
      </p:sp>
      <p:sp>
        <p:nvSpPr>
          <p:cNvPr id="21" name="Text 19"/>
          <p:cNvSpPr/>
          <p:nvPr/>
        </p:nvSpPr>
        <p:spPr>
          <a:xfrm>
            <a:off x="5806440" y="1444752"/>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HIGH (99%)</a:t>
            </a:r>
            <a:endParaRPr lang="en-US" sz="1050" dirty="0"/>
          </a:p>
        </p:txBody>
      </p:sp>
      <p:sp>
        <p:nvSpPr>
          <p:cNvPr id="22" name="Text 20"/>
          <p:cNvSpPr/>
          <p:nvPr/>
        </p:nvSpPr>
        <p:spPr>
          <a:xfrm>
            <a:off x="7040880" y="1444752"/>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Initiate full recovery pipeline</a:t>
            </a:r>
            <a:endParaRPr lang="en-US" sz="1000" dirty="0"/>
          </a:p>
        </p:txBody>
      </p:sp>
      <p:sp>
        <p:nvSpPr>
          <p:cNvPr id="23" name="Shape 21"/>
          <p:cNvSpPr/>
          <p:nvPr/>
        </p:nvSpPr>
        <p:spPr>
          <a:xfrm>
            <a:off x="274320" y="1847088"/>
            <a:ext cx="8595360" cy="457200"/>
          </a:xfrm>
          <a:prstGeom prst="rect">
            <a:avLst/>
          </a:prstGeom>
          <a:solidFill>
            <a:srgbClr val="FFF5E8"/>
          </a:solidFill>
          <a:ln w="12700">
            <a:solidFill>
              <a:srgbClr val="FFF5E8"/>
            </a:solidFill>
            <a:prstDash val="solid"/>
          </a:ln>
        </p:spPr>
      </p:sp>
      <p:sp>
        <p:nvSpPr>
          <p:cNvPr id="24" name="Shape 22"/>
          <p:cNvSpPr/>
          <p:nvPr/>
        </p:nvSpPr>
        <p:spPr>
          <a:xfrm>
            <a:off x="274320" y="1847088"/>
            <a:ext cx="64008" cy="457200"/>
          </a:xfrm>
          <a:prstGeom prst="rect">
            <a:avLst/>
          </a:prstGeom>
          <a:solidFill>
            <a:srgbClr val="F39C12"/>
          </a:solidFill>
          <a:ln w="12700">
            <a:solidFill>
              <a:srgbClr val="F39C12"/>
            </a:solidFill>
            <a:prstDash val="solid"/>
          </a:ln>
        </p:spPr>
      </p:sp>
      <p:sp>
        <p:nvSpPr>
          <p:cNvPr id="25" name="Text 23"/>
          <p:cNvSpPr/>
          <p:nvPr/>
        </p:nvSpPr>
        <p:spPr>
          <a:xfrm>
            <a:off x="274320" y="1920240"/>
            <a:ext cx="1828800" cy="310896"/>
          </a:xfrm>
          <a:prstGeom prst="rect">
            <a:avLst/>
          </a:prstGeom>
          <a:noFill/>
          <a:ln/>
        </p:spPr>
        <p:txBody>
          <a:bodyPr wrap="square" lIns="0" tIns="0" rIns="0" bIns="0" rtlCol="0" anchor="ctr"/>
          <a:lstStyle/>
          <a:p>
            <a:pPr indent="0" marL="0">
              <a:buNone/>
            </a:pPr>
            <a:r>
              <a:rPr lang="en-US" sz="1050" b="1" dirty="0">
                <a:solidFill>
                  <a:srgbClr val="E74C3C"/>
                </a:solidFill>
                <a:latin typeface="Calibri" pitchFamily="34" charset="0"/>
                <a:ea typeface="Calibri" pitchFamily="34" charset="-122"/>
                <a:cs typeface="Calibri" pitchFamily="34" charset="-120"/>
              </a:rPr>
              <a:t>✓  TRIGGERED</a:t>
            </a:r>
            <a:endParaRPr lang="en-US" sz="1050" dirty="0"/>
          </a:p>
        </p:txBody>
      </p:sp>
      <p:sp>
        <p:nvSpPr>
          <p:cNvPr id="26" name="Text 24"/>
          <p:cNvSpPr/>
          <p:nvPr/>
        </p:nvSpPr>
        <p:spPr>
          <a:xfrm>
            <a:off x="2194560" y="1920240"/>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27" name="Text 25"/>
          <p:cNvSpPr/>
          <p:nvPr/>
        </p:nvSpPr>
        <p:spPr>
          <a:xfrm>
            <a:off x="4114800" y="1920240"/>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ALERT</a:t>
            </a:r>
            <a:endParaRPr lang="en-US" sz="1100" dirty="0"/>
          </a:p>
        </p:txBody>
      </p:sp>
      <p:sp>
        <p:nvSpPr>
          <p:cNvPr id="28" name="Text 26"/>
          <p:cNvSpPr/>
          <p:nvPr/>
        </p:nvSpPr>
        <p:spPr>
          <a:xfrm>
            <a:off x="5806440" y="1920240"/>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HIGH (95%)</a:t>
            </a:r>
            <a:endParaRPr lang="en-US" sz="1050" dirty="0"/>
          </a:p>
        </p:txBody>
      </p:sp>
      <p:sp>
        <p:nvSpPr>
          <p:cNvPr id="29" name="Text 27"/>
          <p:cNvSpPr/>
          <p:nvPr/>
        </p:nvSpPr>
        <p:spPr>
          <a:xfrm>
            <a:off x="7040880" y="1920240"/>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Alert + log + verify invariant</a:t>
            </a:r>
            <a:endParaRPr lang="en-US" sz="1000" dirty="0"/>
          </a:p>
        </p:txBody>
      </p:sp>
      <p:sp>
        <p:nvSpPr>
          <p:cNvPr id="30" name="Shape 28"/>
          <p:cNvSpPr/>
          <p:nvPr/>
        </p:nvSpPr>
        <p:spPr>
          <a:xfrm>
            <a:off x="274320" y="2322576"/>
            <a:ext cx="8595360" cy="457200"/>
          </a:xfrm>
          <a:prstGeom prst="rect">
            <a:avLst/>
          </a:prstGeom>
          <a:solidFill>
            <a:srgbClr val="FFFFF0"/>
          </a:solidFill>
          <a:ln w="12700">
            <a:solidFill>
              <a:srgbClr val="FFFFF0"/>
            </a:solidFill>
            <a:prstDash val="solid"/>
          </a:ln>
        </p:spPr>
      </p:sp>
      <p:sp>
        <p:nvSpPr>
          <p:cNvPr id="31" name="Shape 29"/>
          <p:cNvSpPr/>
          <p:nvPr/>
        </p:nvSpPr>
        <p:spPr>
          <a:xfrm>
            <a:off x="274320" y="2322576"/>
            <a:ext cx="64008" cy="457200"/>
          </a:xfrm>
          <a:prstGeom prst="rect">
            <a:avLst/>
          </a:prstGeom>
          <a:solidFill>
            <a:srgbClr val="C8A000"/>
          </a:solidFill>
          <a:ln w="12700">
            <a:solidFill>
              <a:srgbClr val="C8A000"/>
            </a:solidFill>
            <a:prstDash val="solid"/>
          </a:ln>
        </p:spPr>
      </p:sp>
      <p:sp>
        <p:nvSpPr>
          <p:cNvPr id="32" name="Text 30"/>
          <p:cNvSpPr/>
          <p:nvPr/>
        </p:nvSpPr>
        <p:spPr>
          <a:xfrm>
            <a:off x="274320" y="2395728"/>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33" name="Text 31"/>
          <p:cNvSpPr/>
          <p:nvPr/>
        </p:nvSpPr>
        <p:spPr>
          <a:xfrm>
            <a:off x="2194560" y="2395728"/>
            <a:ext cx="1828800" cy="310896"/>
          </a:xfrm>
          <a:prstGeom prst="rect">
            <a:avLst/>
          </a:prstGeom>
          <a:noFill/>
          <a:ln/>
        </p:spPr>
        <p:txBody>
          <a:bodyPr wrap="square" lIns="0" tIns="0" rIns="0" bIns="0" rtlCol="0" anchor="ctr"/>
          <a:lstStyle/>
          <a:p>
            <a:pPr indent="0" marL="0">
              <a:buNone/>
            </a:pPr>
            <a:r>
              <a:rPr lang="en-US" sz="1050" b="1" dirty="0">
                <a:solidFill>
                  <a:srgbClr val="777777"/>
                </a:solidFill>
                <a:latin typeface="Calibri" pitchFamily="34" charset="0"/>
                <a:ea typeface="Calibri" pitchFamily="34" charset="-122"/>
                <a:cs typeface="Calibri" pitchFamily="34" charset="-120"/>
              </a:rPr>
              <a:t>✓  TRIGGERED</a:t>
            </a:r>
            <a:endParaRPr lang="en-US" sz="1050" dirty="0"/>
          </a:p>
        </p:txBody>
      </p:sp>
      <p:sp>
        <p:nvSpPr>
          <p:cNvPr id="34" name="Text 32"/>
          <p:cNvSpPr/>
          <p:nvPr/>
        </p:nvSpPr>
        <p:spPr>
          <a:xfrm>
            <a:off x="4114800" y="2395728"/>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WARN</a:t>
            </a:r>
            <a:endParaRPr lang="en-US" sz="1100" dirty="0"/>
          </a:p>
        </p:txBody>
      </p:sp>
      <p:sp>
        <p:nvSpPr>
          <p:cNvPr id="35" name="Text 33"/>
          <p:cNvSpPr/>
          <p:nvPr/>
        </p:nvSpPr>
        <p:spPr>
          <a:xfrm>
            <a:off x="5806440" y="2395728"/>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MEDIUM (70%)</a:t>
            </a:r>
            <a:endParaRPr lang="en-US" sz="1050" dirty="0"/>
          </a:p>
        </p:txBody>
      </p:sp>
      <p:sp>
        <p:nvSpPr>
          <p:cNvPr id="36" name="Text 34"/>
          <p:cNvSpPr/>
          <p:nvPr/>
        </p:nvSpPr>
        <p:spPr>
          <a:xfrm>
            <a:off x="7040880" y="2395728"/>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Investigate — possible drift</a:t>
            </a:r>
            <a:endParaRPr lang="en-US" sz="1000" dirty="0"/>
          </a:p>
        </p:txBody>
      </p:sp>
      <p:sp>
        <p:nvSpPr>
          <p:cNvPr id="37" name="Shape 35"/>
          <p:cNvSpPr/>
          <p:nvPr/>
        </p:nvSpPr>
        <p:spPr>
          <a:xfrm>
            <a:off x="274320" y="2798064"/>
            <a:ext cx="8595360" cy="457200"/>
          </a:xfrm>
          <a:prstGeom prst="rect">
            <a:avLst/>
          </a:prstGeom>
          <a:solidFill>
            <a:srgbClr val="F0FFF4"/>
          </a:solidFill>
          <a:ln w="12700">
            <a:solidFill>
              <a:srgbClr val="F0FFF4"/>
            </a:solidFill>
            <a:prstDash val="solid"/>
          </a:ln>
        </p:spPr>
      </p:sp>
      <p:sp>
        <p:nvSpPr>
          <p:cNvPr id="38" name="Shape 36"/>
          <p:cNvSpPr/>
          <p:nvPr/>
        </p:nvSpPr>
        <p:spPr>
          <a:xfrm>
            <a:off x="274320" y="2798064"/>
            <a:ext cx="64008" cy="457200"/>
          </a:xfrm>
          <a:prstGeom prst="rect">
            <a:avLst/>
          </a:prstGeom>
          <a:solidFill>
            <a:srgbClr val="2ECC71"/>
          </a:solidFill>
          <a:ln w="12700">
            <a:solidFill>
              <a:srgbClr val="2ECC71"/>
            </a:solidFill>
            <a:prstDash val="solid"/>
          </a:ln>
        </p:spPr>
      </p:sp>
      <p:sp>
        <p:nvSpPr>
          <p:cNvPr id="39" name="Text 37"/>
          <p:cNvSpPr/>
          <p:nvPr/>
        </p:nvSpPr>
        <p:spPr>
          <a:xfrm>
            <a:off x="274320" y="2871216"/>
            <a:ext cx="1828800" cy="310896"/>
          </a:xfrm>
          <a:prstGeom prst="rect">
            <a:avLst/>
          </a:prstGeom>
          <a:noFill/>
          <a:ln/>
        </p:spPr>
        <p:txBody>
          <a:bodyPr wrap="square" lIns="0" tIns="0" rIns="0" bIns="0" rtlCol="0" anchor="ctr"/>
          <a:lstStyle/>
          <a:p>
            <a:pPr indent="0" marL="0">
              <a:buNone/>
            </a:pPr>
            <a:r>
              <a:rPr lang="en-US" sz="1050" dirty="0">
                <a:solidFill>
                  <a:srgbClr val="1A8A47"/>
                </a:solidFill>
                <a:latin typeface="Calibri" pitchFamily="34" charset="0"/>
                <a:ea typeface="Calibri" pitchFamily="34" charset="-122"/>
                <a:cs typeface="Calibri" pitchFamily="34" charset="-120"/>
              </a:rPr>
              <a:t>✗  Clean</a:t>
            </a:r>
            <a:endParaRPr lang="en-US" sz="1050" dirty="0"/>
          </a:p>
        </p:txBody>
      </p:sp>
      <p:sp>
        <p:nvSpPr>
          <p:cNvPr id="40" name="Text 38"/>
          <p:cNvSpPr/>
          <p:nvPr/>
        </p:nvSpPr>
        <p:spPr>
          <a:xfrm>
            <a:off x="2194560" y="2871216"/>
            <a:ext cx="1828800" cy="310896"/>
          </a:xfrm>
          <a:prstGeom prst="rect">
            <a:avLst/>
          </a:prstGeom>
          <a:noFill/>
          <a:ln/>
        </p:spPr>
        <p:txBody>
          <a:bodyPr wrap="square" lIns="0" tIns="0" rIns="0" bIns="0" rtlCol="0" anchor="ctr"/>
          <a:lstStyle/>
          <a:p>
            <a:pPr indent="0" marL="0">
              <a:buNone/>
            </a:pPr>
            <a:r>
              <a:rPr lang="en-US" sz="1050" dirty="0">
                <a:solidFill>
                  <a:srgbClr val="E74C3C"/>
                </a:solidFill>
                <a:latin typeface="Calibri" pitchFamily="34" charset="0"/>
                <a:ea typeface="Calibri" pitchFamily="34" charset="-122"/>
                <a:cs typeface="Calibri" pitchFamily="34" charset="-120"/>
              </a:rPr>
              <a:t>✗  Clean</a:t>
            </a:r>
            <a:endParaRPr lang="en-US" sz="1050" dirty="0"/>
          </a:p>
        </p:txBody>
      </p:sp>
      <p:sp>
        <p:nvSpPr>
          <p:cNvPr id="41" name="Text 39"/>
          <p:cNvSpPr/>
          <p:nvPr/>
        </p:nvSpPr>
        <p:spPr>
          <a:xfrm>
            <a:off x="4114800" y="2871216"/>
            <a:ext cx="1600200" cy="31089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  NORMAL</a:t>
            </a:r>
            <a:endParaRPr lang="en-US" sz="1100" dirty="0"/>
          </a:p>
        </p:txBody>
      </p:sp>
      <p:sp>
        <p:nvSpPr>
          <p:cNvPr id="42" name="Text 40"/>
          <p:cNvSpPr/>
          <p:nvPr/>
        </p:nvSpPr>
        <p:spPr>
          <a:xfrm>
            <a:off x="5806440" y="2871216"/>
            <a:ext cx="1188720" cy="310896"/>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N/A</a:t>
            </a:r>
            <a:endParaRPr lang="en-US" sz="1050" dirty="0"/>
          </a:p>
        </p:txBody>
      </p:sp>
      <p:sp>
        <p:nvSpPr>
          <p:cNvPr id="43" name="Text 41"/>
          <p:cNvSpPr/>
          <p:nvPr/>
        </p:nvSpPr>
        <p:spPr>
          <a:xfrm>
            <a:off x="7040880" y="2871216"/>
            <a:ext cx="2103120" cy="310896"/>
          </a:xfrm>
          <a:prstGeom prst="rect">
            <a:avLst/>
          </a:prstGeom>
          <a:noFill/>
          <a:ln/>
        </p:spPr>
        <p:txBody>
          <a:bodyPr wrap="square" lIns="0" tIns="0" rIns="0" bIns="0" rtlCol="0" anchor="ctr"/>
          <a:lstStyle/>
          <a:p>
            <a:pPr indent="0" marL="0">
              <a:buNone/>
            </a:pPr>
            <a:r>
              <a:rPr lang="en-US" sz="1000" dirty="0">
                <a:solidFill>
                  <a:srgbClr val="0D1B2A"/>
                </a:solidFill>
                <a:latin typeface="Calibri" pitchFamily="34" charset="0"/>
                <a:ea typeface="Calibri" pitchFamily="34" charset="-122"/>
                <a:cs typeface="Calibri" pitchFamily="34" charset="-120"/>
              </a:rPr>
              <a:t>Continue normal operation</a:t>
            </a:r>
            <a:endParaRPr lang="en-US" sz="1000" dirty="0"/>
          </a:p>
        </p:txBody>
      </p:sp>
      <p:sp>
        <p:nvSpPr>
          <p:cNvPr id="44" name="Shape 42"/>
          <p:cNvSpPr/>
          <p:nvPr/>
        </p:nvSpPr>
        <p:spPr>
          <a:xfrm>
            <a:off x="274320" y="3337560"/>
            <a:ext cx="4160520" cy="1325880"/>
          </a:xfrm>
          <a:prstGeom prst="rect">
            <a:avLst/>
          </a:prstGeom>
          <a:solidFill>
            <a:srgbClr val="1B3A5C"/>
          </a:solidFill>
          <a:ln w="12700">
            <a:solidFill>
              <a:srgbClr val="1B3A5C"/>
            </a:solidFill>
            <a:prstDash val="solid"/>
          </a:ln>
        </p:spPr>
      </p:sp>
      <p:sp>
        <p:nvSpPr>
          <p:cNvPr id="45" name="Shape 43"/>
          <p:cNvSpPr/>
          <p:nvPr/>
        </p:nvSpPr>
        <p:spPr>
          <a:xfrm>
            <a:off x="274320" y="3337560"/>
            <a:ext cx="64008" cy="1325880"/>
          </a:xfrm>
          <a:prstGeom prst="rect">
            <a:avLst/>
          </a:prstGeom>
          <a:solidFill>
            <a:srgbClr val="F39C12"/>
          </a:solidFill>
          <a:ln w="12700">
            <a:solidFill>
              <a:srgbClr val="F39C12"/>
            </a:solidFill>
            <a:prstDash val="solid"/>
          </a:ln>
        </p:spPr>
      </p:sp>
      <p:sp>
        <p:nvSpPr>
          <p:cNvPr id="46" name="Text 44"/>
          <p:cNvSpPr/>
          <p:nvPr/>
        </p:nvSpPr>
        <p:spPr>
          <a:xfrm>
            <a:off x="457200" y="3401568"/>
            <a:ext cx="379476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Weighted Fusion Formula</a:t>
            </a:r>
            <a:endParaRPr lang="en-US" sz="1300" dirty="0"/>
          </a:p>
        </p:txBody>
      </p:sp>
      <p:sp>
        <p:nvSpPr>
          <p:cNvPr id="47" name="Text 45"/>
          <p:cNvSpPr/>
          <p:nvPr/>
        </p:nvSpPr>
        <p:spPr>
          <a:xfrm>
            <a:off x="457200" y="3721608"/>
            <a:ext cx="3794760" cy="256032"/>
          </a:xfrm>
          <a:prstGeom prst="rect">
            <a:avLst/>
          </a:prstGeom>
          <a:noFill/>
          <a:ln/>
        </p:spPr>
        <p:txBody>
          <a:bodyPr wrap="square" lIns="0" tIns="0" rIns="0" bIns="0" rtlCol="0" anchor="ctr"/>
          <a:lstStyle/>
          <a:p>
            <a:pPr indent="0" marL="0">
              <a:buNone/>
            </a:pPr>
            <a:r>
              <a:rPr lang="en-US" sz="1100" dirty="0">
                <a:solidFill>
                  <a:srgbClr val="E8EEF4"/>
                </a:solidFill>
                <a:latin typeface="Consolas" pitchFamily="34" charset="0"/>
                <a:ea typeface="Consolas" pitchFamily="34" charset="-122"/>
                <a:cs typeface="Consolas" pitchFamily="34" charset="-120"/>
              </a:rPr>
              <a:t>score_fusion = 1.5 × inv_flag + 1.0 × ae_flag</a:t>
            </a:r>
            <a:endParaRPr lang="en-US" sz="1100" dirty="0"/>
          </a:p>
        </p:txBody>
      </p:sp>
      <p:sp>
        <p:nvSpPr>
          <p:cNvPr id="48" name="Text 46"/>
          <p:cNvSpPr/>
          <p:nvPr/>
        </p:nvSpPr>
        <p:spPr>
          <a:xfrm>
            <a:off x="457200" y="3977640"/>
            <a:ext cx="3794760" cy="228600"/>
          </a:xfrm>
          <a:prstGeom prst="rect">
            <a:avLst/>
          </a:prstGeom>
          <a:noFill/>
          <a:ln/>
        </p:spPr>
        <p:txBody>
          <a:bodyPr wrap="square" lIns="0" tIns="0" rIns="0" bIns="0" rtlCol="0" anchor="ctr"/>
          <a:lstStyle/>
          <a:p>
            <a:pPr indent="0" marL="0">
              <a:buNone/>
            </a:pPr>
            <a:r>
              <a:rPr lang="en-US" sz="1100" dirty="0">
                <a:solidFill>
                  <a:srgbClr val="0FB3C5"/>
                </a:solidFill>
                <a:latin typeface="Consolas" pitchFamily="34" charset="0"/>
                <a:ea typeface="Consolas" pitchFamily="34" charset="-122"/>
                <a:cs typeface="Consolas" pitchFamily="34" charset="-120"/>
              </a:rPr>
              <a:t>ALERT  if score_fusion ≥ 1.5  (3-cycle window)</a:t>
            </a:r>
            <a:endParaRPr lang="en-US" sz="1100" dirty="0"/>
          </a:p>
        </p:txBody>
      </p:sp>
      <p:sp>
        <p:nvSpPr>
          <p:cNvPr id="49" name="Text 47"/>
          <p:cNvSpPr/>
          <p:nvPr/>
        </p:nvSpPr>
        <p:spPr>
          <a:xfrm>
            <a:off x="457200" y="4251960"/>
            <a:ext cx="3794760" cy="347472"/>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Invariant weighted ×1.5 because physics violations are deterministic, not probabilistic.</a:t>
            </a:r>
            <a:endParaRPr lang="en-US" sz="1000" dirty="0"/>
          </a:p>
        </p:txBody>
      </p:sp>
      <p:sp>
        <p:nvSpPr>
          <p:cNvPr id="50" name="Shape 48"/>
          <p:cNvSpPr/>
          <p:nvPr/>
        </p:nvSpPr>
        <p:spPr>
          <a:xfrm>
            <a:off x="4617720" y="3337560"/>
            <a:ext cx="4251960" cy="1325880"/>
          </a:xfrm>
          <a:prstGeom prst="rect">
            <a:avLst/>
          </a:prstGeom>
          <a:solidFill>
            <a:srgbClr val="1B3A5C"/>
          </a:solidFill>
          <a:ln w="12700">
            <a:solidFill>
              <a:srgbClr val="1B3A5C"/>
            </a:solidFill>
            <a:prstDash val="solid"/>
          </a:ln>
        </p:spPr>
      </p:sp>
      <p:sp>
        <p:nvSpPr>
          <p:cNvPr id="51" name="Shape 49"/>
          <p:cNvSpPr/>
          <p:nvPr/>
        </p:nvSpPr>
        <p:spPr>
          <a:xfrm>
            <a:off x="4617720" y="3337560"/>
            <a:ext cx="64008" cy="1325880"/>
          </a:xfrm>
          <a:prstGeom prst="rect">
            <a:avLst/>
          </a:prstGeom>
          <a:solidFill>
            <a:srgbClr val="0A7E8C"/>
          </a:solidFill>
          <a:ln w="12700">
            <a:solidFill>
              <a:srgbClr val="0A7E8C"/>
            </a:solidFill>
            <a:prstDash val="solid"/>
          </a:ln>
        </p:spPr>
      </p:sp>
      <p:sp>
        <p:nvSpPr>
          <p:cNvPr id="52" name="Text 50"/>
          <p:cNvSpPr/>
          <p:nvPr/>
        </p:nvSpPr>
        <p:spPr>
          <a:xfrm>
            <a:off x="4800600" y="3401568"/>
            <a:ext cx="3886200" cy="274320"/>
          </a:xfrm>
          <a:prstGeom prst="rect">
            <a:avLst/>
          </a:prstGeom>
          <a:noFill/>
          <a:ln/>
        </p:spPr>
        <p:txBody>
          <a:bodyPr wrap="square" lIns="0" tIns="0" rIns="0" bIns="0" rtlCol="0" anchor="ctr"/>
          <a:lstStyle/>
          <a:p>
            <a:pPr indent="0" marL="0">
              <a:buNone/>
            </a:pPr>
            <a:r>
              <a:rPr lang="en-US" sz="1300" b="1" dirty="0">
                <a:solidFill>
                  <a:srgbClr val="0FB3C5"/>
                </a:solidFill>
                <a:latin typeface="Calibri" pitchFamily="34" charset="0"/>
                <a:ea typeface="Calibri" pitchFamily="34" charset="-122"/>
                <a:cs typeface="Calibri" pitchFamily="34" charset="-120"/>
              </a:rPr>
              <a:t>Timing Constraints (SWaT)</a:t>
            </a:r>
            <a:endParaRPr lang="en-US" sz="1300" dirty="0"/>
          </a:p>
        </p:txBody>
      </p:sp>
      <p:sp>
        <p:nvSpPr>
          <p:cNvPr id="53" name="Text 51"/>
          <p:cNvSpPr/>
          <p:nvPr/>
        </p:nvSpPr>
        <p:spPr>
          <a:xfrm>
            <a:off x="4800600" y="3749040"/>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PLC polling cycle: 1–2 seconds</a:t>
            </a:r>
            <a:endParaRPr lang="en-US" sz="1000" dirty="0"/>
          </a:p>
        </p:txBody>
      </p:sp>
      <p:sp>
        <p:nvSpPr>
          <p:cNvPr id="54" name="Text 52"/>
          <p:cNvSpPr/>
          <p:nvPr/>
        </p:nvSpPr>
        <p:spPr>
          <a:xfrm>
            <a:off x="4800600" y="3922776"/>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 check: &lt;1 ms (rule lookup)</a:t>
            </a:r>
            <a:endParaRPr lang="en-US" sz="1000" dirty="0"/>
          </a:p>
        </p:txBody>
      </p:sp>
      <p:sp>
        <p:nvSpPr>
          <p:cNvPr id="55" name="Text 53"/>
          <p:cNvSpPr/>
          <p:nvPr/>
        </p:nvSpPr>
        <p:spPr>
          <a:xfrm>
            <a:off x="4800600" y="4096512"/>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AE inference: ~8 ms (GPU) / ~45 ms (CPU)</a:t>
            </a:r>
            <a:endParaRPr lang="en-US" sz="1000" dirty="0"/>
          </a:p>
        </p:txBody>
      </p:sp>
      <p:sp>
        <p:nvSpPr>
          <p:cNvPr id="56" name="Text 54"/>
          <p:cNvSpPr/>
          <p:nvPr/>
        </p:nvSpPr>
        <p:spPr>
          <a:xfrm>
            <a:off x="4800600" y="4270248"/>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Total detection latency: &lt;50 ms per cycle</a:t>
            </a:r>
            <a:endParaRPr lang="en-US" sz="1000" dirty="0"/>
          </a:p>
        </p:txBody>
      </p:sp>
      <p:sp>
        <p:nvSpPr>
          <p:cNvPr id="57" name="Text 55"/>
          <p:cNvSpPr/>
          <p:nvPr/>
        </p:nvSpPr>
        <p:spPr>
          <a:xfrm>
            <a:off x="4800600" y="4443984"/>
            <a:ext cx="3886200" cy="164592"/>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3-cycle confirmation: 3–6 seconds to alert</a:t>
            </a:r>
            <a:endParaRPr lang="en-US" sz="1000" dirty="0"/>
          </a:p>
        </p:txBody>
      </p:sp>
      <p:sp>
        <p:nvSpPr>
          <p:cNvPr id="58" name="Shape 56"/>
          <p:cNvSpPr/>
          <p:nvPr/>
        </p:nvSpPr>
        <p:spPr>
          <a:xfrm>
            <a:off x="0" y="4754880"/>
            <a:ext cx="9144000" cy="384048"/>
          </a:xfrm>
          <a:prstGeom prst="rect">
            <a:avLst/>
          </a:prstGeom>
          <a:solidFill>
            <a:srgbClr val="1B3A5C"/>
          </a:solidFill>
          <a:ln w="12700">
            <a:solidFill>
              <a:srgbClr val="1B3A5C"/>
            </a:solidFill>
            <a:prstDash val="solid"/>
          </a:ln>
        </p:spPr>
      </p:sp>
      <p:sp>
        <p:nvSpPr>
          <p:cNvPr id="59" name="Text 57"/>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Layer 3 — Fusion</a:t>
            </a:r>
            <a:endParaRPr lang="en-US" sz="10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E44AD"/>
          </a:solidFill>
          <a:ln w="12700">
            <a:solidFill>
              <a:srgbClr val="8E44AD"/>
            </a:solidFill>
            <a:prstDash val="solid"/>
          </a:ln>
        </p:spPr>
      </p:sp>
      <p:sp>
        <p:nvSpPr>
          <p:cNvPr id="3" name="Text 1"/>
          <p:cNvSpPr/>
          <p:nvPr/>
        </p:nvSpPr>
        <p:spPr>
          <a:xfrm>
            <a:off x="365760" y="164592"/>
            <a:ext cx="8412480" cy="47548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the Hybrid Defeats Paper #31's Evasion</a:t>
            </a:r>
            <a:endParaRPr lang="en-US" sz="2600" dirty="0"/>
          </a:p>
        </p:txBody>
      </p:sp>
      <p:sp>
        <p:nvSpPr>
          <p:cNvPr id="4" name="Text 2"/>
          <p:cNvSpPr/>
          <p:nvPr/>
        </p:nvSpPr>
        <p:spPr>
          <a:xfrm>
            <a:off x="365760" y="640080"/>
            <a:ext cx="841248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The adversarial autoencoder can fool the ML layer — but it cannot satisfy physics simultaneously</a:t>
            </a:r>
            <a:endParaRPr lang="en-US" sz="1200" dirty="0"/>
          </a:p>
        </p:txBody>
      </p:sp>
      <p:sp>
        <p:nvSpPr>
          <p:cNvPr id="5" name="Shape 3"/>
          <p:cNvSpPr/>
          <p:nvPr/>
        </p:nvSpPr>
        <p:spPr>
          <a:xfrm>
            <a:off x="228600" y="987552"/>
            <a:ext cx="4206240" cy="3749040"/>
          </a:xfrm>
          <a:prstGeom prst="rect">
            <a:avLst/>
          </a:prstGeom>
          <a:solidFill>
            <a:srgbClr val="1B3A5C"/>
          </a:solidFill>
          <a:ln w="12700">
            <a:solidFill>
              <a:srgbClr val="1B3A5C"/>
            </a:solidFill>
            <a:prstDash val="solid"/>
          </a:ln>
        </p:spPr>
      </p:sp>
      <p:sp>
        <p:nvSpPr>
          <p:cNvPr id="6" name="Shape 4"/>
          <p:cNvSpPr/>
          <p:nvPr/>
        </p:nvSpPr>
        <p:spPr>
          <a:xfrm>
            <a:off x="228600" y="987552"/>
            <a:ext cx="64008" cy="3749040"/>
          </a:xfrm>
          <a:prstGeom prst="rect">
            <a:avLst/>
          </a:prstGeom>
          <a:solidFill>
            <a:srgbClr val="8E44AD"/>
          </a:solidFill>
          <a:ln w="12700">
            <a:solidFill>
              <a:srgbClr val="8E44AD"/>
            </a:solidFill>
            <a:prstDash val="solid"/>
          </a:ln>
        </p:spPr>
      </p:sp>
      <p:sp>
        <p:nvSpPr>
          <p:cNvPr id="7" name="Text 5"/>
          <p:cNvSpPr/>
          <p:nvPr/>
        </p:nvSpPr>
        <p:spPr>
          <a:xfrm>
            <a:off x="411480" y="1051560"/>
            <a:ext cx="3840480" cy="320040"/>
          </a:xfrm>
          <a:prstGeom prst="rect">
            <a:avLst/>
          </a:prstGeom>
          <a:noFill/>
          <a:ln/>
        </p:spPr>
        <p:txBody>
          <a:bodyPr wrap="square" lIns="0" tIns="0" rIns="0" bIns="0" rtlCol="0" anchor="ctr"/>
          <a:lstStyle/>
          <a:p>
            <a:pPr indent="0" marL="0">
              <a:buNone/>
            </a:pPr>
            <a:r>
              <a:rPr lang="en-US" sz="1500" b="1" dirty="0">
                <a:solidFill>
                  <a:srgbClr val="D4A8FF"/>
                </a:solidFill>
                <a:latin typeface="Calibri" pitchFamily="34" charset="0"/>
                <a:ea typeface="Calibri" pitchFamily="34" charset="-122"/>
                <a:cs typeface="Calibri" pitchFamily="34" charset="-120"/>
              </a:rPr>
              <a:t>The Attacker's Dilemma</a:t>
            </a:r>
            <a:endParaRPr lang="en-US" sz="1500" dirty="0"/>
          </a:p>
        </p:txBody>
      </p:sp>
      <p:sp>
        <p:nvSpPr>
          <p:cNvPr id="8" name="Text 6"/>
          <p:cNvSpPr/>
          <p:nvPr/>
        </p:nvSpPr>
        <p:spPr>
          <a:xfrm>
            <a:off x="411480" y="1417320"/>
            <a:ext cx="3840480" cy="256032"/>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Paper #31 trains a perturbation network δ(x) such that:</a:t>
            </a:r>
            <a:endParaRPr lang="en-US" sz="1050" dirty="0"/>
          </a:p>
        </p:txBody>
      </p:sp>
      <p:sp>
        <p:nvSpPr>
          <p:cNvPr id="9" name="Shape 7"/>
          <p:cNvSpPr/>
          <p:nvPr/>
        </p:nvSpPr>
        <p:spPr>
          <a:xfrm>
            <a:off x="365760" y="1719072"/>
            <a:ext cx="3931920" cy="566928"/>
          </a:xfrm>
          <a:prstGeom prst="rect">
            <a:avLst/>
          </a:prstGeom>
          <a:solidFill>
            <a:srgbClr val="0A0F1A"/>
          </a:solidFill>
          <a:ln w="12700">
            <a:solidFill>
              <a:srgbClr val="0A0F1A"/>
            </a:solidFill>
            <a:prstDash val="solid"/>
          </a:ln>
        </p:spPr>
      </p:sp>
      <p:sp>
        <p:nvSpPr>
          <p:cNvPr id="10" name="Text 8"/>
          <p:cNvSpPr/>
          <p:nvPr/>
        </p:nvSpPr>
        <p:spPr>
          <a:xfrm>
            <a:off x="457200" y="1755648"/>
            <a:ext cx="3749040" cy="502920"/>
          </a:xfrm>
          <a:prstGeom prst="rect">
            <a:avLst/>
          </a:prstGeom>
          <a:noFill/>
          <a:ln/>
        </p:spPr>
        <p:txBody>
          <a:bodyPr wrap="square" lIns="0" tIns="0" rIns="0" bIns="0" rtlCol="0" anchor="ctr"/>
          <a:lstStyle/>
          <a:p>
            <a:pPr indent="0" marL="0">
              <a:buNone/>
            </a:pPr>
            <a:r>
              <a:rPr lang="en-US" sz="1200" dirty="0">
                <a:solidFill>
                  <a:srgbClr val="0FB3C5"/>
                </a:solidFill>
                <a:latin typeface="Consolas" pitchFamily="34" charset="0"/>
                <a:ea typeface="Consolas" pitchFamily="34" charset="-122"/>
                <a:cs typeface="Consolas" pitchFamily="34" charset="-120"/>
              </a:rPr>
              <a:t>MSE_detector( x + δ ) ≈ 0</a:t>
            </a:r>
            <a:endParaRPr lang="en-US" sz="1200" dirty="0"/>
          </a:p>
          <a:p>
            <a:pPr indent="0" marL="0">
              <a:buNone/>
            </a:pPr>
            <a:r>
              <a:rPr lang="en-US" sz="1200" dirty="0">
                <a:solidFill>
                  <a:srgbClr val="0FB3C5"/>
                </a:solidFill>
                <a:latin typeface="Consolas" pitchFamily="34" charset="0"/>
                <a:ea typeface="Consolas" pitchFamily="34" charset="-122"/>
                <a:cs typeface="Consolas" pitchFamily="34" charset="-120"/>
              </a:rPr>
              <a:t>‖δ‖∞  ≤  ε  =  0.1</a:t>
            </a:r>
            <a:endParaRPr lang="en-US" sz="1200" dirty="0"/>
          </a:p>
        </p:txBody>
      </p:sp>
      <p:sp>
        <p:nvSpPr>
          <p:cNvPr id="11" name="Text 9"/>
          <p:cNvSpPr/>
          <p:nvPr/>
        </p:nvSpPr>
        <p:spPr>
          <a:xfrm>
            <a:off x="411480" y="2340864"/>
            <a:ext cx="3840480" cy="256032"/>
          </a:xfrm>
          <a:prstGeom prst="rect">
            <a:avLst/>
          </a:prstGeom>
          <a:noFill/>
          <a:ln/>
        </p:spPr>
        <p:txBody>
          <a:bodyPr wrap="square" lIns="0" tIns="0" rIns="0" bIns="0"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This successfully evades the AE (Layer 2). But:</a:t>
            </a:r>
            <a:endParaRPr lang="en-US" sz="1050" dirty="0"/>
          </a:p>
        </p:txBody>
      </p:sp>
      <p:sp>
        <p:nvSpPr>
          <p:cNvPr id="12" name="Shape 10"/>
          <p:cNvSpPr/>
          <p:nvPr/>
        </p:nvSpPr>
        <p:spPr>
          <a:xfrm>
            <a:off x="365760" y="2670048"/>
            <a:ext cx="256032" cy="256032"/>
          </a:xfrm>
          <a:prstGeom prst="rect">
            <a:avLst/>
          </a:prstGeom>
          <a:solidFill>
            <a:srgbClr val="E74C3C"/>
          </a:solidFill>
          <a:ln w="12700">
            <a:solidFill>
              <a:srgbClr val="E74C3C"/>
            </a:solidFill>
            <a:prstDash val="solid"/>
          </a:ln>
        </p:spPr>
      </p:sp>
      <p:sp>
        <p:nvSpPr>
          <p:cNvPr id="13" name="Text 11"/>
          <p:cNvSpPr/>
          <p:nvPr/>
        </p:nvSpPr>
        <p:spPr>
          <a:xfrm>
            <a:off x="365760" y="26700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685800" y="2679192"/>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δ on sensor readings ≠</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δ on physical state</a:t>
            </a:r>
            <a:endParaRPr lang="en-US" sz="1050" dirty="0"/>
          </a:p>
        </p:txBody>
      </p:sp>
      <p:sp>
        <p:nvSpPr>
          <p:cNvPr id="15" name="Text 13"/>
          <p:cNvSpPr/>
          <p:nvPr/>
        </p:nvSpPr>
        <p:spPr>
          <a:xfrm>
            <a:off x="411480" y="2962656"/>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The real P101 is still OFF. The real MV101 is still CLOSED. Perturbing sensor readings reported to HMI does not change what the PLC actually commands.</a:t>
            </a:r>
            <a:endParaRPr lang="en-US" sz="950" dirty="0"/>
          </a:p>
        </p:txBody>
      </p:sp>
      <p:sp>
        <p:nvSpPr>
          <p:cNvPr id="16" name="Shape 14"/>
          <p:cNvSpPr/>
          <p:nvPr/>
        </p:nvSpPr>
        <p:spPr>
          <a:xfrm>
            <a:off x="365760" y="3337560"/>
            <a:ext cx="256032" cy="256032"/>
          </a:xfrm>
          <a:prstGeom prst="rect">
            <a:avLst/>
          </a:prstGeom>
          <a:solidFill>
            <a:srgbClr val="E74C3C"/>
          </a:solidFill>
          <a:ln w="12700">
            <a:solidFill>
              <a:srgbClr val="E74C3C"/>
            </a:solidFill>
            <a:prstDash val="solid"/>
          </a:ln>
        </p:spPr>
      </p:sp>
      <p:sp>
        <p:nvSpPr>
          <p:cNvPr id="17" name="Text 15"/>
          <p:cNvSpPr/>
          <p:nvPr/>
        </p:nvSpPr>
        <p:spPr>
          <a:xfrm>
            <a:off x="365760" y="33375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85800" y="3346704"/>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Invariant I-7 checks</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actuator register state</a:t>
            </a:r>
            <a:endParaRPr lang="en-US" sz="1050" dirty="0"/>
          </a:p>
        </p:txBody>
      </p:sp>
      <p:sp>
        <p:nvSpPr>
          <p:cNvPr id="19" name="Text 17"/>
          <p:cNvSpPr/>
          <p:nvPr/>
        </p:nvSpPr>
        <p:spPr>
          <a:xfrm>
            <a:off x="411480" y="3630168"/>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Layer 1 reads directly from PLC coil registers — not from Modbus responses replayed to HMI. The attack cannot spoof both simultaneously.</a:t>
            </a:r>
            <a:endParaRPr lang="en-US" sz="950" dirty="0"/>
          </a:p>
        </p:txBody>
      </p:sp>
      <p:sp>
        <p:nvSpPr>
          <p:cNvPr id="20" name="Shape 18"/>
          <p:cNvSpPr/>
          <p:nvPr/>
        </p:nvSpPr>
        <p:spPr>
          <a:xfrm>
            <a:off x="365760" y="4005072"/>
            <a:ext cx="256032" cy="256032"/>
          </a:xfrm>
          <a:prstGeom prst="rect">
            <a:avLst/>
          </a:prstGeom>
          <a:solidFill>
            <a:srgbClr val="E74C3C"/>
          </a:solidFill>
          <a:ln w="12700">
            <a:solidFill>
              <a:srgbClr val="E74C3C"/>
            </a:solidFill>
            <a:prstDash val="solid"/>
          </a:ln>
        </p:spPr>
      </p:sp>
      <p:sp>
        <p:nvSpPr>
          <p:cNvPr id="21" name="Text 19"/>
          <p:cNvSpPr/>
          <p:nvPr/>
        </p:nvSpPr>
        <p:spPr>
          <a:xfrm>
            <a:off x="365760" y="4005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685800" y="4014216"/>
            <a:ext cx="3657600" cy="256032"/>
          </a:xfrm>
          <a:prstGeom prst="rect">
            <a:avLst/>
          </a:prstGeom>
          <a:noFill/>
          <a:ln/>
        </p:spPr>
        <p:txBody>
          <a:bodyPr wrap="square" lIns="0" tIns="0" rIns="0" bIns="0" rtlCol="0" anchor="ctr"/>
          <a:lstStyle/>
          <a:p>
            <a:pPr indent="0" marL="0">
              <a:buNone/>
            </a:pPr>
            <a:r>
              <a:rPr lang="en-US" sz="1050" b="1" dirty="0">
                <a:solidFill>
                  <a:srgbClr val="D4A8FF"/>
                </a:solidFill>
                <a:latin typeface="Calibri" pitchFamily="34" charset="0"/>
                <a:ea typeface="Calibri" pitchFamily="34" charset="-122"/>
                <a:cs typeface="Calibri" pitchFamily="34" charset="-120"/>
              </a:rPr>
              <a:t>Constraint violation is</a:t>
            </a:r>
            <a:endParaRPr lang="en-US" sz="1050" dirty="0"/>
          </a:p>
          <a:p>
            <a:pPr indent="0" marL="0">
              <a:buNone/>
            </a:pPr>
            <a:r>
              <a:rPr lang="en-US" sz="1050" b="1" dirty="0">
                <a:solidFill>
                  <a:srgbClr val="D4A8FF"/>
                </a:solidFill>
                <a:latin typeface="Calibri" pitchFamily="34" charset="0"/>
                <a:ea typeface="Calibri" pitchFamily="34" charset="-122"/>
                <a:cs typeface="Calibri" pitchFamily="34" charset="-120"/>
              </a:rPr>
              <a:t>deterministic, not probabilistic</a:t>
            </a:r>
            <a:endParaRPr lang="en-US" sz="1050" dirty="0"/>
          </a:p>
        </p:txBody>
      </p:sp>
      <p:sp>
        <p:nvSpPr>
          <p:cNvPr id="23" name="Text 21"/>
          <p:cNvSpPr/>
          <p:nvPr/>
        </p:nvSpPr>
        <p:spPr>
          <a:xfrm>
            <a:off x="411480" y="4297680"/>
            <a:ext cx="3886200" cy="34747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P101 ON + MV101 CLOSED is physically impossible regardless of what the sensor timeseries says. Physics does not average over distributions.</a:t>
            </a:r>
            <a:endParaRPr lang="en-US" sz="950" dirty="0"/>
          </a:p>
        </p:txBody>
      </p:sp>
      <p:sp>
        <p:nvSpPr>
          <p:cNvPr id="24" name="Shape 22"/>
          <p:cNvSpPr/>
          <p:nvPr/>
        </p:nvSpPr>
        <p:spPr>
          <a:xfrm>
            <a:off x="4617720" y="987552"/>
            <a:ext cx="4297680" cy="3749040"/>
          </a:xfrm>
          <a:prstGeom prst="rect">
            <a:avLst/>
          </a:prstGeom>
          <a:solidFill>
            <a:srgbClr val="1B3A5C"/>
          </a:solidFill>
          <a:ln w="12700">
            <a:solidFill>
              <a:srgbClr val="1B3A5C"/>
            </a:solidFill>
            <a:prstDash val="solid"/>
          </a:ln>
        </p:spPr>
      </p:sp>
      <p:sp>
        <p:nvSpPr>
          <p:cNvPr id="25" name="Shape 23"/>
          <p:cNvSpPr/>
          <p:nvPr/>
        </p:nvSpPr>
        <p:spPr>
          <a:xfrm>
            <a:off x="4617720" y="987552"/>
            <a:ext cx="64008" cy="3749040"/>
          </a:xfrm>
          <a:prstGeom prst="rect">
            <a:avLst/>
          </a:prstGeom>
          <a:solidFill>
            <a:srgbClr val="E74C3C"/>
          </a:solidFill>
          <a:ln w="12700">
            <a:solidFill>
              <a:srgbClr val="E74C3C"/>
            </a:solidFill>
            <a:prstDash val="solid"/>
          </a:ln>
        </p:spPr>
      </p:sp>
      <p:sp>
        <p:nvSpPr>
          <p:cNvPr id="26" name="Text 24"/>
          <p:cNvSpPr/>
          <p:nvPr/>
        </p:nvSpPr>
        <p:spPr>
          <a:xfrm>
            <a:off x="4800600" y="1051560"/>
            <a:ext cx="3931920" cy="320040"/>
          </a:xfrm>
          <a:prstGeom prst="rect">
            <a:avLst/>
          </a:prstGeom>
          <a:noFill/>
          <a:ln/>
        </p:spPr>
        <p:txBody>
          <a:bodyPr wrap="square" lIns="0" tIns="0" rIns="0" bIns="0" rtlCol="0" anchor="ctr"/>
          <a:lstStyle/>
          <a:p>
            <a:pPr indent="0" marL="0">
              <a:buNone/>
            </a:pPr>
            <a:r>
              <a:rPr lang="en-US" sz="1400" b="1" dirty="0">
                <a:solidFill>
                  <a:srgbClr val="E8EEF4"/>
                </a:solidFill>
                <a:latin typeface="Calibri" pitchFamily="34" charset="0"/>
                <a:ea typeface="Calibri" pitchFamily="34" charset="-122"/>
                <a:cs typeface="Calibri" pitchFamily="34" charset="-120"/>
              </a:rPr>
              <a:t>Attack Timeline Under Hybrid Defense</a:t>
            </a:r>
            <a:endParaRPr lang="en-US" sz="1400" dirty="0"/>
          </a:p>
        </p:txBody>
      </p:sp>
      <p:sp>
        <p:nvSpPr>
          <p:cNvPr id="27" name="Shape 25"/>
          <p:cNvSpPr/>
          <p:nvPr/>
        </p:nvSpPr>
        <p:spPr>
          <a:xfrm>
            <a:off x="4754880" y="1444752"/>
            <a:ext cx="594360" cy="347472"/>
          </a:xfrm>
          <a:prstGeom prst="rect">
            <a:avLst/>
          </a:prstGeom>
          <a:solidFill>
            <a:srgbClr val="8FA3B1"/>
          </a:solidFill>
          <a:ln w="12700">
            <a:solidFill>
              <a:srgbClr val="8FA3B1"/>
            </a:solidFill>
            <a:prstDash val="solid"/>
          </a:ln>
        </p:spPr>
      </p:sp>
      <p:sp>
        <p:nvSpPr>
          <p:cNvPr id="28" name="Text 26"/>
          <p:cNvSpPr/>
          <p:nvPr/>
        </p:nvSpPr>
        <p:spPr>
          <a:xfrm>
            <a:off x="4754880" y="1444752"/>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t=0s</a:t>
            </a:r>
            <a:endParaRPr lang="en-US" sz="950" dirty="0"/>
          </a:p>
        </p:txBody>
      </p:sp>
      <p:sp>
        <p:nvSpPr>
          <p:cNvPr id="29" name="Text 27"/>
          <p:cNvSpPr/>
          <p:nvPr/>
        </p:nvSpPr>
        <p:spPr>
          <a:xfrm>
            <a:off x="5413248" y="1453896"/>
            <a:ext cx="1097280" cy="182880"/>
          </a:xfrm>
          <a:prstGeom prst="rect">
            <a:avLst/>
          </a:prstGeom>
          <a:noFill/>
          <a:ln/>
        </p:spPr>
        <p:txBody>
          <a:bodyPr wrap="square" lIns="0" tIns="0" rIns="0" bIns="0" rtlCol="0" anchor="ctr"/>
          <a:lstStyle/>
          <a:p>
            <a:pPr indent="0" marL="0">
              <a:buNone/>
            </a:pPr>
            <a:r>
              <a:rPr lang="en-US" sz="1000" b="1" dirty="0">
                <a:solidFill>
                  <a:srgbClr val="8FA3B1"/>
                </a:solidFill>
                <a:latin typeface="Calibri" pitchFamily="34" charset="0"/>
                <a:ea typeface="Calibri" pitchFamily="34" charset="-122"/>
                <a:cs typeface="Calibri" pitchFamily="34" charset="-120"/>
              </a:rPr>
              <a:t>Phase 0</a:t>
            </a:r>
            <a:endParaRPr lang="en-US" sz="1000" dirty="0"/>
          </a:p>
        </p:txBody>
      </p:sp>
      <p:sp>
        <p:nvSpPr>
          <p:cNvPr id="30" name="Text 28"/>
          <p:cNvSpPr/>
          <p:nvPr/>
        </p:nvSpPr>
        <p:spPr>
          <a:xfrm>
            <a:off x="5413248" y="1627632"/>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ARP poisoning begins, MITM established</a:t>
            </a:r>
            <a:endParaRPr lang="en-US" sz="950" dirty="0"/>
          </a:p>
        </p:txBody>
      </p:sp>
      <p:sp>
        <p:nvSpPr>
          <p:cNvPr id="31" name="Shape 29"/>
          <p:cNvSpPr/>
          <p:nvPr/>
        </p:nvSpPr>
        <p:spPr>
          <a:xfrm>
            <a:off x="4754880" y="1911096"/>
            <a:ext cx="594360" cy="347472"/>
          </a:xfrm>
          <a:prstGeom prst="rect">
            <a:avLst/>
          </a:prstGeom>
          <a:solidFill>
            <a:srgbClr val="F39C12"/>
          </a:solidFill>
          <a:ln w="12700">
            <a:solidFill>
              <a:srgbClr val="F39C12"/>
            </a:solidFill>
            <a:prstDash val="solid"/>
          </a:ln>
        </p:spPr>
      </p:sp>
      <p:sp>
        <p:nvSpPr>
          <p:cNvPr id="32" name="Text 30"/>
          <p:cNvSpPr/>
          <p:nvPr/>
        </p:nvSpPr>
        <p:spPr>
          <a:xfrm>
            <a:off x="4754880" y="1911096"/>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t=5s</a:t>
            </a:r>
            <a:endParaRPr lang="en-US" sz="950" dirty="0"/>
          </a:p>
        </p:txBody>
      </p:sp>
      <p:sp>
        <p:nvSpPr>
          <p:cNvPr id="33" name="Text 31"/>
          <p:cNvSpPr/>
          <p:nvPr/>
        </p:nvSpPr>
        <p:spPr>
          <a:xfrm>
            <a:off x="5413248" y="1920240"/>
            <a:ext cx="1097280" cy="182880"/>
          </a:xfrm>
          <a:prstGeom prst="rect">
            <a:avLst/>
          </a:prstGeom>
          <a:noFill/>
          <a:ln/>
        </p:spPr>
        <p:txBody>
          <a:bodyPr wrap="square" lIns="0" tIns="0" rIns="0" bIns="0"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Phase 1</a:t>
            </a:r>
            <a:endParaRPr lang="en-US" sz="1000" dirty="0"/>
          </a:p>
        </p:txBody>
      </p:sp>
      <p:sp>
        <p:nvSpPr>
          <p:cNvPr id="34" name="Text 32"/>
          <p:cNvSpPr/>
          <p:nvPr/>
        </p:nvSpPr>
        <p:spPr>
          <a:xfrm>
            <a:off x="5413248" y="2093976"/>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False write: P101 OFF, MV101 CLOSED injected to PLC1</a:t>
            </a:r>
            <a:endParaRPr lang="en-US" sz="950" dirty="0"/>
          </a:p>
        </p:txBody>
      </p:sp>
      <p:sp>
        <p:nvSpPr>
          <p:cNvPr id="35" name="Shape 33"/>
          <p:cNvSpPr/>
          <p:nvPr/>
        </p:nvSpPr>
        <p:spPr>
          <a:xfrm>
            <a:off x="4754880" y="2377440"/>
            <a:ext cx="594360" cy="347472"/>
          </a:xfrm>
          <a:prstGeom prst="rect">
            <a:avLst/>
          </a:prstGeom>
          <a:solidFill>
            <a:srgbClr val="E74C3C"/>
          </a:solidFill>
          <a:ln w="12700">
            <a:solidFill>
              <a:srgbClr val="E74C3C"/>
            </a:solidFill>
            <a:prstDash val="solid"/>
          </a:ln>
        </p:spPr>
      </p:sp>
      <p:sp>
        <p:nvSpPr>
          <p:cNvPr id="36" name="Text 34"/>
          <p:cNvSpPr/>
          <p:nvPr/>
        </p:nvSpPr>
        <p:spPr>
          <a:xfrm>
            <a:off x="4754880" y="2377440"/>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t=6s</a:t>
            </a:r>
            <a:endParaRPr lang="en-US" sz="950" dirty="0"/>
          </a:p>
        </p:txBody>
      </p:sp>
      <p:sp>
        <p:nvSpPr>
          <p:cNvPr id="37" name="Text 35"/>
          <p:cNvSpPr/>
          <p:nvPr/>
        </p:nvSpPr>
        <p:spPr>
          <a:xfrm>
            <a:off x="5413248" y="2386584"/>
            <a:ext cx="1097280" cy="182880"/>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L1 FIRES</a:t>
            </a:r>
            <a:endParaRPr lang="en-US" sz="1000" dirty="0"/>
          </a:p>
        </p:txBody>
      </p:sp>
      <p:sp>
        <p:nvSpPr>
          <p:cNvPr id="38" name="Text 36"/>
          <p:cNvSpPr/>
          <p:nvPr/>
        </p:nvSpPr>
        <p:spPr>
          <a:xfrm>
            <a:off x="5413248" y="2560320"/>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Invariant I-7 triggers: P101=ON coil state + MV101=CLOSED</a:t>
            </a:r>
            <a:endParaRPr lang="en-US" sz="950" dirty="0"/>
          </a:p>
        </p:txBody>
      </p:sp>
      <p:sp>
        <p:nvSpPr>
          <p:cNvPr id="39" name="Shape 37"/>
          <p:cNvSpPr/>
          <p:nvPr/>
        </p:nvSpPr>
        <p:spPr>
          <a:xfrm>
            <a:off x="4754880" y="2843784"/>
            <a:ext cx="594360" cy="347472"/>
          </a:xfrm>
          <a:prstGeom prst="rect">
            <a:avLst/>
          </a:prstGeom>
          <a:solidFill>
            <a:srgbClr val="2196F3"/>
          </a:solidFill>
          <a:ln w="12700">
            <a:solidFill>
              <a:srgbClr val="2196F3"/>
            </a:solidFill>
            <a:prstDash val="solid"/>
          </a:ln>
        </p:spPr>
      </p:sp>
      <p:sp>
        <p:nvSpPr>
          <p:cNvPr id="40" name="Text 38"/>
          <p:cNvSpPr/>
          <p:nvPr/>
        </p:nvSpPr>
        <p:spPr>
          <a:xfrm>
            <a:off x="4754880" y="2843784"/>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t=7s</a:t>
            </a:r>
            <a:endParaRPr lang="en-US" sz="950" dirty="0"/>
          </a:p>
        </p:txBody>
      </p:sp>
      <p:sp>
        <p:nvSpPr>
          <p:cNvPr id="41" name="Text 39"/>
          <p:cNvSpPr/>
          <p:nvPr/>
        </p:nvSpPr>
        <p:spPr>
          <a:xfrm>
            <a:off x="5413248" y="2852928"/>
            <a:ext cx="1097280" cy="182880"/>
          </a:xfrm>
          <a:prstGeom prst="rect">
            <a:avLst/>
          </a:prstGeom>
          <a:noFill/>
          <a:ln/>
        </p:spPr>
        <p:txBody>
          <a:bodyPr wrap="square" lIns="0" tIns="0" rIns="0" bIns="0" rtlCol="0" anchor="ctr"/>
          <a:lstStyle/>
          <a:p>
            <a:pPr indent="0" marL="0">
              <a:buNone/>
            </a:pPr>
            <a:r>
              <a:rPr lang="en-US" sz="1000" b="1" dirty="0">
                <a:solidFill>
                  <a:srgbClr val="2196F3"/>
                </a:solidFill>
                <a:latin typeface="Calibri" pitchFamily="34" charset="0"/>
                <a:ea typeface="Calibri" pitchFamily="34" charset="-122"/>
                <a:cs typeface="Calibri" pitchFamily="34" charset="-120"/>
              </a:rPr>
              <a:t>Phase 2</a:t>
            </a:r>
            <a:endParaRPr lang="en-US" sz="1000" dirty="0"/>
          </a:p>
        </p:txBody>
      </p:sp>
      <p:sp>
        <p:nvSpPr>
          <p:cNvPr id="42" name="Text 40"/>
          <p:cNvSpPr/>
          <p:nvPr/>
        </p:nvSpPr>
        <p:spPr>
          <a:xfrm>
            <a:off x="5413248" y="3026664"/>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Adversarial sensor spoof begins — δ injected into Modbus replies</a:t>
            </a:r>
            <a:endParaRPr lang="en-US" sz="950" dirty="0"/>
          </a:p>
        </p:txBody>
      </p:sp>
      <p:sp>
        <p:nvSpPr>
          <p:cNvPr id="43" name="Shape 41"/>
          <p:cNvSpPr/>
          <p:nvPr/>
        </p:nvSpPr>
        <p:spPr>
          <a:xfrm>
            <a:off x="4754880" y="3310128"/>
            <a:ext cx="594360" cy="347472"/>
          </a:xfrm>
          <a:prstGeom prst="rect">
            <a:avLst/>
          </a:prstGeom>
          <a:solidFill>
            <a:srgbClr val="2ECC71"/>
          </a:solidFill>
          <a:ln w="12700">
            <a:solidFill>
              <a:srgbClr val="2ECC71"/>
            </a:solidFill>
            <a:prstDash val="solid"/>
          </a:ln>
        </p:spPr>
      </p:sp>
      <p:sp>
        <p:nvSpPr>
          <p:cNvPr id="44" name="Text 42"/>
          <p:cNvSpPr/>
          <p:nvPr/>
        </p:nvSpPr>
        <p:spPr>
          <a:xfrm>
            <a:off x="4754880" y="3310128"/>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t=8s</a:t>
            </a:r>
            <a:endParaRPr lang="en-US" sz="950" dirty="0"/>
          </a:p>
        </p:txBody>
      </p:sp>
      <p:sp>
        <p:nvSpPr>
          <p:cNvPr id="45" name="Text 43"/>
          <p:cNvSpPr/>
          <p:nvPr/>
        </p:nvSpPr>
        <p:spPr>
          <a:xfrm>
            <a:off x="5413248" y="3319272"/>
            <a:ext cx="1097280" cy="182880"/>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L2 evaded</a:t>
            </a:r>
            <a:endParaRPr lang="en-US" sz="1000" dirty="0"/>
          </a:p>
        </p:txBody>
      </p:sp>
      <p:sp>
        <p:nvSpPr>
          <p:cNvPr id="46" name="Text 44"/>
          <p:cNvSpPr/>
          <p:nvPr/>
        </p:nvSpPr>
        <p:spPr>
          <a:xfrm>
            <a:off x="5413248" y="3493008"/>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AE reconstruction error stays below threshold (Paper #31 works)</a:t>
            </a:r>
            <a:endParaRPr lang="en-US" sz="950" dirty="0"/>
          </a:p>
        </p:txBody>
      </p:sp>
      <p:sp>
        <p:nvSpPr>
          <p:cNvPr id="47" name="Shape 45"/>
          <p:cNvSpPr/>
          <p:nvPr/>
        </p:nvSpPr>
        <p:spPr>
          <a:xfrm>
            <a:off x="4754880" y="3776472"/>
            <a:ext cx="594360" cy="347472"/>
          </a:xfrm>
          <a:prstGeom prst="rect">
            <a:avLst/>
          </a:prstGeom>
          <a:solidFill>
            <a:srgbClr val="E74C3C"/>
          </a:solidFill>
          <a:ln w="12700">
            <a:solidFill>
              <a:srgbClr val="E74C3C"/>
            </a:solidFill>
            <a:prstDash val="solid"/>
          </a:ln>
        </p:spPr>
      </p:sp>
      <p:sp>
        <p:nvSpPr>
          <p:cNvPr id="48" name="Text 46"/>
          <p:cNvSpPr/>
          <p:nvPr/>
        </p:nvSpPr>
        <p:spPr>
          <a:xfrm>
            <a:off x="4754880" y="3776472"/>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t=10s</a:t>
            </a:r>
            <a:endParaRPr lang="en-US" sz="950" dirty="0"/>
          </a:p>
        </p:txBody>
      </p:sp>
      <p:sp>
        <p:nvSpPr>
          <p:cNvPr id="49" name="Text 47"/>
          <p:cNvSpPr/>
          <p:nvPr/>
        </p:nvSpPr>
        <p:spPr>
          <a:xfrm>
            <a:off x="5413248" y="3785616"/>
            <a:ext cx="1097280" cy="182880"/>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ALERT</a:t>
            </a:r>
            <a:endParaRPr lang="en-US" sz="1000" dirty="0"/>
          </a:p>
        </p:txBody>
      </p:sp>
      <p:sp>
        <p:nvSpPr>
          <p:cNvPr id="50" name="Text 48"/>
          <p:cNvSpPr/>
          <p:nvPr/>
        </p:nvSpPr>
        <p:spPr>
          <a:xfrm>
            <a:off x="5413248" y="3959352"/>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Fusion: L1 weight=1.5 → threshold crossed → ALERT triggered</a:t>
            </a:r>
            <a:endParaRPr lang="en-US" sz="950" dirty="0"/>
          </a:p>
        </p:txBody>
      </p:sp>
      <p:sp>
        <p:nvSpPr>
          <p:cNvPr id="51" name="Shape 49"/>
          <p:cNvSpPr/>
          <p:nvPr/>
        </p:nvSpPr>
        <p:spPr>
          <a:xfrm>
            <a:off x="4754880" y="4242816"/>
            <a:ext cx="594360" cy="347472"/>
          </a:xfrm>
          <a:prstGeom prst="rect">
            <a:avLst/>
          </a:prstGeom>
          <a:solidFill>
            <a:srgbClr val="F39C12"/>
          </a:solidFill>
          <a:ln w="12700">
            <a:solidFill>
              <a:srgbClr val="F39C12"/>
            </a:solidFill>
            <a:prstDash val="solid"/>
          </a:ln>
        </p:spPr>
      </p:sp>
      <p:sp>
        <p:nvSpPr>
          <p:cNvPr id="52" name="Text 50"/>
          <p:cNvSpPr/>
          <p:nvPr/>
        </p:nvSpPr>
        <p:spPr>
          <a:xfrm>
            <a:off x="4754880" y="4242816"/>
            <a:ext cx="5943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t=11s</a:t>
            </a:r>
            <a:endParaRPr lang="en-US" sz="950" dirty="0"/>
          </a:p>
        </p:txBody>
      </p:sp>
      <p:sp>
        <p:nvSpPr>
          <p:cNvPr id="53" name="Text 51"/>
          <p:cNvSpPr/>
          <p:nvPr/>
        </p:nvSpPr>
        <p:spPr>
          <a:xfrm>
            <a:off x="5413248" y="4251960"/>
            <a:ext cx="1097280" cy="182880"/>
          </a:xfrm>
          <a:prstGeom prst="rect">
            <a:avLst/>
          </a:prstGeom>
          <a:noFill/>
          <a:ln/>
        </p:spPr>
        <p:txBody>
          <a:bodyPr wrap="square" lIns="0" tIns="0" rIns="0" bIns="0" rtlCol="0" anchor="ctr"/>
          <a:lstStyle/>
          <a:p>
            <a:pPr indent="0" marL="0">
              <a:buNone/>
            </a:pPr>
            <a:r>
              <a:rPr lang="en-US" sz="1000" b="1" dirty="0">
                <a:solidFill>
                  <a:srgbClr val="F39C12"/>
                </a:solidFill>
                <a:latin typeface="Calibri" pitchFamily="34" charset="0"/>
                <a:ea typeface="Calibri" pitchFamily="34" charset="-122"/>
                <a:cs typeface="Calibri" pitchFamily="34" charset="-120"/>
              </a:rPr>
              <a:t>Recovery</a:t>
            </a:r>
            <a:endParaRPr lang="en-US" sz="1000" dirty="0"/>
          </a:p>
        </p:txBody>
      </p:sp>
      <p:sp>
        <p:nvSpPr>
          <p:cNvPr id="54" name="Text 52"/>
          <p:cNvSpPr/>
          <p:nvPr/>
        </p:nvSpPr>
        <p:spPr>
          <a:xfrm>
            <a:off x="5413248" y="4425696"/>
            <a:ext cx="3383280" cy="164592"/>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Modbus blocked, safe state set, standby PLC activated</a:t>
            </a:r>
            <a:endParaRPr lang="en-US" sz="950" dirty="0"/>
          </a:p>
        </p:txBody>
      </p:sp>
      <p:sp>
        <p:nvSpPr>
          <p:cNvPr id="55" name="Shape 53"/>
          <p:cNvSpPr/>
          <p:nvPr/>
        </p:nvSpPr>
        <p:spPr>
          <a:xfrm>
            <a:off x="0" y="4754880"/>
            <a:ext cx="9144000" cy="384048"/>
          </a:xfrm>
          <a:prstGeom prst="rect">
            <a:avLst/>
          </a:prstGeom>
          <a:solidFill>
            <a:srgbClr val="1B3A5C"/>
          </a:solidFill>
          <a:ln w="12700">
            <a:solidFill>
              <a:srgbClr val="1B3A5C"/>
            </a:solidFill>
            <a:prstDash val="solid"/>
          </a:ln>
        </p:spPr>
      </p:sp>
      <p:sp>
        <p:nvSpPr>
          <p:cNvPr id="56" name="Text 54"/>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Defeating Paper #31</a:t>
            </a:r>
            <a:endParaRPr lang="en-US" sz="10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Recovery Pipeline</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Five deterministic steps — from detection to verified normal operation</a:t>
            </a:r>
            <a:endParaRPr lang="en-US" sz="1200" dirty="0"/>
          </a:p>
        </p:txBody>
      </p:sp>
      <p:sp>
        <p:nvSpPr>
          <p:cNvPr id="5" name="Shape 3"/>
          <p:cNvSpPr/>
          <p:nvPr/>
        </p:nvSpPr>
        <p:spPr>
          <a:xfrm>
            <a:off x="228600" y="987552"/>
            <a:ext cx="1627632" cy="457200"/>
          </a:xfrm>
          <a:prstGeom prst="rect">
            <a:avLst/>
          </a:prstGeom>
          <a:solidFill>
            <a:srgbClr val="E74C3C"/>
          </a:solidFill>
          <a:ln w="12700">
            <a:solidFill>
              <a:srgbClr val="E74C3C"/>
            </a:solidFill>
            <a:prstDash val="solid"/>
          </a:ln>
        </p:spPr>
      </p:sp>
      <p:sp>
        <p:nvSpPr>
          <p:cNvPr id="6" name="Text 4"/>
          <p:cNvSpPr/>
          <p:nvPr/>
        </p:nvSpPr>
        <p:spPr>
          <a:xfrm>
            <a:off x="228600"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685800"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Detect</a:t>
            </a:r>
            <a:endParaRPr lang="en-US" sz="1600" dirty="0"/>
          </a:p>
        </p:txBody>
      </p:sp>
      <p:sp>
        <p:nvSpPr>
          <p:cNvPr id="8" name="Text 6"/>
          <p:cNvSpPr/>
          <p:nvPr/>
        </p:nvSpPr>
        <p:spPr>
          <a:xfrm>
            <a:off x="1874520"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28600" y="1508760"/>
            <a:ext cx="1627632" cy="3154680"/>
          </a:xfrm>
          <a:prstGeom prst="rect">
            <a:avLst/>
          </a:prstGeom>
          <a:solidFill>
            <a:srgbClr val="E74C3C"/>
          </a:solidFill>
          <a:ln w="12700">
            <a:solidFill>
              <a:srgbClr val="E74C3C"/>
            </a:solidFill>
            <a:prstDash val="solid"/>
          </a:ln>
        </p:spPr>
      </p:sp>
      <p:sp>
        <p:nvSpPr>
          <p:cNvPr id="10" name="Shape 8"/>
          <p:cNvSpPr/>
          <p:nvPr/>
        </p:nvSpPr>
        <p:spPr>
          <a:xfrm>
            <a:off x="228600" y="1508760"/>
            <a:ext cx="54864" cy="3154680"/>
          </a:xfrm>
          <a:prstGeom prst="rect">
            <a:avLst/>
          </a:prstGeom>
          <a:solidFill>
            <a:srgbClr val="E74C3C"/>
          </a:solidFill>
          <a:ln w="12700">
            <a:solidFill>
              <a:srgbClr val="E74C3C"/>
            </a:solidFill>
            <a:prstDash val="solid"/>
          </a:ln>
        </p:spPr>
      </p:sp>
      <p:sp>
        <p:nvSpPr>
          <p:cNvPr id="11" name="Text 9"/>
          <p:cNvSpPr/>
          <p:nvPr/>
        </p:nvSpPr>
        <p:spPr>
          <a:xfrm>
            <a:off x="338328"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Fusion score ≥ 1.5 for 3 consecutive cycles</a:t>
            </a:r>
            <a:endParaRPr lang="en-US" sz="950" dirty="0"/>
          </a:p>
        </p:txBody>
      </p:sp>
      <p:sp>
        <p:nvSpPr>
          <p:cNvPr id="12" name="Text 10"/>
          <p:cNvSpPr/>
          <p:nvPr/>
        </p:nvSpPr>
        <p:spPr>
          <a:xfrm>
            <a:off x="338328"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Timestamp, sensor snapshot, and alert logged</a:t>
            </a:r>
            <a:endParaRPr lang="en-US" sz="950" dirty="0"/>
          </a:p>
        </p:txBody>
      </p:sp>
      <p:sp>
        <p:nvSpPr>
          <p:cNvPr id="13" name="Text 11"/>
          <p:cNvSpPr/>
          <p:nvPr/>
        </p:nvSpPr>
        <p:spPr>
          <a:xfrm>
            <a:off x="338328"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Operator notified via SCADA HMI alarm</a:t>
            </a:r>
            <a:endParaRPr lang="en-US" sz="950" dirty="0"/>
          </a:p>
        </p:txBody>
      </p:sp>
      <p:sp>
        <p:nvSpPr>
          <p:cNvPr id="14" name="Shape 12"/>
          <p:cNvSpPr/>
          <p:nvPr/>
        </p:nvSpPr>
        <p:spPr>
          <a:xfrm>
            <a:off x="1993392" y="987552"/>
            <a:ext cx="1627632" cy="457200"/>
          </a:xfrm>
          <a:prstGeom prst="rect">
            <a:avLst/>
          </a:prstGeom>
          <a:solidFill>
            <a:srgbClr val="F39C12"/>
          </a:solidFill>
          <a:ln w="12700">
            <a:solidFill>
              <a:srgbClr val="F39C12"/>
            </a:solidFill>
            <a:prstDash val="solid"/>
          </a:ln>
        </p:spPr>
      </p:sp>
      <p:sp>
        <p:nvSpPr>
          <p:cNvPr id="15" name="Text 13"/>
          <p:cNvSpPr/>
          <p:nvPr/>
        </p:nvSpPr>
        <p:spPr>
          <a:xfrm>
            <a:off x="1993392"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2450592"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Contain</a:t>
            </a:r>
            <a:endParaRPr lang="en-US" sz="1600" dirty="0"/>
          </a:p>
        </p:txBody>
      </p:sp>
      <p:sp>
        <p:nvSpPr>
          <p:cNvPr id="17" name="Text 15"/>
          <p:cNvSpPr/>
          <p:nvPr/>
        </p:nvSpPr>
        <p:spPr>
          <a:xfrm>
            <a:off x="3639312"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1993392" y="1508760"/>
            <a:ext cx="1627632" cy="3154680"/>
          </a:xfrm>
          <a:prstGeom prst="rect">
            <a:avLst/>
          </a:prstGeom>
          <a:solidFill>
            <a:srgbClr val="F39C12"/>
          </a:solidFill>
          <a:ln w="12700">
            <a:solidFill>
              <a:srgbClr val="F39C12"/>
            </a:solidFill>
            <a:prstDash val="solid"/>
          </a:ln>
        </p:spPr>
      </p:sp>
      <p:sp>
        <p:nvSpPr>
          <p:cNvPr id="19" name="Shape 17"/>
          <p:cNvSpPr/>
          <p:nvPr/>
        </p:nvSpPr>
        <p:spPr>
          <a:xfrm>
            <a:off x="1993392" y="1508760"/>
            <a:ext cx="54864" cy="3154680"/>
          </a:xfrm>
          <a:prstGeom prst="rect">
            <a:avLst/>
          </a:prstGeom>
          <a:solidFill>
            <a:srgbClr val="F39C12"/>
          </a:solidFill>
          <a:ln w="12700">
            <a:solidFill>
              <a:srgbClr val="F39C12"/>
            </a:solidFill>
            <a:prstDash val="solid"/>
          </a:ln>
        </p:spPr>
      </p:sp>
      <p:sp>
        <p:nvSpPr>
          <p:cNvPr id="20" name="Text 18"/>
          <p:cNvSpPr/>
          <p:nvPr/>
        </p:nvSpPr>
        <p:spPr>
          <a:xfrm>
            <a:off x="2103120"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Drop all Modbus TCP frames on port 502 (iptables rule)</a:t>
            </a:r>
            <a:endParaRPr lang="en-US" sz="950" dirty="0"/>
          </a:p>
        </p:txBody>
      </p:sp>
      <p:sp>
        <p:nvSpPr>
          <p:cNvPr id="21" name="Text 19"/>
          <p:cNvSpPr/>
          <p:nvPr/>
        </p:nvSpPr>
        <p:spPr>
          <a:xfrm>
            <a:off x="2103120"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Isolate attacker MAC from Level 1/2 switch (VLAN)</a:t>
            </a:r>
            <a:endParaRPr lang="en-US" sz="950" dirty="0"/>
          </a:p>
        </p:txBody>
      </p:sp>
      <p:sp>
        <p:nvSpPr>
          <p:cNvPr id="22" name="Text 20"/>
          <p:cNvSpPr/>
          <p:nvPr/>
        </p:nvSpPr>
        <p:spPr>
          <a:xfrm>
            <a:off x="2103120"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Freeze current PLC output register state</a:t>
            </a:r>
            <a:endParaRPr lang="en-US" sz="950" dirty="0"/>
          </a:p>
        </p:txBody>
      </p:sp>
      <p:sp>
        <p:nvSpPr>
          <p:cNvPr id="23" name="Shape 21"/>
          <p:cNvSpPr/>
          <p:nvPr/>
        </p:nvSpPr>
        <p:spPr>
          <a:xfrm>
            <a:off x="3758184" y="987552"/>
            <a:ext cx="1627632" cy="457200"/>
          </a:xfrm>
          <a:prstGeom prst="rect">
            <a:avLst/>
          </a:prstGeom>
          <a:solidFill>
            <a:srgbClr val="8E44AD"/>
          </a:solidFill>
          <a:ln w="12700">
            <a:solidFill>
              <a:srgbClr val="8E44AD"/>
            </a:solidFill>
            <a:prstDash val="solid"/>
          </a:ln>
        </p:spPr>
      </p:sp>
      <p:sp>
        <p:nvSpPr>
          <p:cNvPr id="24" name="Text 22"/>
          <p:cNvSpPr/>
          <p:nvPr/>
        </p:nvSpPr>
        <p:spPr>
          <a:xfrm>
            <a:off x="3758184"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5" name="Text 23"/>
          <p:cNvSpPr/>
          <p:nvPr/>
        </p:nvSpPr>
        <p:spPr>
          <a:xfrm>
            <a:off x="4215384"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Safe State</a:t>
            </a:r>
            <a:endParaRPr lang="en-US" sz="1600" dirty="0"/>
          </a:p>
        </p:txBody>
      </p:sp>
      <p:sp>
        <p:nvSpPr>
          <p:cNvPr id="26" name="Text 24"/>
          <p:cNvSpPr/>
          <p:nvPr/>
        </p:nvSpPr>
        <p:spPr>
          <a:xfrm>
            <a:off x="5404104"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3758184" y="1508760"/>
            <a:ext cx="1627632" cy="3154680"/>
          </a:xfrm>
          <a:prstGeom prst="rect">
            <a:avLst/>
          </a:prstGeom>
          <a:solidFill>
            <a:srgbClr val="8E44AD"/>
          </a:solidFill>
          <a:ln w="12700">
            <a:solidFill>
              <a:srgbClr val="8E44AD"/>
            </a:solidFill>
            <a:prstDash val="solid"/>
          </a:ln>
        </p:spPr>
      </p:sp>
      <p:sp>
        <p:nvSpPr>
          <p:cNvPr id="28" name="Shape 26"/>
          <p:cNvSpPr/>
          <p:nvPr/>
        </p:nvSpPr>
        <p:spPr>
          <a:xfrm>
            <a:off x="3758184" y="1508760"/>
            <a:ext cx="54864" cy="3154680"/>
          </a:xfrm>
          <a:prstGeom prst="rect">
            <a:avLst/>
          </a:prstGeom>
          <a:solidFill>
            <a:srgbClr val="8E44AD"/>
          </a:solidFill>
          <a:ln w="12700">
            <a:solidFill>
              <a:srgbClr val="8E44AD"/>
            </a:solidFill>
            <a:prstDash val="solid"/>
          </a:ln>
        </p:spPr>
      </p:sp>
      <p:sp>
        <p:nvSpPr>
          <p:cNvPr id="29" name="Text 27"/>
          <p:cNvSpPr/>
          <p:nvPr/>
        </p:nvSpPr>
        <p:spPr>
          <a:xfrm>
            <a:off x="3867912"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Write safe-state actuator values to PLC1 (see Slide 9)</a:t>
            </a:r>
            <a:endParaRPr lang="en-US" sz="950" dirty="0"/>
          </a:p>
        </p:txBody>
      </p:sp>
      <p:sp>
        <p:nvSpPr>
          <p:cNvPr id="30" name="Text 28"/>
          <p:cNvSpPr/>
          <p:nvPr/>
        </p:nvSpPr>
        <p:spPr>
          <a:xfrm>
            <a:off x="3867912"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MV101 → CLOSED, P101 → OFF (P1 safe idle)</a:t>
            </a:r>
            <a:endParaRPr lang="en-US" sz="950" dirty="0"/>
          </a:p>
        </p:txBody>
      </p:sp>
      <p:sp>
        <p:nvSpPr>
          <p:cNvPr id="31" name="Text 29"/>
          <p:cNvSpPr/>
          <p:nvPr/>
        </p:nvSpPr>
        <p:spPr>
          <a:xfrm>
            <a:off x="3867912"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Wait 2 polling cycles to confirm registers held</a:t>
            </a:r>
            <a:endParaRPr lang="en-US" sz="950" dirty="0"/>
          </a:p>
        </p:txBody>
      </p:sp>
      <p:sp>
        <p:nvSpPr>
          <p:cNvPr id="32" name="Shape 30"/>
          <p:cNvSpPr/>
          <p:nvPr/>
        </p:nvSpPr>
        <p:spPr>
          <a:xfrm>
            <a:off x="5522976" y="987552"/>
            <a:ext cx="1627632" cy="457200"/>
          </a:xfrm>
          <a:prstGeom prst="rect">
            <a:avLst/>
          </a:prstGeom>
          <a:solidFill>
            <a:srgbClr val="2196F3"/>
          </a:solidFill>
          <a:ln w="12700">
            <a:solidFill>
              <a:srgbClr val="2196F3"/>
            </a:solidFill>
            <a:prstDash val="solid"/>
          </a:ln>
        </p:spPr>
      </p:sp>
      <p:sp>
        <p:nvSpPr>
          <p:cNvPr id="33" name="Text 31"/>
          <p:cNvSpPr/>
          <p:nvPr/>
        </p:nvSpPr>
        <p:spPr>
          <a:xfrm>
            <a:off x="5522976"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4" name="Text 32"/>
          <p:cNvSpPr/>
          <p:nvPr/>
        </p:nvSpPr>
        <p:spPr>
          <a:xfrm>
            <a:off x="5980176"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PLC Failover</a:t>
            </a:r>
            <a:endParaRPr lang="en-US" sz="1600" dirty="0"/>
          </a:p>
        </p:txBody>
      </p:sp>
      <p:sp>
        <p:nvSpPr>
          <p:cNvPr id="35" name="Text 33"/>
          <p:cNvSpPr/>
          <p:nvPr/>
        </p:nvSpPr>
        <p:spPr>
          <a:xfrm>
            <a:off x="7168896" y="1060704"/>
            <a:ext cx="256032" cy="310896"/>
          </a:xfrm>
          <a:prstGeom prst="rect">
            <a:avLst/>
          </a:prstGeom>
          <a:noFill/>
          <a:ln/>
        </p:spPr>
        <p:txBody>
          <a:bodyPr wrap="square" lIns="0" tIns="0" rIns="0" bIns="0" rtlCol="0" anchor="ctr"/>
          <a:lstStyle/>
          <a:p>
            <a:pPr algn="ctr" indent="0" marL="0">
              <a:buNone/>
            </a:pPr>
            <a:r>
              <a:rPr lang="en-US" sz="1800" dirty="0">
                <a:solidFill>
                  <a:srgbClr val="8FA3B1"/>
                </a:solidFill>
                <a:latin typeface="Calibri" pitchFamily="34" charset="0"/>
                <a:ea typeface="Calibri" pitchFamily="34" charset="-122"/>
                <a:cs typeface="Calibri" pitchFamily="34" charset="-120"/>
              </a:rPr>
              <a:t>→</a:t>
            </a:r>
            <a:endParaRPr lang="en-US" sz="1800" dirty="0"/>
          </a:p>
        </p:txBody>
      </p:sp>
      <p:sp>
        <p:nvSpPr>
          <p:cNvPr id="36" name="Shape 34"/>
          <p:cNvSpPr/>
          <p:nvPr/>
        </p:nvSpPr>
        <p:spPr>
          <a:xfrm>
            <a:off x="5522976" y="1508760"/>
            <a:ext cx="1627632" cy="3154680"/>
          </a:xfrm>
          <a:prstGeom prst="rect">
            <a:avLst/>
          </a:prstGeom>
          <a:solidFill>
            <a:srgbClr val="2196F3"/>
          </a:solidFill>
          <a:ln w="12700">
            <a:solidFill>
              <a:srgbClr val="2196F3"/>
            </a:solidFill>
            <a:prstDash val="solid"/>
          </a:ln>
        </p:spPr>
      </p:sp>
      <p:sp>
        <p:nvSpPr>
          <p:cNvPr id="37" name="Shape 35"/>
          <p:cNvSpPr/>
          <p:nvPr/>
        </p:nvSpPr>
        <p:spPr>
          <a:xfrm>
            <a:off x="5522976" y="1508760"/>
            <a:ext cx="54864" cy="3154680"/>
          </a:xfrm>
          <a:prstGeom prst="rect">
            <a:avLst/>
          </a:prstGeom>
          <a:solidFill>
            <a:srgbClr val="2196F3"/>
          </a:solidFill>
          <a:ln w="12700">
            <a:solidFill>
              <a:srgbClr val="2196F3"/>
            </a:solidFill>
            <a:prstDash val="solid"/>
          </a:ln>
        </p:spPr>
      </p:sp>
      <p:sp>
        <p:nvSpPr>
          <p:cNvPr id="38" name="Text 36"/>
          <p:cNvSpPr/>
          <p:nvPr/>
        </p:nvSpPr>
        <p:spPr>
          <a:xfrm>
            <a:off x="5632704"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Signal hot-standby PLC1B to take control</a:t>
            </a:r>
            <a:endParaRPr lang="en-US" sz="950" dirty="0"/>
          </a:p>
        </p:txBody>
      </p:sp>
      <p:sp>
        <p:nvSpPr>
          <p:cNvPr id="39" name="Text 37"/>
          <p:cNvSpPr/>
          <p:nvPr/>
        </p:nvSpPr>
        <p:spPr>
          <a:xfrm>
            <a:off x="5632704"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EtherNet/IP handshake confirms PLC1B is primary</a:t>
            </a:r>
            <a:endParaRPr lang="en-US" sz="950" dirty="0"/>
          </a:p>
        </p:txBody>
      </p:sp>
      <p:sp>
        <p:nvSpPr>
          <p:cNvPr id="40" name="Text 38"/>
          <p:cNvSpPr/>
          <p:nvPr/>
        </p:nvSpPr>
        <p:spPr>
          <a:xfrm>
            <a:off x="5632704"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HMI re-mapped to PLC1B IP (automatic switchover)</a:t>
            </a:r>
            <a:endParaRPr lang="en-US" sz="950" dirty="0"/>
          </a:p>
        </p:txBody>
      </p:sp>
      <p:sp>
        <p:nvSpPr>
          <p:cNvPr id="41" name="Shape 39"/>
          <p:cNvSpPr/>
          <p:nvPr/>
        </p:nvSpPr>
        <p:spPr>
          <a:xfrm>
            <a:off x="7287768" y="987552"/>
            <a:ext cx="1627632" cy="457200"/>
          </a:xfrm>
          <a:prstGeom prst="rect">
            <a:avLst/>
          </a:prstGeom>
          <a:solidFill>
            <a:srgbClr val="2ECC71"/>
          </a:solidFill>
          <a:ln w="12700">
            <a:solidFill>
              <a:srgbClr val="2ECC71"/>
            </a:solidFill>
            <a:prstDash val="solid"/>
          </a:ln>
        </p:spPr>
      </p:sp>
      <p:sp>
        <p:nvSpPr>
          <p:cNvPr id="42" name="Text 40"/>
          <p:cNvSpPr/>
          <p:nvPr/>
        </p:nvSpPr>
        <p:spPr>
          <a:xfrm>
            <a:off x="7287768" y="1005840"/>
            <a:ext cx="45720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3" name="Text 41"/>
          <p:cNvSpPr/>
          <p:nvPr/>
        </p:nvSpPr>
        <p:spPr>
          <a:xfrm>
            <a:off x="7744968" y="1078992"/>
            <a:ext cx="1143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Verify &amp; Resume</a:t>
            </a:r>
            <a:endParaRPr lang="en-US" sz="1600" dirty="0"/>
          </a:p>
        </p:txBody>
      </p:sp>
      <p:sp>
        <p:nvSpPr>
          <p:cNvPr id="44" name="Shape 42"/>
          <p:cNvSpPr/>
          <p:nvPr/>
        </p:nvSpPr>
        <p:spPr>
          <a:xfrm>
            <a:off x="7287768" y="1508760"/>
            <a:ext cx="1627632" cy="3154680"/>
          </a:xfrm>
          <a:prstGeom prst="rect">
            <a:avLst/>
          </a:prstGeom>
          <a:solidFill>
            <a:srgbClr val="2ECC71"/>
          </a:solidFill>
          <a:ln w="12700">
            <a:solidFill>
              <a:srgbClr val="2ECC71"/>
            </a:solidFill>
            <a:prstDash val="solid"/>
          </a:ln>
        </p:spPr>
      </p:sp>
      <p:sp>
        <p:nvSpPr>
          <p:cNvPr id="45" name="Shape 43"/>
          <p:cNvSpPr/>
          <p:nvPr/>
        </p:nvSpPr>
        <p:spPr>
          <a:xfrm>
            <a:off x="7287768" y="1508760"/>
            <a:ext cx="54864" cy="3154680"/>
          </a:xfrm>
          <a:prstGeom prst="rect">
            <a:avLst/>
          </a:prstGeom>
          <a:solidFill>
            <a:srgbClr val="2ECC71"/>
          </a:solidFill>
          <a:ln w="12700">
            <a:solidFill>
              <a:srgbClr val="2ECC71"/>
            </a:solidFill>
            <a:prstDash val="solid"/>
          </a:ln>
        </p:spPr>
      </p:sp>
      <p:sp>
        <p:nvSpPr>
          <p:cNvPr id="46" name="Text 44"/>
          <p:cNvSpPr/>
          <p:nvPr/>
        </p:nvSpPr>
        <p:spPr>
          <a:xfrm>
            <a:off x="7397496" y="1572768"/>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Run all 8 P1 invariants against PLC1B readings</a:t>
            </a:r>
            <a:endParaRPr lang="en-US" sz="950" dirty="0"/>
          </a:p>
        </p:txBody>
      </p:sp>
      <p:sp>
        <p:nvSpPr>
          <p:cNvPr id="47" name="Text 45"/>
          <p:cNvSpPr/>
          <p:nvPr/>
        </p:nvSpPr>
        <p:spPr>
          <a:xfrm>
            <a:off x="7397496" y="2103120"/>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Check LIT101 within [250, 800] mm safe range</a:t>
            </a:r>
            <a:endParaRPr lang="en-US" sz="950" dirty="0"/>
          </a:p>
        </p:txBody>
      </p:sp>
      <p:sp>
        <p:nvSpPr>
          <p:cNvPr id="48" name="Text 46"/>
          <p:cNvSpPr/>
          <p:nvPr/>
        </p:nvSpPr>
        <p:spPr>
          <a:xfrm>
            <a:off x="7397496" y="2633472"/>
            <a:ext cx="1463040" cy="502920"/>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  Resume only if all invariants pass for 5+ cycles</a:t>
            </a:r>
            <a:endParaRPr lang="en-US" sz="950" dirty="0"/>
          </a:p>
        </p:txBody>
      </p:sp>
      <p:sp>
        <p:nvSpPr>
          <p:cNvPr id="49" name="Shape 47"/>
          <p:cNvSpPr/>
          <p:nvPr/>
        </p:nvSpPr>
        <p:spPr>
          <a:xfrm>
            <a:off x="228600" y="4727448"/>
            <a:ext cx="8686800" cy="365760"/>
          </a:xfrm>
          <a:prstGeom prst="rect">
            <a:avLst/>
          </a:prstGeom>
          <a:solidFill>
            <a:srgbClr val="0D1B2A"/>
          </a:solidFill>
          <a:ln w="12700">
            <a:solidFill>
              <a:srgbClr val="0D1B2A"/>
            </a:solidFill>
            <a:prstDash val="solid"/>
          </a:ln>
        </p:spPr>
      </p:sp>
      <p:sp>
        <p:nvSpPr>
          <p:cNvPr id="50" name="Text 48"/>
          <p:cNvSpPr/>
          <p:nvPr/>
        </p:nvSpPr>
        <p:spPr>
          <a:xfrm>
            <a:off x="365760" y="4727448"/>
            <a:ext cx="8412480" cy="365760"/>
          </a:xfrm>
          <a:prstGeom prst="rect">
            <a:avLst/>
          </a:prstGeom>
          <a:noFill/>
          <a:ln/>
        </p:spPr>
        <p:txBody>
          <a:bodyPr wrap="square" lIns="0" tIns="0" rIns="0" bIns="0" rtlCol="0" anchor="ctr"/>
          <a:lstStyle/>
          <a:p>
            <a:pPr indent="0" marL="0">
              <a:buNone/>
            </a:pPr>
            <a:r>
              <a:rPr lang="en-US" sz="1000" b="1" dirty="0">
                <a:solidFill>
                  <a:srgbClr val="0FB3C5"/>
                </a:solidFill>
                <a:latin typeface="Calibri" pitchFamily="34" charset="0"/>
                <a:ea typeface="Calibri" pitchFamily="34" charset="-122"/>
                <a:cs typeface="Calibri" pitchFamily="34" charset="-120"/>
              </a:rPr>
              <a:t xml:space="preserve">Total recovery time target:  </a:t>
            </a:r>
            <a:pPr indent="0" marL="0">
              <a:buNone/>
            </a:pPr>
            <a:r>
              <a:rPr lang="en-US" sz="1000" dirty="0">
                <a:solidFill>
                  <a:srgbClr val="E8EEF4"/>
                </a:solidFill>
                <a:latin typeface="Calibri" pitchFamily="34" charset="0"/>
                <a:ea typeface="Calibri" pitchFamily="34" charset="-122"/>
                <a:cs typeface="Calibri" pitchFamily="34" charset="-120"/>
              </a:rPr>
              <a:t xml:space="preserve">&lt; 15 seconds from alert to verified safe state  |  </a:t>
            </a:r>
            <a:pPr indent="0" marL="0">
              <a:buNone/>
            </a:pPr>
            <a:r>
              <a:rPr lang="en-US" sz="1000" dirty="0">
                <a:solidFill>
                  <a:srgbClr val="E8EEF4"/>
                </a:solidFill>
                <a:latin typeface="Calibri" pitchFamily="34" charset="0"/>
                <a:ea typeface="Calibri" pitchFamily="34" charset="-122"/>
                <a:cs typeface="Calibri" pitchFamily="34" charset="-120"/>
              </a:rPr>
              <a:t xml:space="preserve">PLC1B failover &lt; 3 seconds  |  </a:t>
            </a:r>
            <a:pPr indent="0" marL="0">
              <a:buNone/>
            </a:pPr>
            <a:r>
              <a:rPr lang="en-US" sz="1000" dirty="0">
                <a:solidFill>
                  <a:srgbClr val="E8EEF4"/>
                </a:solidFill>
                <a:latin typeface="Calibri" pitchFamily="34" charset="0"/>
                <a:ea typeface="Calibri" pitchFamily="34" charset="-122"/>
                <a:cs typeface="Calibri" pitchFamily="34" charset="-120"/>
              </a:rPr>
              <a:t>No unsafe state (overflow/underflow) during window</a:t>
            </a:r>
            <a:endParaRPr lang="en-US" sz="10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ECC71"/>
          </a:solidFill>
          <a:ln w="12700">
            <a:solidFill>
              <a:srgbClr val="2ECC71"/>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Safe State Table &amp; PLC Failover</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Exact actuator targets per stage — written to PLC registers before failover handshake</a:t>
            </a:r>
            <a:endParaRPr lang="en-US" sz="1200" dirty="0"/>
          </a:p>
        </p:txBody>
      </p:sp>
      <p:sp>
        <p:nvSpPr>
          <p:cNvPr id="5" name="Shape 3"/>
          <p:cNvSpPr/>
          <p:nvPr/>
        </p:nvSpPr>
        <p:spPr>
          <a:xfrm>
            <a:off x="228600" y="987552"/>
            <a:ext cx="8686800" cy="320040"/>
          </a:xfrm>
          <a:prstGeom prst="rect">
            <a:avLst/>
          </a:prstGeom>
          <a:solidFill>
            <a:srgbClr val="1A8A47"/>
          </a:solidFill>
          <a:ln w="12700">
            <a:solidFill>
              <a:srgbClr val="1A8A47"/>
            </a:solidFill>
            <a:prstDash val="solid"/>
          </a:ln>
        </p:spPr>
      </p:sp>
      <p:sp>
        <p:nvSpPr>
          <p:cNvPr id="6" name="Text 4"/>
          <p:cNvSpPr/>
          <p:nvPr/>
        </p:nvSpPr>
        <p:spPr>
          <a:xfrm>
            <a:off x="274320" y="1024128"/>
            <a:ext cx="59436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p>
        </p:txBody>
      </p:sp>
      <p:sp>
        <p:nvSpPr>
          <p:cNvPr id="7" name="Text 5"/>
          <p:cNvSpPr/>
          <p:nvPr/>
        </p:nvSpPr>
        <p:spPr>
          <a:xfrm>
            <a:off x="886968" y="1024128"/>
            <a:ext cx="182880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Actuator</a:t>
            </a:r>
            <a:endParaRPr lang="en-US" sz="1050" dirty="0"/>
          </a:p>
        </p:txBody>
      </p:sp>
      <p:sp>
        <p:nvSpPr>
          <p:cNvPr id="8" name="Text 6"/>
          <p:cNvSpPr/>
          <p:nvPr/>
        </p:nvSpPr>
        <p:spPr>
          <a:xfrm>
            <a:off x="2734056" y="1024128"/>
            <a:ext cx="164592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Safe State Value</a:t>
            </a:r>
            <a:endParaRPr lang="en-US" sz="1050" dirty="0"/>
          </a:p>
        </p:txBody>
      </p:sp>
      <p:sp>
        <p:nvSpPr>
          <p:cNvPr id="9" name="Text 7"/>
          <p:cNvSpPr/>
          <p:nvPr/>
        </p:nvSpPr>
        <p:spPr>
          <a:xfrm>
            <a:off x="4398264" y="1024128"/>
            <a:ext cx="219456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Physical Reason</a:t>
            </a:r>
            <a:endParaRPr lang="en-US" sz="1050" dirty="0"/>
          </a:p>
        </p:txBody>
      </p:sp>
      <p:sp>
        <p:nvSpPr>
          <p:cNvPr id="10" name="Text 8"/>
          <p:cNvSpPr/>
          <p:nvPr/>
        </p:nvSpPr>
        <p:spPr>
          <a:xfrm>
            <a:off x="6611112" y="1024128"/>
            <a:ext cx="2606040" cy="2468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SWaT Risk if Wrong</a:t>
            </a:r>
            <a:endParaRPr lang="en-US" sz="1050" dirty="0"/>
          </a:p>
        </p:txBody>
      </p:sp>
      <p:sp>
        <p:nvSpPr>
          <p:cNvPr id="11" name="Shape 9"/>
          <p:cNvSpPr/>
          <p:nvPr/>
        </p:nvSpPr>
        <p:spPr>
          <a:xfrm>
            <a:off x="228600" y="1325880"/>
            <a:ext cx="8686800" cy="356616"/>
          </a:xfrm>
          <a:prstGeom prst="rect">
            <a:avLst/>
          </a:prstGeom>
          <a:solidFill>
            <a:srgbClr val="1B3A5C"/>
          </a:solidFill>
          <a:ln w="12700">
            <a:solidFill>
              <a:srgbClr val="1B3A5C"/>
            </a:solidFill>
            <a:prstDash val="solid"/>
          </a:ln>
        </p:spPr>
      </p:sp>
      <p:sp>
        <p:nvSpPr>
          <p:cNvPr id="12" name="Shape 10"/>
          <p:cNvSpPr/>
          <p:nvPr/>
        </p:nvSpPr>
        <p:spPr>
          <a:xfrm>
            <a:off x="228600" y="1325880"/>
            <a:ext cx="64008" cy="356616"/>
          </a:xfrm>
          <a:prstGeom prst="rect">
            <a:avLst/>
          </a:prstGeom>
          <a:solidFill>
            <a:srgbClr val="2ECC71"/>
          </a:solidFill>
          <a:ln w="12700">
            <a:solidFill>
              <a:srgbClr val="2ECC71"/>
            </a:solidFill>
            <a:prstDash val="solid"/>
          </a:ln>
        </p:spPr>
      </p:sp>
      <p:sp>
        <p:nvSpPr>
          <p:cNvPr id="13" name="Text 11"/>
          <p:cNvSpPr/>
          <p:nvPr/>
        </p:nvSpPr>
        <p:spPr>
          <a:xfrm>
            <a:off x="274320" y="1380744"/>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14" name="Text 12"/>
          <p:cNvSpPr/>
          <p:nvPr/>
        </p:nvSpPr>
        <p:spPr>
          <a:xfrm>
            <a:off x="886968" y="1380744"/>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MV101</a:t>
            </a:r>
            <a:endParaRPr lang="en-US" sz="1050" dirty="0"/>
          </a:p>
        </p:txBody>
      </p:sp>
      <p:sp>
        <p:nvSpPr>
          <p:cNvPr id="15" name="Text 13"/>
          <p:cNvSpPr/>
          <p:nvPr/>
        </p:nvSpPr>
        <p:spPr>
          <a:xfrm>
            <a:off x="2734056" y="1380744"/>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CLOSED</a:t>
            </a:r>
            <a:endParaRPr lang="en-US" sz="1050" dirty="0"/>
          </a:p>
        </p:txBody>
      </p:sp>
      <p:sp>
        <p:nvSpPr>
          <p:cNvPr id="16" name="Text 14"/>
          <p:cNvSpPr/>
          <p:nvPr/>
        </p:nvSpPr>
        <p:spPr>
          <a:xfrm>
            <a:off x="4398264" y="1380744"/>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Stop raw water intake</a:t>
            </a:r>
            <a:endParaRPr lang="en-US" sz="950" dirty="0"/>
          </a:p>
        </p:txBody>
      </p:sp>
      <p:sp>
        <p:nvSpPr>
          <p:cNvPr id="17" name="Text 15"/>
          <p:cNvSpPr/>
          <p:nvPr/>
        </p:nvSpPr>
        <p:spPr>
          <a:xfrm>
            <a:off x="6611112" y="1380744"/>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Tank overflows if left open</a:t>
            </a:r>
            <a:endParaRPr lang="en-US" sz="950" dirty="0"/>
          </a:p>
        </p:txBody>
      </p:sp>
      <p:sp>
        <p:nvSpPr>
          <p:cNvPr id="18" name="Shape 16"/>
          <p:cNvSpPr/>
          <p:nvPr/>
        </p:nvSpPr>
        <p:spPr>
          <a:xfrm>
            <a:off x="228600" y="1700784"/>
            <a:ext cx="8686800" cy="356616"/>
          </a:xfrm>
          <a:prstGeom prst="rect">
            <a:avLst/>
          </a:prstGeom>
          <a:solidFill>
            <a:srgbClr val="14304F"/>
          </a:solidFill>
          <a:ln w="12700">
            <a:solidFill>
              <a:srgbClr val="14304F"/>
            </a:solidFill>
            <a:prstDash val="solid"/>
          </a:ln>
        </p:spPr>
      </p:sp>
      <p:sp>
        <p:nvSpPr>
          <p:cNvPr id="19" name="Shape 17"/>
          <p:cNvSpPr/>
          <p:nvPr/>
        </p:nvSpPr>
        <p:spPr>
          <a:xfrm>
            <a:off x="228600" y="1700784"/>
            <a:ext cx="64008" cy="356616"/>
          </a:xfrm>
          <a:prstGeom prst="rect">
            <a:avLst/>
          </a:prstGeom>
          <a:solidFill>
            <a:srgbClr val="2ECC71"/>
          </a:solidFill>
          <a:ln w="12700">
            <a:solidFill>
              <a:srgbClr val="2ECC71"/>
            </a:solidFill>
            <a:prstDash val="solid"/>
          </a:ln>
        </p:spPr>
      </p:sp>
      <p:sp>
        <p:nvSpPr>
          <p:cNvPr id="20" name="Text 18"/>
          <p:cNvSpPr/>
          <p:nvPr/>
        </p:nvSpPr>
        <p:spPr>
          <a:xfrm>
            <a:off x="274320" y="1755648"/>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21" name="Text 19"/>
          <p:cNvSpPr/>
          <p:nvPr/>
        </p:nvSpPr>
        <p:spPr>
          <a:xfrm>
            <a:off x="886968" y="1755648"/>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P101</a:t>
            </a:r>
            <a:endParaRPr lang="en-US" sz="1050" dirty="0"/>
          </a:p>
        </p:txBody>
      </p:sp>
      <p:sp>
        <p:nvSpPr>
          <p:cNvPr id="22" name="Text 20"/>
          <p:cNvSpPr/>
          <p:nvPr/>
        </p:nvSpPr>
        <p:spPr>
          <a:xfrm>
            <a:off x="2734056" y="1755648"/>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23" name="Text 21"/>
          <p:cNvSpPr/>
          <p:nvPr/>
        </p:nvSpPr>
        <p:spPr>
          <a:xfrm>
            <a:off x="4398264" y="1755648"/>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No pump without intake</a:t>
            </a:r>
            <a:endParaRPr lang="en-US" sz="950" dirty="0"/>
          </a:p>
        </p:txBody>
      </p:sp>
      <p:sp>
        <p:nvSpPr>
          <p:cNvPr id="24" name="Text 22"/>
          <p:cNvSpPr/>
          <p:nvPr/>
        </p:nvSpPr>
        <p:spPr>
          <a:xfrm>
            <a:off x="6611112" y="1755648"/>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Dry-run damage to pump</a:t>
            </a:r>
            <a:endParaRPr lang="en-US" sz="950" dirty="0"/>
          </a:p>
        </p:txBody>
      </p:sp>
      <p:sp>
        <p:nvSpPr>
          <p:cNvPr id="25" name="Shape 23"/>
          <p:cNvSpPr/>
          <p:nvPr/>
        </p:nvSpPr>
        <p:spPr>
          <a:xfrm>
            <a:off x="228600" y="2075688"/>
            <a:ext cx="8686800" cy="356616"/>
          </a:xfrm>
          <a:prstGeom prst="rect">
            <a:avLst/>
          </a:prstGeom>
          <a:solidFill>
            <a:srgbClr val="1B3A5C"/>
          </a:solidFill>
          <a:ln w="12700">
            <a:solidFill>
              <a:srgbClr val="1B3A5C"/>
            </a:solidFill>
            <a:prstDash val="solid"/>
          </a:ln>
        </p:spPr>
      </p:sp>
      <p:sp>
        <p:nvSpPr>
          <p:cNvPr id="26" name="Shape 24"/>
          <p:cNvSpPr/>
          <p:nvPr/>
        </p:nvSpPr>
        <p:spPr>
          <a:xfrm>
            <a:off x="228600" y="2075688"/>
            <a:ext cx="64008" cy="356616"/>
          </a:xfrm>
          <a:prstGeom prst="rect">
            <a:avLst/>
          </a:prstGeom>
          <a:solidFill>
            <a:srgbClr val="2ECC71"/>
          </a:solidFill>
          <a:ln w="12700">
            <a:solidFill>
              <a:srgbClr val="2ECC71"/>
            </a:solidFill>
            <a:prstDash val="solid"/>
          </a:ln>
        </p:spPr>
      </p:sp>
      <p:sp>
        <p:nvSpPr>
          <p:cNvPr id="27" name="Text 25"/>
          <p:cNvSpPr/>
          <p:nvPr/>
        </p:nvSpPr>
        <p:spPr>
          <a:xfrm>
            <a:off x="274320" y="2130552"/>
            <a:ext cx="594360" cy="246888"/>
          </a:xfrm>
          <a:prstGeom prst="rect">
            <a:avLst/>
          </a:prstGeom>
          <a:noFill/>
          <a:ln/>
        </p:spPr>
        <p:txBody>
          <a:bodyPr wrap="square" lIns="0" tIns="0" rIns="0" bIns="0" rtlCol="0" anchor="ctr"/>
          <a:lstStyle/>
          <a:p>
            <a:pPr algn="ctr" indent="0" marL="0">
              <a:buNone/>
            </a:pPr>
            <a:r>
              <a:rPr lang="en-US" sz="1050" b="1" dirty="0">
                <a:solidFill>
                  <a:srgbClr val="2ECC71"/>
                </a:solidFill>
                <a:latin typeface="Calibri" pitchFamily="34" charset="0"/>
                <a:ea typeface="Calibri" pitchFamily="34" charset="-122"/>
                <a:cs typeface="Calibri" pitchFamily="34" charset="-120"/>
              </a:rPr>
              <a:t>P1</a:t>
            </a:r>
            <a:endParaRPr lang="en-US" sz="1050" dirty="0"/>
          </a:p>
        </p:txBody>
      </p:sp>
      <p:sp>
        <p:nvSpPr>
          <p:cNvPr id="28" name="Text 26"/>
          <p:cNvSpPr/>
          <p:nvPr/>
        </p:nvSpPr>
        <p:spPr>
          <a:xfrm>
            <a:off x="886968" y="2130552"/>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P102</a:t>
            </a:r>
            <a:endParaRPr lang="en-US" sz="1050" dirty="0"/>
          </a:p>
        </p:txBody>
      </p:sp>
      <p:sp>
        <p:nvSpPr>
          <p:cNvPr id="29" name="Text 27"/>
          <p:cNvSpPr/>
          <p:nvPr/>
        </p:nvSpPr>
        <p:spPr>
          <a:xfrm>
            <a:off x="2734056" y="2130552"/>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30" name="Text 28"/>
          <p:cNvSpPr/>
          <p:nvPr/>
        </p:nvSpPr>
        <p:spPr>
          <a:xfrm>
            <a:off x="4398264" y="2130552"/>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Backup pump also idle</a:t>
            </a:r>
            <a:endParaRPr lang="en-US" sz="950" dirty="0"/>
          </a:p>
        </p:txBody>
      </p:sp>
      <p:sp>
        <p:nvSpPr>
          <p:cNvPr id="31" name="Text 29"/>
          <p:cNvSpPr/>
          <p:nvPr/>
        </p:nvSpPr>
        <p:spPr>
          <a:xfrm>
            <a:off x="6611112" y="2130552"/>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Redundant — must match P101</a:t>
            </a:r>
            <a:endParaRPr lang="en-US" sz="950" dirty="0"/>
          </a:p>
        </p:txBody>
      </p:sp>
      <p:sp>
        <p:nvSpPr>
          <p:cNvPr id="32" name="Shape 30"/>
          <p:cNvSpPr/>
          <p:nvPr/>
        </p:nvSpPr>
        <p:spPr>
          <a:xfrm>
            <a:off x="228600" y="2450592"/>
            <a:ext cx="8686800" cy="356616"/>
          </a:xfrm>
          <a:prstGeom prst="rect">
            <a:avLst/>
          </a:prstGeom>
          <a:solidFill>
            <a:srgbClr val="14304F"/>
          </a:solidFill>
          <a:ln w="12700">
            <a:solidFill>
              <a:srgbClr val="14304F"/>
            </a:solidFill>
            <a:prstDash val="solid"/>
          </a:ln>
        </p:spPr>
      </p:sp>
      <p:sp>
        <p:nvSpPr>
          <p:cNvPr id="33" name="Shape 31"/>
          <p:cNvSpPr/>
          <p:nvPr/>
        </p:nvSpPr>
        <p:spPr>
          <a:xfrm>
            <a:off x="228600" y="2450592"/>
            <a:ext cx="64008" cy="356616"/>
          </a:xfrm>
          <a:prstGeom prst="rect">
            <a:avLst/>
          </a:prstGeom>
          <a:solidFill>
            <a:srgbClr val="0A7E8C"/>
          </a:solidFill>
          <a:ln w="12700">
            <a:solidFill>
              <a:srgbClr val="0A7E8C"/>
            </a:solidFill>
            <a:prstDash val="solid"/>
          </a:ln>
        </p:spPr>
      </p:sp>
      <p:sp>
        <p:nvSpPr>
          <p:cNvPr id="34" name="Text 32"/>
          <p:cNvSpPr/>
          <p:nvPr/>
        </p:nvSpPr>
        <p:spPr>
          <a:xfrm>
            <a:off x="274320" y="2505456"/>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P2</a:t>
            </a:r>
            <a:endParaRPr lang="en-US" sz="1050" dirty="0"/>
          </a:p>
        </p:txBody>
      </p:sp>
      <p:sp>
        <p:nvSpPr>
          <p:cNvPr id="35" name="Text 33"/>
          <p:cNvSpPr/>
          <p:nvPr/>
        </p:nvSpPr>
        <p:spPr>
          <a:xfrm>
            <a:off x="886968" y="2505456"/>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P201–206</a:t>
            </a:r>
            <a:endParaRPr lang="en-US" sz="1050" dirty="0"/>
          </a:p>
        </p:txBody>
      </p:sp>
      <p:sp>
        <p:nvSpPr>
          <p:cNvPr id="36" name="Text 34"/>
          <p:cNvSpPr/>
          <p:nvPr/>
        </p:nvSpPr>
        <p:spPr>
          <a:xfrm>
            <a:off x="2734056" y="2505456"/>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ALL OFF</a:t>
            </a:r>
            <a:endParaRPr lang="en-US" sz="1050" dirty="0"/>
          </a:p>
        </p:txBody>
      </p:sp>
      <p:sp>
        <p:nvSpPr>
          <p:cNvPr id="37" name="Text 35"/>
          <p:cNvSpPr/>
          <p:nvPr/>
        </p:nvSpPr>
        <p:spPr>
          <a:xfrm>
            <a:off x="4398264" y="2505456"/>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No dosing without P1 feed</a:t>
            </a:r>
            <a:endParaRPr lang="en-US" sz="950" dirty="0"/>
          </a:p>
        </p:txBody>
      </p:sp>
      <p:sp>
        <p:nvSpPr>
          <p:cNvPr id="38" name="Text 36"/>
          <p:cNvSpPr/>
          <p:nvPr/>
        </p:nvSpPr>
        <p:spPr>
          <a:xfrm>
            <a:off x="6611112" y="2505456"/>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Chemical overdose to tank</a:t>
            </a:r>
            <a:endParaRPr lang="en-US" sz="950" dirty="0"/>
          </a:p>
        </p:txBody>
      </p:sp>
      <p:sp>
        <p:nvSpPr>
          <p:cNvPr id="39" name="Shape 37"/>
          <p:cNvSpPr/>
          <p:nvPr/>
        </p:nvSpPr>
        <p:spPr>
          <a:xfrm>
            <a:off x="228600" y="2825496"/>
            <a:ext cx="8686800" cy="356616"/>
          </a:xfrm>
          <a:prstGeom prst="rect">
            <a:avLst/>
          </a:prstGeom>
          <a:solidFill>
            <a:srgbClr val="1B3A5C"/>
          </a:solidFill>
          <a:ln w="12700">
            <a:solidFill>
              <a:srgbClr val="1B3A5C"/>
            </a:solidFill>
            <a:prstDash val="solid"/>
          </a:ln>
        </p:spPr>
      </p:sp>
      <p:sp>
        <p:nvSpPr>
          <p:cNvPr id="40" name="Shape 38"/>
          <p:cNvSpPr/>
          <p:nvPr/>
        </p:nvSpPr>
        <p:spPr>
          <a:xfrm>
            <a:off x="228600" y="2825496"/>
            <a:ext cx="64008" cy="356616"/>
          </a:xfrm>
          <a:prstGeom prst="rect">
            <a:avLst/>
          </a:prstGeom>
          <a:solidFill>
            <a:srgbClr val="0A7E8C"/>
          </a:solidFill>
          <a:ln w="12700">
            <a:solidFill>
              <a:srgbClr val="0A7E8C"/>
            </a:solidFill>
            <a:prstDash val="solid"/>
          </a:ln>
        </p:spPr>
      </p:sp>
      <p:sp>
        <p:nvSpPr>
          <p:cNvPr id="41" name="Text 39"/>
          <p:cNvSpPr/>
          <p:nvPr/>
        </p:nvSpPr>
        <p:spPr>
          <a:xfrm>
            <a:off x="274320" y="2880360"/>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P3</a:t>
            </a:r>
            <a:endParaRPr lang="en-US" sz="1050" dirty="0"/>
          </a:p>
        </p:txBody>
      </p:sp>
      <p:sp>
        <p:nvSpPr>
          <p:cNvPr id="42" name="Text 40"/>
          <p:cNvSpPr/>
          <p:nvPr/>
        </p:nvSpPr>
        <p:spPr>
          <a:xfrm>
            <a:off x="886968" y="2880360"/>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MV301</a:t>
            </a:r>
            <a:endParaRPr lang="en-US" sz="1050" dirty="0"/>
          </a:p>
        </p:txBody>
      </p:sp>
      <p:sp>
        <p:nvSpPr>
          <p:cNvPr id="43" name="Text 41"/>
          <p:cNvSpPr/>
          <p:nvPr/>
        </p:nvSpPr>
        <p:spPr>
          <a:xfrm>
            <a:off x="2734056" y="2880360"/>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CLOSED</a:t>
            </a:r>
            <a:endParaRPr lang="en-US" sz="1050" dirty="0"/>
          </a:p>
        </p:txBody>
      </p:sp>
      <p:sp>
        <p:nvSpPr>
          <p:cNvPr id="44" name="Text 42"/>
          <p:cNvSpPr/>
          <p:nvPr/>
        </p:nvSpPr>
        <p:spPr>
          <a:xfrm>
            <a:off x="4398264" y="2880360"/>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Isolate UF feed</a:t>
            </a:r>
            <a:endParaRPr lang="en-US" sz="950" dirty="0"/>
          </a:p>
        </p:txBody>
      </p:sp>
      <p:sp>
        <p:nvSpPr>
          <p:cNvPr id="45" name="Text 43"/>
          <p:cNvSpPr/>
          <p:nvPr/>
        </p:nvSpPr>
        <p:spPr>
          <a:xfrm>
            <a:off x="6611112" y="2880360"/>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Overflow in UF vessel</a:t>
            </a:r>
            <a:endParaRPr lang="en-US" sz="950" dirty="0"/>
          </a:p>
        </p:txBody>
      </p:sp>
      <p:sp>
        <p:nvSpPr>
          <p:cNvPr id="46" name="Shape 44"/>
          <p:cNvSpPr/>
          <p:nvPr/>
        </p:nvSpPr>
        <p:spPr>
          <a:xfrm>
            <a:off x="228600" y="3200400"/>
            <a:ext cx="8686800" cy="356616"/>
          </a:xfrm>
          <a:prstGeom prst="rect">
            <a:avLst/>
          </a:prstGeom>
          <a:solidFill>
            <a:srgbClr val="14304F"/>
          </a:solidFill>
          <a:ln w="12700">
            <a:solidFill>
              <a:srgbClr val="14304F"/>
            </a:solidFill>
            <a:prstDash val="solid"/>
          </a:ln>
        </p:spPr>
      </p:sp>
      <p:sp>
        <p:nvSpPr>
          <p:cNvPr id="47" name="Shape 45"/>
          <p:cNvSpPr/>
          <p:nvPr/>
        </p:nvSpPr>
        <p:spPr>
          <a:xfrm>
            <a:off x="228600" y="3200400"/>
            <a:ext cx="64008" cy="356616"/>
          </a:xfrm>
          <a:prstGeom prst="rect">
            <a:avLst/>
          </a:prstGeom>
          <a:solidFill>
            <a:srgbClr val="0A7E8C"/>
          </a:solidFill>
          <a:ln w="12700">
            <a:solidFill>
              <a:srgbClr val="0A7E8C"/>
            </a:solidFill>
            <a:prstDash val="solid"/>
          </a:ln>
        </p:spPr>
      </p:sp>
      <p:sp>
        <p:nvSpPr>
          <p:cNvPr id="48" name="Text 46"/>
          <p:cNvSpPr/>
          <p:nvPr/>
        </p:nvSpPr>
        <p:spPr>
          <a:xfrm>
            <a:off x="274320" y="3255264"/>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P3</a:t>
            </a:r>
            <a:endParaRPr lang="en-US" sz="1050" dirty="0"/>
          </a:p>
        </p:txBody>
      </p:sp>
      <p:sp>
        <p:nvSpPr>
          <p:cNvPr id="49" name="Text 47"/>
          <p:cNvSpPr/>
          <p:nvPr/>
        </p:nvSpPr>
        <p:spPr>
          <a:xfrm>
            <a:off x="886968" y="3255264"/>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P301/302</a:t>
            </a:r>
            <a:endParaRPr lang="en-US" sz="1050" dirty="0"/>
          </a:p>
        </p:txBody>
      </p:sp>
      <p:sp>
        <p:nvSpPr>
          <p:cNvPr id="50" name="Text 48"/>
          <p:cNvSpPr/>
          <p:nvPr/>
        </p:nvSpPr>
        <p:spPr>
          <a:xfrm>
            <a:off x="2734056" y="3255264"/>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51" name="Text 49"/>
          <p:cNvSpPr/>
          <p:nvPr/>
        </p:nvSpPr>
        <p:spPr>
          <a:xfrm>
            <a:off x="4398264" y="3255264"/>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UF pumps off</a:t>
            </a:r>
            <a:endParaRPr lang="en-US" sz="950" dirty="0"/>
          </a:p>
        </p:txBody>
      </p:sp>
      <p:sp>
        <p:nvSpPr>
          <p:cNvPr id="52" name="Text 50"/>
          <p:cNvSpPr/>
          <p:nvPr/>
        </p:nvSpPr>
        <p:spPr>
          <a:xfrm>
            <a:off x="6611112" y="3255264"/>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Membrane pressure spike</a:t>
            </a:r>
            <a:endParaRPr lang="en-US" sz="950" dirty="0"/>
          </a:p>
        </p:txBody>
      </p:sp>
      <p:sp>
        <p:nvSpPr>
          <p:cNvPr id="53" name="Shape 51"/>
          <p:cNvSpPr/>
          <p:nvPr/>
        </p:nvSpPr>
        <p:spPr>
          <a:xfrm>
            <a:off x="228600" y="3575304"/>
            <a:ext cx="8686800" cy="356616"/>
          </a:xfrm>
          <a:prstGeom prst="rect">
            <a:avLst/>
          </a:prstGeom>
          <a:solidFill>
            <a:srgbClr val="1B3A5C"/>
          </a:solidFill>
          <a:ln w="12700">
            <a:solidFill>
              <a:srgbClr val="1B3A5C"/>
            </a:solidFill>
            <a:prstDash val="solid"/>
          </a:ln>
        </p:spPr>
      </p:sp>
      <p:sp>
        <p:nvSpPr>
          <p:cNvPr id="54" name="Shape 52"/>
          <p:cNvSpPr/>
          <p:nvPr/>
        </p:nvSpPr>
        <p:spPr>
          <a:xfrm>
            <a:off x="228600" y="3575304"/>
            <a:ext cx="64008" cy="356616"/>
          </a:xfrm>
          <a:prstGeom prst="rect">
            <a:avLst/>
          </a:prstGeom>
          <a:solidFill>
            <a:srgbClr val="0A7E8C"/>
          </a:solidFill>
          <a:ln w="12700">
            <a:solidFill>
              <a:srgbClr val="0A7E8C"/>
            </a:solidFill>
            <a:prstDash val="solid"/>
          </a:ln>
        </p:spPr>
      </p:sp>
      <p:sp>
        <p:nvSpPr>
          <p:cNvPr id="55" name="Text 53"/>
          <p:cNvSpPr/>
          <p:nvPr/>
        </p:nvSpPr>
        <p:spPr>
          <a:xfrm>
            <a:off x="274320" y="3630168"/>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P4</a:t>
            </a:r>
            <a:endParaRPr lang="en-US" sz="1050" dirty="0"/>
          </a:p>
        </p:txBody>
      </p:sp>
      <p:sp>
        <p:nvSpPr>
          <p:cNvPr id="56" name="Text 54"/>
          <p:cNvSpPr/>
          <p:nvPr/>
        </p:nvSpPr>
        <p:spPr>
          <a:xfrm>
            <a:off x="886968" y="3630168"/>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UV401</a:t>
            </a:r>
            <a:endParaRPr lang="en-US" sz="1050" dirty="0"/>
          </a:p>
        </p:txBody>
      </p:sp>
      <p:sp>
        <p:nvSpPr>
          <p:cNvPr id="57" name="Text 55"/>
          <p:cNvSpPr/>
          <p:nvPr/>
        </p:nvSpPr>
        <p:spPr>
          <a:xfrm>
            <a:off x="2734056" y="3630168"/>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58" name="Text 56"/>
          <p:cNvSpPr/>
          <p:nvPr/>
        </p:nvSpPr>
        <p:spPr>
          <a:xfrm>
            <a:off x="4398264" y="3630168"/>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UV off — no water to treat</a:t>
            </a:r>
            <a:endParaRPr lang="en-US" sz="950" dirty="0"/>
          </a:p>
        </p:txBody>
      </p:sp>
      <p:sp>
        <p:nvSpPr>
          <p:cNvPr id="59" name="Text 57"/>
          <p:cNvSpPr/>
          <p:nvPr/>
        </p:nvSpPr>
        <p:spPr>
          <a:xfrm>
            <a:off x="6611112" y="3630168"/>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UV element overheating</a:t>
            </a:r>
            <a:endParaRPr lang="en-US" sz="950" dirty="0"/>
          </a:p>
        </p:txBody>
      </p:sp>
      <p:sp>
        <p:nvSpPr>
          <p:cNvPr id="60" name="Shape 58"/>
          <p:cNvSpPr/>
          <p:nvPr/>
        </p:nvSpPr>
        <p:spPr>
          <a:xfrm>
            <a:off x="228600" y="3950208"/>
            <a:ext cx="8686800" cy="356616"/>
          </a:xfrm>
          <a:prstGeom prst="rect">
            <a:avLst/>
          </a:prstGeom>
          <a:solidFill>
            <a:srgbClr val="14304F"/>
          </a:solidFill>
          <a:ln w="12700">
            <a:solidFill>
              <a:srgbClr val="14304F"/>
            </a:solidFill>
            <a:prstDash val="solid"/>
          </a:ln>
        </p:spPr>
      </p:sp>
      <p:sp>
        <p:nvSpPr>
          <p:cNvPr id="61" name="Shape 59"/>
          <p:cNvSpPr/>
          <p:nvPr/>
        </p:nvSpPr>
        <p:spPr>
          <a:xfrm>
            <a:off x="228600" y="3950208"/>
            <a:ext cx="64008" cy="356616"/>
          </a:xfrm>
          <a:prstGeom prst="rect">
            <a:avLst/>
          </a:prstGeom>
          <a:solidFill>
            <a:srgbClr val="0A7E8C"/>
          </a:solidFill>
          <a:ln w="12700">
            <a:solidFill>
              <a:srgbClr val="0A7E8C"/>
            </a:solidFill>
            <a:prstDash val="solid"/>
          </a:ln>
        </p:spPr>
      </p:sp>
      <p:sp>
        <p:nvSpPr>
          <p:cNvPr id="62" name="Text 60"/>
          <p:cNvSpPr/>
          <p:nvPr/>
        </p:nvSpPr>
        <p:spPr>
          <a:xfrm>
            <a:off x="274320" y="4005072"/>
            <a:ext cx="594360" cy="246888"/>
          </a:xfrm>
          <a:prstGeom prst="rect">
            <a:avLst/>
          </a:prstGeom>
          <a:noFill/>
          <a:ln/>
        </p:spPr>
        <p:txBody>
          <a:bodyPr wrap="square" lIns="0" tIns="0" rIns="0" bIns="0" rtlCol="0" anchor="ctr"/>
          <a:lstStyle/>
          <a:p>
            <a:pPr algn="ctr" indent="0" marL="0">
              <a:buNone/>
            </a:pPr>
            <a:r>
              <a:rPr lang="en-US" sz="1050" b="1" dirty="0">
                <a:solidFill>
                  <a:srgbClr val="0FB3C5"/>
                </a:solidFill>
                <a:latin typeface="Calibri" pitchFamily="34" charset="0"/>
                <a:ea typeface="Calibri" pitchFamily="34" charset="-122"/>
                <a:cs typeface="Calibri" pitchFamily="34" charset="-120"/>
              </a:rPr>
              <a:t>P6</a:t>
            </a:r>
            <a:endParaRPr lang="en-US" sz="1050" dirty="0"/>
          </a:p>
        </p:txBody>
      </p:sp>
      <p:sp>
        <p:nvSpPr>
          <p:cNvPr id="63" name="Text 61"/>
          <p:cNvSpPr/>
          <p:nvPr/>
        </p:nvSpPr>
        <p:spPr>
          <a:xfrm>
            <a:off x="886968" y="4005072"/>
            <a:ext cx="1828800" cy="246888"/>
          </a:xfrm>
          <a:prstGeom prst="rect">
            <a:avLst/>
          </a:prstGeom>
          <a:noFill/>
          <a:ln/>
        </p:spPr>
        <p:txBody>
          <a:bodyPr wrap="square" lIns="0" tIns="0" rIns="0" bIns="0" rtlCol="0" anchor="ctr"/>
          <a:lstStyle/>
          <a:p>
            <a:pPr indent="0" marL="0">
              <a:buNone/>
            </a:pPr>
            <a:r>
              <a:rPr lang="en-US" sz="1050" dirty="0">
                <a:solidFill>
                  <a:srgbClr val="E8EEF4"/>
                </a:solidFill>
                <a:latin typeface="Consolas" pitchFamily="34" charset="0"/>
                <a:ea typeface="Consolas" pitchFamily="34" charset="-122"/>
                <a:cs typeface="Consolas" pitchFamily="34" charset="-120"/>
              </a:rPr>
              <a:t>P602</a:t>
            </a:r>
            <a:endParaRPr lang="en-US" sz="1050" dirty="0"/>
          </a:p>
        </p:txBody>
      </p:sp>
      <p:sp>
        <p:nvSpPr>
          <p:cNvPr id="64" name="Text 62"/>
          <p:cNvSpPr/>
          <p:nvPr/>
        </p:nvSpPr>
        <p:spPr>
          <a:xfrm>
            <a:off x="2734056" y="4005072"/>
            <a:ext cx="1645920" cy="246888"/>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OFF</a:t>
            </a:r>
            <a:endParaRPr lang="en-US" sz="1050" dirty="0"/>
          </a:p>
        </p:txBody>
      </p:sp>
      <p:sp>
        <p:nvSpPr>
          <p:cNvPr id="65" name="Text 63"/>
          <p:cNvSpPr/>
          <p:nvPr/>
        </p:nvSpPr>
        <p:spPr>
          <a:xfrm>
            <a:off x="4398264" y="4005072"/>
            <a:ext cx="2194560" cy="246888"/>
          </a:xfrm>
          <a:prstGeom prst="rect">
            <a:avLst/>
          </a:prstGeom>
          <a:noFill/>
          <a:ln/>
        </p:spPr>
        <p:txBody>
          <a:bodyPr wrap="square" lIns="0" tIns="0" rIns="0" bIns="0" rtlCol="0" anchor="ctr"/>
          <a:lstStyle/>
          <a:p>
            <a:pPr indent="0" marL="0">
              <a:buNone/>
            </a:pPr>
            <a:r>
              <a:rPr lang="en-US" sz="950" dirty="0">
                <a:solidFill>
                  <a:srgbClr val="C9D6DF"/>
                </a:solidFill>
                <a:latin typeface="Calibri" pitchFamily="34" charset="0"/>
                <a:ea typeface="Calibri" pitchFamily="34" charset="-122"/>
                <a:cs typeface="Calibri" pitchFamily="34" charset="-120"/>
              </a:rPr>
              <a:t>RO pump off</a:t>
            </a:r>
            <a:endParaRPr lang="en-US" sz="950" dirty="0"/>
          </a:p>
        </p:txBody>
      </p:sp>
      <p:sp>
        <p:nvSpPr>
          <p:cNvPr id="66" name="Text 64"/>
          <p:cNvSpPr/>
          <p:nvPr/>
        </p:nvSpPr>
        <p:spPr>
          <a:xfrm>
            <a:off x="6611112" y="4005072"/>
            <a:ext cx="2606040" cy="246888"/>
          </a:xfrm>
          <a:prstGeom prst="rect">
            <a:avLst/>
          </a:prstGeom>
          <a:noFill/>
          <a:ln/>
        </p:spPr>
        <p:txBody>
          <a:bodyPr wrap="square" lIns="0" tIns="0" rIns="0" bIns="0" rtlCol="0" anchor="ctr"/>
          <a:lstStyle/>
          <a:p>
            <a:pPr indent="0" marL="0">
              <a:buNone/>
            </a:pPr>
            <a:r>
              <a:rPr lang="en-US" sz="950" dirty="0">
                <a:solidFill>
                  <a:srgbClr val="E74C3C"/>
                </a:solidFill>
                <a:latin typeface="Calibri" pitchFamily="34" charset="0"/>
                <a:ea typeface="Calibri" pitchFamily="34" charset="-122"/>
                <a:cs typeface="Calibri" pitchFamily="34" charset="-120"/>
              </a:rPr>
              <a:t>Reverse osmosis membrane damage</a:t>
            </a:r>
            <a:endParaRPr lang="en-US" sz="950" dirty="0"/>
          </a:p>
        </p:txBody>
      </p:sp>
      <p:sp>
        <p:nvSpPr>
          <p:cNvPr id="67" name="Shape 65"/>
          <p:cNvSpPr/>
          <p:nvPr/>
        </p:nvSpPr>
        <p:spPr>
          <a:xfrm>
            <a:off x="228600" y="4407408"/>
            <a:ext cx="8686800" cy="566928"/>
          </a:xfrm>
          <a:prstGeom prst="rect">
            <a:avLst/>
          </a:prstGeom>
          <a:solidFill>
            <a:srgbClr val="162E20"/>
          </a:solidFill>
          <a:ln w="12700">
            <a:solidFill>
              <a:srgbClr val="162E20"/>
            </a:solidFill>
            <a:prstDash val="solid"/>
          </a:ln>
        </p:spPr>
      </p:sp>
      <p:sp>
        <p:nvSpPr>
          <p:cNvPr id="68" name="Shape 66"/>
          <p:cNvSpPr/>
          <p:nvPr/>
        </p:nvSpPr>
        <p:spPr>
          <a:xfrm>
            <a:off x="228600" y="4407408"/>
            <a:ext cx="64008" cy="566928"/>
          </a:xfrm>
          <a:prstGeom prst="rect">
            <a:avLst/>
          </a:prstGeom>
          <a:solidFill>
            <a:srgbClr val="2ECC71"/>
          </a:solidFill>
          <a:ln w="12700">
            <a:solidFill>
              <a:srgbClr val="2ECC71"/>
            </a:solidFill>
            <a:prstDash val="solid"/>
          </a:ln>
        </p:spPr>
      </p:sp>
      <p:sp>
        <p:nvSpPr>
          <p:cNvPr id="69" name="Text 67"/>
          <p:cNvSpPr/>
          <p:nvPr/>
        </p:nvSpPr>
        <p:spPr>
          <a:xfrm>
            <a:off x="411480" y="4434840"/>
            <a:ext cx="8321040" cy="512064"/>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 xml:space="preserve">Hot-Standby PLC Failover:  </a:t>
            </a:r>
            <a:pPr indent="0" marL="0">
              <a:buNone/>
            </a:pPr>
            <a:r>
              <a:rPr lang="en-US" sz="1000" dirty="0">
                <a:solidFill>
                  <a:srgbClr val="E8EEF4"/>
                </a:solidFill>
                <a:latin typeface="Calibri" pitchFamily="34" charset="0"/>
                <a:ea typeface="Calibri" pitchFamily="34" charset="-122"/>
                <a:cs typeface="Calibri" pitchFamily="34" charset="-120"/>
              </a:rPr>
              <a:t>SWaT runs dual PLCs per stage (primary + standby). After safe state is written, the standby PLC (PLC1B) takes control via EtherNet/IP primary/secondary handshake. PLC1B has an identical copy of the ladder logic and resumes from the last known safe register state. The compromised PLC1A is isolated from the network until it is re-imaged and verified.</a:t>
            </a:r>
            <a:endParaRPr lang="en-US" sz="1000" dirty="0"/>
          </a:p>
        </p:txBody>
      </p:sp>
      <p:sp>
        <p:nvSpPr>
          <p:cNvPr id="70" name="Shape 68"/>
          <p:cNvSpPr/>
          <p:nvPr/>
        </p:nvSpPr>
        <p:spPr>
          <a:xfrm>
            <a:off x="0" y="4754880"/>
            <a:ext cx="9144000" cy="384048"/>
          </a:xfrm>
          <a:prstGeom prst="rect">
            <a:avLst/>
          </a:prstGeom>
          <a:solidFill>
            <a:srgbClr val="1B3A5C"/>
          </a:solidFill>
          <a:ln w="12700">
            <a:solidFill>
              <a:srgbClr val="1B3A5C"/>
            </a:solidFill>
            <a:prstDash val="solid"/>
          </a:ln>
        </p:spPr>
      </p:sp>
      <p:sp>
        <p:nvSpPr>
          <p:cNvPr id="71" name="Text 69"/>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Safe State &amp; Failover</a:t>
            </a:r>
            <a:endParaRPr lang="en-US" sz="10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229600" cy="475488"/>
          </a:xfrm>
          <a:prstGeom prst="rect">
            <a:avLst/>
          </a:prstGeom>
          <a:noFill/>
          <a:ln/>
        </p:spPr>
        <p:txBody>
          <a:bodyPr wrap="square" lIns="0" tIns="0" rIns="0" bIns="0"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Defense Implementation &amp; Evaluation</a:t>
            </a:r>
            <a:endParaRPr lang="en-US" sz="2800" dirty="0"/>
          </a:p>
        </p:txBody>
      </p:sp>
      <p:sp>
        <p:nvSpPr>
          <p:cNvPr id="4" name="Text 2"/>
          <p:cNvSpPr/>
          <p:nvPr/>
        </p:nvSpPr>
        <p:spPr>
          <a:xfrm>
            <a:off x="365760" y="640080"/>
            <a:ext cx="8229600" cy="256032"/>
          </a:xfrm>
          <a:prstGeom prst="rect">
            <a:avLst/>
          </a:prstGeom>
          <a:noFill/>
          <a:ln/>
        </p:spPr>
        <p:txBody>
          <a:bodyPr wrap="square" lIns="0" tIns="0" rIns="0" bIns="0" rtlCol="0" anchor="ctr"/>
          <a:lstStyle/>
          <a:p>
            <a:pPr indent="0" marL="0">
              <a:buNone/>
            </a:pPr>
            <a:r>
              <a:rPr lang="en-US" sz="1200" i="1" dirty="0">
                <a:solidFill>
                  <a:srgbClr val="8FA3B1"/>
                </a:solidFill>
                <a:latin typeface="Calibri" pitchFamily="34" charset="0"/>
                <a:ea typeface="Calibri" pitchFamily="34" charset="-122"/>
                <a:cs typeface="Calibri" pitchFamily="34" charset="-120"/>
              </a:rPr>
              <a:t>Concrete code artifacts and metrics for the course project demo at iTrust Lab</a:t>
            </a:r>
            <a:endParaRPr lang="en-US" sz="1200" dirty="0"/>
          </a:p>
        </p:txBody>
      </p:sp>
      <p:sp>
        <p:nvSpPr>
          <p:cNvPr id="5" name="Shape 3"/>
          <p:cNvSpPr/>
          <p:nvPr/>
        </p:nvSpPr>
        <p:spPr>
          <a:xfrm>
            <a:off x="228600" y="987552"/>
            <a:ext cx="4206240" cy="2743200"/>
          </a:xfrm>
          <a:prstGeom prst="rect">
            <a:avLst/>
          </a:prstGeom>
          <a:solidFill>
            <a:srgbClr val="FFFFFF"/>
          </a:solidFill>
          <a:ln w="12700">
            <a:solidFill>
              <a:srgbClr val="FFFFFF"/>
            </a:solidFill>
            <a:prstDash val="solid"/>
          </a:ln>
        </p:spPr>
      </p:sp>
      <p:sp>
        <p:nvSpPr>
          <p:cNvPr id="6" name="Shape 4"/>
          <p:cNvSpPr/>
          <p:nvPr/>
        </p:nvSpPr>
        <p:spPr>
          <a:xfrm>
            <a:off x="228600" y="987552"/>
            <a:ext cx="64008" cy="2743200"/>
          </a:xfrm>
          <a:prstGeom prst="rect">
            <a:avLst/>
          </a:prstGeom>
          <a:solidFill>
            <a:srgbClr val="0A7E8C"/>
          </a:solidFill>
          <a:ln w="12700">
            <a:solidFill>
              <a:srgbClr val="0A7E8C"/>
            </a:solidFill>
            <a:prstDash val="solid"/>
          </a:ln>
        </p:spPr>
      </p:sp>
      <p:sp>
        <p:nvSpPr>
          <p:cNvPr id="7" name="Text 5"/>
          <p:cNvSpPr/>
          <p:nvPr/>
        </p:nvSpPr>
        <p:spPr>
          <a:xfrm>
            <a:off x="411480" y="1051560"/>
            <a:ext cx="3840480" cy="320040"/>
          </a:xfrm>
          <a:prstGeom prst="rect">
            <a:avLst/>
          </a:prstGeom>
          <a:noFill/>
          <a:ln/>
        </p:spPr>
        <p:txBody>
          <a:bodyPr wrap="square" lIns="0" tIns="0" rIns="0" bIns="0" rtlCol="0" anchor="ctr"/>
          <a:lstStyle/>
          <a:p>
            <a:pPr indent="0" marL="0">
              <a:buNone/>
            </a:pPr>
            <a:r>
              <a:rPr lang="en-US" sz="1400" b="1" dirty="0">
                <a:solidFill>
                  <a:srgbClr val="0A7E8C"/>
                </a:solidFill>
                <a:latin typeface="Calibri" pitchFamily="34" charset="0"/>
                <a:ea typeface="Calibri" pitchFamily="34" charset="-122"/>
                <a:cs typeface="Calibri" pitchFamily="34" charset="-120"/>
              </a:rPr>
              <a:t>Implementation Artifacts</a:t>
            </a:r>
            <a:endParaRPr lang="en-US" sz="1400" dirty="0"/>
          </a:p>
        </p:txBody>
      </p:sp>
      <p:sp>
        <p:nvSpPr>
          <p:cNvPr id="8" name="Shape 6"/>
          <p:cNvSpPr/>
          <p:nvPr/>
        </p:nvSpPr>
        <p:spPr>
          <a:xfrm>
            <a:off x="347472" y="1444752"/>
            <a:ext cx="3977640" cy="402336"/>
          </a:xfrm>
          <a:prstGeom prst="rect">
            <a:avLst/>
          </a:prstGeom>
          <a:solidFill>
            <a:srgbClr val="F0F8FF"/>
          </a:solidFill>
          <a:ln w="12700">
            <a:solidFill>
              <a:srgbClr val="F0F8FF"/>
            </a:solidFill>
            <a:prstDash val="solid"/>
          </a:ln>
        </p:spPr>
      </p:sp>
      <p:sp>
        <p:nvSpPr>
          <p:cNvPr id="9" name="Text 7"/>
          <p:cNvSpPr/>
          <p:nvPr/>
        </p:nvSpPr>
        <p:spPr>
          <a:xfrm>
            <a:off x="457200" y="1472184"/>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invariant_checker.py</a:t>
            </a:r>
            <a:endParaRPr lang="en-US" sz="1050" dirty="0"/>
          </a:p>
        </p:txBody>
      </p:sp>
      <p:sp>
        <p:nvSpPr>
          <p:cNvPr id="10" name="Text 8"/>
          <p:cNvSpPr/>
          <p:nvPr/>
        </p:nvSpPr>
        <p:spPr>
          <a:xfrm>
            <a:off x="457200" y="1664208"/>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8 P1 invariants, reads PLC1 coil registers via pyModbus</a:t>
            </a:r>
            <a:endParaRPr lang="en-US" sz="950" dirty="0"/>
          </a:p>
        </p:txBody>
      </p:sp>
      <p:sp>
        <p:nvSpPr>
          <p:cNvPr id="11" name="Shape 9"/>
          <p:cNvSpPr/>
          <p:nvPr/>
        </p:nvSpPr>
        <p:spPr>
          <a:xfrm>
            <a:off x="347472" y="1883664"/>
            <a:ext cx="3977640" cy="402336"/>
          </a:xfrm>
          <a:prstGeom prst="rect">
            <a:avLst/>
          </a:prstGeom>
          <a:solidFill>
            <a:srgbClr val="F8F8FF"/>
          </a:solidFill>
          <a:ln w="12700">
            <a:solidFill>
              <a:srgbClr val="F8F8FF"/>
            </a:solidFill>
            <a:prstDash val="solid"/>
          </a:ln>
        </p:spPr>
      </p:sp>
      <p:sp>
        <p:nvSpPr>
          <p:cNvPr id="12" name="Text 10"/>
          <p:cNvSpPr/>
          <p:nvPr/>
        </p:nvSpPr>
        <p:spPr>
          <a:xfrm>
            <a:off x="457200" y="1911096"/>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autoencoder.py</a:t>
            </a:r>
            <a:endParaRPr lang="en-US" sz="1050" dirty="0"/>
          </a:p>
        </p:txBody>
      </p:sp>
      <p:sp>
        <p:nvSpPr>
          <p:cNvPr id="13" name="Text 11"/>
          <p:cNvSpPr/>
          <p:nvPr/>
        </p:nvSpPr>
        <p:spPr>
          <a:xfrm>
            <a:off x="457200" y="2103120"/>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Reconstruction AE, train on SWaT CSV, inference + threshold</a:t>
            </a:r>
            <a:endParaRPr lang="en-US" sz="950" dirty="0"/>
          </a:p>
        </p:txBody>
      </p:sp>
      <p:sp>
        <p:nvSpPr>
          <p:cNvPr id="14" name="Shape 12"/>
          <p:cNvSpPr/>
          <p:nvPr/>
        </p:nvSpPr>
        <p:spPr>
          <a:xfrm>
            <a:off x="347472" y="2322576"/>
            <a:ext cx="3977640" cy="402336"/>
          </a:xfrm>
          <a:prstGeom prst="rect">
            <a:avLst/>
          </a:prstGeom>
          <a:solidFill>
            <a:srgbClr val="F0F8FF"/>
          </a:solidFill>
          <a:ln w="12700">
            <a:solidFill>
              <a:srgbClr val="F0F8FF"/>
            </a:solidFill>
            <a:prstDash val="solid"/>
          </a:ln>
        </p:spPr>
      </p:sp>
      <p:sp>
        <p:nvSpPr>
          <p:cNvPr id="15" name="Text 13"/>
          <p:cNvSpPr/>
          <p:nvPr/>
        </p:nvSpPr>
        <p:spPr>
          <a:xfrm>
            <a:off x="457200" y="2350008"/>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fusion.py</a:t>
            </a:r>
            <a:endParaRPr lang="en-US" sz="1050" dirty="0"/>
          </a:p>
        </p:txBody>
      </p:sp>
      <p:sp>
        <p:nvSpPr>
          <p:cNvPr id="16" name="Text 14"/>
          <p:cNvSpPr/>
          <p:nvPr/>
        </p:nvSpPr>
        <p:spPr>
          <a:xfrm>
            <a:off x="457200" y="2542032"/>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Weighted voting, 3-cycle window, alert + log output</a:t>
            </a:r>
            <a:endParaRPr lang="en-US" sz="950" dirty="0"/>
          </a:p>
        </p:txBody>
      </p:sp>
      <p:sp>
        <p:nvSpPr>
          <p:cNvPr id="17" name="Shape 15"/>
          <p:cNvSpPr/>
          <p:nvPr/>
        </p:nvSpPr>
        <p:spPr>
          <a:xfrm>
            <a:off x="347472" y="2761488"/>
            <a:ext cx="3977640" cy="402336"/>
          </a:xfrm>
          <a:prstGeom prst="rect">
            <a:avLst/>
          </a:prstGeom>
          <a:solidFill>
            <a:srgbClr val="F8F8FF"/>
          </a:solidFill>
          <a:ln w="12700">
            <a:solidFill>
              <a:srgbClr val="F8F8FF"/>
            </a:solidFill>
            <a:prstDash val="solid"/>
          </a:ln>
        </p:spPr>
      </p:sp>
      <p:sp>
        <p:nvSpPr>
          <p:cNvPr id="18" name="Text 16"/>
          <p:cNvSpPr/>
          <p:nvPr/>
        </p:nvSpPr>
        <p:spPr>
          <a:xfrm>
            <a:off x="457200" y="2788920"/>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recovery_agent.py</a:t>
            </a:r>
            <a:endParaRPr lang="en-US" sz="1050" dirty="0"/>
          </a:p>
        </p:txBody>
      </p:sp>
      <p:sp>
        <p:nvSpPr>
          <p:cNvPr id="19" name="Text 17"/>
          <p:cNvSpPr/>
          <p:nvPr/>
        </p:nvSpPr>
        <p:spPr>
          <a:xfrm>
            <a:off x="457200" y="2980944"/>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iptables block, safe-state write, PLC1B failover trigger</a:t>
            </a:r>
            <a:endParaRPr lang="en-US" sz="950" dirty="0"/>
          </a:p>
        </p:txBody>
      </p:sp>
      <p:sp>
        <p:nvSpPr>
          <p:cNvPr id="20" name="Shape 18"/>
          <p:cNvSpPr/>
          <p:nvPr/>
        </p:nvSpPr>
        <p:spPr>
          <a:xfrm>
            <a:off x="347472" y="3200400"/>
            <a:ext cx="3977640" cy="402336"/>
          </a:xfrm>
          <a:prstGeom prst="rect">
            <a:avLst/>
          </a:prstGeom>
          <a:solidFill>
            <a:srgbClr val="F0F8FF"/>
          </a:solidFill>
          <a:ln w="12700">
            <a:solidFill>
              <a:srgbClr val="F0F8FF"/>
            </a:solidFill>
            <a:prstDash val="solid"/>
          </a:ln>
        </p:spPr>
      </p:sp>
      <p:sp>
        <p:nvSpPr>
          <p:cNvPr id="21" name="Text 19"/>
          <p:cNvSpPr/>
          <p:nvPr/>
        </p:nvSpPr>
        <p:spPr>
          <a:xfrm>
            <a:off x="457200" y="3227832"/>
            <a:ext cx="3749040" cy="201168"/>
          </a:xfrm>
          <a:prstGeom prst="rect">
            <a:avLst/>
          </a:prstGeom>
          <a:noFill/>
          <a:ln/>
        </p:spPr>
        <p:txBody>
          <a:bodyPr wrap="square" lIns="0" tIns="0" rIns="0" bIns="0" rtlCol="0" anchor="ctr"/>
          <a:lstStyle/>
          <a:p>
            <a:pPr indent="0" marL="0">
              <a:buNone/>
            </a:pPr>
            <a:r>
              <a:rPr lang="en-US" sz="1050" b="1" dirty="0">
                <a:solidFill>
                  <a:srgbClr val="0A7E8C"/>
                </a:solidFill>
                <a:latin typeface="Consolas" pitchFamily="34" charset="0"/>
                <a:ea typeface="Consolas" pitchFamily="34" charset="-122"/>
                <a:cs typeface="Consolas" pitchFamily="34" charset="-120"/>
              </a:rPr>
              <a:t>autoencoder_detector.py</a:t>
            </a:r>
            <a:endParaRPr lang="en-US" sz="1050" dirty="0"/>
          </a:p>
        </p:txBody>
      </p:sp>
      <p:sp>
        <p:nvSpPr>
          <p:cNvPr id="22" name="Text 20"/>
          <p:cNvSpPr/>
          <p:nvPr/>
        </p:nvSpPr>
        <p:spPr>
          <a:xfrm>
            <a:off x="457200" y="3419856"/>
            <a:ext cx="374904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Live MSE anomaly scoring; outputs /tmp/ae_flag for fusion engine</a:t>
            </a:r>
            <a:endParaRPr lang="en-US" sz="950" dirty="0"/>
          </a:p>
        </p:txBody>
      </p:sp>
      <p:sp>
        <p:nvSpPr>
          <p:cNvPr id="23" name="Shape 21"/>
          <p:cNvSpPr/>
          <p:nvPr/>
        </p:nvSpPr>
        <p:spPr>
          <a:xfrm>
            <a:off x="4617720" y="987552"/>
            <a:ext cx="4297680" cy="2743200"/>
          </a:xfrm>
          <a:prstGeom prst="rect">
            <a:avLst/>
          </a:prstGeom>
          <a:solidFill>
            <a:srgbClr val="FFFFFF"/>
          </a:solidFill>
          <a:ln w="12700">
            <a:solidFill>
              <a:srgbClr val="FFFFFF"/>
            </a:solidFill>
            <a:prstDash val="solid"/>
          </a:ln>
        </p:spPr>
      </p:sp>
      <p:sp>
        <p:nvSpPr>
          <p:cNvPr id="24" name="Shape 22"/>
          <p:cNvSpPr/>
          <p:nvPr/>
        </p:nvSpPr>
        <p:spPr>
          <a:xfrm>
            <a:off x="4617720" y="987552"/>
            <a:ext cx="64008" cy="2743200"/>
          </a:xfrm>
          <a:prstGeom prst="rect">
            <a:avLst/>
          </a:prstGeom>
          <a:solidFill>
            <a:srgbClr val="2ECC71"/>
          </a:solidFill>
          <a:ln w="12700">
            <a:solidFill>
              <a:srgbClr val="2ECC71"/>
            </a:solidFill>
            <a:prstDash val="solid"/>
          </a:ln>
        </p:spPr>
      </p:sp>
      <p:sp>
        <p:nvSpPr>
          <p:cNvPr id="25" name="Text 23"/>
          <p:cNvSpPr/>
          <p:nvPr/>
        </p:nvSpPr>
        <p:spPr>
          <a:xfrm>
            <a:off x="4800600" y="1051560"/>
            <a:ext cx="3931920" cy="320040"/>
          </a:xfrm>
          <a:prstGeom prst="rect">
            <a:avLst/>
          </a:prstGeom>
          <a:noFill/>
          <a:ln/>
        </p:spPr>
        <p:txBody>
          <a:bodyPr wrap="square" lIns="0" tIns="0" rIns="0" bIns="0" rtlCol="0" anchor="ctr"/>
          <a:lstStyle/>
          <a:p>
            <a:pPr indent="0" marL="0">
              <a:buNone/>
            </a:pPr>
            <a:r>
              <a:rPr lang="en-US" sz="1400" b="1" dirty="0">
                <a:solidFill>
                  <a:srgbClr val="1A8A47"/>
                </a:solidFill>
                <a:latin typeface="Calibri" pitchFamily="34" charset="0"/>
                <a:ea typeface="Calibri" pitchFamily="34" charset="-122"/>
                <a:cs typeface="Calibri" pitchFamily="34" charset="-120"/>
              </a:rPr>
              <a:t>Evaluation Metrics</a:t>
            </a:r>
            <a:endParaRPr lang="en-US" sz="1400" dirty="0"/>
          </a:p>
        </p:txBody>
      </p:sp>
      <p:sp>
        <p:nvSpPr>
          <p:cNvPr id="26" name="Shape 24"/>
          <p:cNvSpPr/>
          <p:nvPr/>
        </p:nvSpPr>
        <p:spPr>
          <a:xfrm>
            <a:off x="4736592" y="1444752"/>
            <a:ext cx="4069080" cy="402336"/>
          </a:xfrm>
          <a:prstGeom prst="rect">
            <a:avLst/>
          </a:prstGeom>
          <a:solidFill>
            <a:srgbClr val="F0FFF4"/>
          </a:solidFill>
          <a:ln w="12700">
            <a:solidFill>
              <a:srgbClr val="F0FFF4"/>
            </a:solidFill>
            <a:prstDash val="solid"/>
          </a:ln>
        </p:spPr>
      </p:sp>
      <p:sp>
        <p:nvSpPr>
          <p:cNvPr id="27" name="Text 25"/>
          <p:cNvSpPr/>
          <p:nvPr/>
        </p:nvSpPr>
        <p:spPr>
          <a:xfrm>
            <a:off x="4828032" y="1472184"/>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Detection Rate (DR)</a:t>
            </a:r>
            <a:endParaRPr lang="en-US" sz="1050" dirty="0"/>
          </a:p>
        </p:txBody>
      </p:sp>
      <p:sp>
        <p:nvSpPr>
          <p:cNvPr id="28" name="Text 26"/>
          <p:cNvSpPr/>
          <p:nvPr/>
        </p:nvSpPr>
        <p:spPr>
          <a:xfrm>
            <a:off x="4828032" y="1664208"/>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attack scenarios caught by hybrid detector</a:t>
            </a:r>
            <a:endParaRPr lang="en-US" sz="950" dirty="0"/>
          </a:p>
        </p:txBody>
      </p:sp>
      <p:sp>
        <p:nvSpPr>
          <p:cNvPr id="29" name="Shape 27"/>
          <p:cNvSpPr/>
          <p:nvPr/>
        </p:nvSpPr>
        <p:spPr>
          <a:xfrm>
            <a:off x="4736592" y="1883664"/>
            <a:ext cx="4069080" cy="402336"/>
          </a:xfrm>
          <a:prstGeom prst="rect">
            <a:avLst/>
          </a:prstGeom>
          <a:solidFill>
            <a:srgbClr val="F8FFF8"/>
          </a:solidFill>
          <a:ln w="12700">
            <a:solidFill>
              <a:srgbClr val="F8FFF8"/>
            </a:solidFill>
            <a:prstDash val="solid"/>
          </a:ln>
        </p:spPr>
      </p:sp>
      <p:sp>
        <p:nvSpPr>
          <p:cNvPr id="30" name="Text 28"/>
          <p:cNvSpPr/>
          <p:nvPr/>
        </p:nvSpPr>
        <p:spPr>
          <a:xfrm>
            <a:off x="4828032" y="1911096"/>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False Positive Rate (FPR)</a:t>
            </a:r>
            <a:endParaRPr lang="en-US" sz="1050" dirty="0"/>
          </a:p>
        </p:txBody>
      </p:sp>
      <p:sp>
        <p:nvSpPr>
          <p:cNvPr id="31" name="Text 29"/>
          <p:cNvSpPr/>
          <p:nvPr/>
        </p:nvSpPr>
        <p:spPr>
          <a:xfrm>
            <a:off x="4828032" y="2103120"/>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normal operation incorrectly flagged</a:t>
            </a:r>
            <a:endParaRPr lang="en-US" sz="950" dirty="0"/>
          </a:p>
        </p:txBody>
      </p:sp>
      <p:sp>
        <p:nvSpPr>
          <p:cNvPr id="32" name="Shape 30"/>
          <p:cNvSpPr/>
          <p:nvPr/>
        </p:nvSpPr>
        <p:spPr>
          <a:xfrm>
            <a:off x="4736592" y="2322576"/>
            <a:ext cx="4069080" cy="402336"/>
          </a:xfrm>
          <a:prstGeom prst="rect">
            <a:avLst/>
          </a:prstGeom>
          <a:solidFill>
            <a:srgbClr val="F0FFF4"/>
          </a:solidFill>
          <a:ln w="12700">
            <a:solidFill>
              <a:srgbClr val="F0FFF4"/>
            </a:solidFill>
            <a:prstDash val="solid"/>
          </a:ln>
        </p:spPr>
      </p:sp>
      <p:sp>
        <p:nvSpPr>
          <p:cNvPr id="33" name="Text 31"/>
          <p:cNvSpPr/>
          <p:nvPr/>
        </p:nvSpPr>
        <p:spPr>
          <a:xfrm>
            <a:off x="4828032" y="2350008"/>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Evasion Rate (ER)</a:t>
            </a:r>
            <a:endParaRPr lang="en-US" sz="1050" dirty="0"/>
          </a:p>
        </p:txBody>
      </p:sp>
      <p:sp>
        <p:nvSpPr>
          <p:cNvPr id="34" name="Text 32"/>
          <p:cNvSpPr/>
          <p:nvPr/>
        </p:nvSpPr>
        <p:spPr>
          <a:xfrm>
            <a:off x="4828032" y="2542032"/>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 attack cycles that pass both layers simultaneously</a:t>
            </a:r>
            <a:endParaRPr lang="en-US" sz="950" dirty="0"/>
          </a:p>
        </p:txBody>
      </p:sp>
      <p:sp>
        <p:nvSpPr>
          <p:cNvPr id="35" name="Shape 33"/>
          <p:cNvSpPr/>
          <p:nvPr/>
        </p:nvSpPr>
        <p:spPr>
          <a:xfrm>
            <a:off x="4736592" y="2761488"/>
            <a:ext cx="4069080" cy="402336"/>
          </a:xfrm>
          <a:prstGeom prst="rect">
            <a:avLst/>
          </a:prstGeom>
          <a:solidFill>
            <a:srgbClr val="F8FFF8"/>
          </a:solidFill>
          <a:ln w="12700">
            <a:solidFill>
              <a:srgbClr val="F8FFF8"/>
            </a:solidFill>
            <a:prstDash val="solid"/>
          </a:ln>
        </p:spPr>
      </p:sp>
      <p:sp>
        <p:nvSpPr>
          <p:cNvPr id="36" name="Text 34"/>
          <p:cNvSpPr/>
          <p:nvPr/>
        </p:nvSpPr>
        <p:spPr>
          <a:xfrm>
            <a:off x="4828032" y="2788920"/>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Time-to-Detect (TTD)</a:t>
            </a:r>
            <a:endParaRPr lang="en-US" sz="1050" dirty="0"/>
          </a:p>
        </p:txBody>
      </p:sp>
      <p:sp>
        <p:nvSpPr>
          <p:cNvPr id="37" name="Text 35"/>
          <p:cNvSpPr/>
          <p:nvPr/>
        </p:nvSpPr>
        <p:spPr>
          <a:xfrm>
            <a:off x="4828032" y="2980944"/>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Seconds from injection to confirmed ALERT</a:t>
            </a:r>
            <a:endParaRPr lang="en-US" sz="950" dirty="0"/>
          </a:p>
        </p:txBody>
      </p:sp>
      <p:sp>
        <p:nvSpPr>
          <p:cNvPr id="38" name="Shape 36"/>
          <p:cNvSpPr/>
          <p:nvPr/>
        </p:nvSpPr>
        <p:spPr>
          <a:xfrm>
            <a:off x="4736592" y="3200400"/>
            <a:ext cx="4069080" cy="402336"/>
          </a:xfrm>
          <a:prstGeom prst="rect">
            <a:avLst/>
          </a:prstGeom>
          <a:solidFill>
            <a:srgbClr val="F0FFF4"/>
          </a:solidFill>
          <a:ln w="12700">
            <a:solidFill>
              <a:srgbClr val="F0FFF4"/>
            </a:solidFill>
            <a:prstDash val="solid"/>
          </a:ln>
        </p:spPr>
      </p:sp>
      <p:sp>
        <p:nvSpPr>
          <p:cNvPr id="39" name="Text 37"/>
          <p:cNvSpPr/>
          <p:nvPr/>
        </p:nvSpPr>
        <p:spPr>
          <a:xfrm>
            <a:off x="4828032" y="3227832"/>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Recovery Time (RT)</a:t>
            </a:r>
            <a:endParaRPr lang="en-US" sz="1050" dirty="0"/>
          </a:p>
        </p:txBody>
      </p:sp>
      <p:sp>
        <p:nvSpPr>
          <p:cNvPr id="40" name="Text 38"/>
          <p:cNvSpPr/>
          <p:nvPr/>
        </p:nvSpPr>
        <p:spPr>
          <a:xfrm>
            <a:off x="4828032" y="3419856"/>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Seconds from ALERT to invariant-verified safe state</a:t>
            </a:r>
            <a:endParaRPr lang="en-US" sz="950" dirty="0"/>
          </a:p>
        </p:txBody>
      </p:sp>
      <p:sp>
        <p:nvSpPr>
          <p:cNvPr id="41" name="Shape 39"/>
          <p:cNvSpPr/>
          <p:nvPr/>
        </p:nvSpPr>
        <p:spPr>
          <a:xfrm>
            <a:off x="4736592" y="3639312"/>
            <a:ext cx="4069080" cy="402336"/>
          </a:xfrm>
          <a:prstGeom prst="rect">
            <a:avLst/>
          </a:prstGeom>
          <a:solidFill>
            <a:srgbClr val="F8FFF8"/>
          </a:solidFill>
          <a:ln w="12700">
            <a:solidFill>
              <a:srgbClr val="F8FFF8"/>
            </a:solidFill>
            <a:prstDash val="solid"/>
          </a:ln>
        </p:spPr>
      </p:sp>
      <p:sp>
        <p:nvSpPr>
          <p:cNvPr id="42" name="Text 40"/>
          <p:cNvSpPr/>
          <p:nvPr/>
        </p:nvSpPr>
        <p:spPr>
          <a:xfrm>
            <a:off x="4828032" y="3666744"/>
            <a:ext cx="3840480" cy="201168"/>
          </a:xfrm>
          <a:prstGeom prst="rect">
            <a:avLst/>
          </a:prstGeom>
          <a:noFill/>
          <a:ln/>
        </p:spPr>
        <p:txBody>
          <a:bodyPr wrap="square" lIns="0" tIns="0" rIns="0" bIns="0" rtlCol="0" anchor="ctr"/>
          <a:lstStyle/>
          <a:p>
            <a:pPr indent="0" marL="0">
              <a:buNone/>
            </a:pPr>
            <a:r>
              <a:rPr lang="en-US" sz="1050" b="1" dirty="0">
                <a:solidFill>
                  <a:srgbClr val="1A8A47"/>
                </a:solidFill>
                <a:latin typeface="Calibri" pitchFamily="34" charset="0"/>
                <a:ea typeface="Calibri" pitchFamily="34" charset="-122"/>
                <a:cs typeface="Calibri" pitchFamily="34" charset="-120"/>
              </a:rPr>
              <a:t>Layer Attribution</a:t>
            </a:r>
            <a:endParaRPr lang="en-US" sz="1050" dirty="0"/>
          </a:p>
        </p:txBody>
      </p:sp>
      <p:sp>
        <p:nvSpPr>
          <p:cNvPr id="43" name="Text 41"/>
          <p:cNvSpPr/>
          <p:nvPr/>
        </p:nvSpPr>
        <p:spPr>
          <a:xfrm>
            <a:off x="4828032" y="3858768"/>
            <a:ext cx="3840480" cy="1645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Which layer fired first — L1 vs L2 vs both</a:t>
            </a:r>
            <a:endParaRPr lang="en-US" sz="950" dirty="0"/>
          </a:p>
        </p:txBody>
      </p:sp>
      <p:sp>
        <p:nvSpPr>
          <p:cNvPr id="44" name="Shape 42"/>
          <p:cNvSpPr/>
          <p:nvPr/>
        </p:nvSpPr>
        <p:spPr>
          <a:xfrm>
            <a:off x="228600" y="3794760"/>
            <a:ext cx="8686800" cy="868680"/>
          </a:xfrm>
          <a:prstGeom prst="rect">
            <a:avLst/>
          </a:prstGeom>
          <a:solidFill>
            <a:srgbClr val="0D1B2A"/>
          </a:solidFill>
          <a:ln w="12700">
            <a:solidFill>
              <a:srgbClr val="0D1B2A"/>
            </a:solidFill>
            <a:prstDash val="solid"/>
          </a:ln>
        </p:spPr>
      </p:sp>
      <p:sp>
        <p:nvSpPr>
          <p:cNvPr id="45" name="Text 43"/>
          <p:cNvSpPr/>
          <p:nvPr/>
        </p:nvSpPr>
        <p:spPr>
          <a:xfrm>
            <a:off x="411480" y="3858768"/>
            <a:ext cx="8321040" cy="274320"/>
          </a:xfrm>
          <a:prstGeom prst="rect">
            <a:avLst/>
          </a:prstGeom>
          <a:noFill/>
          <a:ln/>
        </p:spPr>
        <p:txBody>
          <a:bodyPr wrap="square" lIns="0" tIns="0" rIns="0" bIns="0" rtlCol="0" anchor="ctr"/>
          <a:lstStyle/>
          <a:p>
            <a:pPr indent="0" marL="0">
              <a:buNone/>
            </a:pPr>
            <a:r>
              <a:rPr lang="en-US" sz="1300" b="1" dirty="0">
                <a:solidFill>
                  <a:srgbClr val="0FB3C5"/>
                </a:solidFill>
                <a:latin typeface="Calibri" pitchFamily="34" charset="0"/>
                <a:ea typeface="Calibri" pitchFamily="34" charset="-122"/>
                <a:cs typeface="Calibri" pitchFamily="34" charset="-120"/>
              </a:rPr>
              <a:t>Baseline Comparison</a:t>
            </a:r>
            <a:endParaRPr lang="en-US" sz="1300" dirty="0"/>
          </a:p>
        </p:txBody>
      </p:sp>
      <p:sp>
        <p:nvSpPr>
          <p:cNvPr id="46" name="Text 44"/>
          <p:cNvSpPr/>
          <p:nvPr/>
        </p:nvSpPr>
        <p:spPr>
          <a:xfrm>
            <a:off x="45720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Invariant alone</a:t>
            </a:r>
            <a:endParaRPr lang="en-US" sz="1100" dirty="0"/>
          </a:p>
        </p:txBody>
      </p:sp>
      <p:sp>
        <p:nvSpPr>
          <p:cNvPr id="47" name="Text 45"/>
          <p:cNvSpPr/>
          <p:nvPr/>
        </p:nvSpPr>
        <p:spPr>
          <a:xfrm>
            <a:off x="45720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~67%   FPR &lt;1%   Evasion ~33%</a:t>
            </a:r>
            <a:endParaRPr lang="en-US" sz="1050" dirty="0"/>
          </a:p>
        </p:txBody>
      </p:sp>
      <p:sp>
        <p:nvSpPr>
          <p:cNvPr id="48" name="Text 46"/>
          <p:cNvSpPr/>
          <p:nvPr/>
        </p:nvSpPr>
        <p:spPr>
          <a:xfrm>
            <a:off x="329184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AE alone</a:t>
            </a:r>
            <a:endParaRPr lang="en-US" sz="1100" dirty="0"/>
          </a:p>
        </p:txBody>
      </p:sp>
      <p:sp>
        <p:nvSpPr>
          <p:cNvPr id="49" name="Text 47"/>
          <p:cNvSpPr/>
          <p:nvPr/>
        </p:nvSpPr>
        <p:spPr>
          <a:xfrm>
            <a:off x="329184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~72%   FPR ~5%   Evasion ~28%</a:t>
            </a:r>
            <a:endParaRPr lang="en-US" sz="1050" dirty="0"/>
          </a:p>
        </p:txBody>
      </p:sp>
      <p:sp>
        <p:nvSpPr>
          <p:cNvPr id="50" name="Text 48"/>
          <p:cNvSpPr/>
          <p:nvPr/>
        </p:nvSpPr>
        <p:spPr>
          <a:xfrm>
            <a:off x="6126480" y="4169664"/>
            <a:ext cx="2651760" cy="182880"/>
          </a:xfrm>
          <a:prstGeom prst="rect">
            <a:avLst/>
          </a:prstGeom>
          <a:noFill/>
          <a:ln/>
        </p:spPr>
        <p:txBody>
          <a:bodyPr wrap="square" lIns="0" tIns="0" rIns="0" bIns="0" rtlCol="0" anchor="ctr"/>
          <a:lstStyle/>
          <a:p>
            <a:pPr indent="0" marL="0">
              <a:buNone/>
            </a:pPr>
            <a:r>
              <a:rPr lang="en-US" sz="1100" b="1" dirty="0">
                <a:solidFill>
                  <a:srgbClr val="E8EEF4"/>
                </a:solidFill>
                <a:latin typeface="Calibri" pitchFamily="34" charset="0"/>
                <a:ea typeface="Calibri" pitchFamily="34" charset="-122"/>
                <a:cs typeface="Calibri" pitchFamily="34" charset="-120"/>
              </a:rPr>
              <a:t>Hybrid (expected)</a:t>
            </a:r>
            <a:endParaRPr lang="en-US" sz="1100" dirty="0"/>
          </a:p>
        </p:txBody>
      </p:sp>
      <p:sp>
        <p:nvSpPr>
          <p:cNvPr id="51" name="Text 49"/>
          <p:cNvSpPr/>
          <p:nvPr/>
        </p:nvSpPr>
        <p:spPr>
          <a:xfrm>
            <a:off x="6126480" y="4361688"/>
            <a:ext cx="2651760" cy="219456"/>
          </a:xfrm>
          <a:prstGeom prst="rect">
            <a:avLst/>
          </a:prstGeom>
          <a:noFill/>
          <a:ln/>
        </p:spPr>
        <p:txBody>
          <a:bodyPr wrap="square" lIns="0" tIns="0" rIns="0" bIns="0" rtlCol="0" anchor="ctr"/>
          <a:lstStyle/>
          <a:p>
            <a:pPr indent="0" marL="0">
              <a:buNone/>
            </a:pPr>
            <a:r>
              <a:rPr lang="en-US" sz="1050" dirty="0">
                <a:solidFill>
                  <a:srgbClr val="F39C12"/>
                </a:solidFill>
                <a:latin typeface="Consolas" pitchFamily="34" charset="0"/>
                <a:ea typeface="Consolas" pitchFamily="34" charset="-122"/>
                <a:cs typeface="Consolas" pitchFamily="34" charset="-120"/>
              </a:rPr>
              <a:t>DR &gt;95%   FPR &lt;3%   Evasion &lt;5%</a:t>
            </a:r>
            <a:endParaRPr lang="en-US" sz="1050" dirty="0"/>
          </a:p>
        </p:txBody>
      </p:sp>
      <p:sp>
        <p:nvSpPr>
          <p:cNvPr id="52" name="Shape 50"/>
          <p:cNvSpPr/>
          <p:nvPr/>
        </p:nvSpPr>
        <p:spPr>
          <a:xfrm>
            <a:off x="0" y="4754880"/>
            <a:ext cx="9144000" cy="384048"/>
          </a:xfrm>
          <a:prstGeom prst="rect">
            <a:avLst/>
          </a:prstGeom>
          <a:solidFill>
            <a:srgbClr val="1B3A5C"/>
          </a:solidFill>
          <a:ln w="12700">
            <a:solidFill>
              <a:srgbClr val="1B3A5C"/>
            </a:solidFill>
            <a:prstDash val="solid"/>
          </a:ln>
        </p:spPr>
      </p:sp>
      <p:sp>
        <p:nvSpPr>
          <p:cNvPr id="53" name="Text 51"/>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Defense  ·  Implementation &amp; Evaluation</a:t>
            </a:r>
            <a:endParaRPr lang="en-US" sz="10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FA3B1"/>
          </a:solidFill>
          <a:ln w="12700">
            <a:solidFill>
              <a:srgbClr val="8FA3B1"/>
            </a:solidFill>
            <a:prstDash val="solid"/>
          </a:ln>
        </p:spPr>
      </p:sp>
      <p:sp>
        <p:nvSpPr>
          <p:cNvPr id="3" name="Text 1"/>
          <p:cNvSpPr/>
          <p:nvPr/>
        </p:nvSpPr>
        <p:spPr>
          <a:xfrm>
            <a:off x="365760" y="128016"/>
            <a:ext cx="8229600" cy="42062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228600" y="621792"/>
            <a:ext cx="402336" cy="512064"/>
          </a:xfrm>
          <a:prstGeom prst="rect">
            <a:avLst/>
          </a:prstGeom>
          <a:solidFill>
            <a:srgbClr val="1B3A5C"/>
          </a:solidFill>
          <a:ln w="12700">
            <a:solidFill>
              <a:srgbClr val="1B3A5C"/>
            </a:solidFill>
            <a:prstDash val="solid"/>
          </a:ln>
        </p:spPr>
      </p:sp>
      <p:sp>
        <p:nvSpPr>
          <p:cNvPr id="5" name="Text 3"/>
          <p:cNvSpPr/>
          <p:nvPr/>
        </p:nvSpPr>
        <p:spPr>
          <a:xfrm>
            <a:off x="228600" y="621792"/>
            <a:ext cx="402336" cy="512064"/>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94944" y="640080"/>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S. Adepu and A. Mathur</a:t>
            </a:r>
            <a:endParaRPr lang="en-US" sz="900" dirty="0"/>
          </a:p>
        </p:txBody>
      </p:sp>
      <p:sp>
        <p:nvSpPr>
          <p:cNvPr id="7" name="Text 5"/>
          <p:cNvSpPr/>
          <p:nvPr/>
        </p:nvSpPr>
        <p:spPr>
          <a:xfrm>
            <a:off x="694944" y="804672"/>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"Using Process Invariants to Detect Cyber Attacks on a Water Treatment System"</a:t>
            </a:r>
            <a:endParaRPr lang="en-US" sz="1000" dirty="0"/>
          </a:p>
        </p:txBody>
      </p:sp>
      <p:sp>
        <p:nvSpPr>
          <p:cNvPr id="8" name="Text 6"/>
          <p:cNvSpPr/>
          <p:nvPr/>
        </p:nvSpPr>
        <p:spPr>
          <a:xfrm>
            <a:off x="694944" y="987552"/>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IFIP SEC, Ghent, Belgium, 2016.   (Paper #88 — SWaT invariant baseline)</a:t>
            </a:r>
            <a:endParaRPr lang="en-US" sz="850" dirty="0"/>
          </a:p>
        </p:txBody>
      </p:sp>
      <p:sp>
        <p:nvSpPr>
          <p:cNvPr id="9" name="Shape 7"/>
          <p:cNvSpPr/>
          <p:nvPr/>
        </p:nvSpPr>
        <p:spPr>
          <a:xfrm>
            <a:off x="228600" y="1225296"/>
            <a:ext cx="402336" cy="512064"/>
          </a:xfrm>
          <a:prstGeom prst="rect">
            <a:avLst/>
          </a:prstGeom>
          <a:solidFill>
            <a:srgbClr val="1B3A5C"/>
          </a:solidFill>
          <a:ln w="12700">
            <a:solidFill>
              <a:srgbClr val="1B3A5C"/>
            </a:solidFill>
            <a:prstDash val="solid"/>
          </a:ln>
        </p:spPr>
      </p:sp>
      <p:sp>
        <p:nvSpPr>
          <p:cNvPr id="10" name="Text 8"/>
          <p:cNvSpPr/>
          <p:nvPr/>
        </p:nvSpPr>
        <p:spPr>
          <a:xfrm>
            <a:off x="228600" y="1225296"/>
            <a:ext cx="402336" cy="512064"/>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694944" y="1243584"/>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S. Adepu and A. Mathur</a:t>
            </a:r>
            <a:endParaRPr lang="en-US" sz="900" dirty="0"/>
          </a:p>
        </p:txBody>
      </p:sp>
      <p:sp>
        <p:nvSpPr>
          <p:cNvPr id="12" name="Text 10"/>
          <p:cNvSpPr/>
          <p:nvPr/>
        </p:nvSpPr>
        <p:spPr>
          <a:xfrm>
            <a:off x="694944" y="1408176"/>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"Distributed Detection of Single-Stage Multipoint Cyber Attacks in a Water Treatment Plant"</a:t>
            </a:r>
            <a:endParaRPr lang="en-US" sz="1000" dirty="0"/>
          </a:p>
        </p:txBody>
      </p:sp>
      <p:sp>
        <p:nvSpPr>
          <p:cNvPr id="13" name="Text 11"/>
          <p:cNvSpPr/>
          <p:nvPr/>
        </p:nvSpPr>
        <p:spPr>
          <a:xfrm>
            <a:off x="694944" y="1591056"/>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ACM AsiaCCS, Xi'an, China, 2016.   (DAD invariant design)</a:t>
            </a:r>
            <a:endParaRPr lang="en-US" sz="850" dirty="0"/>
          </a:p>
        </p:txBody>
      </p:sp>
      <p:sp>
        <p:nvSpPr>
          <p:cNvPr id="14" name="Shape 12"/>
          <p:cNvSpPr/>
          <p:nvPr/>
        </p:nvSpPr>
        <p:spPr>
          <a:xfrm>
            <a:off x="228600" y="1828800"/>
            <a:ext cx="402336" cy="512064"/>
          </a:xfrm>
          <a:prstGeom prst="rect">
            <a:avLst/>
          </a:prstGeom>
          <a:solidFill>
            <a:srgbClr val="1B3A5C"/>
          </a:solidFill>
          <a:ln w="12700">
            <a:solidFill>
              <a:srgbClr val="1B3A5C"/>
            </a:solidFill>
            <a:prstDash val="solid"/>
          </a:ln>
        </p:spPr>
      </p:sp>
      <p:sp>
        <p:nvSpPr>
          <p:cNvPr id="15" name="Text 13"/>
          <p:cNvSpPr/>
          <p:nvPr/>
        </p:nvSpPr>
        <p:spPr>
          <a:xfrm>
            <a:off x="228600" y="1828800"/>
            <a:ext cx="402336" cy="512064"/>
          </a:xfrm>
          <a:prstGeom prst="rect">
            <a:avLst/>
          </a:prstGeom>
          <a:noFill/>
          <a:ln/>
        </p:spPr>
        <p:txBody>
          <a:bodyPr wrap="square" lIns="0" tIns="0" rIns="0" bIns="0" rtlCol="0" anchor="ctr"/>
          <a:lstStyle/>
          <a:p>
            <a:pPr algn="ctr" indent="0" marL="0">
              <a:buNone/>
            </a:pPr>
            <a:r>
              <a:rPr lang="en-US" sz="1000" b="1" dirty="0">
                <a:solidFill>
                  <a:srgbClr val="F39C12"/>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694944" y="1847088"/>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J. H. Castellanos, M. Ochoa, A. A. Cardenas, O. Arden, and J. Zhou</a:t>
            </a:r>
            <a:endParaRPr lang="en-US" sz="900" dirty="0"/>
          </a:p>
        </p:txBody>
      </p:sp>
      <p:sp>
        <p:nvSpPr>
          <p:cNvPr id="17" name="Text 15"/>
          <p:cNvSpPr/>
          <p:nvPr/>
        </p:nvSpPr>
        <p:spPr>
          <a:xfrm>
            <a:off x="694944" y="2011680"/>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"Constrained Concealment Attacks against Reconstruction-based Anomaly Detectors in ICS"</a:t>
            </a:r>
            <a:endParaRPr lang="en-US" sz="1000" dirty="0"/>
          </a:p>
        </p:txBody>
      </p:sp>
      <p:sp>
        <p:nvSpPr>
          <p:cNvPr id="18" name="Text 16"/>
          <p:cNvSpPr/>
          <p:nvPr/>
        </p:nvSpPr>
        <p:spPr>
          <a:xfrm>
            <a:off x="694944" y="2194560"/>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ACM ACSAC, Austin, USA, 2020.   (Paper #31 — adversarial AE evasion)   github.com/scy-phy/ICS-Evasion-Attacks</a:t>
            </a:r>
            <a:endParaRPr lang="en-US" sz="850" dirty="0"/>
          </a:p>
        </p:txBody>
      </p:sp>
      <p:sp>
        <p:nvSpPr>
          <p:cNvPr id="19" name="Shape 17"/>
          <p:cNvSpPr/>
          <p:nvPr/>
        </p:nvSpPr>
        <p:spPr>
          <a:xfrm>
            <a:off x="228600" y="2432304"/>
            <a:ext cx="402336" cy="512064"/>
          </a:xfrm>
          <a:prstGeom prst="rect">
            <a:avLst/>
          </a:prstGeom>
          <a:solidFill>
            <a:srgbClr val="1B3A5C"/>
          </a:solidFill>
          <a:ln w="12700">
            <a:solidFill>
              <a:srgbClr val="1B3A5C"/>
            </a:solidFill>
            <a:prstDash val="solid"/>
          </a:ln>
        </p:spPr>
      </p:sp>
      <p:sp>
        <p:nvSpPr>
          <p:cNvPr id="20" name="Text 18"/>
          <p:cNvSpPr/>
          <p:nvPr/>
        </p:nvSpPr>
        <p:spPr>
          <a:xfrm>
            <a:off x="228600" y="2432304"/>
            <a:ext cx="402336" cy="512064"/>
          </a:xfrm>
          <a:prstGeom prst="rect">
            <a:avLst/>
          </a:prstGeom>
          <a:noFill/>
          <a:ln/>
        </p:spPr>
        <p:txBody>
          <a:bodyPr wrap="square" lIns="0" tIns="0" rIns="0" bIns="0" rtlCol="0" anchor="ctr"/>
          <a:lstStyle/>
          <a:p>
            <a:pPr algn="ctr" indent="0" marL="0">
              <a:buNone/>
            </a:pPr>
            <a:r>
              <a:rPr lang="en-US" sz="1000" b="1" dirty="0">
                <a:solidFill>
                  <a:srgbClr val="E74C3C"/>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694944" y="2450592"/>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W. Alsabbagh, S. Amogbonjaye, D. Urrego, and P. Langendörfer</a:t>
            </a:r>
            <a:endParaRPr lang="en-US" sz="900" dirty="0"/>
          </a:p>
        </p:txBody>
      </p:sp>
      <p:sp>
        <p:nvSpPr>
          <p:cNvPr id="22" name="Text 20"/>
          <p:cNvSpPr/>
          <p:nvPr/>
        </p:nvSpPr>
        <p:spPr>
          <a:xfrm>
            <a:off x="694944" y="2615184"/>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 Stealthy False Command Injection Attack on Modbus based SCADA Systems"</a:t>
            </a:r>
            <a:endParaRPr lang="en-US" sz="1000" dirty="0"/>
          </a:p>
        </p:txBody>
      </p:sp>
      <p:sp>
        <p:nvSpPr>
          <p:cNvPr id="23" name="Text 21"/>
          <p:cNvSpPr/>
          <p:nvPr/>
        </p:nvSpPr>
        <p:spPr>
          <a:xfrm>
            <a:off x="694944" y="2798064"/>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CCNC, Las Vegas, USA, 2023.   (Paper #9 — Modbus FCI attack)</a:t>
            </a:r>
            <a:endParaRPr lang="en-US" sz="850" dirty="0"/>
          </a:p>
        </p:txBody>
      </p:sp>
      <p:sp>
        <p:nvSpPr>
          <p:cNvPr id="24" name="Shape 22"/>
          <p:cNvSpPr/>
          <p:nvPr/>
        </p:nvSpPr>
        <p:spPr>
          <a:xfrm>
            <a:off x="228600" y="3035808"/>
            <a:ext cx="402336" cy="512064"/>
          </a:xfrm>
          <a:prstGeom prst="rect">
            <a:avLst/>
          </a:prstGeom>
          <a:solidFill>
            <a:srgbClr val="1B3A5C"/>
          </a:solidFill>
          <a:ln w="12700">
            <a:solidFill>
              <a:srgbClr val="1B3A5C"/>
            </a:solidFill>
            <a:prstDash val="solid"/>
          </a:ln>
        </p:spPr>
      </p:sp>
      <p:sp>
        <p:nvSpPr>
          <p:cNvPr id="25" name="Text 23"/>
          <p:cNvSpPr/>
          <p:nvPr/>
        </p:nvSpPr>
        <p:spPr>
          <a:xfrm>
            <a:off x="228600" y="3035808"/>
            <a:ext cx="402336" cy="512064"/>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94944" y="3054096"/>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A. Carcano, A. Coletta, M. Guglielmi, M. Masera, I. N. Fovino, and A. Trombetta</a:t>
            </a:r>
            <a:endParaRPr lang="en-US" sz="900" dirty="0"/>
          </a:p>
        </p:txBody>
      </p:sp>
      <p:sp>
        <p:nvSpPr>
          <p:cNvPr id="27" name="Text 25"/>
          <p:cNvSpPr/>
          <p:nvPr/>
        </p:nvSpPr>
        <p:spPr>
          <a:xfrm>
            <a:off x="694944" y="3218688"/>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 Multidimensional Critical State Analysis for Detecting Intrusions in SCADA Systems"</a:t>
            </a:r>
            <a:endParaRPr lang="en-US" sz="1000" dirty="0"/>
          </a:p>
        </p:txBody>
      </p:sp>
      <p:sp>
        <p:nvSpPr>
          <p:cNvPr id="28" name="Text 26"/>
          <p:cNvSpPr/>
          <p:nvPr/>
        </p:nvSpPr>
        <p:spPr>
          <a:xfrm>
            <a:off x="694944" y="3401568"/>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Trans. Industrial Informatics, vol. 7, no. 2, pp. 179–186, May 2011.   DOI: 10.1109/TII.2010.2098415</a:t>
            </a:r>
            <a:endParaRPr lang="en-US" sz="850" dirty="0"/>
          </a:p>
        </p:txBody>
      </p:sp>
      <p:sp>
        <p:nvSpPr>
          <p:cNvPr id="29" name="Shape 27"/>
          <p:cNvSpPr/>
          <p:nvPr/>
        </p:nvSpPr>
        <p:spPr>
          <a:xfrm>
            <a:off x="228600" y="3639312"/>
            <a:ext cx="402336" cy="512064"/>
          </a:xfrm>
          <a:prstGeom prst="rect">
            <a:avLst/>
          </a:prstGeom>
          <a:solidFill>
            <a:srgbClr val="1B3A5C"/>
          </a:solidFill>
          <a:ln w="12700">
            <a:solidFill>
              <a:srgbClr val="1B3A5C"/>
            </a:solidFill>
            <a:prstDash val="solid"/>
          </a:ln>
        </p:spPr>
      </p:sp>
      <p:sp>
        <p:nvSpPr>
          <p:cNvPr id="30" name="Text 28"/>
          <p:cNvSpPr/>
          <p:nvPr/>
        </p:nvSpPr>
        <p:spPr>
          <a:xfrm>
            <a:off x="228600" y="3639312"/>
            <a:ext cx="402336" cy="512064"/>
          </a:xfrm>
          <a:prstGeom prst="rect">
            <a:avLst/>
          </a:prstGeom>
          <a:noFill/>
          <a:ln/>
        </p:spPr>
        <p:txBody>
          <a:bodyPr wrap="square" lIns="0" tIns="0" rIns="0" bIns="0" rtlCol="0" anchor="ctr"/>
          <a:lstStyle/>
          <a:p>
            <a:pPr algn="ctr" indent="0" marL="0">
              <a:buNone/>
            </a:pPr>
            <a:r>
              <a:rPr lang="en-US" sz="1000" b="1" dirty="0">
                <a:solidFill>
                  <a:srgbClr val="2196F3"/>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94944" y="3657600"/>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D. I. Buzhinsky and V. Vyatkin</a:t>
            </a:r>
            <a:endParaRPr lang="en-US" sz="900" dirty="0"/>
          </a:p>
        </p:txBody>
      </p:sp>
      <p:sp>
        <p:nvSpPr>
          <p:cNvPr id="32" name="Text 30"/>
          <p:cNvSpPr/>
          <p:nvPr/>
        </p:nvSpPr>
        <p:spPr>
          <a:xfrm>
            <a:off x="694944" y="3822192"/>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"Automatic Inference of Finite-State Plant Models from Traces and Temporal Properties"</a:t>
            </a:r>
            <a:endParaRPr lang="en-US" sz="1000" dirty="0"/>
          </a:p>
        </p:txBody>
      </p:sp>
      <p:sp>
        <p:nvSpPr>
          <p:cNvPr id="33" name="Text 31"/>
          <p:cNvSpPr/>
          <p:nvPr/>
        </p:nvSpPr>
        <p:spPr>
          <a:xfrm>
            <a:off x="694944" y="4005072"/>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IEEE Trans. Industrial Informatics, vol. 13, no. 4, pp. 1521–1530, Aug. 2017.   DOI: 10.1109/TII.2017.2670001</a:t>
            </a:r>
            <a:endParaRPr lang="en-US" sz="850" dirty="0"/>
          </a:p>
        </p:txBody>
      </p:sp>
      <p:sp>
        <p:nvSpPr>
          <p:cNvPr id="34" name="Shape 32"/>
          <p:cNvSpPr/>
          <p:nvPr/>
        </p:nvSpPr>
        <p:spPr>
          <a:xfrm>
            <a:off x="228600" y="4242816"/>
            <a:ext cx="402336" cy="512064"/>
          </a:xfrm>
          <a:prstGeom prst="rect">
            <a:avLst/>
          </a:prstGeom>
          <a:solidFill>
            <a:srgbClr val="1B3A5C"/>
          </a:solidFill>
          <a:ln w="12700">
            <a:solidFill>
              <a:srgbClr val="1B3A5C"/>
            </a:solidFill>
            <a:prstDash val="solid"/>
          </a:ln>
        </p:spPr>
      </p:sp>
      <p:sp>
        <p:nvSpPr>
          <p:cNvPr id="35" name="Text 33"/>
          <p:cNvSpPr/>
          <p:nvPr/>
        </p:nvSpPr>
        <p:spPr>
          <a:xfrm>
            <a:off x="228600" y="4242816"/>
            <a:ext cx="402336" cy="512064"/>
          </a:xfrm>
          <a:prstGeom prst="rect">
            <a:avLst/>
          </a:prstGeom>
          <a:noFill/>
          <a:ln/>
        </p:spPr>
        <p:txBody>
          <a:bodyPr wrap="square" lIns="0" tIns="0" rIns="0" bIns="0" rtlCol="0" anchor="ctr"/>
          <a:lstStyle/>
          <a:p>
            <a:pPr algn="ctr" indent="0" marL="0">
              <a:buNone/>
            </a:pPr>
            <a:r>
              <a:rPr lang="en-US" sz="1000" b="1" dirty="0">
                <a:solidFill>
                  <a:srgbClr val="8FA3B1"/>
                </a:solidFill>
                <a:latin typeface="Calibri" pitchFamily="34" charset="0"/>
                <a:ea typeface="Calibri" pitchFamily="34" charset="-122"/>
                <a:cs typeface="Calibri" pitchFamily="34" charset="-120"/>
              </a:rPr>
              <a:t>[7]</a:t>
            </a:r>
            <a:endParaRPr lang="en-US" sz="1000" dirty="0"/>
          </a:p>
        </p:txBody>
      </p:sp>
      <p:sp>
        <p:nvSpPr>
          <p:cNvPr id="36" name="Text 34"/>
          <p:cNvSpPr/>
          <p:nvPr/>
        </p:nvSpPr>
        <p:spPr>
          <a:xfrm>
            <a:off x="694944" y="4261104"/>
            <a:ext cx="8138160" cy="164592"/>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iTrust, Centre for Research in Cyber Security, SUTD</a:t>
            </a:r>
            <a:endParaRPr lang="en-US" sz="900" dirty="0"/>
          </a:p>
        </p:txBody>
      </p:sp>
      <p:sp>
        <p:nvSpPr>
          <p:cNvPr id="37" name="Text 35"/>
          <p:cNvSpPr/>
          <p:nvPr/>
        </p:nvSpPr>
        <p:spPr>
          <a:xfrm>
            <a:off x="694944" y="4425696"/>
            <a:ext cx="8138160" cy="182880"/>
          </a:xfrm>
          <a:prstGeom prst="rect">
            <a:avLst/>
          </a:prstGeom>
          <a:noFill/>
          <a:ln/>
        </p:spPr>
        <p:txBody>
          <a:bodyPr wrap="square" lIns="0" tIns="0" rIns="0" bIns="0" rtlCol="0" anchor="ctr"/>
          <a:lstStyle/>
          <a:p>
            <a:pPr indent="0" marL="0">
              <a:buNone/>
            </a:pPr>
            <a:r>
              <a:rPr lang="en-US" sz="1000" b="1" dirty="0">
                <a:solidFill>
                  <a:srgbClr val="E8EEF4"/>
                </a:solidFill>
                <a:latin typeface="Calibri" pitchFamily="34" charset="0"/>
                <a:ea typeface="Calibri" pitchFamily="34" charset="-122"/>
                <a:cs typeface="Calibri" pitchFamily="34" charset="-120"/>
              </a:rPr>
              <a:t>"SWaT: Secure Water Treatment Testbed"</a:t>
            </a:r>
            <a:endParaRPr lang="en-US" sz="1000" dirty="0"/>
          </a:p>
        </p:txBody>
      </p:sp>
      <p:sp>
        <p:nvSpPr>
          <p:cNvPr id="38" name="Text 36"/>
          <p:cNvSpPr/>
          <p:nvPr/>
        </p:nvSpPr>
        <p:spPr>
          <a:xfrm>
            <a:off x="694944" y="4608576"/>
            <a:ext cx="8138160" cy="146304"/>
          </a:xfrm>
          <a:prstGeom prst="rect">
            <a:avLst/>
          </a:prstGeom>
          <a:noFill/>
          <a:ln/>
        </p:spPr>
        <p:txBody>
          <a:bodyPr wrap="square" lIns="0" tIns="0" rIns="0" bIns="0" rtlCol="0" anchor="ctr"/>
          <a:lstStyle/>
          <a:p>
            <a:pPr indent="0" marL="0">
              <a:buNone/>
            </a:pPr>
            <a:r>
              <a:rPr lang="en-US" sz="850" dirty="0">
                <a:solidFill>
                  <a:srgbClr val="8FA3B1"/>
                </a:solidFill>
                <a:latin typeface="Calibri" pitchFamily="34" charset="0"/>
                <a:ea typeface="Calibri" pitchFamily="34" charset="-122"/>
                <a:cs typeface="Calibri" pitchFamily="34" charset="-120"/>
              </a:rPr>
              <a:t>Singapore University of Technology and Design.   https://itrust.sutd.edu.sg/testbeds/secure-water-treatment-swat/</a:t>
            </a:r>
            <a:endParaRPr lang="en-US" sz="850" dirty="0"/>
          </a:p>
        </p:txBody>
      </p:sp>
      <p:sp>
        <p:nvSpPr>
          <p:cNvPr id="39" name="Shape 37"/>
          <p:cNvSpPr/>
          <p:nvPr/>
        </p:nvSpPr>
        <p:spPr>
          <a:xfrm>
            <a:off x="0" y="4809744"/>
            <a:ext cx="9144000" cy="338328"/>
          </a:xfrm>
          <a:prstGeom prst="rect">
            <a:avLst/>
          </a:prstGeom>
          <a:solidFill>
            <a:srgbClr val="1B3A5C"/>
          </a:solidFill>
          <a:ln w="12700">
            <a:solidFill>
              <a:srgbClr val="1B3A5C"/>
            </a:solidFill>
            <a:prstDash val="solid"/>
          </a:ln>
        </p:spPr>
      </p:sp>
      <p:sp>
        <p:nvSpPr>
          <p:cNvPr id="40" name="Text 38"/>
          <p:cNvSpPr/>
          <p:nvPr/>
        </p:nvSpPr>
        <p:spPr>
          <a:xfrm>
            <a:off x="457200" y="4809744"/>
            <a:ext cx="822960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Cyber Physical Systems  |  SWaT Defense  |  References</a:t>
            </a:r>
            <a:endParaRPr lang="en-US" sz="10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8072"/>
          </a:xfrm>
          <a:prstGeom prst="rect">
            <a:avLst/>
          </a:prstGeom>
          <a:solidFill>
            <a:srgbClr val="0A7E8C"/>
          </a:solidFill>
          <a:ln w="12700">
            <a:solidFill>
              <a:srgbClr val="0A7E8C"/>
            </a:solidFill>
            <a:prstDash val="solid"/>
          </a:ln>
        </p:spPr>
      </p:sp>
      <p:sp>
        <p:nvSpPr>
          <p:cNvPr id="3" name="Text 1"/>
          <p:cNvSpPr/>
          <p:nvPr/>
        </p:nvSpPr>
        <p:spPr>
          <a:xfrm>
            <a:off x="320040" y="411480"/>
            <a:ext cx="8503920" cy="749808"/>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CPS Cyber Attack Recovery</a:t>
            </a:r>
            <a:endParaRPr lang="en-US" sz="4400" dirty="0"/>
          </a:p>
        </p:txBody>
      </p:sp>
      <p:sp>
        <p:nvSpPr>
          <p:cNvPr id="4" name="Text 2"/>
          <p:cNvSpPr/>
          <p:nvPr/>
        </p:nvSpPr>
        <p:spPr>
          <a:xfrm>
            <a:off x="320040" y="1170432"/>
            <a:ext cx="8503920" cy="457200"/>
          </a:xfrm>
          <a:prstGeom prst="rect">
            <a:avLst/>
          </a:prstGeom>
          <a:noFill/>
          <a:ln/>
        </p:spPr>
        <p:txBody>
          <a:bodyPr wrap="square" lIns="0" tIns="0" rIns="0" bIns="0" rtlCol="0" anchor="ctr"/>
          <a:lstStyle/>
          <a:p>
            <a:pPr indent="0" marL="0">
              <a:buNone/>
            </a:pPr>
            <a:r>
              <a:rPr lang="en-US" sz="2200" i="1" dirty="0">
                <a:solidFill>
                  <a:srgbClr val="12B5C8"/>
                </a:solidFill>
                <a:latin typeface="Calibri" pitchFamily="34" charset="0"/>
                <a:ea typeface="Calibri" pitchFamily="34" charset="-122"/>
                <a:cs typeface="Calibri" pitchFamily="34" charset="-120"/>
              </a:rPr>
              <a:t>Methods, Taxonomy &amp; Application to SWaT</a:t>
            </a:r>
            <a:endParaRPr lang="en-US" sz="2200" dirty="0"/>
          </a:p>
        </p:txBody>
      </p:sp>
      <p:sp>
        <p:nvSpPr>
          <p:cNvPr id="5" name="Shape 3"/>
          <p:cNvSpPr/>
          <p:nvPr/>
        </p:nvSpPr>
        <p:spPr>
          <a:xfrm>
            <a:off x="274320" y="1901952"/>
            <a:ext cx="2029968" cy="658368"/>
          </a:xfrm>
          <a:prstGeom prst="rect">
            <a:avLst/>
          </a:prstGeom>
          <a:solidFill>
            <a:srgbClr val="27AE60"/>
          </a:solidFill>
          <a:ln w="12700">
            <a:solidFill>
              <a:srgbClr val="27AE60"/>
            </a:solidFill>
            <a:prstDash val="solid"/>
          </a:ln>
        </p:spPr>
      </p:sp>
      <p:sp>
        <p:nvSpPr>
          <p:cNvPr id="6" name="Text 4"/>
          <p:cNvSpPr/>
          <p:nvPr/>
        </p:nvSpPr>
        <p:spPr>
          <a:xfrm>
            <a:off x="274320"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Shallow Recovery</a:t>
            </a:r>
            <a:endParaRPr lang="en-US" sz="1200" dirty="0"/>
          </a:p>
        </p:txBody>
      </p:sp>
      <p:sp>
        <p:nvSpPr>
          <p:cNvPr id="7" name="Text 5"/>
          <p:cNvSpPr/>
          <p:nvPr/>
        </p:nvSpPr>
        <p:spPr>
          <a:xfrm>
            <a:off x="274320"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Safe-state + failover</a:t>
            </a:r>
            <a:endParaRPr lang="en-US" sz="950" dirty="0"/>
          </a:p>
        </p:txBody>
      </p:sp>
      <p:sp>
        <p:nvSpPr>
          <p:cNvPr id="8" name="Shape 6"/>
          <p:cNvSpPr/>
          <p:nvPr/>
        </p:nvSpPr>
        <p:spPr>
          <a:xfrm>
            <a:off x="2441448" y="1901952"/>
            <a:ext cx="2029968" cy="658368"/>
          </a:xfrm>
          <a:prstGeom prst="rect">
            <a:avLst/>
          </a:prstGeom>
          <a:solidFill>
            <a:srgbClr val="2980B9"/>
          </a:solidFill>
          <a:ln w="12700">
            <a:solidFill>
              <a:srgbClr val="2980B9"/>
            </a:solidFill>
            <a:prstDash val="solid"/>
          </a:ln>
        </p:spPr>
      </p:sp>
      <p:sp>
        <p:nvSpPr>
          <p:cNvPr id="9" name="Text 7"/>
          <p:cNvSpPr/>
          <p:nvPr/>
        </p:nvSpPr>
        <p:spPr>
          <a:xfrm>
            <a:off x="2441448"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Deep Recovery</a:t>
            </a:r>
            <a:endParaRPr lang="en-US" sz="1200" dirty="0"/>
          </a:p>
        </p:txBody>
      </p:sp>
      <p:sp>
        <p:nvSpPr>
          <p:cNvPr id="10" name="Text 8"/>
          <p:cNvSpPr/>
          <p:nvPr/>
        </p:nvSpPr>
        <p:spPr>
          <a:xfrm>
            <a:off x="2441448"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Dedicated recovery controller</a:t>
            </a:r>
            <a:endParaRPr lang="en-US" sz="950" dirty="0"/>
          </a:p>
        </p:txBody>
      </p:sp>
      <p:sp>
        <p:nvSpPr>
          <p:cNvPr id="11" name="Shape 9"/>
          <p:cNvSpPr/>
          <p:nvPr/>
        </p:nvSpPr>
        <p:spPr>
          <a:xfrm>
            <a:off x="4608576" y="1901952"/>
            <a:ext cx="2029968" cy="658368"/>
          </a:xfrm>
          <a:prstGeom prst="rect">
            <a:avLst/>
          </a:prstGeom>
          <a:solidFill>
            <a:srgbClr val="7D3C98"/>
          </a:solidFill>
          <a:ln w="12700">
            <a:solidFill>
              <a:srgbClr val="7D3C98"/>
            </a:solidFill>
            <a:prstDash val="solid"/>
          </a:ln>
        </p:spPr>
      </p:sp>
      <p:sp>
        <p:nvSpPr>
          <p:cNvPr id="12" name="Text 10"/>
          <p:cNvSpPr/>
          <p:nvPr/>
        </p:nvSpPr>
        <p:spPr>
          <a:xfrm>
            <a:off x="4608576"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State Estimation</a:t>
            </a:r>
            <a:endParaRPr lang="en-US" sz="1200" dirty="0"/>
          </a:p>
        </p:txBody>
      </p:sp>
      <p:sp>
        <p:nvSpPr>
          <p:cNvPr id="13" name="Text 11"/>
          <p:cNvSpPr/>
          <p:nvPr/>
        </p:nvSpPr>
        <p:spPr>
          <a:xfrm>
            <a:off x="4608576"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Kalman / Luenberger observers</a:t>
            </a:r>
            <a:endParaRPr lang="en-US" sz="950" dirty="0"/>
          </a:p>
        </p:txBody>
      </p:sp>
      <p:sp>
        <p:nvSpPr>
          <p:cNvPr id="14" name="Shape 12"/>
          <p:cNvSpPr/>
          <p:nvPr/>
        </p:nvSpPr>
        <p:spPr>
          <a:xfrm>
            <a:off x="6775704" y="1901952"/>
            <a:ext cx="2029968" cy="658368"/>
          </a:xfrm>
          <a:prstGeom prst="rect">
            <a:avLst/>
          </a:prstGeom>
          <a:solidFill>
            <a:srgbClr val="E67E22"/>
          </a:solidFill>
          <a:ln w="12700">
            <a:solidFill>
              <a:srgbClr val="E67E22"/>
            </a:solidFill>
            <a:prstDash val="solid"/>
          </a:ln>
        </p:spPr>
      </p:sp>
      <p:sp>
        <p:nvSpPr>
          <p:cNvPr id="15" name="Text 13"/>
          <p:cNvSpPr/>
          <p:nvPr/>
        </p:nvSpPr>
        <p:spPr>
          <a:xfrm>
            <a:off x="6775704" y="1920240"/>
            <a:ext cx="20299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NIST SP 800-82r3</a:t>
            </a:r>
            <a:endParaRPr lang="en-US" sz="1200" dirty="0"/>
          </a:p>
        </p:txBody>
      </p:sp>
      <p:sp>
        <p:nvSpPr>
          <p:cNvPr id="16" name="Text 14"/>
          <p:cNvSpPr/>
          <p:nvPr/>
        </p:nvSpPr>
        <p:spPr>
          <a:xfrm>
            <a:off x="6775704" y="2212848"/>
            <a:ext cx="20299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OT incident response framework</a:t>
            </a:r>
            <a:endParaRPr lang="en-US" sz="950" dirty="0"/>
          </a:p>
        </p:txBody>
      </p:sp>
      <p:sp>
        <p:nvSpPr>
          <p:cNvPr id="17" name="Shape 15"/>
          <p:cNvSpPr/>
          <p:nvPr/>
        </p:nvSpPr>
        <p:spPr>
          <a:xfrm>
            <a:off x="320040" y="2761488"/>
            <a:ext cx="8503920" cy="512064"/>
          </a:xfrm>
          <a:prstGeom prst="rect">
            <a:avLst/>
          </a:prstGeom>
          <a:solidFill>
            <a:srgbClr val="1B3A5C"/>
          </a:solidFill>
          <a:ln w="12700">
            <a:solidFill>
              <a:srgbClr val="1B3A5C"/>
            </a:solidFill>
            <a:prstDash val="solid"/>
          </a:ln>
        </p:spPr>
      </p:sp>
      <p:sp>
        <p:nvSpPr>
          <p:cNvPr id="18" name="Shape 16"/>
          <p:cNvSpPr/>
          <p:nvPr/>
        </p:nvSpPr>
        <p:spPr>
          <a:xfrm>
            <a:off x="320040" y="2761488"/>
            <a:ext cx="64008" cy="512064"/>
          </a:xfrm>
          <a:prstGeom prst="rect">
            <a:avLst/>
          </a:prstGeom>
          <a:solidFill>
            <a:srgbClr val="0A7E8C"/>
          </a:solidFill>
          <a:ln w="12700">
            <a:solidFill>
              <a:srgbClr val="0A7E8C"/>
            </a:solidFill>
            <a:prstDash val="solid"/>
          </a:ln>
        </p:spPr>
      </p:sp>
      <p:sp>
        <p:nvSpPr>
          <p:cNvPr id="19" name="Text 17"/>
          <p:cNvSpPr/>
          <p:nvPr/>
        </p:nvSpPr>
        <p:spPr>
          <a:xfrm>
            <a:off x="502920" y="2779776"/>
            <a:ext cx="8183880" cy="475488"/>
          </a:xfrm>
          <a:prstGeom prst="rect">
            <a:avLst/>
          </a:prstGeom>
          <a:noFill/>
          <a:ln/>
        </p:spPr>
        <p:txBody>
          <a:bodyPr wrap="square" lIns="0" tIns="0" rIns="0" bIns="0" rtlCol="0" anchor="ctr"/>
          <a:lstStyle/>
          <a:p>
            <a:pPr indent="0" marL="0">
              <a:buNone/>
            </a:pPr>
            <a:r>
              <a:rPr lang="en-US" sz="1050" b="1" dirty="0">
                <a:solidFill>
                  <a:srgbClr val="12B5C8"/>
                </a:solidFill>
                <a:latin typeface="Calibri" pitchFamily="34" charset="0"/>
                <a:ea typeface="Calibri" pitchFamily="34" charset="-122"/>
                <a:cs typeface="Calibri" pitchFamily="34" charset="-120"/>
              </a:rPr>
              <a:t xml:space="preserve">Key finding (ACM Survey 2024):  </a:t>
            </a:r>
            <a:pPr indent="0" marL="0">
              <a:buNone/>
            </a:pPr>
            <a:r>
              <a:rPr lang="en-US" sz="1050" dirty="0">
                <a:solidFill>
                  <a:srgbClr val="E8EEF4"/>
                </a:solidFill>
                <a:latin typeface="Calibri" pitchFamily="34" charset="0"/>
                <a:ea typeface="Calibri" pitchFamily="34" charset="-122"/>
                <a:cs typeface="Calibri" pitchFamily="34" charset="-120"/>
              </a:rPr>
              <a:t>Most CPS security research focuses on detection — recovery is the least studied phase. Shallow recovery (safe state + PLC failover) is deployable in SWaT immediately; deep recovery via secure state estimation is the research frontier.</a:t>
            </a:r>
            <a:endParaRPr lang="en-US" sz="1050" dirty="0"/>
          </a:p>
        </p:txBody>
      </p:sp>
      <p:sp>
        <p:nvSpPr>
          <p:cNvPr id="20" name="Text 18"/>
          <p:cNvSpPr/>
          <p:nvPr/>
        </p:nvSpPr>
        <p:spPr>
          <a:xfrm>
            <a:off x="320040" y="3493008"/>
            <a:ext cx="8503920" cy="256032"/>
          </a:xfrm>
          <a:prstGeom prst="rect">
            <a:avLst/>
          </a:prstGeom>
          <a:noFill/>
          <a:ln/>
        </p:spPr>
        <p:txBody>
          <a:bodyPr wrap="square" lIns="0" tIns="0" rIns="0" bIns="0" rtlCol="0" anchor="ctr"/>
          <a:lstStyle/>
          <a:p>
            <a:pPr indent="0" marL="0">
              <a:buNone/>
            </a:pPr>
            <a:r>
              <a:rPr lang="en-US" sz="1100" dirty="0">
                <a:solidFill>
                  <a:srgbClr val="8FA3B1"/>
                </a:solidFill>
                <a:latin typeface="Calibri" pitchFamily="34" charset="0"/>
                <a:ea typeface="Calibri" pitchFamily="34" charset="-122"/>
                <a:cs typeface="Calibri" pitchFamily="34" charset="-120"/>
              </a:rPr>
              <a:t>51.508 Secure Cyber Physical Systems  |  iTrust Lab, SUTD  |  AY2025/26 Term 2</a:t>
            </a:r>
            <a:endParaRPr lang="en-US" sz="1100" dirty="0"/>
          </a:p>
        </p:txBody>
      </p:sp>
      <p:sp>
        <p:nvSpPr>
          <p:cNvPr id="21" name="Shape 19"/>
          <p:cNvSpPr/>
          <p:nvPr/>
        </p:nvSpPr>
        <p:spPr>
          <a:xfrm>
            <a:off x="0" y="4809744"/>
            <a:ext cx="9144000" cy="338328"/>
          </a:xfrm>
          <a:prstGeom prst="rect">
            <a:avLst/>
          </a:prstGeom>
          <a:solidFill>
            <a:srgbClr val="1B3A5C"/>
          </a:solidFill>
          <a:ln w="12700">
            <a:solidFill>
              <a:srgbClr val="1B3A5C"/>
            </a:solidFill>
            <a:prstDash val="solid"/>
          </a:ln>
        </p:spPr>
      </p:sp>
      <p:sp>
        <p:nvSpPr>
          <p:cNvPr id="22" name="Text 20"/>
          <p:cNvSpPr/>
          <p:nvPr/>
        </p:nvSpPr>
        <p:spPr>
          <a:xfrm>
            <a:off x="274320" y="4809744"/>
            <a:ext cx="8595360" cy="338328"/>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a:t>
            </a:r>
            <a:endParaRPr lang="en-US" sz="10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indent="0" marL="0">
              <a:buNone/>
            </a:pPr>
            <a:r>
              <a:rPr lang="en-US" sz="2700" b="1" dirty="0">
                <a:solidFill>
                  <a:srgbClr val="0A1628"/>
                </a:solidFill>
                <a:latin typeface="Calibri" pitchFamily="34" charset="0"/>
                <a:ea typeface="Calibri" pitchFamily="34" charset="-122"/>
                <a:cs typeface="Calibri" pitchFamily="34" charset="-120"/>
              </a:rPr>
              <a:t>Recovery Taxonomy: Shallow vs Deep</a:t>
            </a:r>
            <a:endParaRPr lang="en-US" sz="2700" dirty="0"/>
          </a:p>
        </p:txBody>
      </p:sp>
      <p:sp>
        <p:nvSpPr>
          <p:cNvPr id="4" name="Text 2"/>
          <p:cNvSpPr/>
          <p:nvPr/>
        </p:nvSpPr>
        <p:spPr>
          <a:xfrm>
            <a:off x="365760" y="640080"/>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ACM Computing Surveys (2024) surveyed 30 CPS recovery papers — two fundamental strategies identified</a:t>
            </a:r>
            <a:endParaRPr lang="en-US" sz="1150" dirty="0"/>
          </a:p>
        </p:txBody>
      </p:sp>
      <p:sp>
        <p:nvSpPr>
          <p:cNvPr id="5" name="Shape 3"/>
          <p:cNvSpPr/>
          <p:nvPr/>
        </p:nvSpPr>
        <p:spPr>
          <a:xfrm>
            <a:off x="228600" y="969264"/>
            <a:ext cx="4160520" cy="3749040"/>
          </a:xfrm>
          <a:prstGeom prst="rect">
            <a:avLst/>
          </a:prstGeom>
          <a:solidFill>
            <a:srgbClr val="FFFFFF"/>
          </a:solidFill>
          <a:ln w="12700">
            <a:solidFill>
              <a:srgbClr val="FFFFFF"/>
            </a:solidFill>
            <a:prstDash val="solid"/>
          </a:ln>
        </p:spPr>
      </p:sp>
      <p:sp>
        <p:nvSpPr>
          <p:cNvPr id="6" name="Shape 4"/>
          <p:cNvSpPr/>
          <p:nvPr/>
        </p:nvSpPr>
        <p:spPr>
          <a:xfrm>
            <a:off x="228600" y="969264"/>
            <a:ext cx="64008" cy="3749040"/>
          </a:xfrm>
          <a:prstGeom prst="rect">
            <a:avLst/>
          </a:prstGeom>
          <a:solidFill>
            <a:srgbClr val="27AE60"/>
          </a:solidFill>
          <a:ln w="12700">
            <a:solidFill>
              <a:srgbClr val="27AE60"/>
            </a:solidFill>
            <a:prstDash val="solid"/>
          </a:ln>
        </p:spPr>
      </p:sp>
      <p:sp>
        <p:nvSpPr>
          <p:cNvPr id="7" name="Text 5"/>
          <p:cNvSpPr/>
          <p:nvPr/>
        </p:nvSpPr>
        <p:spPr>
          <a:xfrm>
            <a:off x="411480" y="1033272"/>
            <a:ext cx="3840480" cy="329184"/>
          </a:xfrm>
          <a:prstGeom prst="rect">
            <a:avLst/>
          </a:prstGeom>
          <a:noFill/>
          <a:ln/>
        </p:spPr>
        <p:txBody>
          <a:bodyPr wrap="square" lIns="0" tIns="0" rIns="0" bIns="0" rtlCol="0" anchor="ctr"/>
          <a:lstStyle/>
          <a:p>
            <a:pPr indent="0" marL="0">
              <a:buNone/>
            </a:pPr>
            <a:r>
              <a:rPr lang="en-US" sz="1700" b="1" dirty="0">
                <a:solidFill>
                  <a:srgbClr val="1A7A42"/>
                </a:solidFill>
                <a:latin typeface="Calibri" pitchFamily="34" charset="0"/>
                <a:ea typeface="Calibri" pitchFamily="34" charset="-122"/>
                <a:cs typeface="Calibri" pitchFamily="34" charset="-120"/>
              </a:rPr>
              <a:t>Shallow Recovery</a:t>
            </a:r>
            <a:endParaRPr lang="en-US" sz="1700" dirty="0"/>
          </a:p>
        </p:txBody>
      </p:sp>
      <p:sp>
        <p:nvSpPr>
          <p:cNvPr id="8" name="Text 6"/>
          <p:cNvSpPr/>
          <p:nvPr/>
        </p:nvSpPr>
        <p:spPr>
          <a:xfrm>
            <a:off x="411480" y="1371600"/>
            <a:ext cx="3840480" cy="402336"/>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Does NOT require a dedicated recovery controller.</a:t>
            </a:r>
            <a:endParaRPr lang="en-US" sz="1050" dirty="0"/>
          </a:p>
          <a:p>
            <a:pPr indent="0" marL="0">
              <a:buNone/>
            </a:pPr>
            <a:r>
              <a:rPr lang="en-US" sz="1050" i="1" dirty="0">
                <a:solidFill>
                  <a:srgbClr val="8FA3B1"/>
                </a:solidFill>
                <a:latin typeface="Calibri" pitchFamily="34" charset="0"/>
                <a:ea typeface="Calibri" pitchFamily="34" charset="-122"/>
                <a:cs typeface="Calibri" pitchFamily="34" charset="-120"/>
              </a:rPr>
              <a:t>Uses pre-designed safe states &amp; redundancy.</a:t>
            </a:r>
            <a:endParaRPr lang="en-US" sz="1050" dirty="0"/>
          </a:p>
        </p:txBody>
      </p:sp>
      <p:sp>
        <p:nvSpPr>
          <p:cNvPr id="9" name="Shape 7"/>
          <p:cNvSpPr/>
          <p:nvPr/>
        </p:nvSpPr>
        <p:spPr>
          <a:xfrm>
            <a:off x="365760" y="1874520"/>
            <a:ext cx="256032" cy="256032"/>
          </a:xfrm>
          <a:prstGeom prst="rect">
            <a:avLst/>
          </a:prstGeom>
          <a:solidFill>
            <a:srgbClr val="27AE60"/>
          </a:solidFill>
          <a:ln w="12700">
            <a:solidFill>
              <a:srgbClr val="27AE60"/>
            </a:solidFill>
            <a:prstDash val="solid"/>
          </a:ln>
        </p:spPr>
      </p:sp>
      <p:sp>
        <p:nvSpPr>
          <p:cNvPr id="10" name="Text 8"/>
          <p:cNvSpPr/>
          <p:nvPr/>
        </p:nvSpPr>
        <p:spPr>
          <a:xfrm>
            <a:off x="36576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694944" y="1883664"/>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Safe-State Transition</a:t>
            </a:r>
            <a:endParaRPr lang="en-US" sz="1100" dirty="0"/>
          </a:p>
        </p:txBody>
      </p:sp>
      <p:sp>
        <p:nvSpPr>
          <p:cNvPr id="12" name="Text 10"/>
          <p:cNvSpPr/>
          <p:nvPr/>
        </p:nvSpPr>
        <p:spPr>
          <a:xfrm>
            <a:off x="411480" y="2093976"/>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Pre-defined fail-safe actuator values per stage written to PLC registers immediately on alert. No computation required — purely deterministic lookup.</a:t>
            </a:r>
            <a:endParaRPr lang="en-US" sz="950" dirty="0"/>
          </a:p>
        </p:txBody>
      </p:sp>
      <p:sp>
        <p:nvSpPr>
          <p:cNvPr id="13" name="Shape 11"/>
          <p:cNvSpPr/>
          <p:nvPr/>
        </p:nvSpPr>
        <p:spPr>
          <a:xfrm>
            <a:off x="365760" y="2441448"/>
            <a:ext cx="256032" cy="256032"/>
          </a:xfrm>
          <a:prstGeom prst="rect">
            <a:avLst/>
          </a:prstGeom>
          <a:solidFill>
            <a:srgbClr val="27AE60"/>
          </a:solidFill>
          <a:ln w="12700">
            <a:solidFill>
              <a:srgbClr val="27AE60"/>
            </a:solidFill>
            <a:prstDash val="solid"/>
          </a:ln>
        </p:spPr>
      </p:sp>
      <p:sp>
        <p:nvSpPr>
          <p:cNvPr id="14" name="Text 12"/>
          <p:cNvSpPr/>
          <p:nvPr/>
        </p:nvSpPr>
        <p:spPr>
          <a:xfrm>
            <a:off x="365760" y="24414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94944" y="2450592"/>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Hot-Standby PLC Failover</a:t>
            </a:r>
            <a:endParaRPr lang="en-US" sz="1100" dirty="0"/>
          </a:p>
        </p:txBody>
      </p:sp>
      <p:sp>
        <p:nvSpPr>
          <p:cNvPr id="16" name="Text 14"/>
          <p:cNvSpPr/>
          <p:nvPr/>
        </p:nvSpPr>
        <p:spPr>
          <a:xfrm>
            <a:off x="411480" y="2660904"/>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Primary PLC1A isolated; EtherNet/IP handshake activates PLC1B (mirror image of ladder logic + last safe register state). &lt;3 s switchover.</a:t>
            </a:r>
            <a:endParaRPr lang="en-US" sz="950" dirty="0"/>
          </a:p>
        </p:txBody>
      </p:sp>
      <p:sp>
        <p:nvSpPr>
          <p:cNvPr id="17" name="Shape 15"/>
          <p:cNvSpPr/>
          <p:nvPr/>
        </p:nvSpPr>
        <p:spPr>
          <a:xfrm>
            <a:off x="365760" y="3008376"/>
            <a:ext cx="256032" cy="256032"/>
          </a:xfrm>
          <a:prstGeom prst="rect">
            <a:avLst/>
          </a:prstGeom>
          <a:solidFill>
            <a:srgbClr val="27AE60"/>
          </a:solidFill>
          <a:ln w="12700">
            <a:solidFill>
              <a:srgbClr val="27AE60"/>
            </a:solidFill>
            <a:prstDash val="solid"/>
          </a:ln>
        </p:spPr>
      </p:sp>
      <p:sp>
        <p:nvSpPr>
          <p:cNvPr id="18" name="Text 16"/>
          <p:cNvSpPr/>
          <p:nvPr/>
        </p:nvSpPr>
        <p:spPr>
          <a:xfrm>
            <a:off x="36576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694944" y="3017520"/>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Network Isolation (Containment)</a:t>
            </a:r>
            <a:endParaRPr lang="en-US" sz="1100" dirty="0"/>
          </a:p>
        </p:txBody>
      </p:sp>
      <p:sp>
        <p:nvSpPr>
          <p:cNvPr id="20" name="Text 18"/>
          <p:cNvSpPr/>
          <p:nvPr/>
        </p:nvSpPr>
        <p:spPr>
          <a:xfrm>
            <a:off x="411480" y="3227832"/>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iptables rules drop all Modbus TCP port 502 traffic from attacker MAC. VLAN isolation enforced at L2 switch within seconds of alert.</a:t>
            </a:r>
            <a:endParaRPr lang="en-US" sz="950" dirty="0"/>
          </a:p>
        </p:txBody>
      </p:sp>
      <p:sp>
        <p:nvSpPr>
          <p:cNvPr id="21" name="Shape 19"/>
          <p:cNvSpPr/>
          <p:nvPr/>
        </p:nvSpPr>
        <p:spPr>
          <a:xfrm>
            <a:off x="365760" y="3575304"/>
            <a:ext cx="256032" cy="256032"/>
          </a:xfrm>
          <a:prstGeom prst="rect">
            <a:avLst/>
          </a:prstGeom>
          <a:solidFill>
            <a:srgbClr val="27AE60"/>
          </a:solidFill>
          <a:ln w="12700">
            <a:solidFill>
              <a:srgbClr val="27AE60"/>
            </a:solidFill>
            <a:prstDash val="solid"/>
          </a:ln>
        </p:spPr>
      </p:sp>
      <p:sp>
        <p:nvSpPr>
          <p:cNvPr id="22" name="Text 20"/>
          <p:cNvSpPr/>
          <p:nvPr/>
        </p:nvSpPr>
        <p:spPr>
          <a:xfrm>
            <a:off x="365760" y="35753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694944" y="3584448"/>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Checkpoint &amp; Restore</a:t>
            </a:r>
            <a:endParaRPr lang="en-US" sz="1100" dirty="0"/>
          </a:p>
        </p:txBody>
      </p:sp>
      <p:sp>
        <p:nvSpPr>
          <p:cNvPr id="24" name="Text 22"/>
          <p:cNvSpPr/>
          <p:nvPr/>
        </p:nvSpPr>
        <p:spPr>
          <a:xfrm>
            <a:off x="411480" y="3794760"/>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Kong et al. (ICCPS 2018): periodic system state snapshots to trusted storage; rollback to last valid checkpoint post-attack. Applicable to SWaT HMI + historian.</a:t>
            </a:r>
            <a:endParaRPr lang="en-US" sz="950" dirty="0"/>
          </a:p>
        </p:txBody>
      </p:sp>
      <p:sp>
        <p:nvSpPr>
          <p:cNvPr id="25" name="Shape 23"/>
          <p:cNvSpPr/>
          <p:nvPr/>
        </p:nvSpPr>
        <p:spPr>
          <a:xfrm>
            <a:off x="365760" y="4142232"/>
            <a:ext cx="256032" cy="256032"/>
          </a:xfrm>
          <a:prstGeom prst="rect">
            <a:avLst/>
          </a:prstGeom>
          <a:solidFill>
            <a:srgbClr val="27AE60"/>
          </a:solidFill>
          <a:ln w="12700">
            <a:solidFill>
              <a:srgbClr val="27AE60"/>
            </a:solidFill>
            <a:prstDash val="solid"/>
          </a:ln>
        </p:spPr>
      </p:sp>
      <p:sp>
        <p:nvSpPr>
          <p:cNvPr id="26" name="Text 24"/>
          <p:cNvSpPr/>
          <p:nvPr/>
        </p:nvSpPr>
        <p:spPr>
          <a:xfrm>
            <a:off x="365760" y="4142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94944" y="4151376"/>
            <a:ext cx="3566160" cy="201168"/>
          </a:xfrm>
          <a:prstGeom prst="rect">
            <a:avLst/>
          </a:prstGeom>
          <a:noFill/>
          <a:ln/>
        </p:spPr>
        <p:txBody>
          <a:bodyPr wrap="square" lIns="0" tIns="0" rIns="0" bIns="0" rtlCol="0" anchor="ctr"/>
          <a:lstStyle/>
          <a:p>
            <a:pPr indent="0" marL="0">
              <a:buNone/>
            </a:pPr>
            <a:r>
              <a:rPr lang="en-US" sz="1100" b="1" dirty="0">
                <a:solidFill>
                  <a:srgbClr val="1A7A42"/>
                </a:solidFill>
                <a:latin typeface="Calibri" pitchFamily="34" charset="0"/>
                <a:ea typeface="Calibri" pitchFamily="34" charset="-122"/>
                <a:cs typeface="Calibri" pitchFamily="34" charset="-120"/>
              </a:rPr>
              <a:t>Manual Operator Override</a:t>
            </a:r>
            <a:endParaRPr lang="en-US" sz="1100" dirty="0"/>
          </a:p>
        </p:txBody>
      </p:sp>
      <p:sp>
        <p:nvSpPr>
          <p:cNvPr id="28" name="Text 26"/>
          <p:cNvSpPr/>
          <p:nvPr/>
        </p:nvSpPr>
        <p:spPr>
          <a:xfrm>
            <a:off x="411480" y="4361688"/>
            <a:ext cx="384048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Physical bypass of all digital commands; local operator restores process using P&amp;ID reference. Last resort — used if PLC1B failover also compromised.</a:t>
            </a:r>
            <a:endParaRPr lang="en-US" sz="950" dirty="0"/>
          </a:p>
        </p:txBody>
      </p:sp>
      <p:sp>
        <p:nvSpPr>
          <p:cNvPr id="29" name="Shape 27"/>
          <p:cNvSpPr/>
          <p:nvPr/>
        </p:nvSpPr>
        <p:spPr>
          <a:xfrm>
            <a:off x="4617720" y="969264"/>
            <a:ext cx="4297680" cy="3749040"/>
          </a:xfrm>
          <a:prstGeom prst="rect">
            <a:avLst/>
          </a:prstGeom>
          <a:solidFill>
            <a:srgbClr val="FFFFFF"/>
          </a:solidFill>
          <a:ln w="12700">
            <a:solidFill>
              <a:srgbClr val="FFFFFF"/>
            </a:solidFill>
            <a:prstDash val="solid"/>
          </a:ln>
        </p:spPr>
      </p:sp>
      <p:sp>
        <p:nvSpPr>
          <p:cNvPr id="30" name="Shape 28"/>
          <p:cNvSpPr/>
          <p:nvPr/>
        </p:nvSpPr>
        <p:spPr>
          <a:xfrm>
            <a:off x="4617720" y="969264"/>
            <a:ext cx="64008" cy="3749040"/>
          </a:xfrm>
          <a:prstGeom prst="rect">
            <a:avLst/>
          </a:prstGeom>
          <a:solidFill>
            <a:srgbClr val="2980B9"/>
          </a:solidFill>
          <a:ln w="12700">
            <a:solidFill>
              <a:srgbClr val="2980B9"/>
            </a:solidFill>
            <a:prstDash val="solid"/>
          </a:ln>
        </p:spPr>
      </p:sp>
      <p:sp>
        <p:nvSpPr>
          <p:cNvPr id="31" name="Text 29"/>
          <p:cNvSpPr/>
          <p:nvPr/>
        </p:nvSpPr>
        <p:spPr>
          <a:xfrm>
            <a:off x="4800600" y="1033272"/>
            <a:ext cx="3931920" cy="329184"/>
          </a:xfrm>
          <a:prstGeom prst="rect">
            <a:avLst/>
          </a:prstGeom>
          <a:noFill/>
          <a:ln/>
        </p:spPr>
        <p:txBody>
          <a:bodyPr wrap="square" lIns="0" tIns="0" rIns="0" bIns="0" rtlCol="0" anchor="ctr"/>
          <a:lstStyle/>
          <a:p>
            <a:pPr indent="0" marL="0">
              <a:buNone/>
            </a:pPr>
            <a:r>
              <a:rPr lang="en-US" sz="1700" b="1" dirty="0">
                <a:solidFill>
                  <a:srgbClr val="2980B9"/>
                </a:solidFill>
                <a:latin typeface="Calibri" pitchFamily="34" charset="0"/>
                <a:ea typeface="Calibri" pitchFamily="34" charset="-122"/>
                <a:cs typeface="Calibri" pitchFamily="34" charset="-120"/>
              </a:rPr>
              <a:t>Deep Recovery</a:t>
            </a:r>
            <a:endParaRPr lang="en-US" sz="1700" dirty="0"/>
          </a:p>
        </p:txBody>
      </p:sp>
      <p:sp>
        <p:nvSpPr>
          <p:cNvPr id="32" name="Text 30"/>
          <p:cNvSpPr/>
          <p:nvPr/>
        </p:nvSpPr>
        <p:spPr>
          <a:xfrm>
            <a:off x="4800600" y="1371600"/>
            <a:ext cx="3931920" cy="402336"/>
          </a:xfrm>
          <a:prstGeom prst="rect">
            <a:avLst/>
          </a:prstGeom>
          <a:noFill/>
          <a:ln/>
        </p:spPr>
        <p:txBody>
          <a:bodyPr wrap="square" lIns="0" tIns="0" rIns="0" bIns="0" rtlCol="0" anchor="ctr"/>
          <a:lstStyle/>
          <a:p>
            <a:pPr indent="0" marL="0">
              <a:buNone/>
            </a:pPr>
            <a:r>
              <a:rPr lang="en-US" sz="1050" i="1" dirty="0">
                <a:solidFill>
                  <a:srgbClr val="8FA3B1"/>
                </a:solidFill>
                <a:latin typeface="Calibri" pitchFamily="34" charset="0"/>
                <a:ea typeface="Calibri" pitchFamily="34" charset="-122"/>
                <a:cs typeface="Calibri" pitchFamily="34" charset="-120"/>
              </a:rPr>
              <a:t>Requires a dedicated recovery controller that</a:t>
            </a:r>
            <a:endParaRPr lang="en-US" sz="1050" dirty="0"/>
          </a:p>
          <a:p>
            <a:pPr indent="0" marL="0">
              <a:buNone/>
            </a:pPr>
            <a:r>
              <a:rPr lang="en-US" sz="1050" i="1" dirty="0">
                <a:solidFill>
                  <a:srgbClr val="8FA3B1"/>
                </a:solidFill>
                <a:latin typeface="Calibri" pitchFamily="34" charset="0"/>
                <a:ea typeface="Calibri" pitchFamily="34" charset="-122"/>
                <a:cs typeface="Calibri" pitchFamily="34" charset="-120"/>
              </a:rPr>
              <a:t>runs in parallel and actively restores the system.</a:t>
            </a:r>
            <a:endParaRPr lang="en-US" sz="1050" dirty="0"/>
          </a:p>
        </p:txBody>
      </p:sp>
      <p:sp>
        <p:nvSpPr>
          <p:cNvPr id="33" name="Shape 31"/>
          <p:cNvSpPr/>
          <p:nvPr/>
        </p:nvSpPr>
        <p:spPr>
          <a:xfrm>
            <a:off x="4754880" y="1874520"/>
            <a:ext cx="256032" cy="256032"/>
          </a:xfrm>
          <a:prstGeom prst="rect">
            <a:avLst/>
          </a:prstGeom>
          <a:solidFill>
            <a:srgbClr val="2980B9"/>
          </a:solidFill>
          <a:ln w="12700">
            <a:solidFill>
              <a:srgbClr val="2980B9"/>
            </a:solidFill>
            <a:prstDash val="solid"/>
          </a:ln>
        </p:spPr>
      </p:sp>
      <p:sp>
        <p:nvSpPr>
          <p:cNvPr id="34" name="Text 32"/>
          <p:cNvSpPr/>
          <p:nvPr/>
        </p:nvSpPr>
        <p:spPr>
          <a:xfrm>
            <a:off x="475488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33"/>
          <p:cNvSpPr/>
          <p:nvPr/>
        </p:nvSpPr>
        <p:spPr>
          <a:xfrm>
            <a:off x="5084064" y="1883664"/>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Secure State Estimation (SSE)</a:t>
            </a:r>
            <a:endParaRPr lang="en-US" sz="1100" dirty="0"/>
          </a:p>
        </p:txBody>
      </p:sp>
      <p:sp>
        <p:nvSpPr>
          <p:cNvPr id="36" name="Text 34"/>
          <p:cNvSpPr/>
          <p:nvPr/>
        </p:nvSpPr>
        <p:spPr>
          <a:xfrm>
            <a:off x="4800600" y="2093976"/>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 Kalman observers reconstruct true plant state from uncorrupted sensor subsets during the attack window. Bridges the gap between alert and verified safe state.</a:t>
            </a:r>
            <a:endParaRPr lang="en-US" sz="950" dirty="0"/>
          </a:p>
        </p:txBody>
      </p:sp>
      <p:sp>
        <p:nvSpPr>
          <p:cNvPr id="37" name="Shape 35"/>
          <p:cNvSpPr/>
          <p:nvPr/>
        </p:nvSpPr>
        <p:spPr>
          <a:xfrm>
            <a:off x="4754880" y="2441448"/>
            <a:ext cx="256032" cy="256032"/>
          </a:xfrm>
          <a:prstGeom prst="rect">
            <a:avLst/>
          </a:prstGeom>
          <a:solidFill>
            <a:srgbClr val="2980B9"/>
          </a:solidFill>
          <a:ln w="12700">
            <a:solidFill>
              <a:srgbClr val="2980B9"/>
            </a:solidFill>
            <a:prstDash val="solid"/>
          </a:ln>
        </p:spPr>
      </p:sp>
      <p:sp>
        <p:nvSpPr>
          <p:cNvPr id="38" name="Text 36"/>
          <p:cNvSpPr/>
          <p:nvPr/>
        </p:nvSpPr>
        <p:spPr>
          <a:xfrm>
            <a:off x="4754880" y="24414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Text 37"/>
          <p:cNvSpPr/>
          <p:nvPr/>
        </p:nvSpPr>
        <p:spPr>
          <a:xfrm>
            <a:off x="5084064" y="2450592"/>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Model Predictive Control (MPC) Recovery</a:t>
            </a:r>
            <a:endParaRPr lang="en-US" sz="1100" dirty="0"/>
          </a:p>
        </p:txBody>
      </p:sp>
      <p:sp>
        <p:nvSpPr>
          <p:cNvPr id="40" name="Text 38"/>
          <p:cNvSpPr/>
          <p:nvPr/>
        </p:nvSpPr>
        <p:spPr>
          <a:xfrm>
            <a:off x="4800600" y="2660904"/>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He et al. (2021): resilient self-triggered MPC adjusts update frequency and reconstructs input signals during FDI attacks. Proven input-to-state stability.</a:t>
            </a:r>
            <a:endParaRPr lang="en-US" sz="950" dirty="0"/>
          </a:p>
        </p:txBody>
      </p:sp>
      <p:sp>
        <p:nvSpPr>
          <p:cNvPr id="41" name="Shape 39"/>
          <p:cNvSpPr/>
          <p:nvPr/>
        </p:nvSpPr>
        <p:spPr>
          <a:xfrm>
            <a:off x="4754880" y="3008376"/>
            <a:ext cx="256032" cy="256032"/>
          </a:xfrm>
          <a:prstGeom prst="rect">
            <a:avLst/>
          </a:prstGeom>
          <a:solidFill>
            <a:srgbClr val="2980B9"/>
          </a:solidFill>
          <a:ln w="12700">
            <a:solidFill>
              <a:srgbClr val="2980B9"/>
            </a:solidFill>
            <a:prstDash val="solid"/>
          </a:ln>
        </p:spPr>
      </p:sp>
      <p:sp>
        <p:nvSpPr>
          <p:cNvPr id="42" name="Text 40"/>
          <p:cNvSpPr/>
          <p:nvPr/>
        </p:nvSpPr>
        <p:spPr>
          <a:xfrm>
            <a:off x="475488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41"/>
          <p:cNvSpPr/>
          <p:nvPr/>
        </p:nvSpPr>
        <p:spPr>
          <a:xfrm>
            <a:off x="5084064" y="3017520"/>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Sliding Mode Observer (SMO)</a:t>
            </a:r>
            <a:endParaRPr lang="en-US" sz="1100" dirty="0"/>
          </a:p>
        </p:txBody>
      </p:sp>
      <p:sp>
        <p:nvSpPr>
          <p:cNvPr id="44" name="Text 42"/>
          <p:cNvSpPr/>
          <p:nvPr/>
        </p:nvSpPr>
        <p:spPr>
          <a:xfrm>
            <a:off x="4800600" y="3227832"/>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Adaptive-gain SMO reconstructs sensor and actuator attacks online in real time; cleans corrupted measurements before feeding back to controller.</a:t>
            </a:r>
            <a:endParaRPr lang="en-US" sz="950" dirty="0"/>
          </a:p>
        </p:txBody>
      </p:sp>
      <p:sp>
        <p:nvSpPr>
          <p:cNvPr id="45" name="Shape 43"/>
          <p:cNvSpPr/>
          <p:nvPr/>
        </p:nvSpPr>
        <p:spPr>
          <a:xfrm>
            <a:off x="4754880" y="3575304"/>
            <a:ext cx="256032" cy="256032"/>
          </a:xfrm>
          <a:prstGeom prst="rect">
            <a:avLst/>
          </a:prstGeom>
          <a:solidFill>
            <a:srgbClr val="2980B9"/>
          </a:solidFill>
          <a:ln w="12700">
            <a:solidFill>
              <a:srgbClr val="2980B9"/>
            </a:solidFill>
            <a:prstDash val="solid"/>
          </a:ln>
        </p:spPr>
      </p:sp>
      <p:sp>
        <p:nvSpPr>
          <p:cNvPr id="46" name="Text 44"/>
          <p:cNvSpPr/>
          <p:nvPr/>
        </p:nvSpPr>
        <p:spPr>
          <a:xfrm>
            <a:off x="4754880" y="35753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5084064" y="3584448"/>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Learn-to-Respond (RL-based)</a:t>
            </a:r>
            <a:endParaRPr lang="en-US" sz="1100" dirty="0"/>
          </a:p>
        </p:txBody>
      </p:sp>
      <p:sp>
        <p:nvSpPr>
          <p:cNvPr id="48" name="Text 46"/>
          <p:cNvSpPr/>
          <p:nvPr/>
        </p:nvSpPr>
        <p:spPr>
          <a:xfrm>
            <a:off x="4800600" y="3794760"/>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Liu et al. (RTSS 2023): sequence-predictive recovery uses RL to learn optimal recovery sequences from attack scenarios. Suited for novel/unseen attack patterns.</a:t>
            </a:r>
            <a:endParaRPr lang="en-US" sz="950" dirty="0"/>
          </a:p>
        </p:txBody>
      </p:sp>
      <p:sp>
        <p:nvSpPr>
          <p:cNvPr id="49" name="Shape 47"/>
          <p:cNvSpPr/>
          <p:nvPr/>
        </p:nvSpPr>
        <p:spPr>
          <a:xfrm>
            <a:off x="4754880" y="4142232"/>
            <a:ext cx="256032" cy="256032"/>
          </a:xfrm>
          <a:prstGeom prst="rect">
            <a:avLst/>
          </a:prstGeom>
          <a:solidFill>
            <a:srgbClr val="2980B9"/>
          </a:solidFill>
          <a:ln w="12700">
            <a:solidFill>
              <a:srgbClr val="2980B9"/>
            </a:solidFill>
            <a:prstDash val="solid"/>
          </a:ln>
        </p:spPr>
      </p:sp>
      <p:sp>
        <p:nvSpPr>
          <p:cNvPr id="50" name="Text 48"/>
          <p:cNvSpPr/>
          <p:nvPr/>
        </p:nvSpPr>
        <p:spPr>
          <a:xfrm>
            <a:off x="4754880" y="4142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1" name="Text 49"/>
          <p:cNvSpPr/>
          <p:nvPr/>
        </p:nvSpPr>
        <p:spPr>
          <a:xfrm>
            <a:off x="5084064" y="4151376"/>
            <a:ext cx="3703320" cy="201168"/>
          </a:xfrm>
          <a:prstGeom prst="rect">
            <a:avLst/>
          </a:prstGeom>
          <a:noFill/>
          <a:ln/>
        </p:spPr>
        <p:txBody>
          <a:bodyPr wrap="square" lIns="0" tIns="0" rIns="0" bIns="0" rtlCol="0" anchor="ctr"/>
          <a:lstStyle/>
          <a:p>
            <a:pPr indent="0" marL="0">
              <a:buNone/>
            </a:pPr>
            <a:r>
              <a:rPr lang="en-US" sz="1100" b="1" dirty="0">
                <a:solidFill>
                  <a:srgbClr val="2980B9"/>
                </a:solidFill>
                <a:latin typeface="Calibri" pitchFamily="34" charset="0"/>
                <a:ea typeface="Calibri" pitchFamily="34" charset="-122"/>
                <a:cs typeface="Calibri" pitchFamily="34" charset="-120"/>
              </a:rPr>
              <a:t>Invariant-Guided Reconstruction</a:t>
            </a:r>
            <a:endParaRPr lang="en-US" sz="1100" dirty="0"/>
          </a:p>
        </p:txBody>
      </p:sp>
      <p:sp>
        <p:nvSpPr>
          <p:cNvPr id="52" name="Text 50"/>
          <p:cNvSpPr/>
          <p:nvPr/>
        </p:nvSpPr>
        <p:spPr>
          <a:xfrm>
            <a:off x="4800600" y="4361688"/>
            <a:ext cx="4023360" cy="329184"/>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After safe state confirmed, re-enable sensors one at a time; accept reading only if all P1 invariants are satisfied with new value. Physics-constrained re-entry.</a:t>
            </a:r>
            <a:endParaRPr lang="en-US" sz="950" dirty="0"/>
          </a:p>
        </p:txBody>
      </p:sp>
      <p:sp>
        <p:nvSpPr>
          <p:cNvPr id="53" name="Shape 51"/>
          <p:cNvSpPr/>
          <p:nvPr/>
        </p:nvSpPr>
        <p:spPr>
          <a:xfrm>
            <a:off x="0" y="4773168"/>
            <a:ext cx="9144000" cy="374904"/>
          </a:xfrm>
          <a:prstGeom prst="rect">
            <a:avLst/>
          </a:prstGeom>
          <a:solidFill>
            <a:srgbClr val="1B3A5C"/>
          </a:solidFill>
          <a:ln w="12700">
            <a:solidFill>
              <a:srgbClr val="1B3A5C"/>
            </a:solidFill>
            <a:prstDash val="solid"/>
          </a:ln>
        </p:spPr>
      </p:sp>
      <p:sp>
        <p:nvSpPr>
          <p:cNvPr id="54" name="Text 52"/>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Recovery Taxonomy</a:t>
            </a:r>
            <a:endParaRPr lang="en-US" sz="10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D3C98"/>
          </a:solidFill>
          <a:ln w="12700">
            <a:solidFill>
              <a:srgbClr val="7D3C98"/>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Secure State Estimation (SSE) Methods</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Core academic methods for reconstructing plant state when sensors are under attack</a:t>
            </a:r>
            <a:endParaRPr lang="en-US" sz="1150" dirty="0"/>
          </a:p>
        </p:txBody>
      </p:sp>
      <p:sp>
        <p:nvSpPr>
          <p:cNvPr id="5" name="Shape 3"/>
          <p:cNvSpPr/>
          <p:nvPr/>
        </p:nvSpPr>
        <p:spPr>
          <a:xfrm>
            <a:off x="228600" y="914400"/>
            <a:ext cx="2743200" cy="384048"/>
          </a:xfrm>
          <a:prstGeom prst="rect">
            <a:avLst/>
          </a:prstGeom>
          <a:solidFill>
            <a:srgbClr val="7D3C98"/>
          </a:solidFill>
          <a:ln w="12700">
            <a:solidFill>
              <a:srgbClr val="7D3C98"/>
            </a:solidFill>
            <a:prstDash val="solid"/>
          </a:ln>
        </p:spPr>
      </p:sp>
      <p:sp>
        <p:nvSpPr>
          <p:cNvPr id="6" name="Text 4"/>
          <p:cNvSpPr/>
          <p:nvPr/>
        </p:nvSpPr>
        <p:spPr>
          <a:xfrm>
            <a:off x="3200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Luenberger Observer</a:t>
            </a:r>
            <a:endParaRPr lang="en-US" sz="1200" dirty="0"/>
          </a:p>
        </p:txBody>
      </p:sp>
      <p:sp>
        <p:nvSpPr>
          <p:cNvPr id="7" name="Text 5"/>
          <p:cNvSpPr/>
          <p:nvPr/>
        </p:nvSpPr>
        <p:spPr>
          <a:xfrm>
            <a:off x="3200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Lu &amp; Yang, Info. Sci. 2017</a:t>
            </a:r>
            <a:endParaRPr lang="en-US" sz="850" dirty="0"/>
          </a:p>
        </p:txBody>
      </p:sp>
      <p:sp>
        <p:nvSpPr>
          <p:cNvPr id="8" name="Shape 6"/>
          <p:cNvSpPr/>
          <p:nvPr/>
        </p:nvSpPr>
        <p:spPr>
          <a:xfrm>
            <a:off x="228600" y="1316736"/>
            <a:ext cx="2743200" cy="658368"/>
          </a:xfrm>
          <a:prstGeom prst="rect">
            <a:avLst/>
          </a:prstGeom>
          <a:solidFill>
            <a:srgbClr val="1B3A5C"/>
          </a:solidFill>
          <a:ln w="12700">
            <a:solidFill>
              <a:srgbClr val="1B3A5C"/>
            </a:solidFill>
            <a:prstDash val="solid"/>
          </a:ln>
        </p:spPr>
      </p:sp>
      <p:sp>
        <p:nvSpPr>
          <p:cNvPr id="9" name="Text 7"/>
          <p:cNvSpPr/>
          <p:nvPr/>
        </p:nvSpPr>
        <p:spPr>
          <a:xfrm>
            <a:off x="3383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Augments system state with attack signals as extra states. Switched observer selects attack-free sensor subsets per cycle. Guarantees exponential convergence to true state under sparse attacks.</a:t>
            </a:r>
            <a:endParaRPr lang="en-US" sz="950" dirty="0"/>
          </a:p>
        </p:txBody>
      </p:sp>
      <p:sp>
        <p:nvSpPr>
          <p:cNvPr id="10" name="Shape 8"/>
          <p:cNvSpPr/>
          <p:nvPr/>
        </p:nvSpPr>
        <p:spPr>
          <a:xfrm>
            <a:off x="228600" y="1993392"/>
            <a:ext cx="2743200" cy="914400"/>
          </a:xfrm>
          <a:prstGeom prst="rect">
            <a:avLst/>
          </a:prstGeom>
          <a:solidFill>
            <a:srgbClr val="0D2B12"/>
          </a:solidFill>
          <a:ln w="12700">
            <a:solidFill>
              <a:srgbClr val="0D2B12"/>
            </a:solidFill>
            <a:prstDash val="solid"/>
          </a:ln>
        </p:spPr>
      </p:sp>
      <p:sp>
        <p:nvSpPr>
          <p:cNvPr id="11" name="Text 9"/>
          <p:cNvSpPr/>
          <p:nvPr/>
        </p:nvSpPr>
        <p:spPr>
          <a:xfrm>
            <a:off x="3200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12" name="Text 10"/>
          <p:cNvSpPr/>
          <p:nvPr/>
        </p:nvSpPr>
        <p:spPr>
          <a:xfrm>
            <a:off x="3383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Provably stable (LMI conditions)</a:t>
            </a:r>
            <a:endParaRPr lang="en-US" sz="900" dirty="0"/>
          </a:p>
        </p:txBody>
      </p:sp>
      <p:sp>
        <p:nvSpPr>
          <p:cNvPr id="13" name="Text 11"/>
          <p:cNvSpPr/>
          <p:nvPr/>
        </p:nvSpPr>
        <p:spPr>
          <a:xfrm>
            <a:off x="3383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Handles time-varying attack locations</a:t>
            </a:r>
            <a:endParaRPr lang="en-US" sz="900" dirty="0"/>
          </a:p>
        </p:txBody>
      </p:sp>
      <p:sp>
        <p:nvSpPr>
          <p:cNvPr id="14" name="Text 12"/>
          <p:cNvSpPr/>
          <p:nvPr/>
        </p:nvSpPr>
        <p:spPr>
          <a:xfrm>
            <a:off x="3383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Low computation — suitable for PLC timing</a:t>
            </a:r>
            <a:endParaRPr lang="en-US" sz="900" dirty="0"/>
          </a:p>
        </p:txBody>
      </p:sp>
      <p:sp>
        <p:nvSpPr>
          <p:cNvPr id="15" name="Shape 13"/>
          <p:cNvSpPr/>
          <p:nvPr/>
        </p:nvSpPr>
        <p:spPr>
          <a:xfrm>
            <a:off x="228600" y="2926080"/>
            <a:ext cx="2743200" cy="658368"/>
          </a:xfrm>
          <a:prstGeom prst="rect">
            <a:avLst/>
          </a:prstGeom>
          <a:solidFill>
            <a:srgbClr val="2A1010"/>
          </a:solidFill>
          <a:ln w="12700">
            <a:solidFill>
              <a:srgbClr val="2A1010"/>
            </a:solidFill>
            <a:prstDash val="solid"/>
          </a:ln>
        </p:spPr>
      </p:sp>
      <p:sp>
        <p:nvSpPr>
          <p:cNvPr id="16" name="Text 14"/>
          <p:cNvSpPr/>
          <p:nvPr/>
        </p:nvSpPr>
        <p:spPr>
          <a:xfrm>
            <a:off x="3200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17" name="Text 15"/>
          <p:cNvSpPr/>
          <p:nvPr/>
        </p:nvSpPr>
        <p:spPr>
          <a:xfrm>
            <a:off x="3383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linear system model of SWaT P1 hydraulics</a:t>
            </a:r>
            <a:endParaRPr lang="en-US" sz="900" dirty="0"/>
          </a:p>
        </p:txBody>
      </p:sp>
      <p:sp>
        <p:nvSpPr>
          <p:cNvPr id="18" name="Text 16"/>
          <p:cNvSpPr/>
          <p:nvPr/>
        </p:nvSpPr>
        <p:spPr>
          <a:xfrm>
            <a:off x="3383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Degrades if &gt; p/2 sensors attacked</a:t>
            </a:r>
            <a:endParaRPr lang="en-US" sz="900" dirty="0"/>
          </a:p>
        </p:txBody>
      </p:sp>
      <p:sp>
        <p:nvSpPr>
          <p:cNvPr id="19" name="Shape 17"/>
          <p:cNvSpPr/>
          <p:nvPr/>
        </p:nvSpPr>
        <p:spPr>
          <a:xfrm>
            <a:off x="228600" y="3602736"/>
            <a:ext cx="2743200" cy="731520"/>
          </a:xfrm>
          <a:prstGeom prst="rect">
            <a:avLst/>
          </a:prstGeom>
          <a:solidFill>
            <a:srgbClr val="1A2A3A"/>
          </a:solidFill>
          <a:ln w="12700">
            <a:solidFill>
              <a:srgbClr val="1A2A3A"/>
            </a:solidFill>
            <a:prstDash val="solid"/>
          </a:ln>
        </p:spPr>
      </p:sp>
      <p:sp>
        <p:nvSpPr>
          <p:cNvPr id="20" name="Shape 18"/>
          <p:cNvSpPr/>
          <p:nvPr/>
        </p:nvSpPr>
        <p:spPr>
          <a:xfrm>
            <a:off x="228600" y="3602736"/>
            <a:ext cx="54864" cy="731520"/>
          </a:xfrm>
          <a:prstGeom prst="rect">
            <a:avLst/>
          </a:prstGeom>
          <a:solidFill>
            <a:srgbClr val="7D3C98"/>
          </a:solidFill>
          <a:ln w="12700">
            <a:solidFill>
              <a:srgbClr val="7D3C98"/>
            </a:solidFill>
            <a:prstDash val="solid"/>
          </a:ln>
        </p:spPr>
      </p:sp>
      <p:sp>
        <p:nvSpPr>
          <p:cNvPr id="21" name="Text 19"/>
          <p:cNvSpPr/>
          <p:nvPr/>
        </p:nvSpPr>
        <p:spPr>
          <a:xfrm>
            <a:off x="374904" y="3639312"/>
            <a:ext cx="2542032"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SWaT applicability</a:t>
            </a:r>
            <a:endParaRPr lang="en-US" sz="950" dirty="0"/>
          </a:p>
        </p:txBody>
      </p:sp>
      <p:sp>
        <p:nvSpPr>
          <p:cNvPr id="22" name="Text 20"/>
          <p:cNvSpPr/>
          <p:nvPr/>
        </p:nvSpPr>
        <p:spPr>
          <a:xfrm>
            <a:off x="3749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SWaT P1 linearises well around operating point. FIT101, LIT101 are the key sensors — SSE can reconstruct from pressure/flow cross-readings.</a:t>
            </a:r>
            <a:endParaRPr lang="en-US" sz="900" dirty="0"/>
          </a:p>
        </p:txBody>
      </p:sp>
      <p:sp>
        <p:nvSpPr>
          <p:cNvPr id="23" name="Shape 21"/>
          <p:cNvSpPr/>
          <p:nvPr/>
        </p:nvSpPr>
        <p:spPr>
          <a:xfrm>
            <a:off x="3200400" y="914400"/>
            <a:ext cx="2743200" cy="384048"/>
          </a:xfrm>
          <a:prstGeom prst="rect">
            <a:avLst/>
          </a:prstGeom>
          <a:solidFill>
            <a:srgbClr val="2980B9"/>
          </a:solidFill>
          <a:ln w="12700">
            <a:solidFill>
              <a:srgbClr val="2980B9"/>
            </a:solidFill>
            <a:prstDash val="solid"/>
          </a:ln>
        </p:spPr>
      </p:sp>
      <p:sp>
        <p:nvSpPr>
          <p:cNvPr id="24" name="Text 22"/>
          <p:cNvSpPr/>
          <p:nvPr/>
        </p:nvSpPr>
        <p:spPr>
          <a:xfrm>
            <a:off x="32918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Kalman-based Secure Estimator</a:t>
            </a:r>
            <a:endParaRPr lang="en-US" sz="1200" dirty="0"/>
          </a:p>
        </p:txBody>
      </p:sp>
      <p:sp>
        <p:nvSpPr>
          <p:cNvPr id="25" name="Text 23"/>
          <p:cNvSpPr/>
          <p:nvPr/>
        </p:nvSpPr>
        <p:spPr>
          <a:xfrm>
            <a:off x="32918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Chang, Hu &amp; Tomlin, ArXiv 2015</a:t>
            </a:r>
            <a:endParaRPr lang="en-US" sz="850" dirty="0"/>
          </a:p>
        </p:txBody>
      </p:sp>
      <p:sp>
        <p:nvSpPr>
          <p:cNvPr id="26" name="Shape 24"/>
          <p:cNvSpPr/>
          <p:nvPr/>
        </p:nvSpPr>
        <p:spPr>
          <a:xfrm>
            <a:off x="3200400" y="1316736"/>
            <a:ext cx="2743200" cy="658368"/>
          </a:xfrm>
          <a:prstGeom prst="rect">
            <a:avLst/>
          </a:prstGeom>
          <a:solidFill>
            <a:srgbClr val="1B3A5C"/>
          </a:solidFill>
          <a:ln w="12700">
            <a:solidFill>
              <a:srgbClr val="1B3A5C"/>
            </a:solidFill>
            <a:prstDash val="solid"/>
          </a:ln>
        </p:spPr>
      </p:sp>
      <p:sp>
        <p:nvSpPr>
          <p:cNvPr id="27" name="Text 25"/>
          <p:cNvSpPr/>
          <p:nvPr/>
        </p:nvSpPr>
        <p:spPr>
          <a:xfrm>
            <a:off x="33101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Combines classical error-correction (decoding from corrupted codewords) with Kalman filter. Treats attack as sparse coding error; recovers true state if system is 2s-sparse observable.</a:t>
            </a:r>
            <a:endParaRPr lang="en-US" sz="950" dirty="0"/>
          </a:p>
        </p:txBody>
      </p:sp>
      <p:sp>
        <p:nvSpPr>
          <p:cNvPr id="28" name="Shape 26"/>
          <p:cNvSpPr/>
          <p:nvPr/>
        </p:nvSpPr>
        <p:spPr>
          <a:xfrm>
            <a:off x="3200400" y="1993392"/>
            <a:ext cx="2743200" cy="914400"/>
          </a:xfrm>
          <a:prstGeom prst="rect">
            <a:avLst/>
          </a:prstGeom>
          <a:solidFill>
            <a:srgbClr val="0D2B12"/>
          </a:solidFill>
          <a:ln w="12700">
            <a:solidFill>
              <a:srgbClr val="0D2B12"/>
            </a:solidFill>
            <a:prstDash val="solid"/>
          </a:ln>
        </p:spPr>
      </p:sp>
      <p:sp>
        <p:nvSpPr>
          <p:cNvPr id="29" name="Text 27"/>
          <p:cNvSpPr/>
          <p:nvPr/>
        </p:nvSpPr>
        <p:spPr>
          <a:xfrm>
            <a:off x="32918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30" name="Text 28"/>
          <p:cNvSpPr/>
          <p:nvPr/>
        </p:nvSpPr>
        <p:spPr>
          <a:xfrm>
            <a:off x="33101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Handles Gaussian noise naturally</a:t>
            </a:r>
            <a:endParaRPr lang="en-US" sz="900" dirty="0"/>
          </a:p>
        </p:txBody>
      </p:sp>
      <p:sp>
        <p:nvSpPr>
          <p:cNvPr id="31" name="Text 29"/>
          <p:cNvSpPr/>
          <p:nvPr/>
        </p:nvSpPr>
        <p:spPr>
          <a:xfrm>
            <a:off x="33101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Optimal for stochastic systems</a:t>
            </a:r>
            <a:endParaRPr lang="en-US" sz="900" dirty="0"/>
          </a:p>
        </p:txBody>
      </p:sp>
      <p:sp>
        <p:nvSpPr>
          <p:cNvPr id="32" name="Text 30"/>
          <p:cNvSpPr/>
          <p:nvPr/>
        </p:nvSpPr>
        <p:spPr>
          <a:xfrm>
            <a:off x="33101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Extended Kalman generalises to nonlinear</a:t>
            </a:r>
            <a:endParaRPr lang="en-US" sz="900" dirty="0"/>
          </a:p>
        </p:txBody>
      </p:sp>
      <p:sp>
        <p:nvSpPr>
          <p:cNvPr id="33" name="Shape 31"/>
          <p:cNvSpPr/>
          <p:nvPr/>
        </p:nvSpPr>
        <p:spPr>
          <a:xfrm>
            <a:off x="3200400" y="2926080"/>
            <a:ext cx="2743200" cy="658368"/>
          </a:xfrm>
          <a:prstGeom prst="rect">
            <a:avLst/>
          </a:prstGeom>
          <a:solidFill>
            <a:srgbClr val="2A1010"/>
          </a:solidFill>
          <a:ln w="12700">
            <a:solidFill>
              <a:srgbClr val="2A1010"/>
            </a:solidFill>
            <a:prstDash val="solid"/>
          </a:ln>
        </p:spPr>
      </p:sp>
      <p:sp>
        <p:nvSpPr>
          <p:cNvPr id="34" name="Text 32"/>
          <p:cNvSpPr/>
          <p:nvPr/>
        </p:nvSpPr>
        <p:spPr>
          <a:xfrm>
            <a:off x="32918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35" name="Text 33"/>
          <p:cNvSpPr/>
          <p:nvPr/>
        </p:nvSpPr>
        <p:spPr>
          <a:xfrm>
            <a:off x="33101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Computationally heavier than Luenberger</a:t>
            </a:r>
            <a:endParaRPr lang="en-US" sz="900" dirty="0"/>
          </a:p>
        </p:txBody>
      </p:sp>
      <p:sp>
        <p:nvSpPr>
          <p:cNvPr id="36" name="Text 34"/>
          <p:cNvSpPr/>
          <p:nvPr/>
        </p:nvSpPr>
        <p:spPr>
          <a:xfrm>
            <a:off x="33101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accurate noise covariance matrices</a:t>
            </a:r>
            <a:endParaRPr lang="en-US" sz="900" dirty="0"/>
          </a:p>
        </p:txBody>
      </p:sp>
      <p:sp>
        <p:nvSpPr>
          <p:cNvPr id="37" name="Shape 35"/>
          <p:cNvSpPr/>
          <p:nvPr/>
        </p:nvSpPr>
        <p:spPr>
          <a:xfrm>
            <a:off x="3200400" y="3602736"/>
            <a:ext cx="2743200" cy="731520"/>
          </a:xfrm>
          <a:prstGeom prst="rect">
            <a:avLst/>
          </a:prstGeom>
          <a:solidFill>
            <a:srgbClr val="1A2A3A"/>
          </a:solidFill>
          <a:ln w="12700">
            <a:solidFill>
              <a:srgbClr val="1A2A3A"/>
            </a:solidFill>
            <a:prstDash val="solid"/>
          </a:ln>
        </p:spPr>
      </p:sp>
      <p:sp>
        <p:nvSpPr>
          <p:cNvPr id="38" name="Shape 36"/>
          <p:cNvSpPr/>
          <p:nvPr/>
        </p:nvSpPr>
        <p:spPr>
          <a:xfrm>
            <a:off x="3200400" y="3602736"/>
            <a:ext cx="54864" cy="731520"/>
          </a:xfrm>
          <a:prstGeom prst="rect">
            <a:avLst/>
          </a:prstGeom>
          <a:solidFill>
            <a:srgbClr val="2980B9"/>
          </a:solidFill>
          <a:ln w="12700">
            <a:solidFill>
              <a:srgbClr val="2980B9"/>
            </a:solidFill>
            <a:prstDash val="solid"/>
          </a:ln>
        </p:spPr>
      </p:sp>
      <p:sp>
        <p:nvSpPr>
          <p:cNvPr id="39" name="Text 37"/>
          <p:cNvSpPr/>
          <p:nvPr/>
        </p:nvSpPr>
        <p:spPr>
          <a:xfrm>
            <a:off x="3346704" y="3639312"/>
            <a:ext cx="2542032" cy="182880"/>
          </a:xfrm>
          <a:prstGeom prst="rect">
            <a:avLst/>
          </a:prstGeom>
          <a:noFill/>
          <a:ln/>
        </p:spPr>
        <p:txBody>
          <a:bodyPr wrap="square" lIns="0" tIns="0" rIns="0" bIns="0" rtlCol="0" anchor="ctr"/>
          <a:lstStyle/>
          <a:p>
            <a:pPr indent="0" marL="0">
              <a:buNone/>
            </a:pPr>
            <a:r>
              <a:rPr lang="en-US" sz="950" b="1" dirty="0">
                <a:solidFill>
                  <a:srgbClr val="2980B9"/>
                </a:solidFill>
                <a:latin typeface="Calibri" pitchFamily="34" charset="0"/>
                <a:ea typeface="Calibri" pitchFamily="34" charset="-122"/>
                <a:cs typeface="Calibri" pitchFamily="34" charset="-120"/>
              </a:rPr>
              <a:t>SWaT applicability</a:t>
            </a:r>
            <a:endParaRPr lang="en-US" sz="950" dirty="0"/>
          </a:p>
        </p:txBody>
      </p:sp>
      <p:sp>
        <p:nvSpPr>
          <p:cNvPr id="40" name="Text 38"/>
          <p:cNvSpPr/>
          <p:nvPr/>
        </p:nvSpPr>
        <p:spPr>
          <a:xfrm>
            <a:off x="33467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Extended Kalman filter applicable to nonlinear SWaT tank dynamics (LIT101 ODE). Well-suited for Paper #31 sensor spoofing scenario.</a:t>
            </a:r>
            <a:endParaRPr lang="en-US" sz="900" dirty="0"/>
          </a:p>
        </p:txBody>
      </p:sp>
      <p:sp>
        <p:nvSpPr>
          <p:cNvPr id="41" name="Shape 39"/>
          <p:cNvSpPr/>
          <p:nvPr/>
        </p:nvSpPr>
        <p:spPr>
          <a:xfrm>
            <a:off x="6172200" y="914400"/>
            <a:ext cx="2743200" cy="384048"/>
          </a:xfrm>
          <a:prstGeom prst="rect">
            <a:avLst/>
          </a:prstGeom>
          <a:solidFill>
            <a:srgbClr val="E67E22"/>
          </a:solidFill>
          <a:ln w="12700">
            <a:solidFill>
              <a:srgbClr val="E67E22"/>
            </a:solidFill>
            <a:prstDash val="solid"/>
          </a:ln>
        </p:spPr>
      </p:sp>
      <p:sp>
        <p:nvSpPr>
          <p:cNvPr id="42" name="Text 40"/>
          <p:cNvSpPr/>
          <p:nvPr/>
        </p:nvSpPr>
        <p:spPr>
          <a:xfrm>
            <a:off x="6263640" y="950976"/>
            <a:ext cx="2560320" cy="1828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Sliding Mode Observer (SMO)</a:t>
            </a:r>
            <a:endParaRPr lang="en-US" sz="1200" dirty="0"/>
          </a:p>
        </p:txBody>
      </p:sp>
      <p:sp>
        <p:nvSpPr>
          <p:cNvPr id="43" name="Text 41"/>
          <p:cNvSpPr/>
          <p:nvPr/>
        </p:nvSpPr>
        <p:spPr>
          <a:xfrm>
            <a:off x="6263640" y="1133856"/>
            <a:ext cx="2560320" cy="146304"/>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IntechOpen 2019; AdaptiveCPS 2016</a:t>
            </a:r>
            <a:endParaRPr lang="en-US" sz="850" dirty="0"/>
          </a:p>
        </p:txBody>
      </p:sp>
      <p:sp>
        <p:nvSpPr>
          <p:cNvPr id="44" name="Shape 42"/>
          <p:cNvSpPr/>
          <p:nvPr/>
        </p:nvSpPr>
        <p:spPr>
          <a:xfrm>
            <a:off x="6172200" y="1316736"/>
            <a:ext cx="2743200" cy="658368"/>
          </a:xfrm>
          <a:prstGeom prst="rect">
            <a:avLst/>
          </a:prstGeom>
          <a:solidFill>
            <a:srgbClr val="1B3A5C"/>
          </a:solidFill>
          <a:ln w="12700">
            <a:solidFill>
              <a:srgbClr val="1B3A5C"/>
            </a:solidFill>
            <a:prstDash val="solid"/>
          </a:ln>
        </p:spPr>
      </p:sp>
      <p:sp>
        <p:nvSpPr>
          <p:cNvPr id="45" name="Text 43"/>
          <p:cNvSpPr/>
          <p:nvPr/>
        </p:nvSpPr>
        <p:spPr>
          <a:xfrm>
            <a:off x="6281928" y="1353312"/>
            <a:ext cx="2542032" cy="603504"/>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Finite-time convergent observer using sliding mode theory. Reconstructs both sensor and actuator attacks online. Super-twisting variant handles time-varying attacks without a priori knowledge of attack waveform.</a:t>
            </a:r>
            <a:endParaRPr lang="en-US" sz="950" dirty="0"/>
          </a:p>
        </p:txBody>
      </p:sp>
      <p:sp>
        <p:nvSpPr>
          <p:cNvPr id="46" name="Shape 44"/>
          <p:cNvSpPr/>
          <p:nvPr/>
        </p:nvSpPr>
        <p:spPr>
          <a:xfrm>
            <a:off x="6172200" y="1993392"/>
            <a:ext cx="2743200" cy="914400"/>
          </a:xfrm>
          <a:prstGeom prst="rect">
            <a:avLst/>
          </a:prstGeom>
          <a:solidFill>
            <a:srgbClr val="0D2B12"/>
          </a:solidFill>
          <a:ln w="12700">
            <a:solidFill>
              <a:srgbClr val="0D2B12"/>
            </a:solidFill>
            <a:prstDash val="solid"/>
          </a:ln>
        </p:spPr>
      </p:sp>
      <p:sp>
        <p:nvSpPr>
          <p:cNvPr id="47" name="Text 45"/>
          <p:cNvSpPr/>
          <p:nvPr/>
        </p:nvSpPr>
        <p:spPr>
          <a:xfrm>
            <a:off x="6263640" y="2029968"/>
            <a:ext cx="2560320" cy="201168"/>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 Strengths</a:t>
            </a:r>
            <a:endParaRPr lang="en-US" sz="1000" dirty="0"/>
          </a:p>
        </p:txBody>
      </p:sp>
      <p:sp>
        <p:nvSpPr>
          <p:cNvPr id="48" name="Text 46"/>
          <p:cNvSpPr/>
          <p:nvPr/>
        </p:nvSpPr>
        <p:spPr>
          <a:xfrm>
            <a:off x="6281928" y="2249424"/>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Reconstructs attack signal explicitly</a:t>
            </a:r>
            <a:endParaRPr lang="en-US" sz="900" dirty="0"/>
          </a:p>
        </p:txBody>
      </p:sp>
      <p:sp>
        <p:nvSpPr>
          <p:cNvPr id="49" name="Text 47"/>
          <p:cNvSpPr/>
          <p:nvPr/>
        </p:nvSpPr>
        <p:spPr>
          <a:xfrm>
            <a:off x="6281928" y="2468880"/>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No system model of attack required</a:t>
            </a:r>
            <a:endParaRPr lang="en-US" sz="900" dirty="0"/>
          </a:p>
        </p:txBody>
      </p:sp>
      <p:sp>
        <p:nvSpPr>
          <p:cNvPr id="50" name="Text 48"/>
          <p:cNvSpPr/>
          <p:nvPr/>
        </p:nvSpPr>
        <p:spPr>
          <a:xfrm>
            <a:off x="6281928" y="2688336"/>
            <a:ext cx="2542032" cy="201168"/>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Fast — finite-time convergence</a:t>
            </a:r>
            <a:endParaRPr lang="en-US" sz="900" dirty="0"/>
          </a:p>
        </p:txBody>
      </p:sp>
      <p:sp>
        <p:nvSpPr>
          <p:cNvPr id="51" name="Shape 49"/>
          <p:cNvSpPr/>
          <p:nvPr/>
        </p:nvSpPr>
        <p:spPr>
          <a:xfrm>
            <a:off x="6172200" y="2926080"/>
            <a:ext cx="2743200" cy="658368"/>
          </a:xfrm>
          <a:prstGeom prst="rect">
            <a:avLst/>
          </a:prstGeom>
          <a:solidFill>
            <a:srgbClr val="2A1010"/>
          </a:solidFill>
          <a:ln w="12700">
            <a:solidFill>
              <a:srgbClr val="2A1010"/>
            </a:solidFill>
            <a:prstDash val="solid"/>
          </a:ln>
        </p:spPr>
      </p:sp>
      <p:sp>
        <p:nvSpPr>
          <p:cNvPr id="52" name="Text 50"/>
          <p:cNvSpPr/>
          <p:nvPr/>
        </p:nvSpPr>
        <p:spPr>
          <a:xfrm>
            <a:off x="6263640" y="2962656"/>
            <a:ext cx="256032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Limitations</a:t>
            </a:r>
            <a:endParaRPr lang="en-US" sz="1000" dirty="0"/>
          </a:p>
        </p:txBody>
      </p:sp>
      <p:sp>
        <p:nvSpPr>
          <p:cNvPr id="53" name="Text 51"/>
          <p:cNvSpPr/>
          <p:nvPr/>
        </p:nvSpPr>
        <p:spPr>
          <a:xfrm>
            <a:off x="6281928" y="3182112"/>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Chattering effect needs damping</a:t>
            </a:r>
            <a:endParaRPr lang="en-US" sz="900" dirty="0"/>
          </a:p>
        </p:txBody>
      </p:sp>
      <p:sp>
        <p:nvSpPr>
          <p:cNvPr id="54" name="Text 52"/>
          <p:cNvSpPr/>
          <p:nvPr/>
        </p:nvSpPr>
        <p:spPr>
          <a:xfrm>
            <a:off x="6281928" y="3383280"/>
            <a:ext cx="2542032" cy="182880"/>
          </a:xfrm>
          <a:prstGeom prst="rect">
            <a:avLst/>
          </a:prstGeom>
          <a:noFill/>
          <a:ln/>
        </p:spPr>
        <p:txBody>
          <a:bodyPr wrap="square" lIns="0" tIns="0" rIns="0" bIns="0" rtlCol="0" anchor="ctr"/>
          <a:lstStyle/>
          <a:p>
            <a:pPr indent="0" marL="0">
              <a:buNone/>
            </a:pPr>
            <a:r>
              <a:rPr lang="en-US" sz="900" dirty="0">
                <a:solidFill>
                  <a:srgbClr val="E8EEF4"/>
                </a:solidFill>
                <a:latin typeface="Calibri" pitchFamily="34" charset="0"/>
                <a:ea typeface="Calibri" pitchFamily="34" charset="-122"/>
                <a:cs typeface="Calibri" pitchFamily="34" charset="-120"/>
              </a:rPr>
              <a:t>▸  Requires continuous sensor availability</a:t>
            </a:r>
            <a:endParaRPr lang="en-US" sz="900" dirty="0"/>
          </a:p>
        </p:txBody>
      </p:sp>
      <p:sp>
        <p:nvSpPr>
          <p:cNvPr id="55" name="Shape 53"/>
          <p:cNvSpPr/>
          <p:nvPr/>
        </p:nvSpPr>
        <p:spPr>
          <a:xfrm>
            <a:off x="6172200" y="3602736"/>
            <a:ext cx="2743200" cy="731520"/>
          </a:xfrm>
          <a:prstGeom prst="rect">
            <a:avLst/>
          </a:prstGeom>
          <a:solidFill>
            <a:srgbClr val="1A2A3A"/>
          </a:solidFill>
          <a:ln w="12700">
            <a:solidFill>
              <a:srgbClr val="1A2A3A"/>
            </a:solidFill>
            <a:prstDash val="solid"/>
          </a:ln>
        </p:spPr>
      </p:sp>
      <p:sp>
        <p:nvSpPr>
          <p:cNvPr id="56" name="Shape 54"/>
          <p:cNvSpPr/>
          <p:nvPr/>
        </p:nvSpPr>
        <p:spPr>
          <a:xfrm>
            <a:off x="6172200" y="3602736"/>
            <a:ext cx="54864" cy="731520"/>
          </a:xfrm>
          <a:prstGeom prst="rect">
            <a:avLst/>
          </a:prstGeom>
          <a:solidFill>
            <a:srgbClr val="E67E22"/>
          </a:solidFill>
          <a:ln w="12700">
            <a:solidFill>
              <a:srgbClr val="E67E22"/>
            </a:solidFill>
            <a:prstDash val="solid"/>
          </a:ln>
        </p:spPr>
      </p:sp>
      <p:sp>
        <p:nvSpPr>
          <p:cNvPr id="57" name="Text 55"/>
          <p:cNvSpPr/>
          <p:nvPr/>
        </p:nvSpPr>
        <p:spPr>
          <a:xfrm>
            <a:off x="6318504" y="3639312"/>
            <a:ext cx="2542032"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SWaT applicability</a:t>
            </a:r>
            <a:endParaRPr lang="en-US" sz="950" dirty="0"/>
          </a:p>
        </p:txBody>
      </p:sp>
      <p:sp>
        <p:nvSpPr>
          <p:cNvPr id="58" name="Text 56"/>
          <p:cNvSpPr/>
          <p:nvPr/>
        </p:nvSpPr>
        <p:spPr>
          <a:xfrm>
            <a:off x="6318504" y="3840480"/>
            <a:ext cx="2542032" cy="457200"/>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Directly estimates the δ injected by Paper #31's adversarial AE. Reconstructed δ can be subtracted from readings to recover clean sensor values.</a:t>
            </a:r>
            <a:endParaRPr lang="en-US" sz="900" dirty="0"/>
          </a:p>
        </p:txBody>
      </p:sp>
      <p:sp>
        <p:nvSpPr>
          <p:cNvPr id="59" name="Shape 57"/>
          <p:cNvSpPr/>
          <p:nvPr/>
        </p:nvSpPr>
        <p:spPr>
          <a:xfrm>
            <a:off x="0" y="4773168"/>
            <a:ext cx="9144000" cy="374904"/>
          </a:xfrm>
          <a:prstGeom prst="rect">
            <a:avLst/>
          </a:prstGeom>
          <a:solidFill>
            <a:srgbClr val="1B3A5C"/>
          </a:solidFill>
          <a:ln w="12700">
            <a:solidFill>
              <a:srgbClr val="1B3A5C"/>
            </a:solidFill>
            <a:prstDash val="solid"/>
          </a:ln>
        </p:spPr>
      </p:sp>
      <p:sp>
        <p:nvSpPr>
          <p:cNvPr id="60" name="Text 58"/>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SSE Methods</a:t>
            </a:r>
            <a:endParaRPr lang="en-US" sz="10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D3C98"/>
          </a:solidFill>
          <a:ln w="12700">
            <a:solidFill>
              <a:srgbClr val="7D3C98"/>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Fundamental Limit: 2s-Sparse Observability</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How many sensors can be corrupted before state reconstruction becomes impossible?</a:t>
            </a:r>
            <a:endParaRPr lang="en-US" sz="1150" dirty="0"/>
          </a:p>
        </p:txBody>
      </p:sp>
      <p:sp>
        <p:nvSpPr>
          <p:cNvPr id="5" name="Shape 3"/>
          <p:cNvSpPr/>
          <p:nvPr/>
        </p:nvSpPr>
        <p:spPr>
          <a:xfrm>
            <a:off x="228600" y="896112"/>
            <a:ext cx="8686800" cy="987552"/>
          </a:xfrm>
          <a:prstGeom prst="rect">
            <a:avLst/>
          </a:prstGeom>
          <a:solidFill>
            <a:srgbClr val="0A1628"/>
          </a:solidFill>
          <a:ln w="12700">
            <a:solidFill>
              <a:srgbClr val="0A1628"/>
            </a:solidFill>
            <a:prstDash val="solid"/>
          </a:ln>
        </p:spPr>
      </p:sp>
      <p:sp>
        <p:nvSpPr>
          <p:cNvPr id="6" name="Shape 4"/>
          <p:cNvSpPr/>
          <p:nvPr/>
        </p:nvSpPr>
        <p:spPr>
          <a:xfrm>
            <a:off x="228600" y="896112"/>
            <a:ext cx="64008" cy="987552"/>
          </a:xfrm>
          <a:prstGeom prst="rect">
            <a:avLst/>
          </a:prstGeom>
          <a:solidFill>
            <a:srgbClr val="7D3C98"/>
          </a:solidFill>
          <a:ln w="12700">
            <a:solidFill>
              <a:srgbClr val="7D3C98"/>
            </a:solidFill>
            <a:prstDash val="solid"/>
          </a:ln>
        </p:spPr>
      </p:sp>
      <p:sp>
        <p:nvSpPr>
          <p:cNvPr id="7" name="Text 5"/>
          <p:cNvSpPr/>
          <p:nvPr/>
        </p:nvSpPr>
        <p:spPr>
          <a:xfrm>
            <a:off x="411480" y="932688"/>
            <a:ext cx="8321040" cy="256032"/>
          </a:xfrm>
          <a:prstGeom prst="rect">
            <a:avLst/>
          </a:prstGeom>
          <a:noFill/>
          <a:ln/>
        </p:spPr>
        <p:txBody>
          <a:bodyPr wrap="square" lIns="0" tIns="0" rIns="0" bIns="0" rtlCol="0" anchor="ctr"/>
          <a:lstStyle/>
          <a:p>
            <a:pPr indent="0" marL="0">
              <a:buNone/>
            </a:pPr>
            <a:r>
              <a:rPr lang="en-US" sz="1200" b="1" dirty="0">
                <a:solidFill>
                  <a:srgbClr val="A569BD"/>
                </a:solidFill>
                <a:latin typeface="Calibri" pitchFamily="34" charset="0"/>
                <a:ea typeface="Calibri" pitchFamily="34" charset="-122"/>
                <a:cs typeface="Calibri" pitchFamily="34" charset="-120"/>
              </a:rPr>
              <a:t>Theorem (Shoukry &amp; Tabuada, IEEE TAC 2016)</a:t>
            </a:r>
            <a:endParaRPr lang="en-US" sz="1200" dirty="0"/>
          </a:p>
        </p:txBody>
      </p:sp>
      <p:sp>
        <p:nvSpPr>
          <p:cNvPr id="8" name="Text 6"/>
          <p:cNvSpPr/>
          <p:nvPr/>
        </p:nvSpPr>
        <p:spPr>
          <a:xfrm>
            <a:off x="411480" y="1188720"/>
            <a:ext cx="8321040" cy="640080"/>
          </a:xfrm>
          <a:prstGeom prst="rect">
            <a:avLst/>
          </a:prstGeom>
          <a:noFill/>
          <a:ln/>
        </p:spPr>
        <p:txBody>
          <a:bodyPr wrap="square" lIns="0" tIns="0" rIns="0" bIns="0" rtlCol="0" anchor="ctr"/>
          <a:lstStyle/>
          <a:p>
            <a:pPr indent="0" marL="0">
              <a:buNone/>
            </a:pPr>
            <a:r>
              <a:rPr lang="en-US" sz="1100" dirty="0">
                <a:solidFill>
                  <a:srgbClr val="E8EEF4"/>
                </a:solidFill>
                <a:latin typeface="Calibri" pitchFamily="34" charset="0"/>
                <a:ea typeface="Calibri" pitchFamily="34" charset="-122"/>
                <a:cs typeface="Calibri" pitchFamily="34" charset="-120"/>
              </a:rPr>
              <a:t>The true state of a CPS can be uniquely recovered despite sensor attacks on at most s sensors IF AND ONLY IF the system remains observable after removing any 2s sensor rows from the output matrix C. This is called 2s-sparse observability.</a:t>
            </a:r>
            <a:endParaRPr lang="en-US" sz="1100" dirty="0"/>
          </a:p>
        </p:txBody>
      </p:sp>
      <p:sp>
        <p:nvSpPr>
          <p:cNvPr id="9" name="Shape 7"/>
          <p:cNvSpPr/>
          <p:nvPr/>
        </p:nvSpPr>
        <p:spPr>
          <a:xfrm>
            <a:off x="228600" y="1956816"/>
            <a:ext cx="8686800" cy="329184"/>
          </a:xfrm>
          <a:prstGeom prst="rect">
            <a:avLst/>
          </a:prstGeom>
          <a:solidFill>
            <a:srgbClr val="1B3A5C"/>
          </a:solidFill>
          <a:ln w="12700">
            <a:solidFill>
              <a:srgbClr val="1B3A5C"/>
            </a:solidFill>
            <a:prstDash val="solid"/>
          </a:ln>
        </p:spPr>
      </p:sp>
      <p:sp>
        <p:nvSpPr>
          <p:cNvPr id="10" name="Text 8"/>
          <p:cNvSpPr/>
          <p:nvPr/>
        </p:nvSpPr>
        <p:spPr>
          <a:xfrm>
            <a:off x="411480" y="1993392"/>
            <a:ext cx="83210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SWaT P1 Sensors — Sparse Observability Analysis</a:t>
            </a:r>
            <a:endParaRPr lang="en-US" sz="1200" dirty="0"/>
          </a:p>
        </p:txBody>
      </p:sp>
      <p:sp>
        <p:nvSpPr>
          <p:cNvPr id="11" name="Shape 9"/>
          <p:cNvSpPr/>
          <p:nvPr/>
        </p:nvSpPr>
        <p:spPr>
          <a:xfrm>
            <a:off x="274320" y="2304288"/>
            <a:ext cx="1051560" cy="274320"/>
          </a:xfrm>
          <a:prstGeom prst="rect">
            <a:avLst/>
          </a:prstGeom>
          <a:solidFill>
            <a:srgbClr val="1B3A5C"/>
          </a:solidFill>
          <a:ln w="12700">
            <a:solidFill>
              <a:srgbClr val="1B3A5C"/>
            </a:solidFill>
            <a:prstDash val="solid"/>
          </a:ln>
        </p:spPr>
      </p:sp>
      <p:sp>
        <p:nvSpPr>
          <p:cNvPr id="12" name="Text 10"/>
          <p:cNvSpPr/>
          <p:nvPr/>
        </p:nvSpPr>
        <p:spPr>
          <a:xfrm>
            <a:off x="329184" y="2331720"/>
            <a:ext cx="105156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Sensor</a:t>
            </a:r>
            <a:endParaRPr lang="en-US" sz="1000" dirty="0"/>
          </a:p>
        </p:txBody>
      </p:sp>
      <p:sp>
        <p:nvSpPr>
          <p:cNvPr id="13" name="Shape 11"/>
          <p:cNvSpPr/>
          <p:nvPr/>
        </p:nvSpPr>
        <p:spPr>
          <a:xfrm>
            <a:off x="1371600" y="2304288"/>
            <a:ext cx="2057400" cy="274320"/>
          </a:xfrm>
          <a:prstGeom prst="rect">
            <a:avLst/>
          </a:prstGeom>
          <a:solidFill>
            <a:srgbClr val="1B3A5C"/>
          </a:solidFill>
          <a:ln w="12700">
            <a:solidFill>
              <a:srgbClr val="1B3A5C"/>
            </a:solidFill>
            <a:prstDash val="solid"/>
          </a:ln>
        </p:spPr>
      </p:sp>
      <p:sp>
        <p:nvSpPr>
          <p:cNvPr id="14" name="Text 12"/>
          <p:cNvSpPr/>
          <p:nvPr/>
        </p:nvSpPr>
        <p:spPr>
          <a:xfrm>
            <a:off x="1426464" y="2331720"/>
            <a:ext cx="20574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Physical Role</a:t>
            </a:r>
            <a:endParaRPr lang="en-US" sz="1000" dirty="0"/>
          </a:p>
        </p:txBody>
      </p:sp>
      <p:sp>
        <p:nvSpPr>
          <p:cNvPr id="15" name="Shape 13"/>
          <p:cNvSpPr/>
          <p:nvPr/>
        </p:nvSpPr>
        <p:spPr>
          <a:xfrm>
            <a:off x="3474720" y="2304288"/>
            <a:ext cx="1600200" cy="274320"/>
          </a:xfrm>
          <a:prstGeom prst="rect">
            <a:avLst/>
          </a:prstGeom>
          <a:solidFill>
            <a:srgbClr val="1B3A5C"/>
          </a:solidFill>
          <a:ln w="12700">
            <a:solidFill>
              <a:srgbClr val="1B3A5C"/>
            </a:solidFill>
            <a:prstDash val="solid"/>
          </a:ln>
        </p:spPr>
      </p:sp>
      <p:sp>
        <p:nvSpPr>
          <p:cNvPr id="16" name="Text 14"/>
          <p:cNvSpPr/>
          <p:nvPr/>
        </p:nvSpPr>
        <p:spPr>
          <a:xfrm>
            <a:off x="3529584" y="2331720"/>
            <a:ext cx="16002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Criticality</a:t>
            </a:r>
            <a:endParaRPr lang="en-US" sz="1000" dirty="0"/>
          </a:p>
        </p:txBody>
      </p:sp>
      <p:sp>
        <p:nvSpPr>
          <p:cNvPr id="17" name="Shape 15"/>
          <p:cNvSpPr/>
          <p:nvPr/>
        </p:nvSpPr>
        <p:spPr>
          <a:xfrm>
            <a:off x="5120640" y="2304288"/>
            <a:ext cx="1371600" cy="274320"/>
          </a:xfrm>
          <a:prstGeom prst="rect">
            <a:avLst/>
          </a:prstGeom>
          <a:solidFill>
            <a:srgbClr val="1B3A5C"/>
          </a:solidFill>
          <a:ln w="12700">
            <a:solidFill>
              <a:srgbClr val="1B3A5C"/>
            </a:solidFill>
            <a:prstDash val="solid"/>
          </a:ln>
        </p:spPr>
      </p:sp>
      <p:sp>
        <p:nvSpPr>
          <p:cNvPr id="18" name="Text 16"/>
          <p:cNvSpPr/>
          <p:nvPr/>
        </p:nvSpPr>
        <p:spPr>
          <a:xfrm>
            <a:off x="5175504" y="2331720"/>
            <a:ext cx="13716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Standalone?</a:t>
            </a:r>
            <a:endParaRPr lang="en-US" sz="1000" dirty="0"/>
          </a:p>
        </p:txBody>
      </p:sp>
      <p:sp>
        <p:nvSpPr>
          <p:cNvPr id="19" name="Shape 17"/>
          <p:cNvSpPr/>
          <p:nvPr/>
        </p:nvSpPr>
        <p:spPr>
          <a:xfrm>
            <a:off x="6537960" y="2304288"/>
            <a:ext cx="2286000" cy="274320"/>
          </a:xfrm>
          <a:prstGeom prst="rect">
            <a:avLst/>
          </a:prstGeom>
          <a:solidFill>
            <a:srgbClr val="1B3A5C"/>
          </a:solidFill>
          <a:ln w="12700">
            <a:solidFill>
              <a:srgbClr val="1B3A5C"/>
            </a:solidFill>
            <a:prstDash val="solid"/>
          </a:ln>
        </p:spPr>
      </p:sp>
      <p:sp>
        <p:nvSpPr>
          <p:cNvPr id="20" name="Text 18"/>
          <p:cNvSpPr/>
          <p:nvPr/>
        </p:nvSpPr>
        <p:spPr>
          <a:xfrm>
            <a:off x="6592824" y="2331720"/>
            <a:ext cx="2286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Recovery Approach</a:t>
            </a:r>
            <a:endParaRPr lang="en-US" sz="1000" dirty="0"/>
          </a:p>
        </p:txBody>
      </p:sp>
      <p:sp>
        <p:nvSpPr>
          <p:cNvPr id="21" name="Shape 19"/>
          <p:cNvSpPr/>
          <p:nvPr/>
        </p:nvSpPr>
        <p:spPr>
          <a:xfrm>
            <a:off x="274320" y="2596896"/>
            <a:ext cx="1051560" cy="274320"/>
          </a:xfrm>
          <a:prstGeom prst="rect">
            <a:avLst/>
          </a:prstGeom>
          <a:solidFill>
            <a:srgbClr val="FFFFFF"/>
          </a:solidFill>
          <a:ln w="12700">
            <a:solidFill>
              <a:srgbClr val="FFFFFF"/>
            </a:solidFill>
            <a:prstDash val="solid"/>
          </a:ln>
        </p:spPr>
      </p:sp>
      <p:sp>
        <p:nvSpPr>
          <p:cNvPr id="22" name="Shape 20"/>
          <p:cNvSpPr/>
          <p:nvPr/>
        </p:nvSpPr>
        <p:spPr>
          <a:xfrm>
            <a:off x="1371600" y="2596896"/>
            <a:ext cx="2057400" cy="274320"/>
          </a:xfrm>
          <a:prstGeom prst="rect">
            <a:avLst/>
          </a:prstGeom>
          <a:solidFill>
            <a:srgbClr val="FFFFFF"/>
          </a:solidFill>
          <a:ln w="12700">
            <a:solidFill>
              <a:srgbClr val="FFFFFF"/>
            </a:solidFill>
            <a:prstDash val="solid"/>
          </a:ln>
        </p:spPr>
      </p:sp>
      <p:sp>
        <p:nvSpPr>
          <p:cNvPr id="23" name="Shape 21"/>
          <p:cNvSpPr/>
          <p:nvPr/>
        </p:nvSpPr>
        <p:spPr>
          <a:xfrm>
            <a:off x="3474720" y="2596896"/>
            <a:ext cx="1600200" cy="274320"/>
          </a:xfrm>
          <a:prstGeom prst="rect">
            <a:avLst/>
          </a:prstGeom>
          <a:solidFill>
            <a:srgbClr val="FFFFFF"/>
          </a:solidFill>
          <a:ln w="12700">
            <a:solidFill>
              <a:srgbClr val="FFFFFF"/>
            </a:solidFill>
            <a:prstDash val="solid"/>
          </a:ln>
        </p:spPr>
      </p:sp>
      <p:sp>
        <p:nvSpPr>
          <p:cNvPr id="24" name="Shape 22"/>
          <p:cNvSpPr/>
          <p:nvPr/>
        </p:nvSpPr>
        <p:spPr>
          <a:xfrm>
            <a:off x="5120640" y="2596896"/>
            <a:ext cx="1371600" cy="274320"/>
          </a:xfrm>
          <a:prstGeom prst="rect">
            <a:avLst/>
          </a:prstGeom>
          <a:solidFill>
            <a:srgbClr val="FFFFFF"/>
          </a:solidFill>
          <a:ln w="12700">
            <a:solidFill>
              <a:srgbClr val="FFFFFF"/>
            </a:solidFill>
            <a:prstDash val="solid"/>
          </a:ln>
        </p:spPr>
      </p:sp>
      <p:sp>
        <p:nvSpPr>
          <p:cNvPr id="25" name="Shape 23"/>
          <p:cNvSpPr/>
          <p:nvPr/>
        </p:nvSpPr>
        <p:spPr>
          <a:xfrm>
            <a:off x="6537960" y="2596896"/>
            <a:ext cx="2286000" cy="274320"/>
          </a:xfrm>
          <a:prstGeom prst="rect">
            <a:avLst/>
          </a:prstGeom>
          <a:solidFill>
            <a:srgbClr val="FFFFFF"/>
          </a:solidFill>
          <a:ln w="12700">
            <a:solidFill>
              <a:srgbClr val="FFFFFF"/>
            </a:solidFill>
            <a:prstDash val="solid"/>
          </a:ln>
        </p:spPr>
      </p:sp>
      <p:sp>
        <p:nvSpPr>
          <p:cNvPr id="26" name="Text 24"/>
          <p:cNvSpPr/>
          <p:nvPr/>
        </p:nvSpPr>
        <p:spPr>
          <a:xfrm>
            <a:off x="329184" y="2633472"/>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FIT101</a:t>
            </a:r>
            <a:endParaRPr lang="en-US" sz="1000" dirty="0"/>
          </a:p>
        </p:txBody>
      </p:sp>
      <p:sp>
        <p:nvSpPr>
          <p:cNvPr id="27" name="Text 25"/>
          <p:cNvSpPr/>
          <p:nvPr/>
        </p:nvSpPr>
        <p:spPr>
          <a:xfrm>
            <a:off x="1426464" y="2633472"/>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Raw water flow rate</a:t>
            </a:r>
            <a:endParaRPr lang="en-US" sz="1000" dirty="0"/>
          </a:p>
        </p:txBody>
      </p:sp>
      <p:sp>
        <p:nvSpPr>
          <p:cNvPr id="28" name="Text 26"/>
          <p:cNvSpPr/>
          <p:nvPr/>
        </p:nvSpPr>
        <p:spPr>
          <a:xfrm>
            <a:off x="3529584" y="2633472"/>
            <a:ext cx="1600200" cy="219456"/>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29" name="Text 27"/>
          <p:cNvSpPr/>
          <p:nvPr/>
        </p:nvSpPr>
        <p:spPr>
          <a:xfrm>
            <a:off x="6592824" y="2633472"/>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Derivable from P101 state + LIT101 Δ</a:t>
            </a:r>
            <a:endParaRPr lang="en-US" sz="900" dirty="0"/>
          </a:p>
        </p:txBody>
      </p:sp>
      <p:sp>
        <p:nvSpPr>
          <p:cNvPr id="30" name="Shape 28"/>
          <p:cNvSpPr/>
          <p:nvPr/>
        </p:nvSpPr>
        <p:spPr>
          <a:xfrm>
            <a:off x="274320" y="2889504"/>
            <a:ext cx="1051560" cy="274320"/>
          </a:xfrm>
          <a:prstGeom prst="rect">
            <a:avLst/>
          </a:prstGeom>
          <a:solidFill>
            <a:srgbClr val="EEF3F8"/>
          </a:solidFill>
          <a:ln w="12700">
            <a:solidFill>
              <a:srgbClr val="EEF3F8"/>
            </a:solidFill>
            <a:prstDash val="solid"/>
          </a:ln>
        </p:spPr>
      </p:sp>
      <p:sp>
        <p:nvSpPr>
          <p:cNvPr id="31" name="Shape 29"/>
          <p:cNvSpPr/>
          <p:nvPr/>
        </p:nvSpPr>
        <p:spPr>
          <a:xfrm>
            <a:off x="1371600" y="2889504"/>
            <a:ext cx="2057400" cy="274320"/>
          </a:xfrm>
          <a:prstGeom prst="rect">
            <a:avLst/>
          </a:prstGeom>
          <a:solidFill>
            <a:srgbClr val="EEF3F8"/>
          </a:solidFill>
          <a:ln w="12700">
            <a:solidFill>
              <a:srgbClr val="EEF3F8"/>
            </a:solidFill>
            <a:prstDash val="solid"/>
          </a:ln>
        </p:spPr>
      </p:sp>
      <p:sp>
        <p:nvSpPr>
          <p:cNvPr id="32" name="Shape 30"/>
          <p:cNvSpPr/>
          <p:nvPr/>
        </p:nvSpPr>
        <p:spPr>
          <a:xfrm>
            <a:off x="3474720" y="2889504"/>
            <a:ext cx="1600200" cy="274320"/>
          </a:xfrm>
          <a:prstGeom prst="rect">
            <a:avLst/>
          </a:prstGeom>
          <a:solidFill>
            <a:srgbClr val="EEF3F8"/>
          </a:solidFill>
          <a:ln w="12700">
            <a:solidFill>
              <a:srgbClr val="EEF3F8"/>
            </a:solidFill>
            <a:prstDash val="solid"/>
          </a:ln>
        </p:spPr>
      </p:sp>
      <p:sp>
        <p:nvSpPr>
          <p:cNvPr id="33" name="Shape 31"/>
          <p:cNvSpPr/>
          <p:nvPr/>
        </p:nvSpPr>
        <p:spPr>
          <a:xfrm>
            <a:off x="5120640" y="2889504"/>
            <a:ext cx="1371600" cy="274320"/>
          </a:xfrm>
          <a:prstGeom prst="rect">
            <a:avLst/>
          </a:prstGeom>
          <a:solidFill>
            <a:srgbClr val="EEF3F8"/>
          </a:solidFill>
          <a:ln w="12700">
            <a:solidFill>
              <a:srgbClr val="EEF3F8"/>
            </a:solidFill>
            <a:prstDash val="solid"/>
          </a:ln>
        </p:spPr>
      </p:sp>
      <p:sp>
        <p:nvSpPr>
          <p:cNvPr id="34" name="Shape 32"/>
          <p:cNvSpPr/>
          <p:nvPr/>
        </p:nvSpPr>
        <p:spPr>
          <a:xfrm>
            <a:off x="6537960" y="2889504"/>
            <a:ext cx="2286000" cy="274320"/>
          </a:xfrm>
          <a:prstGeom prst="rect">
            <a:avLst/>
          </a:prstGeom>
          <a:solidFill>
            <a:srgbClr val="EEF3F8"/>
          </a:solidFill>
          <a:ln w="12700">
            <a:solidFill>
              <a:srgbClr val="EEF3F8"/>
            </a:solidFill>
            <a:prstDash val="solid"/>
          </a:ln>
        </p:spPr>
      </p:sp>
      <p:sp>
        <p:nvSpPr>
          <p:cNvPr id="35" name="Text 33"/>
          <p:cNvSpPr/>
          <p:nvPr/>
        </p:nvSpPr>
        <p:spPr>
          <a:xfrm>
            <a:off x="329184" y="2926080"/>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LIT101</a:t>
            </a:r>
            <a:endParaRPr lang="en-US" sz="1000" dirty="0"/>
          </a:p>
        </p:txBody>
      </p:sp>
      <p:sp>
        <p:nvSpPr>
          <p:cNvPr id="36" name="Text 34"/>
          <p:cNvSpPr/>
          <p:nvPr/>
        </p:nvSpPr>
        <p:spPr>
          <a:xfrm>
            <a:off x="1426464" y="2926080"/>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Tank level</a:t>
            </a:r>
            <a:endParaRPr lang="en-US" sz="1000" dirty="0"/>
          </a:p>
        </p:txBody>
      </p:sp>
      <p:sp>
        <p:nvSpPr>
          <p:cNvPr id="37" name="Text 35"/>
          <p:cNvSpPr/>
          <p:nvPr/>
        </p:nvSpPr>
        <p:spPr>
          <a:xfrm>
            <a:off x="3529584" y="2926080"/>
            <a:ext cx="1600200" cy="219456"/>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38" name="Text 36"/>
          <p:cNvSpPr/>
          <p:nvPr/>
        </p:nvSpPr>
        <p:spPr>
          <a:xfrm>
            <a:off x="6592824" y="2926080"/>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No direct redundancy — physics model needed</a:t>
            </a:r>
            <a:endParaRPr lang="en-US" sz="900" dirty="0"/>
          </a:p>
        </p:txBody>
      </p:sp>
      <p:sp>
        <p:nvSpPr>
          <p:cNvPr id="39" name="Shape 37"/>
          <p:cNvSpPr/>
          <p:nvPr/>
        </p:nvSpPr>
        <p:spPr>
          <a:xfrm>
            <a:off x="274320" y="3182112"/>
            <a:ext cx="1051560" cy="274320"/>
          </a:xfrm>
          <a:prstGeom prst="rect">
            <a:avLst/>
          </a:prstGeom>
          <a:solidFill>
            <a:srgbClr val="FFFFFF"/>
          </a:solidFill>
          <a:ln w="12700">
            <a:solidFill>
              <a:srgbClr val="FFFFFF"/>
            </a:solidFill>
            <a:prstDash val="solid"/>
          </a:ln>
        </p:spPr>
      </p:sp>
      <p:sp>
        <p:nvSpPr>
          <p:cNvPr id="40" name="Shape 38"/>
          <p:cNvSpPr/>
          <p:nvPr/>
        </p:nvSpPr>
        <p:spPr>
          <a:xfrm>
            <a:off x="1371600" y="3182112"/>
            <a:ext cx="2057400" cy="274320"/>
          </a:xfrm>
          <a:prstGeom prst="rect">
            <a:avLst/>
          </a:prstGeom>
          <a:solidFill>
            <a:srgbClr val="FFFFFF"/>
          </a:solidFill>
          <a:ln w="12700">
            <a:solidFill>
              <a:srgbClr val="FFFFFF"/>
            </a:solidFill>
            <a:prstDash val="solid"/>
          </a:ln>
        </p:spPr>
      </p:sp>
      <p:sp>
        <p:nvSpPr>
          <p:cNvPr id="41" name="Shape 39"/>
          <p:cNvSpPr/>
          <p:nvPr/>
        </p:nvSpPr>
        <p:spPr>
          <a:xfrm>
            <a:off x="3474720" y="3182112"/>
            <a:ext cx="1600200" cy="274320"/>
          </a:xfrm>
          <a:prstGeom prst="rect">
            <a:avLst/>
          </a:prstGeom>
          <a:solidFill>
            <a:srgbClr val="FFFFFF"/>
          </a:solidFill>
          <a:ln w="12700">
            <a:solidFill>
              <a:srgbClr val="FFFFFF"/>
            </a:solidFill>
            <a:prstDash val="solid"/>
          </a:ln>
        </p:spPr>
      </p:sp>
      <p:sp>
        <p:nvSpPr>
          <p:cNvPr id="42" name="Shape 40"/>
          <p:cNvSpPr/>
          <p:nvPr/>
        </p:nvSpPr>
        <p:spPr>
          <a:xfrm>
            <a:off x="5120640" y="3182112"/>
            <a:ext cx="1371600" cy="274320"/>
          </a:xfrm>
          <a:prstGeom prst="rect">
            <a:avLst/>
          </a:prstGeom>
          <a:solidFill>
            <a:srgbClr val="FFFFFF"/>
          </a:solidFill>
          <a:ln w="12700">
            <a:solidFill>
              <a:srgbClr val="FFFFFF"/>
            </a:solidFill>
            <a:prstDash val="solid"/>
          </a:ln>
        </p:spPr>
      </p:sp>
      <p:sp>
        <p:nvSpPr>
          <p:cNvPr id="43" name="Shape 41"/>
          <p:cNvSpPr/>
          <p:nvPr/>
        </p:nvSpPr>
        <p:spPr>
          <a:xfrm>
            <a:off x="6537960" y="3182112"/>
            <a:ext cx="2286000" cy="274320"/>
          </a:xfrm>
          <a:prstGeom prst="rect">
            <a:avLst/>
          </a:prstGeom>
          <a:solidFill>
            <a:srgbClr val="FFFFFF"/>
          </a:solidFill>
          <a:ln w="12700">
            <a:solidFill>
              <a:srgbClr val="FFFFFF"/>
            </a:solidFill>
            <a:prstDash val="solid"/>
          </a:ln>
        </p:spPr>
      </p:sp>
      <p:sp>
        <p:nvSpPr>
          <p:cNvPr id="44" name="Text 42"/>
          <p:cNvSpPr/>
          <p:nvPr/>
        </p:nvSpPr>
        <p:spPr>
          <a:xfrm>
            <a:off x="329184" y="3218688"/>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MV101</a:t>
            </a:r>
            <a:endParaRPr lang="en-US" sz="1000" dirty="0"/>
          </a:p>
        </p:txBody>
      </p:sp>
      <p:sp>
        <p:nvSpPr>
          <p:cNvPr id="45" name="Text 43"/>
          <p:cNvSpPr/>
          <p:nvPr/>
        </p:nvSpPr>
        <p:spPr>
          <a:xfrm>
            <a:off x="1426464" y="3218688"/>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Motorised inlet valve (coil)</a:t>
            </a:r>
            <a:endParaRPr lang="en-US" sz="1000" dirty="0"/>
          </a:p>
        </p:txBody>
      </p:sp>
      <p:sp>
        <p:nvSpPr>
          <p:cNvPr id="46" name="Text 44"/>
          <p:cNvSpPr/>
          <p:nvPr/>
        </p:nvSpPr>
        <p:spPr>
          <a:xfrm>
            <a:off x="3529584" y="3218688"/>
            <a:ext cx="1600200" cy="219456"/>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47" name="Text 45"/>
          <p:cNvSpPr/>
          <p:nvPr/>
        </p:nvSpPr>
        <p:spPr>
          <a:xfrm>
            <a:off x="6592824" y="3218688"/>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PLC register directly readable (not only sensor)</a:t>
            </a:r>
            <a:endParaRPr lang="en-US" sz="900" dirty="0"/>
          </a:p>
        </p:txBody>
      </p:sp>
      <p:sp>
        <p:nvSpPr>
          <p:cNvPr id="48" name="Shape 46"/>
          <p:cNvSpPr/>
          <p:nvPr/>
        </p:nvSpPr>
        <p:spPr>
          <a:xfrm>
            <a:off x="274320" y="3474720"/>
            <a:ext cx="1051560" cy="274320"/>
          </a:xfrm>
          <a:prstGeom prst="rect">
            <a:avLst/>
          </a:prstGeom>
          <a:solidFill>
            <a:srgbClr val="EEF3F8"/>
          </a:solidFill>
          <a:ln w="12700">
            <a:solidFill>
              <a:srgbClr val="EEF3F8"/>
            </a:solidFill>
            <a:prstDash val="solid"/>
          </a:ln>
        </p:spPr>
      </p:sp>
      <p:sp>
        <p:nvSpPr>
          <p:cNvPr id="49" name="Shape 47"/>
          <p:cNvSpPr/>
          <p:nvPr/>
        </p:nvSpPr>
        <p:spPr>
          <a:xfrm>
            <a:off x="1371600" y="3474720"/>
            <a:ext cx="2057400" cy="274320"/>
          </a:xfrm>
          <a:prstGeom prst="rect">
            <a:avLst/>
          </a:prstGeom>
          <a:solidFill>
            <a:srgbClr val="EEF3F8"/>
          </a:solidFill>
          <a:ln w="12700">
            <a:solidFill>
              <a:srgbClr val="EEF3F8"/>
            </a:solidFill>
            <a:prstDash val="solid"/>
          </a:ln>
        </p:spPr>
      </p:sp>
      <p:sp>
        <p:nvSpPr>
          <p:cNvPr id="50" name="Shape 48"/>
          <p:cNvSpPr/>
          <p:nvPr/>
        </p:nvSpPr>
        <p:spPr>
          <a:xfrm>
            <a:off x="3474720" y="3474720"/>
            <a:ext cx="1600200" cy="274320"/>
          </a:xfrm>
          <a:prstGeom prst="rect">
            <a:avLst/>
          </a:prstGeom>
          <a:solidFill>
            <a:srgbClr val="EEF3F8"/>
          </a:solidFill>
          <a:ln w="12700">
            <a:solidFill>
              <a:srgbClr val="EEF3F8"/>
            </a:solidFill>
            <a:prstDash val="solid"/>
          </a:ln>
        </p:spPr>
      </p:sp>
      <p:sp>
        <p:nvSpPr>
          <p:cNvPr id="51" name="Shape 49"/>
          <p:cNvSpPr/>
          <p:nvPr/>
        </p:nvSpPr>
        <p:spPr>
          <a:xfrm>
            <a:off x="5120640" y="3474720"/>
            <a:ext cx="1371600" cy="274320"/>
          </a:xfrm>
          <a:prstGeom prst="rect">
            <a:avLst/>
          </a:prstGeom>
          <a:solidFill>
            <a:srgbClr val="EEF3F8"/>
          </a:solidFill>
          <a:ln w="12700">
            <a:solidFill>
              <a:srgbClr val="EEF3F8"/>
            </a:solidFill>
            <a:prstDash val="solid"/>
          </a:ln>
        </p:spPr>
      </p:sp>
      <p:sp>
        <p:nvSpPr>
          <p:cNvPr id="52" name="Shape 50"/>
          <p:cNvSpPr/>
          <p:nvPr/>
        </p:nvSpPr>
        <p:spPr>
          <a:xfrm>
            <a:off x="6537960" y="3474720"/>
            <a:ext cx="2286000" cy="274320"/>
          </a:xfrm>
          <a:prstGeom prst="rect">
            <a:avLst/>
          </a:prstGeom>
          <a:solidFill>
            <a:srgbClr val="EEF3F8"/>
          </a:solidFill>
          <a:ln w="12700">
            <a:solidFill>
              <a:srgbClr val="EEF3F8"/>
            </a:solidFill>
            <a:prstDash val="solid"/>
          </a:ln>
        </p:spPr>
      </p:sp>
      <p:sp>
        <p:nvSpPr>
          <p:cNvPr id="53" name="Text 51"/>
          <p:cNvSpPr/>
          <p:nvPr/>
        </p:nvSpPr>
        <p:spPr>
          <a:xfrm>
            <a:off x="329184" y="3511296"/>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P101</a:t>
            </a:r>
            <a:endParaRPr lang="en-US" sz="1000" dirty="0"/>
          </a:p>
        </p:txBody>
      </p:sp>
      <p:sp>
        <p:nvSpPr>
          <p:cNvPr id="54" name="Text 52"/>
          <p:cNvSpPr/>
          <p:nvPr/>
        </p:nvSpPr>
        <p:spPr>
          <a:xfrm>
            <a:off x="1426464" y="3511296"/>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Primary pump (coil)</a:t>
            </a:r>
            <a:endParaRPr lang="en-US" sz="1000" dirty="0"/>
          </a:p>
        </p:txBody>
      </p:sp>
      <p:sp>
        <p:nvSpPr>
          <p:cNvPr id="55" name="Text 53"/>
          <p:cNvSpPr/>
          <p:nvPr/>
        </p:nvSpPr>
        <p:spPr>
          <a:xfrm>
            <a:off x="3529584" y="3511296"/>
            <a:ext cx="1600200" cy="219456"/>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56" name="Text 54"/>
          <p:cNvSpPr/>
          <p:nvPr/>
        </p:nvSpPr>
        <p:spPr>
          <a:xfrm>
            <a:off x="6592824" y="3511296"/>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PLC register directly readable (not only sensor)</a:t>
            </a:r>
            <a:endParaRPr lang="en-US" sz="900" dirty="0"/>
          </a:p>
        </p:txBody>
      </p:sp>
      <p:sp>
        <p:nvSpPr>
          <p:cNvPr id="57" name="Shape 55"/>
          <p:cNvSpPr/>
          <p:nvPr/>
        </p:nvSpPr>
        <p:spPr>
          <a:xfrm>
            <a:off x="274320" y="3767328"/>
            <a:ext cx="1051560" cy="274320"/>
          </a:xfrm>
          <a:prstGeom prst="rect">
            <a:avLst/>
          </a:prstGeom>
          <a:solidFill>
            <a:srgbClr val="FFFFFF"/>
          </a:solidFill>
          <a:ln w="12700">
            <a:solidFill>
              <a:srgbClr val="FFFFFF"/>
            </a:solidFill>
            <a:prstDash val="solid"/>
          </a:ln>
        </p:spPr>
      </p:sp>
      <p:sp>
        <p:nvSpPr>
          <p:cNvPr id="58" name="Shape 56"/>
          <p:cNvSpPr/>
          <p:nvPr/>
        </p:nvSpPr>
        <p:spPr>
          <a:xfrm>
            <a:off x="1371600" y="3767328"/>
            <a:ext cx="2057400" cy="274320"/>
          </a:xfrm>
          <a:prstGeom prst="rect">
            <a:avLst/>
          </a:prstGeom>
          <a:solidFill>
            <a:srgbClr val="FFFFFF"/>
          </a:solidFill>
          <a:ln w="12700">
            <a:solidFill>
              <a:srgbClr val="FFFFFF"/>
            </a:solidFill>
            <a:prstDash val="solid"/>
          </a:ln>
        </p:spPr>
      </p:sp>
      <p:sp>
        <p:nvSpPr>
          <p:cNvPr id="59" name="Shape 57"/>
          <p:cNvSpPr/>
          <p:nvPr/>
        </p:nvSpPr>
        <p:spPr>
          <a:xfrm>
            <a:off x="3474720" y="3767328"/>
            <a:ext cx="1600200" cy="274320"/>
          </a:xfrm>
          <a:prstGeom prst="rect">
            <a:avLst/>
          </a:prstGeom>
          <a:solidFill>
            <a:srgbClr val="FFFFFF"/>
          </a:solidFill>
          <a:ln w="12700">
            <a:solidFill>
              <a:srgbClr val="FFFFFF"/>
            </a:solidFill>
            <a:prstDash val="solid"/>
          </a:ln>
        </p:spPr>
      </p:sp>
      <p:sp>
        <p:nvSpPr>
          <p:cNvPr id="60" name="Shape 58"/>
          <p:cNvSpPr/>
          <p:nvPr/>
        </p:nvSpPr>
        <p:spPr>
          <a:xfrm>
            <a:off x="5120640" y="3767328"/>
            <a:ext cx="1371600" cy="274320"/>
          </a:xfrm>
          <a:prstGeom prst="rect">
            <a:avLst/>
          </a:prstGeom>
          <a:solidFill>
            <a:srgbClr val="FFFFFF"/>
          </a:solidFill>
          <a:ln w="12700">
            <a:solidFill>
              <a:srgbClr val="FFFFFF"/>
            </a:solidFill>
            <a:prstDash val="solid"/>
          </a:ln>
        </p:spPr>
      </p:sp>
      <p:sp>
        <p:nvSpPr>
          <p:cNvPr id="61" name="Shape 59"/>
          <p:cNvSpPr/>
          <p:nvPr/>
        </p:nvSpPr>
        <p:spPr>
          <a:xfrm>
            <a:off x="6537960" y="3767328"/>
            <a:ext cx="2286000" cy="274320"/>
          </a:xfrm>
          <a:prstGeom prst="rect">
            <a:avLst/>
          </a:prstGeom>
          <a:solidFill>
            <a:srgbClr val="FFFFFF"/>
          </a:solidFill>
          <a:ln w="12700">
            <a:solidFill>
              <a:srgbClr val="FFFFFF"/>
            </a:solidFill>
            <a:prstDash val="solid"/>
          </a:ln>
        </p:spPr>
      </p:sp>
      <p:sp>
        <p:nvSpPr>
          <p:cNvPr id="62" name="Text 60"/>
          <p:cNvSpPr/>
          <p:nvPr/>
        </p:nvSpPr>
        <p:spPr>
          <a:xfrm>
            <a:off x="329184" y="3803904"/>
            <a:ext cx="1051560" cy="219456"/>
          </a:xfrm>
          <a:prstGeom prst="rect">
            <a:avLst/>
          </a:prstGeom>
          <a:noFill/>
          <a:ln/>
        </p:spPr>
        <p:txBody>
          <a:bodyPr wrap="square" lIns="0" tIns="0" rIns="0" bIns="0" rtlCol="0" anchor="ctr"/>
          <a:lstStyle/>
          <a:p>
            <a:pPr indent="0" marL="0">
              <a:buNone/>
            </a:pPr>
            <a:r>
              <a:rPr lang="en-US" sz="1000" b="1" dirty="0">
                <a:solidFill>
                  <a:srgbClr val="0A1628"/>
                </a:solidFill>
                <a:latin typeface="Consolas" pitchFamily="34" charset="0"/>
                <a:ea typeface="Consolas" pitchFamily="34" charset="-122"/>
                <a:cs typeface="Consolas" pitchFamily="34" charset="-120"/>
              </a:rPr>
              <a:t>P102</a:t>
            </a:r>
            <a:endParaRPr lang="en-US" sz="1000" dirty="0"/>
          </a:p>
        </p:txBody>
      </p:sp>
      <p:sp>
        <p:nvSpPr>
          <p:cNvPr id="63" name="Text 61"/>
          <p:cNvSpPr/>
          <p:nvPr/>
        </p:nvSpPr>
        <p:spPr>
          <a:xfrm>
            <a:off x="1426464" y="3803904"/>
            <a:ext cx="2057400" cy="219456"/>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Backup pump (coil)</a:t>
            </a:r>
            <a:endParaRPr lang="en-US" sz="1000" dirty="0"/>
          </a:p>
        </p:txBody>
      </p:sp>
      <p:sp>
        <p:nvSpPr>
          <p:cNvPr id="64" name="Text 62"/>
          <p:cNvSpPr/>
          <p:nvPr/>
        </p:nvSpPr>
        <p:spPr>
          <a:xfrm>
            <a:off x="3529584" y="3803904"/>
            <a:ext cx="1600200" cy="219456"/>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p>
        </p:txBody>
      </p:sp>
      <p:sp>
        <p:nvSpPr>
          <p:cNvPr id="65" name="Text 63"/>
          <p:cNvSpPr/>
          <p:nvPr/>
        </p:nvSpPr>
        <p:spPr>
          <a:xfrm>
            <a:off x="6592824" y="3803904"/>
            <a:ext cx="2286000" cy="219456"/>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Mirrors P101 state — 1-1 redundancy</a:t>
            </a:r>
            <a:endParaRPr lang="en-US" sz="900" dirty="0"/>
          </a:p>
        </p:txBody>
      </p:sp>
      <p:sp>
        <p:nvSpPr>
          <p:cNvPr id="66" name="Shape 64"/>
          <p:cNvSpPr/>
          <p:nvPr/>
        </p:nvSpPr>
        <p:spPr>
          <a:xfrm>
            <a:off x="228600" y="4105656"/>
            <a:ext cx="8686800" cy="621792"/>
          </a:xfrm>
          <a:prstGeom prst="rect">
            <a:avLst/>
          </a:prstGeom>
          <a:solidFill>
            <a:srgbClr val="0A1628"/>
          </a:solidFill>
          <a:ln w="12700">
            <a:solidFill>
              <a:srgbClr val="0A1628"/>
            </a:solidFill>
            <a:prstDash val="solid"/>
          </a:ln>
        </p:spPr>
      </p:sp>
      <p:sp>
        <p:nvSpPr>
          <p:cNvPr id="67" name="Shape 65"/>
          <p:cNvSpPr/>
          <p:nvPr/>
        </p:nvSpPr>
        <p:spPr>
          <a:xfrm>
            <a:off x="228600" y="4105656"/>
            <a:ext cx="64008" cy="621792"/>
          </a:xfrm>
          <a:prstGeom prst="rect">
            <a:avLst/>
          </a:prstGeom>
          <a:solidFill>
            <a:srgbClr val="7D3C98"/>
          </a:solidFill>
          <a:ln w="12700">
            <a:solidFill>
              <a:srgbClr val="7D3C98"/>
            </a:solidFill>
            <a:prstDash val="solid"/>
          </a:ln>
        </p:spPr>
      </p:sp>
      <p:sp>
        <p:nvSpPr>
          <p:cNvPr id="68" name="Text 66"/>
          <p:cNvSpPr/>
          <p:nvPr/>
        </p:nvSpPr>
        <p:spPr>
          <a:xfrm>
            <a:off x="411480" y="4142232"/>
            <a:ext cx="8321040" cy="566928"/>
          </a:xfrm>
          <a:prstGeom prst="rect">
            <a:avLst/>
          </a:prstGeom>
          <a:noFill/>
          <a:ln/>
        </p:spPr>
        <p:txBody>
          <a:bodyPr wrap="square" lIns="0" tIns="0" rIns="0" bIns="0" rtlCol="0" anchor="ctr"/>
          <a:lstStyle/>
          <a:p>
            <a:pPr indent="0" marL="0">
              <a:buNone/>
            </a:pPr>
            <a:r>
              <a:rPr lang="en-US" sz="1050" b="1" dirty="0">
                <a:solidFill>
                  <a:srgbClr val="A569BD"/>
                </a:solidFill>
                <a:latin typeface="Calibri" pitchFamily="34" charset="0"/>
                <a:ea typeface="Calibri" pitchFamily="34" charset="-122"/>
                <a:cs typeface="Calibri" pitchFamily="34" charset="-120"/>
              </a:rPr>
              <a:t xml:space="preserve">SWaT P1 conclusion:  </a:t>
            </a:r>
            <a:pPr indent="0" marL="0">
              <a:buNone/>
            </a:pPr>
            <a:r>
              <a:rPr lang="en-US" sz="1050" dirty="0">
                <a:solidFill>
                  <a:srgbClr val="E8EEF4"/>
                </a:solidFill>
                <a:latin typeface="Calibri" pitchFamily="34" charset="0"/>
                <a:ea typeface="Calibri" pitchFamily="34" charset="-122"/>
                <a:cs typeface="Calibri" pitchFamily="34" charset="-120"/>
              </a:rPr>
              <a:t>P1 has 5 sensors/actuators. For SSE to work under Paper #9's attack (which targets MV101 + P101 coils), we need the system to be 2×1 = 2-sparse observable — i.e. state recoverable after removing any 2 sensor rows. SWaT P1 satisfies this since FIT101 and LIT101 together with the process ODE fully determine the tank state even without actuator coil readings.</a:t>
            </a:r>
            <a:endParaRPr lang="en-US" sz="1050" dirty="0"/>
          </a:p>
        </p:txBody>
      </p:sp>
      <p:sp>
        <p:nvSpPr>
          <p:cNvPr id="69" name="Shape 67"/>
          <p:cNvSpPr/>
          <p:nvPr/>
        </p:nvSpPr>
        <p:spPr>
          <a:xfrm>
            <a:off x="0" y="4773168"/>
            <a:ext cx="9144000" cy="374904"/>
          </a:xfrm>
          <a:prstGeom prst="rect">
            <a:avLst/>
          </a:prstGeom>
          <a:solidFill>
            <a:srgbClr val="1B3A5C"/>
          </a:solidFill>
          <a:ln w="12700">
            <a:solidFill>
              <a:srgbClr val="1B3A5C"/>
            </a:solidFill>
            <a:prstDash val="solid"/>
          </a:ln>
        </p:spPr>
      </p:sp>
      <p:sp>
        <p:nvSpPr>
          <p:cNvPr id="70" name="Text 68"/>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2s-Sparse Observability</a:t>
            </a:r>
            <a:endParaRPr lang="en-US" sz="10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Proposed: Invariant-Guided Sensor Reconstruction</a:t>
            </a:r>
            <a:endParaRPr lang="en-US" sz="25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A SWaT-specific deep recovery method — physics-constrained re-entry after safe state is reached</a:t>
            </a:r>
            <a:endParaRPr lang="en-US" sz="1150" dirty="0"/>
          </a:p>
        </p:txBody>
      </p:sp>
      <p:sp>
        <p:nvSpPr>
          <p:cNvPr id="5" name="Shape 3"/>
          <p:cNvSpPr/>
          <p:nvPr/>
        </p:nvSpPr>
        <p:spPr>
          <a:xfrm>
            <a:off x="228600" y="914400"/>
            <a:ext cx="4160520" cy="3840480"/>
          </a:xfrm>
          <a:prstGeom prst="rect">
            <a:avLst/>
          </a:prstGeom>
          <a:solidFill>
            <a:srgbClr val="1B3A5C"/>
          </a:solidFill>
          <a:ln w="12700">
            <a:solidFill>
              <a:srgbClr val="1B3A5C"/>
            </a:solidFill>
            <a:prstDash val="solid"/>
          </a:ln>
        </p:spPr>
      </p:sp>
      <p:sp>
        <p:nvSpPr>
          <p:cNvPr id="6" name="Shape 4"/>
          <p:cNvSpPr/>
          <p:nvPr/>
        </p:nvSpPr>
        <p:spPr>
          <a:xfrm>
            <a:off x="228600" y="914400"/>
            <a:ext cx="64008" cy="3840480"/>
          </a:xfrm>
          <a:prstGeom prst="rect">
            <a:avLst/>
          </a:prstGeom>
          <a:solidFill>
            <a:srgbClr val="0A7E8C"/>
          </a:solidFill>
          <a:ln w="12700">
            <a:solidFill>
              <a:srgbClr val="0A7E8C"/>
            </a:solidFill>
            <a:prstDash val="solid"/>
          </a:ln>
        </p:spPr>
      </p:sp>
      <p:sp>
        <p:nvSpPr>
          <p:cNvPr id="7" name="Text 5"/>
          <p:cNvSpPr/>
          <p:nvPr/>
        </p:nvSpPr>
        <p:spPr>
          <a:xfrm>
            <a:off x="411480" y="978408"/>
            <a:ext cx="3840480" cy="292608"/>
          </a:xfrm>
          <a:prstGeom prst="rect">
            <a:avLst/>
          </a:prstGeom>
          <a:noFill/>
          <a:ln/>
        </p:spPr>
        <p:txBody>
          <a:bodyPr wrap="square" lIns="0" tIns="0" rIns="0" bIns="0" rtlCol="0" anchor="ctr"/>
          <a:lstStyle/>
          <a:p>
            <a:pPr indent="0" marL="0">
              <a:buNone/>
            </a:pPr>
            <a:r>
              <a:rPr lang="en-US" sz="1400" b="1" dirty="0">
                <a:solidFill>
                  <a:srgbClr val="12B5C8"/>
                </a:solidFill>
                <a:latin typeface="Calibri" pitchFamily="34" charset="0"/>
                <a:ea typeface="Calibri" pitchFamily="34" charset="-122"/>
                <a:cs typeface="Calibri" pitchFamily="34" charset="-120"/>
              </a:rPr>
              <a:t>Algorithm: Invariant-Guided Re-entry</a:t>
            </a:r>
            <a:endParaRPr lang="en-US" sz="1400" dirty="0"/>
          </a:p>
        </p:txBody>
      </p:sp>
      <p:sp>
        <p:nvSpPr>
          <p:cNvPr id="8" name="Shape 6"/>
          <p:cNvSpPr/>
          <p:nvPr/>
        </p:nvSpPr>
        <p:spPr>
          <a:xfrm>
            <a:off x="347472" y="1335024"/>
            <a:ext cx="274320" cy="274320"/>
          </a:xfrm>
          <a:prstGeom prst="rect">
            <a:avLst/>
          </a:prstGeom>
          <a:solidFill>
            <a:srgbClr val="27AE60"/>
          </a:solidFill>
          <a:ln w="12700">
            <a:solidFill>
              <a:srgbClr val="27AE60"/>
            </a:solidFill>
            <a:prstDash val="solid"/>
          </a:ln>
        </p:spPr>
      </p:sp>
      <p:sp>
        <p:nvSpPr>
          <p:cNvPr id="9" name="Text 7"/>
          <p:cNvSpPr/>
          <p:nvPr/>
        </p:nvSpPr>
        <p:spPr>
          <a:xfrm>
            <a:off x="347472" y="13350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676656" y="134416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Reach Safe State</a:t>
            </a:r>
            <a:endParaRPr lang="en-US" sz="1050" dirty="0"/>
          </a:p>
        </p:txBody>
      </p:sp>
      <p:sp>
        <p:nvSpPr>
          <p:cNvPr id="11" name="Text 9"/>
          <p:cNvSpPr/>
          <p:nvPr/>
        </p:nvSpPr>
        <p:spPr>
          <a:xfrm>
            <a:off x="411480" y="155448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All P1 actuators driven to known-safe values (MV101 CLOSED, P101/102 OFF). Wait 2 PLC cycles for register confirmation.</a:t>
            </a:r>
            <a:endParaRPr lang="en-US" sz="900" dirty="0"/>
          </a:p>
        </p:txBody>
      </p:sp>
      <p:sp>
        <p:nvSpPr>
          <p:cNvPr id="12" name="Shape 10"/>
          <p:cNvSpPr/>
          <p:nvPr/>
        </p:nvSpPr>
        <p:spPr>
          <a:xfrm>
            <a:off x="347472" y="1883664"/>
            <a:ext cx="274320" cy="274320"/>
          </a:xfrm>
          <a:prstGeom prst="rect">
            <a:avLst/>
          </a:prstGeom>
          <a:solidFill>
            <a:srgbClr val="2980B9"/>
          </a:solidFill>
          <a:ln w="12700">
            <a:solidFill>
              <a:srgbClr val="2980B9"/>
            </a:solidFill>
            <a:prstDash val="solid"/>
          </a:ln>
        </p:spPr>
      </p:sp>
      <p:sp>
        <p:nvSpPr>
          <p:cNvPr id="13" name="Text 11"/>
          <p:cNvSpPr/>
          <p:nvPr/>
        </p:nvSpPr>
        <p:spPr>
          <a:xfrm>
            <a:off x="347472" y="18836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76656" y="189280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Isolate Attack Channel</a:t>
            </a:r>
            <a:endParaRPr lang="en-US" sz="1050" dirty="0"/>
          </a:p>
        </p:txBody>
      </p:sp>
      <p:sp>
        <p:nvSpPr>
          <p:cNvPr id="15" name="Text 13"/>
          <p:cNvSpPr/>
          <p:nvPr/>
        </p:nvSpPr>
        <p:spPr>
          <a:xfrm>
            <a:off x="411480" y="210312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Modbus TCP blocked. PLC1B is now primary. All Modbus traffic to PLC1A dropped at iptables.</a:t>
            </a:r>
            <a:endParaRPr lang="en-US" sz="900" dirty="0"/>
          </a:p>
        </p:txBody>
      </p:sp>
      <p:sp>
        <p:nvSpPr>
          <p:cNvPr id="16" name="Shape 14"/>
          <p:cNvSpPr/>
          <p:nvPr/>
        </p:nvSpPr>
        <p:spPr>
          <a:xfrm>
            <a:off x="347472" y="2432304"/>
            <a:ext cx="274320" cy="274320"/>
          </a:xfrm>
          <a:prstGeom prst="rect">
            <a:avLst/>
          </a:prstGeom>
          <a:solidFill>
            <a:srgbClr val="7D3C98"/>
          </a:solidFill>
          <a:ln w="12700">
            <a:solidFill>
              <a:srgbClr val="7D3C98"/>
            </a:solidFill>
            <a:prstDash val="solid"/>
          </a:ln>
        </p:spPr>
      </p:sp>
      <p:sp>
        <p:nvSpPr>
          <p:cNvPr id="17" name="Text 15"/>
          <p:cNvSpPr/>
          <p:nvPr/>
        </p:nvSpPr>
        <p:spPr>
          <a:xfrm>
            <a:off x="347472" y="24323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676656" y="244144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Reconstruct LIT101 from ODE</a:t>
            </a:r>
            <a:endParaRPr lang="en-US" sz="1050" dirty="0"/>
          </a:p>
        </p:txBody>
      </p:sp>
      <p:sp>
        <p:nvSpPr>
          <p:cNvPr id="19" name="Text 17"/>
          <p:cNvSpPr/>
          <p:nvPr/>
        </p:nvSpPr>
        <p:spPr>
          <a:xfrm>
            <a:off x="411480" y="265176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Use process model: dL/dt = Q_in - Q_out. Since pumps are OFF, Q_in=Q_out=0, so LIT101 = last_valid_LIT101. Cross-check with historical trend.</a:t>
            </a:r>
            <a:endParaRPr lang="en-US" sz="900" dirty="0"/>
          </a:p>
        </p:txBody>
      </p:sp>
      <p:sp>
        <p:nvSpPr>
          <p:cNvPr id="20" name="Shape 18"/>
          <p:cNvSpPr/>
          <p:nvPr/>
        </p:nvSpPr>
        <p:spPr>
          <a:xfrm>
            <a:off x="347472" y="2980944"/>
            <a:ext cx="274320" cy="274320"/>
          </a:xfrm>
          <a:prstGeom prst="rect">
            <a:avLst/>
          </a:prstGeom>
          <a:solidFill>
            <a:srgbClr val="0A7E8C"/>
          </a:solidFill>
          <a:ln w="12700">
            <a:solidFill>
              <a:srgbClr val="0A7E8C"/>
            </a:solidFill>
            <a:prstDash val="solid"/>
          </a:ln>
        </p:spPr>
      </p:sp>
      <p:sp>
        <p:nvSpPr>
          <p:cNvPr id="21" name="Text 19"/>
          <p:cNvSpPr/>
          <p:nvPr/>
        </p:nvSpPr>
        <p:spPr>
          <a:xfrm>
            <a:off x="347472" y="29809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76656" y="299008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Re-enable sensors sequentially</a:t>
            </a:r>
            <a:endParaRPr lang="en-US" sz="1050" dirty="0"/>
          </a:p>
        </p:txBody>
      </p:sp>
      <p:sp>
        <p:nvSpPr>
          <p:cNvPr id="23" name="Text 21"/>
          <p:cNvSpPr/>
          <p:nvPr/>
        </p:nvSpPr>
        <p:spPr>
          <a:xfrm>
            <a:off x="411480" y="320040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Enable FIT101 first (reads 0 — valve closed). Accept if consistent with I-6. Then enable MV101 coil read. Accept if FIT101 responds correctly on valve open.</a:t>
            </a:r>
            <a:endParaRPr lang="en-US" sz="900" dirty="0"/>
          </a:p>
        </p:txBody>
      </p:sp>
      <p:sp>
        <p:nvSpPr>
          <p:cNvPr id="24" name="Shape 22"/>
          <p:cNvSpPr/>
          <p:nvPr/>
        </p:nvSpPr>
        <p:spPr>
          <a:xfrm>
            <a:off x="347472" y="3529584"/>
            <a:ext cx="274320" cy="274320"/>
          </a:xfrm>
          <a:prstGeom prst="rect">
            <a:avLst/>
          </a:prstGeom>
          <a:solidFill>
            <a:srgbClr val="E67E22"/>
          </a:solidFill>
          <a:ln w="12700">
            <a:solidFill>
              <a:srgbClr val="E67E22"/>
            </a:solidFill>
            <a:prstDash val="solid"/>
          </a:ln>
        </p:spPr>
      </p:sp>
      <p:sp>
        <p:nvSpPr>
          <p:cNvPr id="25" name="Text 23"/>
          <p:cNvSpPr/>
          <p:nvPr/>
        </p:nvSpPr>
        <p:spPr>
          <a:xfrm>
            <a:off x="347472" y="3529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676656" y="353872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Invariant-gated acceptance</a:t>
            </a:r>
            <a:endParaRPr lang="en-US" sz="1050" dirty="0"/>
          </a:p>
        </p:txBody>
      </p:sp>
      <p:sp>
        <p:nvSpPr>
          <p:cNvPr id="27" name="Text 25"/>
          <p:cNvSpPr/>
          <p:nvPr/>
        </p:nvSpPr>
        <p:spPr>
          <a:xfrm>
            <a:off x="411480" y="374904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Each sensor reading accepted only if ALL 8 invariants remain satisfied for 5 consecutive cycles. Any violation → reject + hold last valid.</a:t>
            </a:r>
            <a:endParaRPr lang="en-US" sz="900" dirty="0"/>
          </a:p>
        </p:txBody>
      </p:sp>
      <p:sp>
        <p:nvSpPr>
          <p:cNvPr id="28" name="Shape 26"/>
          <p:cNvSpPr/>
          <p:nvPr/>
        </p:nvSpPr>
        <p:spPr>
          <a:xfrm>
            <a:off x="347472" y="4078224"/>
            <a:ext cx="274320" cy="274320"/>
          </a:xfrm>
          <a:prstGeom prst="rect">
            <a:avLst/>
          </a:prstGeom>
          <a:solidFill>
            <a:srgbClr val="27AE60"/>
          </a:solidFill>
          <a:ln w="12700">
            <a:solidFill>
              <a:srgbClr val="27AE60"/>
            </a:solidFill>
            <a:prstDash val="solid"/>
          </a:ln>
        </p:spPr>
      </p:sp>
      <p:sp>
        <p:nvSpPr>
          <p:cNvPr id="29" name="Text 27"/>
          <p:cNvSpPr/>
          <p:nvPr/>
        </p:nvSpPr>
        <p:spPr>
          <a:xfrm>
            <a:off x="347472" y="40782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76656" y="4087368"/>
            <a:ext cx="3566160" cy="201168"/>
          </a:xfrm>
          <a:prstGeom prst="rect">
            <a:avLst/>
          </a:prstGeom>
          <a:noFill/>
          <a:ln/>
        </p:spPr>
        <p:txBody>
          <a:bodyPr wrap="square" lIns="0" tIns="0" rIns="0" bIns="0" rtlCol="0" anchor="ctr"/>
          <a:lstStyle/>
          <a:p>
            <a:pPr indent="0" marL="0">
              <a:buNone/>
            </a:pPr>
            <a:r>
              <a:rPr lang="en-US" sz="1050" b="1" dirty="0">
                <a:solidFill>
                  <a:srgbClr val="E8EEF4"/>
                </a:solidFill>
                <a:latin typeface="Calibri" pitchFamily="34" charset="0"/>
                <a:ea typeface="Calibri" pitchFamily="34" charset="-122"/>
                <a:cs typeface="Calibri" pitchFamily="34" charset="-120"/>
              </a:rPr>
              <a:t>Resume normal control</a:t>
            </a:r>
            <a:endParaRPr lang="en-US" sz="1050" dirty="0"/>
          </a:p>
        </p:txBody>
      </p:sp>
      <p:sp>
        <p:nvSpPr>
          <p:cNvPr id="31" name="Text 29"/>
          <p:cNvSpPr/>
          <p:nvPr/>
        </p:nvSpPr>
        <p:spPr>
          <a:xfrm>
            <a:off x="411480" y="4297680"/>
            <a:ext cx="3840480" cy="30175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Transfer control back to full PLC1B ladder logic. Log full incident timeline. Notify security team for forensics.</a:t>
            </a:r>
            <a:endParaRPr lang="en-US" sz="900" dirty="0"/>
          </a:p>
        </p:txBody>
      </p:sp>
      <p:sp>
        <p:nvSpPr>
          <p:cNvPr id="32" name="Shape 30"/>
          <p:cNvSpPr/>
          <p:nvPr/>
        </p:nvSpPr>
        <p:spPr>
          <a:xfrm>
            <a:off x="4617720" y="914400"/>
            <a:ext cx="4297680" cy="1874520"/>
          </a:xfrm>
          <a:prstGeom prst="rect">
            <a:avLst/>
          </a:prstGeom>
          <a:solidFill>
            <a:srgbClr val="1B3A5C"/>
          </a:solidFill>
          <a:ln w="12700">
            <a:solidFill>
              <a:srgbClr val="1B3A5C"/>
            </a:solidFill>
            <a:prstDash val="solid"/>
          </a:ln>
        </p:spPr>
      </p:sp>
      <p:sp>
        <p:nvSpPr>
          <p:cNvPr id="33" name="Shape 31"/>
          <p:cNvSpPr/>
          <p:nvPr/>
        </p:nvSpPr>
        <p:spPr>
          <a:xfrm>
            <a:off x="4617720" y="914400"/>
            <a:ext cx="64008" cy="1874520"/>
          </a:xfrm>
          <a:prstGeom prst="rect">
            <a:avLst/>
          </a:prstGeom>
          <a:solidFill>
            <a:srgbClr val="27AE60"/>
          </a:solidFill>
          <a:ln w="12700">
            <a:solidFill>
              <a:srgbClr val="27AE60"/>
            </a:solidFill>
            <a:prstDash val="solid"/>
          </a:ln>
        </p:spPr>
      </p:sp>
      <p:sp>
        <p:nvSpPr>
          <p:cNvPr id="34" name="Text 32"/>
          <p:cNvSpPr/>
          <p:nvPr/>
        </p:nvSpPr>
        <p:spPr>
          <a:xfrm>
            <a:off x="4800600" y="978408"/>
            <a:ext cx="3931920" cy="292608"/>
          </a:xfrm>
          <a:prstGeom prst="rect">
            <a:avLst/>
          </a:prstGeom>
          <a:noFill/>
          <a:ln/>
        </p:spPr>
        <p:txBody>
          <a:bodyPr wrap="square" lIns="0" tIns="0" rIns="0" bIns="0" rtlCol="0" anchor="ctr"/>
          <a:lstStyle/>
          <a:p>
            <a:pPr indent="0" marL="0">
              <a:buNone/>
            </a:pPr>
            <a:r>
              <a:rPr lang="en-US" sz="1400" b="1" dirty="0">
                <a:solidFill>
                  <a:srgbClr val="27AE60"/>
                </a:solidFill>
                <a:latin typeface="Calibri" pitchFamily="34" charset="0"/>
                <a:ea typeface="Calibri" pitchFamily="34" charset="-122"/>
                <a:cs typeface="Calibri" pitchFamily="34" charset="-120"/>
              </a:rPr>
              <a:t>P1 Tank ODE Model</a:t>
            </a:r>
            <a:endParaRPr lang="en-US" sz="1400" dirty="0"/>
          </a:p>
        </p:txBody>
      </p:sp>
      <p:sp>
        <p:nvSpPr>
          <p:cNvPr id="35" name="Shape 33"/>
          <p:cNvSpPr/>
          <p:nvPr/>
        </p:nvSpPr>
        <p:spPr>
          <a:xfrm>
            <a:off x="4709160" y="1298448"/>
            <a:ext cx="4114800" cy="841248"/>
          </a:xfrm>
          <a:prstGeom prst="rect">
            <a:avLst/>
          </a:prstGeom>
          <a:solidFill>
            <a:srgbClr val="0A0F1A"/>
          </a:solidFill>
          <a:ln w="12700">
            <a:solidFill>
              <a:srgbClr val="0A0F1A"/>
            </a:solidFill>
            <a:prstDash val="solid"/>
          </a:ln>
        </p:spPr>
      </p:sp>
      <p:sp>
        <p:nvSpPr>
          <p:cNvPr id="36" name="Text 34"/>
          <p:cNvSpPr/>
          <p:nvPr/>
        </p:nvSpPr>
        <p:spPr>
          <a:xfrm>
            <a:off x="4800600" y="1335024"/>
            <a:ext cx="3931920" cy="786384"/>
          </a:xfrm>
          <a:prstGeom prst="rect">
            <a:avLst/>
          </a:prstGeom>
          <a:noFill/>
          <a:ln/>
        </p:spPr>
        <p:txBody>
          <a:bodyPr wrap="square" lIns="0" tIns="0" rIns="0" bIns="0" rtlCol="0" anchor="ctr"/>
          <a:lstStyle/>
          <a:p>
            <a:pPr indent="0" marL="0">
              <a:buNone/>
            </a:pPr>
            <a:r>
              <a:rPr lang="en-US" sz="1100" dirty="0">
                <a:solidFill>
                  <a:srgbClr val="12B5C8"/>
                </a:solidFill>
                <a:latin typeface="Consolas" pitchFamily="34" charset="0"/>
                <a:ea typeface="Consolas" pitchFamily="34" charset="-122"/>
                <a:cs typeface="Consolas" pitchFamily="34" charset="-120"/>
              </a:rPr>
              <a:t>dL/dt = (Q_in - Q_out) / A_tank
</a:t>
            </a:r>
            <a:pPr indent="0" marL="0">
              <a:buNone/>
            </a:pPr>
            <a:r>
              <a:rPr lang="en-US" sz="1100" dirty="0">
                <a:solidFill>
                  <a:srgbClr val="E8EEF4"/>
                </a:solidFill>
                <a:latin typeface="Consolas" pitchFamily="34" charset="0"/>
                <a:ea typeface="Consolas" pitchFamily="34" charset="-122"/>
                <a:cs typeface="Consolas" pitchFamily="34" charset="-120"/>
              </a:rPr>
              <a:t>Q_in  = MV101_state × FIT101_reading
</a:t>
            </a:r>
            <a:pPr indent="0" marL="0">
              <a:buNone/>
            </a:pPr>
            <a:r>
              <a:rPr lang="en-US" sz="1100" dirty="0">
                <a:solidFill>
                  <a:srgbClr val="E8EEF4"/>
                </a:solidFill>
                <a:latin typeface="Consolas" pitchFamily="34" charset="0"/>
                <a:ea typeface="Consolas" pitchFamily="34" charset="-122"/>
                <a:cs typeface="Consolas" pitchFamily="34" charset="-120"/>
              </a:rPr>
              <a:t>Q_out = P101_state × rated_flow
</a:t>
            </a:r>
            <a:pPr indent="0" marL="0">
              <a:buNone/>
            </a:pPr>
            <a:r>
              <a:rPr lang="en-US" sz="1100" dirty="0">
                <a:solidFill>
                  <a:srgbClr val="8FA3B1"/>
                </a:solidFill>
                <a:latin typeface="Consolas" pitchFamily="34" charset="0"/>
                <a:ea typeface="Consolas" pitchFamily="34" charset="-122"/>
                <a:cs typeface="Consolas" pitchFamily="34" charset="-120"/>
              </a:rPr>
              <a:t>A_tank ≈ 1.5 m²  (SWaT P1 spec)</a:t>
            </a:r>
            <a:endParaRPr lang="en-US" sz="1100" dirty="0"/>
          </a:p>
        </p:txBody>
      </p:sp>
      <p:sp>
        <p:nvSpPr>
          <p:cNvPr id="37" name="Text 35"/>
          <p:cNvSpPr/>
          <p:nvPr/>
        </p:nvSpPr>
        <p:spPr>
          <a:xfrm>
            <a:off x="4800600" y="2176272"/>
            <a:ext cx="3931920" cy="502920"/>
          </a:xfrm>
          <a:prstGeom prst="rect">
            <a:avLst/>
          </a:prstGeom>
          <a:noFill/>
          <a:ln/>
        </p:spPr>
        <p:txBody>
          <a:bodyPr wrap="square" lIns="0" tIns="0" rIns="0" bIns="0" rtlCol="0" anchor="ctr"/>
          <a:lstStyle/>
          <a:p>
            <a:pPr indent="0" marL="0">
              <a:buNone/>
            </a:pPr>
            <a:r>
              <a:rPr lang="en-US" sz="1050" i="1" dirty="0">
                <a:solidFill>
                  <a:srgbClr val="C9D6DF"/>
                </a:solidFill>
                <a:latin typeface="Calibri" pitchFamily="34" charset="0"/>
                <a:ea typeface="Calibri" pitchFamily="34" charset="-122"/>
                <a:cs typeface="Calibri" pitchFamily="34" charset="-120"/>
              </a:rPr>
              <a:t>In safe state: MV101=0, P101=0  →  dL/dt = 0</a:t>
            </a:r>
            <a:endParaRPr lang="en-US" sz="1050" dirty="0"/>
          </a:p>
          <a:p>
            <a:pPr indent="0" marL="0">
              <a:buNone/>
            </a:pPr>
            <a:r>
              <a:rPr lang="en-US" sz="1050" i="1" dirty="0">
                <a:solidFill>
                  <a:srgbClr val="C9D6DF"/>
                </a:solidFill>
                <a:latin typeface="Calibri" pitchFamily="34" charset="0"/>
                <a:ea typeface="Calibri" pitchFamily="34" charset="-122"/>
                <a:cs typeface="Calibri" pitchFamily="34" charset="-120"/>
              </a:rPr>
              <a:t>LIT101 is constant → predictable, verifiable.</a:t>
            </a:r>
            <a:endParaRPr lang="en-US" sz="1050" dirty="0"/>
          </a:p>
        </p:txBody>
      </p:sp>
      <p:sp>
        <p:nvSpPr>
          <p:cNvPr id="38" name="Shape 36"/>
          <p:cNvSpPr/>
          <p:nvPr/>
        </p:nvSpPr>
        <p:spPr>
          <a:xfrm>
            <a:off x="4617720" y="2834640"/>
            <a:ext cx="4297680" cy="1920240"/>
          </a:xfrm>
          <a:prstGeom prst="rect">
            <a:avLst/>
          </a:prstGeom>
          <a:solidFill>
            <a:srgbClr val="1B3A5C"/>
          </a:solidFill>
          <a:ln w="12700">
            <a:solidFill>
              <a:srgbClr val="1B3A5C"/>
            </a:solidFill>
            <a:prstDash val="solid"/>
          </a:ln>
        </p:spPr>
      </p:sp>
      <p:sp>
        <p:nvSpPr>
          <p:cNvPr id="39" name="Shape 37"/>
          <p:cNvSpPr/>
          <p:nvPr/>
        </p:nvSpPr>
        <p:spPr>
          <a:xfrm>
            <a:off x="4617720" y="2834640"/>
            <a:ext cx="64008" cy="1920240"/>
          </a:xfrm>
          <a:prstGeom prst="rect">
            <a:avLst/>
          </a:prstGeom>
          <a:solidFill>
            <a:srgbClr val="E67E22"/>
          </a:solidFill>
          <a:ln w="12700">
            <a:solidFill>
              <a:srgbClr val="E67E22"/>
            </a:solidFill>
            <a:prstDash val="solid"/>
          </a:ln>
        </p:spPr>
      </p:sp>
      <p:sp>
        <p:nvSpPr>
          <p:cNvPr id="40" name="Text 38"/>
          <p:cNvSpPr/>
          <p:nvPr/>
        </p:nvSpPr>
        <p:spPr>
          <a:xfrm>
            <a:off x="4800600" y="2898648"/>
            <a:ext cx="3931920" cy="292608"/>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Why Physics-Constrained Re-entry Matters</a:t>
            </a:r>
            <a:endParaRPr lang="en-US" sz="1300" dirty="0"/>
          </a:p>
        </p:txBody>
      </p:sp>
      <p:sp>
        <p:nvSpPr>
          <p:cNvPr id="41" name="Text 39"/>
          <p:cNvSpPr/>
          <p:nvPr/>
        </p:nvSpPr>
        <p:spPr>
          <a:xfrm>
            <a:off x="4800600" y="3246120"/>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Attacker may still have Modbus MITM active — naively trusting sensor replies on resume would re-expose the system</a:t>
            </a:r>
            <a:endParaRPr lang="en-US" sz="950" dirty="0"/>
          </a:p>
        </p:txBody>
      </p:sp>
      <p:sp>
        <p:nvSpPr>
          <p:cNvPr id="42" name="Text 40"/>
          <p:cNvSpPr/>
          <p:nvPr/>
        </p:nvSpPr>
        <p:spPr>
          <a:xfrm>
            <a:off x="4800600" y="3538728"/>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Invariant-gated acceptance means a compromised sensor reading is rejected before it reaches the PLC control loop</a:t>
            </a:r>
            <a:endParaRPr lang="en-US" sz="950" dirty="0"/>
          </a:p>
        </p:txBody>
      </p:sp>
      <p:sp>
        <p:nvSpPr>
          <p:cNvPr id="43" name="Text 41"/>
          <p:cNvSpPr/>
          <p:nvPr/>
        </p:nvSpPr>
        <p:spPr>
          <a:xfrm>
            <a:off x="4800600" y="3831336"/>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Sequential re-enablement limits blast radius: if FIT101 alone is still spoofed, only FIT101 is rejected — P1 resumes partially</a:t>
            </a:r>
            <a:endParaRPr lang="en-US" sz="950" dirty="0"/>
          </a:p>
        </p:txBody>
      </p:sp>
      <p:sp>
        <p:nvSpPr>
          <p:cNvPr id="44" name="Text 42"/>
          <p:cNvSpPr/>
          <p:nvPr/>
        </p:nvSpPr>
        <p:spPr>
          <a:xfrm>
            <a:off x="4800600" y="4123944"/>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No external trusted sensor needed — the process ODE itself provides ground truth during the safe-state window</a:t>
            </a:r>
            <a:endParaRPr lang="en-US" sz="950" dirty="0"/>
          </a:p>
        </p:txBody>
      </p:sp>
      <p:sp>
        <p:nvSpPr>
          <p:cNvPr id="45" name="Text 43"/>
          <p:cNvSpPr/>
          <p:nvPr/>
        </p:nvSpPr>
        <p:spPr>
          <a:xfrm>
            <a:off x="4800600" y="4416552"/>
            <a:ext cx="3977640" cy="274320"/>
          </a:xfrm>
          <a:prstGeom prst="rect">
            <a:avLst/>
          </a:prstGeom>
          <a:noFill/>
          <a:ln/>
        </p:spPr>
        <p:txBody>
          <a:bodyPr wrap="square" lIns="0" tIns="0" rIns="0" bIns="0" rtlCol="0" anchor="ctr"/>
          <a:lstStyle/>
          <a:p>
            <a:pPr indent="0" marL="0">
              <a:buNone/>
            </a:pPr>
            <a:r>
              <a:rPr lang="en-US" sz="950" dirty="0">
                <a:solidFill>
                  <a:srgbClr val="E8EEF4"/>
                </a:solidFill>
                <a:latin typeface="Calibri" pitchFamily="34" charset="0"/>
                <a:ea typeface="Calibri" pitchFamily="34" charset="-122"/>
                <a:cs typeface="Calibri" pitchFamily="34" charset="-120"/>
              </a:rPr>
              <a:t>▸  Matches ICS/OT incident response principle: 'verify before restore' (NIST SP 800-82r3 §6.3)</a:t>
            </a:r>
            <a:endParaRPr lang="en-US" sz="950" dirty="0"/>
          </a:p>
        </p:txBody>
      </p:sp>
      <p:sp>
        <p:nvSpPr>
          <p:cNvPr id="46" name="Shape 44"/>
          <p:cNvSpPr/>
          <p:nvPr/>
        </p:nvSpPr>
        <p:spPr>
          <a:xfrm>
            <a:off x="0" y="4773168"/>
            <a:ext cx="9144000" cy="374904"/>
          </a:xfrm>
          <a:prstGeom prst="rect">
            <a:avLst/>
          </a:prstGeom>
          <a:solidFill>
            <a:srgbClr val="1B3A5C"/>
          </a:solidFill>
          <a:ln w="12700">
            <a:solidFill>
              <a:srgbClr val="1B3A5C"/>
            </a:solidFill>
            <a:prstDash val="solid"/>
          </a:ln>
        </p:spPr>
      </p:sp>
      <p:sp>
        <p:nvSpPr>
          <p:cNvPr id="47" name="Text 45"/>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Invariant-Guided Reconstruction</a:t>
            </a:r>
            <a:endParaRPr lang="en-US" sz="10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7E22"/>
          </a:solidFill>
          <a:ln w="12700">
            <a:solidFill>
              <a:srgbClr val="E67E2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0A1628"/>
                </a:solidFill>
                <a:latin typeface="Calibri" pitchFamily="34" charset="0"/>
                <a:ea typeface="Calibri" pitchFamily="34" charset="-122"/>
                <a:cs typeface="Calibri" pitchFamily="34" charset="-120"/>
              </a:rPr>
              <a:t>Industry Framework: NIST SP 800-82r3</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Guide to OT Security (Sep 2023) — our recovery design maps directly to its 5 recovery principles</a:t>
            </a:r>
            <a:endParaRPr lang="en-US" sz="1150" dirty="0"/>
          </a:p>
        </p:txBody>
      </p:sp>
      <p:sp>
        <p:nvSpPr>
          <p:cNvPr id="5" name="Shape 3"/>
          <p:cNvSpPr/>
          <p:nvPr/>
        </p:nvSpPr>
        <p:spPr>
          <a:xfrm>
            <a:off x="228600" y="914400"/>
            <a:ext cx="8686800" cy="292608"/>
          </a:xfrm>
          <a:prstGeom prst="rect">
            <a:avLst/>
          </a:prstGeom>
          <a:solidFill>
            <a:srgbClr val="4A2A00"/>
          </a:solidFill>
          <a:ln w="12700">
            <a:solidFill>
              <a:srgbClr val="4A2A00"/>
            </a:solidFill>
            <a:prstDash val="solid"/>
          </a:ln>
        </p:spPr>
      </p:sp>
      <p:sp>
        <p:nvSpPr>
          <p:cNvPr id="6" name="Text 4"/>
          <p:cNvSpPr/>
          <p:nvPr/>
        </p:nvSpPr>
        <p:spPr>
          <a:xfrm>
            <a:off x="320040" y="950976"/>
            <a:ext cx="41148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NIST SP 800-82r3 Principle</a:t>
            </a:r>
            <a:endParaRPr lang="en-US" sz="1050" dirty="0"/>
          </a:p>
        </p:txBody>
      </p:sp>
      <p:sp>
        <p:nvSpPr>
          <p:cNvPr id="7" name="Text 5"/>
          <p:cNvSpPr/>
          <p:nvPr/>
        </p:nvSpPr>
        <p:spPr>
          <a:xfrm>
            <a:off x="4572000" y="950976"/>
            <a:ext cx="41148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Our SWaT Recovery Implementation</a:t>
            </a:r>
            <a:endParaRPr lang="en-US" sz="1050" dirty="0"/>
          </a:p>
        </p:txBody>
      </p:sp>
      <p:sp>
        <p:nvSpPr>
          <p:cNvPr id="8" name="Shape 6"/>
          <p:cNvSpPr/>
          <p:nvPr/>
        </p:nvSpPr>
        <p:spPr>
          <a:xfrm>
            <a:off x="228600" y="1225296"/>
            <a:ext cx="8686800" cy="603504"/>
          </a:xfrm>
          <a:prstGeom prst="rect">
            <a:avLst/>
          </a:prstGeom>
          <a:solidFill>
            <a:srgbClr val="FFFBF0"/>
          </a:solidFill>
          <a:ln w="12700">
            <a:solidFill>
              <a:srgbClr val="FFFBF0"/>
            </a:solidFill>
            <a:prstDash val="solid"/>
          </a:ln>
        </p:spPr>
      </p:sp>
      <p:sp>
        <p:nvSpPr>
          <p:cNvPr id="9" name="Shape 7"/>
          <p:cNvSpPr/>
          <p:nvPr/>
        </p:nvSpPr>
        <p:spPr>
          <a:xfrm>
            <a:off x="228600" y="1225296"/>
            <a:ext cx="64008" cy="603504"/>
          </a:xfrm>
          <a:prstGeom prst="rect">
            <a:avLst/>
          </a:prstGeom>
          <a:solidFill>
            <a:srgbClr val="E67E22"/>
          </a:solidFill>
          <a:ln w="12700">
            <a:solidFill>
              <a:srgbClr val="E67E22"/>
            </a:solidFill>
            <a:prstDash val="solid"/>
          </a:ln>
        </p:spPr>
      </p:sp>
      <p:sp>
        <p:nvSpPr>
          <p:cNvPr id="10" name="Text 8"/>
          <p:cNvSpPr/>
          <p:nvPr/>
        </p:nvSpPr>
        <p:spPr>
          <a:xfrm>
            <a:off x="365760" y="1271016"/>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RC.RP-1: Recovery plan executed during/after incident</a:t>
            </a:r>
            <a:endParaRPr lang="en-US" sz="1000" dirty="0"/>
          </a:p>
        </p:txBody>
      </p:sp>
      <p:sp>
        <p:nvSpPr>
          <p:cNvPr id="11" name="Shape 9"/>
          <p:cNvSpPr/>
          <p:nvPr/>
        </p:nvSpPr>
        <p:spPr>
          <a:xfrm>
            <a:off x="4480560" y="1261872"/>
            <a:ext cx="54864" cy="530352"/>
          </a:xfrm>
          <a:prstGeom prst="rect">
            <a:avLst/>
          </a:prstGeom>
          <a:solidFill>
            <a:srgbClr val="8FA3B1"/>
          </a:solidFill>
          <a:ln w="12700">
            <a:solidFill>
              <a:srgbClr val="8FA3B1"/>
            </a:solidFill>
            <a:prstDash val="solid"/>
          </a:ln>
        </p:spPr>
      </p:sp>
      <p:sp>
        <p:nvSpPr>
          <p:cNvPr id="12" name="Text 10"/>
          <p:cNvSpPr/>
          <p:nvPr/>
        </p:nvSpPr>
        <p:spPr>
          <a:xfrm>
            <a:off x="4626864" y="1271016"/>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Pre-coded recovery_agent.py executes automatically on ALERT — no human in the loop required for Phase 1 containment</a:t>
            </a:r>
            <a:endParaRPr lang="en-US" sz="1000" dirty="0"/>
          </a:p>
        </p:txBody>
      </p:sp>
      <p:sp>
        <p:nvSpPr>
          <p:cNvPr id="13" name="Shape 11"/>
          <p:cNvSpPr/>
          <p:nvPr/>
        </p:nvSpPr>
        <p:spPr>
          <a:xfrm>
            <a:off x="228600" y="1847088"/>
            <a:ext cx="8686800" cy="603504"/>
          </a:xfrm>
          <a:prstGeom prst="rect">
            <a:avLst/>
          </a:prstGeom>
          <a:solidFill>
            <a:srgbClr val="FFF8E8"/>
          </a:solidFill>
          <a:ln w="12700">
            <a:solidFill>
              <a:srgbClr val="FFF8E8"/>
            </a:solidFill>
            <a:prstDash val="solid"/>
          </a:ln>
        </p:spPr>
      </p:sp>
      <p:sp>
        <p:nvSpPr>
          <p:cNvPr id="14" name="Shape 12"/>
          <p:cNvSpPr/>
          <p:nvPr/>
        </p:nvSpPr>
        <p:spPr>
          <a:xfrm>
            <a:off x="228600" y="1847088"/>
            <a:ext cx="64008" cy="603504"/>
          </a:xfrm>
          <a:prstGeom prst="rect">
            <a:avLst/>
          </a:prstGeom>
          <a:solidFill>
            <a:srgbClr val="E67E22"/>
          </a:solidFill>
          <a:ln w="12700">
            <a:solidFill>
              <a:srgbClr val="E67E22"/>
            </a:solidFill>
            <a:prstDash val="solid"/>
          </a:ln>
        </p:spPr>
      </p:sp>
      <p:sp>
        <p:nvSpPr>
          <p:cNvPr id="15" name="Text 13"/>
          <p:cNvSpPr/>
          <p:nvPr/>
        </p:nvSpPr>
        <p:spPr>
          <a:xfrm>
            <a:off x="365760" y="1892808"/>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RC.IM-1: Recovery strategies incorporate lessons learned</a:t>
            </a:r>
            <a:endParaRPr lang="en-US" sz="1000" dirty="0"/>
          </a:p>
        </p:txBody>
      </p:sp>
      <p:sp>
        <p:nvSpPr>
          <p:cNvPr id="16" name="Shape 14"/>
          <p:cNvSpPr/>
          <p:nvPr/>
        </p:nvSpPr>
        <p:spPr>
          <a:xfrm>
            <a:off x="4480560" y="1883664"/>
            <a:ext cx="54864" cy="530352"/>
          </a:xfrm>
          <a:prstGeom prst="rect">
            <a:avLst/>
          </a:prstGeom>
          <a:solidFill>
            <a:srgbClr val="8FA3B1"/>
          </a:solidFill>
          <a:ln w="12700">
            <a:solidFill>
              <a:srgbClr val="8FA3B1"/>
            </a:solidFill>
            <a:prstDash val="solid"/>
          </a:ln>
        </p:spPr>
      </p:sp>
      <p:sp>
        <p:nvSpPr>
          <p:cNvPr id="17" name="Text 15"/>
          <p:cNvSpPr/>
          <p:nvPr/>
        </p:nvSpPr>
        <p:spPr>
          <a:xfrm>
            <a:off x="4626864" y="1892808"/>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Full incident log written to tamper-evident WORM storage (historian); each attack-recovery cycle updates threshold for future detection</a:t>
            </a:r>
            <a:endParaRPr lang="en-US" sz="1000" dirty="0"/>
          </a:p>
        </p:txBody>
      </p:sp>
      <p:sp>
        <p:nvSpPr>
          <p:cNvPr id="18" name="Shape 16"/>
          <p:cNvSpPr/>
          <p:nvPr/>
        </p:nvSpPr>
        <p:spPr>
          <a:xfrm>
            <a:off x="228600" y="2468880"/>
            <a:ext cx="8686800" cy="603504"/>
          </a:xfrm>
          <a:prstGeom prst="rect">
            <a:avLst/>
          </a:prstGeom>
          <a:solidFill>
            <a:srgbClr val="FFFBF0"/>
          </a:solidFill>
          <a:ln w="12700">
            <a:solidFill>
              <a:srgbClr val="FFFBF0"/>
            </a:solidFill>
            <a:prstDash val="solid"/>
          </a:ln>
        </p:spPr>
      </p:sp>
      <p:sp>
        <p:nvSpPr>
          <p:cNvPr id="19" name="Shape 17"/>
          <p:cNvSpPr/>
          <p:nvPr/>
        </p:nvSpPr>
        <p:spPr>
          <a:xfrm>
            <a:off x="228600" y="2468880"/>
            <a:ext cx="64008" cy="603504"/>
          </a:xfrm>
          <a:prstGeom prst="rect">
            <a:avLst/>
          </a:prstGeom>
          <a:solidFill>
            <a:srgbClr val="E67E22"/>
          </a:solidFill>
          <a:ln w="12700">
            <a:solidFill>
              <a:srgbClr val="E67E22"/>
            </a:solidFill>
            <a:prstDash val="solid"/>
          </a:ln>
        </p:spPr>
      </p:sp>
      <p:sp>
        <p:nvSpPr>
          <p:cNvPr id="20" name="Text 18"/>
          <p:cNvSpPr/>
          <p:nvPr/>
        </p:nvSpPr>
        <p:spPr>
          <a:xfrm>
            <a:off x="365760" y="2514600"/>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RS.CO-3: Information shared consistently with response plans</a:t>
            </a:r>
            <a:endParaRPr lang="en-US" sz="1000" dirty="0"/>
          </a:p>
        </p:txBody>
      </p:sp>
      <p:sp>
        <p:nvSpPr>
          <p:cNvPr id="21" name="Shape 19"/>
          <p:cNvSpPr/>
          <p:nvPr/>
        </p:nvSpPr>
        <p:spPr>
          <a:xfrm>
            <a:off x="4480560" y="2505456"/>
            <a:ext cx="54864" cy="530352"/>
          </a:xfrm>
          <a:prstGeom prst="rect">
            <a:avLst/>
          </a:prstGeom>
          <a:solidFill>
            <a:srgbClr val="8FA3B1"/>
          </a:solidFill>
          <a:ln w="12700">
            <a:solidFill>
              <a:srgbClr val="8FA3B1"/>
            </a:solidFill>
            <a:prstDash val="solid"/>
          </a:ln>
        </p:spPr>
      </p:sp>
      <p:sp>
        <p:nvSpPr>
          <p:cNvPr id="22" name="Text 20"/>
          <p:cNvSpPr/>
          <p:nvPr/>
        </p:nvSpPr>
        <p:spPr>
          <a:xfrm>
            <a:off x="4626864" y="2514600"/>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SCADA HMI alarm triggers email + SMS to iTrust lab engineer; PLC1B takeover reflected in all monitoring dashboards within 1 cycle</a:t>
            </a:r>
            <a:endParaRPr lang="en-US" sz="1000" dirty="0"/>
          </a:p>
        </p:txBody>
      </p:sp>
      <p:sp>
        <p:nvSpPr>
          <p:cNvPr id="23" name="Shape 21"/>
          <p:cNvSpPr/>
          <p:nvPr/>
        </p:nvSpPr>
        <p:spPr>
          <a:xfrm>
            <a:off x="228600" y="3090672"/>
            <a:ext cx="8686800" cy="603504"/>
          </a:xfrm>
          <a:prstGeom prst="rect">
            <a:avLst/>
          </a:prstGeom>
          <a:solidFill>
            <a:srgbClr val="FFF8E8"/>
          </a:solidFill>
          <a:ln w="12700">
            <a:solidFill>
              <a:srgbClr val="FFF8E8"/>
            </a:solidFill>
            <a:prstDash val="solid"/>
          </a:ln>
        </p:spPr>
      </p:sp>
      <p:sp>
        <p:nvSpPr>
          <p:cNvPr id="24" name="Shape 22"/>
          <p:cNvSpPr/>
          <p:nvPr/>
        </p:nvSpPr>
        <p:spPr>
          <a:xfrm>
            <a:off x="228600" y="3090672"/>
            <a:ext cx="64008" cy="603504"/>
          </a:xfrm>
          <a:prstGeom prst="rect">
            <a:avLst/>
          </a:prstGeom>
          <a:solidFill>
            <a:srgbClr val="E67E22"/>
          </a:solidFill>
          <a:ln w="12700">
            <a:solidFill>
              <a:srgbClr val="E67E22"/>
            </a:solidFill>
            <a:prstDash val="solid"/>
          </a:ln>
        </p:spPr>
      </p:sp>
      <p:sp>
        <p:nvSpPr>
          <p:cNvPr id="25" name="Text 23"/>
          <p:cNvSpPr/>
          <p:nvPr/>
        </p:nvSpPr>
        <p:spPr>
          <a:xfrm>
            <a:off x="365760" y="3136392"/>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RS.AN-1: Notifications from detection systems investigated</a:t>
            </a:r>
            <a:endParaRPr lang="en-US" sz="1000" dirty="0"/>
          </a:p>
        </p:txBody>
      </p:sp>
      <p:sp>
        <p:nvSpPr>
          <p:cNvPr id="26" name="Shape 24"/>
          <p:cNvSpPr/>
          <p:nvPr/>
        </p:nvSpPr>
        <p:spPr>
          <a:xfrm>
            <a:off x="4480560" y="3127248"/>
            <a:ext cx="54864" cy="530352"/>
          </a:xfrm>
          <a:prstGeom prst="rect">
            <a:avLst/>
          </a:prstGeom>
          <a:solidFill>
            <a:srgbClr val="8FA3B1"/>
          </a:solidFill>
          <a:ln w="12700">
            <a:solidFill>
              <a:srgbClr val="8FA3B1"/>
            </a:solidFill>
            <a:prstDash val="solid"/>
          </a:ln>
        </p:spPr>
      </p:sp>
      <p:sp>
        <p:nvSpPr>
          <p:cNvPr id="27" name="Text 25"/>
          <p:cNvSpPr/>
          <p:nvPr/>
        </p:nvSpPr>
        <p:spPr>
          <a:xfrm>
            <a:off x="4626864" y="3136392"/>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Fusion engine logs: which layer fired, sensor snapshot at T=alert, ARP table state — sufficient for post-incident forensic root cause analysis</a:t>
            </a:r>
            <a:endParaRPr lang="en-US" sz="1000" dirty="0"/>
          </a:p>
        </p:txBody>
      </p:sp>
      <p:sp>
        <p:nvSpPr>
          <p:cNvPr id="28" name="Shape 26"/>
          <p:cNvSpPr/>
          <p:nvPr/>
        </p:nvSpPr>
        <p:spPr>
          <a:xfrm>
            <a:off x="228600" y="3712464"/>
            <a:ext cx="8686800" cy="603504"/>
          </a:xfrm>
          <a:prstGeom prst="rect">
            <a:avLst/>
          </a:prstGeom>
          <a:solidFill>
            <a:srgbClr val="FFFBF0"/>
          </a:solidFill>
          <a:ln w="12700">
            <a:solidFill>
              <a:srgbClr val="FFFBF0"/>
            </a:solidFill>
            <a:prstDash val="solid"/>
          </a:ln>
        </p:spPr>
      </p:sp>
      <p:sp>
        <p:nvSpPr>
          <p:cNvPr id="29" name="Shape 27"/>
          <p:cNvSpPr/>
          <p:nvPr/>
        </p:nvSpPr>
        <p:spPr>
          <a:xfrm>
            <a:off x="228600" y="3712464"/>
            <a:ext cx="64008" cy="603504"/>
          </a:xfrm>
          <a:prstGeom prst="rect">
            <a:avLst/>
          </a:prstGeom>
          <a:solidFill>
            <a:srgbClr val="E67E22"/>
          </a:solidFill>
          <a:ln w="12700">
            <a:solidFill>
              <a:srgbClr val="E67E22"/>
            </a:solidFill>
            <a:prstDash val="solid"/>
          </a:ln>
        </p:spPr>
      </p:sp>
      <p:sp>
        <p:nvSpPr>
          <p:cNvPr id="30" name="Text 28"/>
          <p:cNvSpPr/>
          <p:nvPr/>
        </p:nvSpPr>
        <p:spPr>
          <a:xfrm>
            <a:off x="365760" y="3758184"/>
            <a:ext cx="4069080" cy="512064"/>
          </a:xfrm>
          <a:prstGeom prst="rect">
            <a:avLst/>
          </a:prstGeom>
          <a:noFill/>
          <a:ln/>
        </p:spPr>
        <p:txBody>
          <a:bodyPr wrap="square" lIns="0" tIns="0" rIns="0" bIns="0"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RC.CO-3: Recovery communicated to stakeholders/authorities</a:t>
            </a:r>
            <a:endParaRPr lang="en-US" sz="1000" dirty="0"/>
          </a:p>
        </p:txBody>
      </p:sp>
      <p:sp>
        <p:nvSpPr>
          <p:cNvPr id="31" name="Shape 29"/>
          <p:cNvSpPr/>
          <p:nvPr/>
        </p:nvSpPr>
        <p:spPr>
          <a:xfrm>
            <a:off x="4480560" y="3749040"/>
            <a:ext cx="54864" cy="530352"/>
          </a:xfrm>
          <a:prstGeom prst="rect">
            <a:avLst/>
          </a:prstGeom>
          <a:solidFill>
            <a:srgbClr val="8FA3B1"/>
          </a:solidFill>
          <a:ln w="12700">
            <a:solidFill>
              <a:srgbClr val="8FA3B1"/>
            </a:solidFill>
            <a:prstDash val="solid"/>
          </a:ln>
        </p:spPr>
      </p:sp>
      <p:sp>
        <p:nvSpPr>
          <p:cNvPr id="32" name="Text 30"/>
          <p:cNvSpPr/>
          <p:nvPr/>
        </p:nvSpPr>
        <p:spPr>
          <a:xfrm>
            <a:off x="4626864" y="3758184"/>
            <a:ext cx="4069080" cy="512064"/>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iTrust lab security coordinator notified automatically; full recovery event written to SWaT incident registry for research analysis</a:t>
            </a:r>
            <a:endParaRPr lang="en-US" sz="1000" dirty="0"/>
          </a:p>
        </p:txBody>
      </p:sp>
      <p:sp>
        <p:nvSpPr>
          <p:cNvPr id="33" name="Shape 31"/>
          <p:cNvSpPr/>
          <p:nvPr/>
        </p:nvSpPr>
        <p:spPr>
          <a:xfrm>
            <a:off x="228600" y="4370832"/>
            <a:ext cx="8686800" cy="384048"/>
          </a:xfrm>
          <a:prstGeom prst="rect">
            <a:avLst/>
          </a:prstGeom>
          <a:solidFill>
            <a:srgbClr val="0A1628"/>
          </a:solidFill>
          <a:ln w="12700">
            <a:solidFill>
              <a:srgbClr val="0A1628"/>
            </a:solidFill>
            <a:prstDash val="solid"/>
          </a:ln>
        </p:spPr>
      </p:sp>
      <p:sp>
        <p:nvSpPr>
          <p:cNvPr id="34" name="Text 32"/>
          <p:cNvSpPr/>
          <p:nvPr/>
        </p:nvSpPr>
        <p:spPr>
          <a:xfrm>
            <a:off x="411480" y="4389120"/>
            <a:ext cx="8321040" cy="347472"/>
          </a:xfrm>
          <a:prstGeom prst="rect">
            <a:avLst/>
          </a:prstGeom>
          <a:noFill/>
          <a:ln/>
        </p:spPr>
        <p:txBody>
          <a:bodyPr wrap="square" lIns="0" tIns="0" rIns="0" bIns="0" rtlCol="0" anchor="ctr"/>
          <a:lstStyle/>
          <a:p>
            <a:pPr indent="0" marL="0">
              <a:buNone/>
            </a:pPr>
            <a:r>
              <a:rPr lang="en-US" sz="1050" b="1" dirty="0">
                <a:solidFill>
                  <a:srgbClr val="F39C12"/>
                </a:solidFill>
                <a:latin typeface="Calibri" pitchFamily="34" charset="0"/>
                <a:ea typeface="Calibri" pitchFamily="34" charset="-122"/>
                <a:cs typeface="Calibri" pitchFamily="34" charset="-120"/>
              </a:rPr>
              <a:t xml:space="preserve">ICS/OT-specific principle (SANS 2024):  </a:t>
            </a:r>
            <a:pPr indent="0" marL="0">
              <a:buNone/>
            </a:pPr>
            <a:r>
              <a:rPr lang="en-US" sz="1050" dirty="0">
                <a:solidFill>
                  <a:srgbClr val="E8EEF4"/>
                </a:solidFill>
                <a:latin typeface="Calibri" pitchFamily="34" charset="0"/>
                <a:ea typeface="Calibri" pitchFamily="34" charset="-122"/>
                <a:cs typeface="Calibri" pitchFamily="34" charset="-120"/>
              </a:rPr>
              <a:t>Unlike IT incident response, OT recovery must be engineering-led and safety-first. Isolating a PLC at the wrong moment can cause immediate physical harm. Our recovery sequence respects this — containment is network-level first, PLC-level second, only after safe state is verified.</a:t>
            </a:r>
            <a:endParaRPr lang="en-US" sz="1050" dirty="0"/>
          </a:p>
        </p:txBody>
      </p:sp>
      <p:sp>
        <p:nvSpPr>
          <p:cNvPr id="35" name="Shape 33"/>
          <p:cNvSpPr/>
          <p:nvPr/>
        </p:nvSpPr>
        <p:spPr>
          <a:xfrm>
            <a:off x="0" y="4773168"/>
            <a:ext cx="9144000" cy="374904"/>
          </a:xfrm>
          <a:prstGeom prst="rect">
            <a:avLst/>
          </a:prstGeom>
          <a:solidFill>
            <a:srgbClr val="1B3A5C"/>
          </a:solidFill>
          <a:ln w="12700">
            <a:solidFill>
              <a:srgbClr val="1B3A5C"/>
            </a:solidFill>
            <a:prstDash val="solid"/>
          </a:ln>
        </p:spPr>
      </p:sp>
      <p:sp>
        <p:nvSpPr>
          <p:cNvPr id="36" name="Text 34"/>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NIST SP 800-82r3 Alignment</a:t>
            </a:r>
            <a:endParaRPr lang="en-US" sz="10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74C3C"/>
          </a:solidFill>
          <a:ln w="12700">
            <a:solidFill>
              <a:srgbClr val="E74C3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Real-World Recovery Case Studies</a:t>
            </a:r>
            <a:endParaRPr lang="en-US" sz="27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What actually happened in water/ICS attacks — and what recovery looked like</a:t>
            </a:r>
            <a:endParaRPr lang="en-US" sz="1150" dirty="0"/>
          </a:p>
        </p:txBody>
      </p:sp>
      <p:sp>
        <p:nvSpPr>
          <p:cNvPr id="5" name="Shape 3"/>
          <p:cNvSpPr/>
          <p:nvPr/>
        </p:nvSpPr>
        <p:spPr>
          <a:xfrm>
            <a:off x="228600" y="932688"/>
            <a:ext cx="8686800" cy="1298448"/>
          </a:xfrm>
          <a:prstGeom prst="rect">
            <a:avLst/>
          </a:prstGeom>
          <a:solidFill>
            <a:srgbClr val="1B3A5C"/>
          </a:solidFill>
          <a:ln w="12700">
            <a:solidFill>
              <a:srgbClr val="1B3A5C"/>
            </a:solidFill>
            <a:prstDash val="solid"/>
          </a:ln>
        </p:spPr>
      </p:sp>
      <p:sp>
        <p:nvSpPr>
          <p:cNvPr id="6" name="Shape 4"/>
          <p:cNvSpPr/>
          <p:nvPr/>
        </p:nvSpPr>
        <p:spPr>
          <a:xfrm>
            <a:off x="228600" y="932688"/>
            <a:ext cx="64008" cy="1298448"/>
          </a:xfrm>
          <a:prstGeom prst="rect">
            <a:avLst/>
          </a:prstGeom>
          <a:solidFill>
            <a:srgbClr val="E74C3C"/>
          </a:solidFill>
          <a:ln w="12700">
            <a:solidFill>
              <a:srgbClr val="E74C3C"/>
            </a:solidFill>
            <a:prstDash val="solid"/>
          </a:ln>
        </p:spPr>
      </p:sp>
      <p:sp>
        <p:nvSpPr>
          <p:cNvPr id="7" name="Shape 5"/>
          <p:cNvSpPr/>
          <p:nvPr/>
        </p:nvSpPr>
        <p:spPr>
          <a:xfrm>
            <a:off x="228600" y="932688"/>
            <a:ext cx="8686800" cy="310896"/>
          </a:xfrm>
          <a:prstGeom prst="rect">
            <a:avLst/>
          </a:prstGeom>
          <a:solidFill>
            <a:srgbClr val="1B3A5C"/>
          </a:solidFill>
          <a:ln w="12700">
            <a:solidFill>
              <a:srgbClr val="1B3A5C"/>
            </a:solidFill>
            <a:prstDash val="solid"/>
          </a:ln>
        </p:spPr>
      </p:sp>
      <p:sp>
        <p:nvSpPr>
          <p:cNvPr id="8" name="Text 6"/>
          <p:cNvSpPr/>
          <p:nvPr/>
        </p:nvSpPr>
        <p:spPr>
          <a:xfrm>
            <a:off x="384048" y="978408"/>
            <a:ext cx="5943600" cy="237744"/>
          </a:xfrm>
          <a:prstGeom prst="rect">
            <a:avLst/>
          </a:prstGeom>
          <a:noFill/>
          <a:ln/>
        </p:spPr>
        <p:txBody>
          <a:bodyPr wrap="square" lIns="0" tIns="0" rIns="0" bIns="0" rtlCol="0" anchor="ctr"/>
          <a:lstStyle/>
          <a:p>
            <a:pPr indent="0" marL="0">
              <a:buNone/>
            </a:pPr>
            <a:r>
              <a:rPr lang="en-US" sz="1250" b="1" dirty="0">
                <a:solidFill>
                  <a:srgbClr val="E74C3C"/>
                </a:solidFill>
                <a:latin typeface="Calibri" pitchFamily="34" charset="0"/>
                <a:ea typeface="Calibri" pitchFamily="34" charset="-122"/>
                <a:cs typeface="Calibri" pitchFamily="34" charset="-120"/>
              </a:rPr>
              <a:t>💧  Oldsmar, Florida Water Plant</a:t>
            </a:r>
            <a:endParaRPr lang="en-US" sz="1250" dirty="0"/>
          </a:p>
        </p:txBody>
      </p:sp>
      <p:sp>
        <p:nvSpPr>
          <p:cNvPr id="9" name="Text 7"/>
          <p:cNvSpPr/>
          <p:nvPr/>
        </p:nvSpPr>
        <p:spPr>
          <a:xfrm>
            <a:off x="7772400" y="9784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Feb 2021</a:t>
            </a:r>
            <a:endParaRPr lang="en-US" sz="1200" dirty="0"/>
          </a:p>
        </p:txBody>
      </p:sp>
      <p:sp>
        <p:nvSpPr>
          <p:cNvPr id="10" name="Text 8"/>
          <p:cNvSpPr/>
          <p:nvPr/>
        </p:nvSpPr>
        <p:spPr>
          <a:xfrm>
            <a:off x="32004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Attack</a:t>
            </a:r>
            <a:endParaRPr lang="en-US" sz="950" dirty="0"/>
          </a:p>
        </p:txBody>
      </p:sp>
      <p:sp>
        <p:nvSpPr>
          <p:cNvPr id="11" name="Text 9"/>
          <p:cNvSpPr/>
          <p:nvPr/>
        </p:nvSpPr>
        <p:spPr>
          <a:xfrm>
            <a:off x="32004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Attacker remotely modified NaOH level in SCADA to 111× normal via TeamViewer remote access.</a:t>
            </a:r>
            <a:endParaRPr lang="en-US" sz="900" dirty="0"/>
          </a:p>
        </p:txBody>
      </p:sp>
      <p:sp>
        <p:nvSpPr>
          <p:cNvPr id="12" name="Text 10"/>
          <p:cNvSpPr/>
          <p:nvPr/>
        </p:nvSpPr>
        <p:spPr>
          <a:xfrm>
            <a:off x="329184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Recovery</a:t>
            </a:r>
            <a:endParaRPr lang="en-US" sz="950" dirty="0"/>
          </a:p>
        </p:txBody>
      </p:sp>
      <p:sp>
        <p:nvSpPr>
          <p:cNvPr id="13" name="Text 11"/>
          <p:cNvSpPr/>
          <p:nvPr/>
        </p:nvSpPr>
        <p:spPr>
          <a:xfrm>
            <a:off x="329184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Operator noticed HMI cursor moving unexpectedly — manually reverted setpoint within minutes. No physical damage. Highlights value of operator monitoring alongside automated systems.</a:t>
            </a:r>
            <a:endParaRPr lang="en-US" sz="900" dirty="0"/>
          </a:p>
        </p:txBody>
      </p:sp>
      <p:sp>
        <p:nvSpPr>
          <p:cNvPr id="14" name="Text 12"/>
          <p:cNvSpPr/>
          <p:nvPr/>
        </p:nvSpPr>
        <p:spPr>
          <a:xfrm>
            <a:off x="6172200" y="1280160"/>
            <a:ext cx="2834640" cy="182880"/>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Lesson for SWaT</a:t>
            </a:r>
            <a:endParaRPr lang="en-US" sz="950" dirty="0"/>
          </a:p>
        </p:txBody>
      </p:sp>
      <p:sp>
        <p:nvSpPr>
          <p:cNvPr id="15" name="Text 13"/>
          <p:cNvSpPr/>
          <p:nvPr/>
        </p:nvSpPr>
        <p:spPr>
          <a:xfrm>
            <a:off x="6172200" y="14813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Human-in-the-loop recovery can be faster than automated if operator is trained and monitoring. But reliance on human observation alone is insufficient — automated alert would have fired before cursor movement.</a:t>
            </a:r>
            <a:endParaRPr lang="en-US" sz="900" dirty="0"/>
          </a:p>
        </p:txBody>
      </p:sp>
      <p:sp>
        <p:nvSpPr>
          <p:cNvPr id="16" name="Shape 14"/>
          <p:cNvSpPr/>
          <p:nvPr/>
        </p:nvSpPr>
        <p:spPr>
          <a:xfrm>
            <a:off x="228600" y="2304288"/>
            <a:ext cx="8686800" cy="1298448"/>
          </a:xfrm>
          <a:prstGeom prst="rect">
            <a:avLst/>
          </a:prstGeom>
          <a:solidFill>
            <a:srgbClr val="1B3A5C"/>
          </a:solidFill>
          <a:ln w="12700">
            <a:solidFill>
              <a:srgbClr val="1B3A5C"/>
            </a:solidFill>
            <a:prstDash val="solid"/>
          </a:ln>
        </p:spPr>
      </p:sp>
      <p:sp>
        <p:nvSpPr>
          <p:cNvPr id="17" name="Shape 15"/>
          <p:cNvSpPr/>
          <p:nvPr/>
        </p:nvSpPr>
        <p:spPr>
          <a:xfrm>
            <a:off x="228600" y="2304288"/>
            <a:ext cx="64008" cy="1298448"/>
          </a:xfrm>
          <a:prstGeom prst="rect">
            <a:avLst/>
          </a:prstGeom>
          <a:solidFill>
            <a:srgbClr val="E67E22"/>
          </a:solidFill>
          <a:ln w="12700">
            <a:solidFill>
              <a:srgbClr val="E67E22"/>
            </a:solidFill>
            <a:prstDash val="solid"/>
          </a:ln>
        </p:spPr>
      </p:sp>
      <p:sp>
        <p:nvSpPr>
          <p:cNvPr id="18" name="Shape 16"/>
          <p:cNvSpPr/>
          <p:nvPr/>
        </p:nvSpPr>
        <p:spPr>
          <a:xfrm>
            <a:off x="228600" y="2304288"/>
            <a:ext cx="8686800" cy="310896"/>
          </a:xfrm>
          <a:prstGeom prst="rect">
            <a:avLst/>
          </a:prstGeom>
          <a:solidFill>
            <a:srgbClr val="1B3A5C"/>
          </a:solidFill>
          <a:ln w="12700">
            <a:solidFill>
              <a:srgbClr val="1B3A5C"/>
            </a:solidFill>
            <a:prstDash val="solid"/>
          </a:ln>
        </p:spPr>
      </p:sp>
      <p:sp>
        <p:nvSpPr>
          <p:cNvPr id="19" name="Text 17"/>
          <p:cNvSpPr/>
          <p:nvPr/>
        </p:nvSpPr>
        <p:spPr>
          <a:xfrm>
            <a:off x="384048" y="2350008"/>
            <a:ext cx="5943600" cy="237744"/>
          </a:xfrm>
          <a:prstGeom prst="rect">
            <a:avLst/>
          </a:prstGeom>
          <a:noFill/>
          <a:ln/>
        </p:spPr>
        <p:txBody>
          <a:bodyPr wrap="square" lIns="0" tIns="0" rIns="0" bIns="0" rtlCol="0" anchor="ctr"/>
          <a:lstStyle/>
          <a:p>
            <a:pPr indent="0" marL="0">
              <a:buNone/>
            </a:pPr>
            <a:r>
              <a:rPr lang="en-US" sz="1250" b="1" dirty="0">
                <a:solidFill>
                  <a:srgbClr val="E67E22"/>
                </a:solidFill>
                <a:latin typeface="Calibri" pitchFamily="34" charset="0"/>
                <a:ea typeface="Calibri" pitchFamily="34" charset="-122"/>
                <a:cs typeface="Calibri" pitchFamily="34" charset="-120"/>
              </a:rPr>
              <a:t>🏭  Texas Water Utilities</a:t>
            </a:r>
            <a:endParaRPr lang="en-US" sz="1250" dirty="0"/>
          </a:p>
        </p:txBody>
      </p:sp>
      <p:sp>
        <p:nvSpPr>
          <p:cNvPr id="20" name="Text 18"/>
          <p:cNvSpPr/>
          <p:nvPr/>
        </p:nvSpPr>
        <p:spPr>
          <a:xfrm>
            <a:off x="7772400" y="23500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Apr 2024</a:t>
            </a:r>
            <a:endParaRPr lang="en-US" sz="1200" dirty="0"/>
          </a:p>
        </p:txBody>
      </p:sp>
      <p:sp>
        <p:nvSpPr>
          <p:cNvPr id="21" name="Text 19"/>
          <p:cNvSpPr/>
          <p:nvPr/>
        </p:nvSpPr>
        <p:spPr>
          <a:xfrm>
            <a:off x="32004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Attack</a:t>
            </a:r>
            <a:endParaRPr lang="en-US" sz="950" dirty="0"/>
          </a:p>
        </p:txBody>
      </p:sp>
      <p:sp>
        <p:nvSpPr>
          <p:cNvPr id="22" name="Text 20"/>
          <p:cNvSpPr/>
          <p:nvPr/>
        </p:nvSpPr>
        <p:spPr>
          <a:xfrm>
            <a:off x="32004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Russian-linked hackers targeted Unitronics PLCs (exposed SCADA). One plant tank overflowed; SCADA systems disrupted.</a:t>
            </a:r>
            <a:endParaRPr lang="en-US" sz="900" dirty="0"/>
          </a:p>
        </p:txBody>
      </p:sp>
      <p:sp>
        <p:nvSpPr>
          <p:cNvPr id="23" name="Text 21"/>
          <p:cNvSpPr/>
          <p:nvPr/>
        </p:nvSpPr>
        <p:spPr>
          <a:xfrm>
            <a:off x="329184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Recovery</a:t>
            </a:r>
            <a:endParaRPr lang="en-US" sz="950" dirty="0"/>
          </a:p>
        </p:txBody>
      </p:sp>
      <p:sp>
        <p:nvSpPr>
          <p:cNvPr id="24" name="Text 22"/>
          <p:cNvSpPr/>
          <p:nvPr/>
        </p:nvSpPr>
        <p:spPr>
          <a:xfrm>
            <a:off x="329184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Manual override to local control. Physical inspection of all actuator states. Took days to verify system integrity before resuming automated control. No cryptographic verification of PLC firmware.</a:t>
            </a:r>
            <a:endParaRPr lang="en-US" sz="900" dirty="0"/>
          </a:p>
        </p:txBody>
      </p:sp>
      <p:sp>
        <p:nvSpPr>
          <p:cNvPr id="25" name="Text 23"/>
          <p:cNvSpPr/>
          <p:nvPr/>
        </p:nvSpPr>
        <p:spPr>
          <a:xfrm>
            <a:off x="6172200" y="2651760"/>
            <a:ext cx="2834640" cy="1828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Lesson for SWaT</a:t>
            </a:r>
            <a:endParaRPr lang="en-US" sz="950" dirty="0"/>
          </a:p>
        </p:txBody>
      </p:sp>
      <p:sp>
        <p:nvSpPr>
          <p:cNvPr id="26" name="Text 24"/>
          <p:cNvSpPr/>
          <p:nvPr/>
        </p:nvSpPr>
        <p:spPr>
          <a:xfrm>
            <a:off x="6172200" y="28529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No hot-standby PLC, no automated safe-state — recovery took days vs our target of &lt;15s. Firmware integrity checking post-incident critical. Our design adds cryptographic PLC1B verification step.</a:t>
            </a:r>
            <a:endParaRPr lang="en-US" sz="900" dirty="0"/>
          </a:p>
        </p:txBody>
      </p:sp>
      <p:sp>
        <p:nvSpPr>
          <p:cNvPr id="27" name="Shape 25"/>
          <p:cNvSpPr/>
          <p:nvPr/>
        </p:nvSpPr>
        <p:spPr>
          <a:xfrm>
            <a:off x="228600" y="3675888"/>
            <a:ext cx="8686800" cy="1298448"/>
          </a:xfrm>
          <a:prstGeom prst="rect">
            <a:avLst/>
          </a:prstGeom>
          <a:solidFill>
            <a:srgbClr val="1B3A5C"/>
          </a:solidFill>
          <a:ln w="12700">
            <a:solidFill>
              <a:srgbClr val="1B3A5C"/>
            </a:solidFill>
            <a:prstDash val="solid"/>
          </a:ln>
        </p:spPr>
      </p:sp>
      <p:sp>
        <p:nvSpPr>
          <p:cNvPr id="28" name="Shape 26"/>
          <p:cNvSpPr/>
          <p:nvPr/>
        </p:nvSpPr>
        <p:spPr>
          <a:xfrm>
            <a:off x="228600" y="3675888"/>
            <a:ext cx="64008" cy="1298448"/>
          </a:xfrm>
          <a:prstGeom prst="rect">
            <a:avLst/>
          </a:prstGeom>
          <a:solidFill>
            <a:srgbClr val="7D3C98"/>
          </a:solidFill>
          <a:ln w="12700">
            <a:solidFill>
              <a:srgbClr val="7D3C98"/>
            </a:solidFill>
            <a:prstDash val="solid"/>
          </a:ln>
        </p:spPr>
      </p:sp>
      <p:sp>
        <p:nvSpPr>
          <p:cNvPr id="29" name="Shape 27"/>
          <p:cNvSpPr/>
          <p:nvPr/>
        </p:nvSpPr>
        <p:spPr>
          <a:xfrm>
            <a:off x="228600" y="3675888"/>
            <a:ext cx="8686800" cy="310896"/>
          </a:xfrm>
          <a:prstGeom prst="rect">
            <a:avLst/>
          </a:prstGeom>
          <a:solidFill>
            <a:srgbClr val="1B3A5C"/>
          </a:solidFill>
          <a:ln w="12700">
            <a:solidFill>
              <a:srgbClr val="1B3A5C"/>
            </a:solidFill>
            <a:prstDash val="solid"/>
          </a:ln>
        </p:spPr>
      </p:sp>
      <p:sp>
        <p:nvSpPr>
          <p:cNvPr id="30" name="Text 28"/>
          <p:cNvSpPr/>
          <p:nvPr/>
        </p:nvSpPr>
        <p:spPr>
          <a:xfrm>
            <a:off x="384048" y="3721608"/>
            <a:ext cx="5943600" cy="237744"/>
          </a:xfrm>
          <a:prstGeom prst="rect">
            <a:avLst/>
          </a:prstGeom>
          <a:noFill/>
          <a:ln/>
        </p:spPr>
        <p:txBody>
          <a:bodyPr wrap="square" lIns="0" tIns="0" rIns="0" bIns="0" rtlCol="0" anchor="ctr"/>
          <a:lstStyle/>
          <a:p>
            <a:pPr indent="0" marL="0">
              <a:buNone/>
            </a:pPr>
            <a:r>
              <a:rPr lang="en-US" sz="1250" b="1" dirty="0">
                <a:solidFill>
                  <a:srgbClr val="7D3C98"/>
                </a:solidFill>
                <a:latin typeface="Calibri" pitchFamily="34" charset="0"/>
                <a:ea typeface="Calibri" pitchFamily="34" charset="-122"/>
                <a:cs typeface="Calibri" pitchFamily="34" charset="-120"/>
              </a:rPr>
              <a:t>⚛️  Stuxnet (Natanz, Iran)</a:t>
            </a:r>
            <a:endParaRPr lang="en-US" sz="1250" dirty="0"/>
          </a:p>
        </p:txBody>
      </p:sp>
      <p:sp>
        <p:nvSpPr>
          <p:cNvPr id="31" name="Text 29"/>
          <p:cNvSpPr/>
          <p:nvPr/>
        </p:nvSpPr>
        <p:spPr>
          <a:xfrm>
            <a:off x="7772400" y="3721608"/>
            <a:ext cx="1051560" cy="237744"/>
          </a:xfrm>
          <a:prstGeom prst="rect">
            <a:avLst/>
          </a:prstGeom>
          <a:noFill/>
          <a:ln/>
        </p:spPr>
        <p:txBody>
          <a:bodyPr wrap="square" lIns="0" tIns="0" rIns="0" bIns="0" rtlCol="0" anchor="ctr"/>
          <a:lstStyle/>
          <a:p>
            <a:pPr algn="r" indent="0" marL="0">
              <a:buNone/>
            </a:pPr>
            <a:r>
              <a:rPr lang="en-US" sz="1200" b="1" dirty="0">
                <a:solidFill>
                  <a:srgbClr val="8FA3B1"/>
                </a:solidFill>
                <a:latin typeface="Calibri" pitchFamily="34" charset="0"/>
                <a:ea typeface="Calibri" pitchFamily="34" charset="-122"/>
                <a:cs typeface="Calibri" pitchFamily="34" charset="-120"/>
              </a:rPr>
              <a:t>2009–2010</a:t>
            </a:r>
            <a:endParaRPr lang="en-US" sz="1200" dirty="0"/>
          </a:p>
        </p:txBody>
      </p:sp>
      <p:sp>
        <p:nvSpPr>
          <p:cNvPr id="32" name="Text 30"/>
          <p:cNvSpPr/>
          <p:nvPr/>
        </p:nvSpPr>
        <p:spPr>
          <a:xfrm>
            <a:off x="32004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Attack</a:t>
            </a:r>
            <a:endParaRPr lang="en-US" sz="950" dirty="0"/>
          </a:p>
        </p:txBody>
      </p:sp>
      <p:sp>
        <p:nvSpPr>
          <p:cNvPr id="33" name="Text 31"/>
          <p:cNvSpPr/>
          <p:nvPr/>
        </p:nvSpPr>
        <p:spPr>
          <a:xfrm>
            <a:off x="32004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Centrifuge speed manipulation while spoofing normal readings to HMI. Classic Paper #9 + #31 combined in practice.</a:t>
            </a:r>
            <a:endParaRPr lang="en-US" sz="900" dirty="0"/>
          </a:p>
        </p:txBody>
      </p:sp>
      <p:sp>
        <p:nvSpPr>
          <p:cNvPr id="34" name="Text 32"/>
          <p:cNvSpPr/>
          <p:nvPr/>
        </p:nvSpPr>
        <p:spPr>
          <a:xfrm>
            <a:off x="329184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Recovery</a:t>
            </a:r>
            <a:endParaRPr lang="en-US" sz="950" dirty="0"/>
          </a:p>
        </p:txBody>
      </p:sp>
      <p:sp>
        <p:nvSpPr>
          <p:cNvPr id="35" name="Text 33"/>
          <p:cNvSpPr/>
          <p:nvPr/>
        </p:nvSpPr>
        <p:spPr>
          <a:xfrm>
            <a:off x="329184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Operators unaware of attack for months — no process invariant checker existed. Physical centrifuge damage discovered only after fact. Forensic reconstruction of attack timeline took years.</a:t>
            </a:r>
            <a:endParaRPr lang="en-US" sz="900" dirty="0"/>
          </a:p>
        </p:txBody>
      </p:sp>
      <p:sp>
        <p:nvSpPr>
          <p:cNvPr id="36" name="Text 34"/>
          <p:cNvSpPr/>
          <p:nvPr/>
        </p:nvSpPr>
        <p:spPr>
          <a:xfrm>
            <a:off x="6172200" y="4023360"/>
            <a:ext cx="2834640" cy="182880"/>
          </a:xfrm>
          <a:prstGeom prst="rect">
            <a:avLst/>
          </a:prstGeom>
          <a:noFill/>
          <a:ln/>
        </p:spPr>
        <p:txBody>
          <a:bodyPr wrap="square" lIns="0" tIns="0" rIns="0" bIns="0" rtlCol="0" anchor="ctr"/>
          <a:lstStyle/>
          <a:p>
            <a:pPr indent="0" marL="0">
              <a:buNone/>
            </a:pPr>
            <a:r>
              <a:rPr lang="en-US" sz="950" b="1" dirty="0">
                <a:solidFill>
                  <a:srgbClr val="7D3C98"/>
                </a:solidFill>
                <a:latin typeface="Calibri" pitchFamily="34" charset="0"/>
                <a:ea typeface="Calibri" pitchFamily="34" charset="-122"/>
                <a:cs typeface="Calibri" pitchFamily="34" charset="-120"/>
              </a:rPr>
              <a:t>Lesson for SWaT</a:t>
            </a:r>
            <a:endParaRPr lang="en-US" sz="950" dirty="0"/>
          </a:p>
        </p:txBody>
      </p:sp>
      <p:sp>
        <p:nvSpPr>
          <p:cNvPr id="37" name="Text 35"/>
          <p:cNvSpPr/>
          <p:nvPr/>
        </p:nvSpPr>
        <p:spPr>
          <a:xfrm>
            <a:off x="6172200" y="4224528"/>
            <a:ext cx="2834640" cy="713232"/>
          </a:xfrm>
          <a:prstGeom prst="rect">
            <a:avLst/>
          </a:prstGeom>
          <a:noFill/>
          <a:ln/>
        </p:spPr>
        <p:txBody>
          <a:bodyPr wrap="square" lIns="0" tIns="0" rIns="0" bIns="0" rtlCol="0" anchor="ctr"/>
          <a:lstStyle/>
          <a:p>
            <a:pPr indent="0" marL="0">
              <a:buNone/>
            </a:pPr>
            <a:r>
              <a:rPr lang="en-US" sz="900" dirty="0">
                <a:solidFill>
                  <a:srgbClr val="C9D6DF"/>
                </a:solidFill>
                <a:latin typeface="Calibri" pitchFamily="34" charset="0"/>
                <a:ea typeface="Calibri" pitchFamily="34" charset="-122"/>
                <a:cs typeface="Calibri" pitchFamily="34" charset="-120"/>
              </a:rPr>
              <a:t>Invariant-based detection would have caught actuator/sensor inconsistency immediately. Our I-7 equivalent (pump ON + valve state mismatch) fires in &lt;3 cycles. Recovery plan must pre-exist attack — post-hoc is too late.</a:t>
            </a:r>
            <a:endParaRPr lang="en-US" sz="900" dirty="0"/>
          </a:p>
        </p:txBody>
      </p:sp>
      <p:sp>
        <p:nvSpPr>
          <p:cNvPr id="38" name="Shape 36"/>
          <p:cNvSpPr/>
          <p:nvPr/>
        </p:nvSpPr>
        <p:spPr>
          <a:xfrm>
            <a:off x="0" y="4773168"/>
            <a:ext cx="9144000" cy="374904"/>
          </a:xfrm>
          <a:prstGeom prst="rect">
            <a:avLst/>
          </a:prstGeom>
          <a:solidFill>
            <a:srgbClr val="1B3A5C"/>
          </a:solidFill>
          <a:ln w="12700">
            <a:solidFill>
              <a:srgbClr val="1B3A5C"/>
            </a:solidFill>
            <a:prstDash val="solid"/>
          </a:ln>
        </p:spPr>
      </p:sp>
      <p:sp>
        <p:nvSpPr>
          <p:cNvPr id="39" name="Text 37"/>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Case Studies</a:t>
            </a:r>
            <a:endParaRPr lang="en-US" sz="10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Recovery Methods — Comparison Matrix for SWaT</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Evaluating each method against SWaT's specific constraints: real-time PLC timing, Modbus attack, sensor spoofing</a:t>
            </a:r>
            <a:endParaRPr lang="en-US" sz="1150" dirty="0"/>
          </a:p>
        </p:txBody>
      </p:sp>
      <p:sp>
        <p:nvSpPr>
          <p:cNvPr id="5" name="Shape 3"/>
          <p:cNvSpPr/>
          <p:nvPr/>
        </p:nvSpPr>
        <p:spPr>
          <a:xfrm>
            <a:off x="228600" y="914400"/>
            <a:ext cx="8686800" cy="438912"/>
          </a:xfrm>
          <a:prstGeom prst="rect">
            <a:avLst/>
          </a:prstGeom>
          <a:solidFill>
            <a:srgbClr val="1B3A5C"/>
          </a:solidFill>
          <a:ln w="12700">
            <a:solidFill>
              <a:srgbClr val="1B3A5C"/>
            </a:solidFill>
            <a:prstDash val="solid"/>
          </a:ln>
        </p:spPr>
      </p:sp>
      <p:sp>
        <p:nvSpPr>
          <p:cNvPr id="6" name="Text 4"/>
          <p:cNvSpPr/>
          <p:nvPr/>
        </p:nvSpPr>
        <p:spPr>
          <a:xfrm>
            <a:off x="283464" y="941832"/>
            <a:ext cx="173736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Method</a:t>
            </a:r>
            <a:endParaRPr lang="en-US" sz="950" dirty="0"/>
          </a:p>
        </p:txBody>
      </p:sp>
      <p:sp>
        <p:nvSpPr>
          <p:cNvPr id="7" name="Text 5"/>
          <p:cNvSpPr/>
          <p:nvPr/>
        </p:nvSpPr>
        <p:spPr>
          <a:xfrm>
            <a:off x="2039112" y="941832"/>
            <a:ext cx="132588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Recovery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3383280" y="941832"/>
            <a:ext cx="123444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Requires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9" name="Text 7"/>
          <p:cNvSpPr/>
          <p:nvPr/>
        </p:nvSpPr>
        <p:spPr>
          <a:xfrm>
            <a:off x="4636008" y="941832"/>
            <a:ext cx="118872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Handles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Spoofed Sensors</a:t>
            </a:r>
            <a:endParaRPr lang="en-US" sz="950" dirty="0"/>
          </a:p>
        </p:txBody>
      </p:sp>
      <p:sp>
        <p:nvSpPr>
          <p:cNvPr id="10" name="Text 8"/>
          <p:cNvSpPr/>
          <p:nvPr/>
        </p:nvSpPr>
        <p:spPr>
          <a:xfrm>
            <a:off x="5843016" y="941832"/>
            <a:ext cx="132588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Deployable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 SWaT</a:t>
            </a:r>
            <a:endParaRPr lang="en-US" sz="950" dirty="0"/>
          </a:p>
        </p:txBody>
      </p:sp>
      <p:sp>
        <p:nvSpPr>
          <p:cNvPr id="11" name="Text 9"/>
          <p:cNvSpPr/>
          <p:nvPr/>
        </p:nvSpPr>
        <p:spPr>
          <a:xfrm>
            <a:off x="7187184" y="941832"/>
            <a:ext cx="118872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Paper #9</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Coverage</a:t>
            </a:r>
            <a:endParaRPr lang="en-US" sz="950" dirty="0"/>
          </a:p>
        </p:txBody>
      </p:sp>
      <p:sp>
        <p:nvSpPr>
          <p:cNvPr id="12" name="Text 10"/>
          <p:cNvSpPr/>
          <p:nvPr/>
        </p:nvSpPr>
        <p:spPr>
          <a:xfrm>
            <a:off x="8394192" y="941832"/>
            <a:ext cx="1234440"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Paper #31</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Coverage</a:t>
            </a:r>
            <a:endParaRPr lang="en-US" sz="950" dirty="0"/>
          </a:p>
        </p:txBody>
      </p:sp>
      <p:sp>
        <p:nvSpPr>
          <p:cNvPr id="13" name="Shape 11"/>
          <p:cNvSpPr/>
          <p:nvPr/>
        </p:nvSpPr>
        <p:spPr>
          <a:xfrm>
            <a:off x="228600" y="1371600"/>
            <a:ext cx="8686800" cy="457200"/>
          </a:xfrm>
          <a:prstGeom prst="rect">
            <a:avLst/>
          </a:prstGeom>
          <a:solidFill>
            <a:srgbClr val="E8F5E9"/>
          </a:solidFill>
          <a:ln w="12700">
            <a:solidFill>
              <a:srgbClr val="E8F5E9"/>
            </a:solidFill>
            <a:prstDash val="solid"/>
          </a:ln>
        </p:spPr>
      </p:sp>
      <p:sp>
        <p:nvSpPr>
          <p:cNvPr id="14" name="Shape 12"/>
          <p:cNvSpPr/>
          <p:nvPr/>
        </p:nvSpPr>
        <p:spPr>
          <a:xfrm>
            <a:off x="228600" y="1371600"/>
            <a:ext cx="64008" cy="457200"/>
          </a:xfrm>
          <a:prstGeom prst="rect">
            <a:avLst/>
          </a:prstGeom>
          <a:solidFill>
            <a:srgbClr val="0A7E8C"/>
          </a:solidFill>
          <a:ln w="12700">
            <a:solidFill>
              <a:srgbClr val="0A7E8C"/>
            </a:solidFill>
            <a:prstDash val="solid"/>
          </a:ln>
        </p:spPr>
      </p:sp>
      <p:sp>
        <p:nvSpPr>
          <p:cNvPr id="15" name="Text 13"/>
          <p:cNvSpPr/>
          <p:nvPr/>
        </p:nvSpPr>
        <p:spPr>
          <a:xfrm>
            <a:off x="283464" y="1399032"/>
            <a:ext cx="1737360" cy="402336"/>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Safe State + Failover</a:t>
            </a:r>
            <a:endParaRPr lang="en-US" sz="950" dirty="0"/>
          </a:p>
          <a:p>
            <a:pPr algn="l" indent="0" marL="0">
              <a:buNone/>
            </a:pPr>
            <a:r>
              <a:rPr lang="en-US" sz="950" b="1" dirty="0">
                <a:solidFill>
                  <a:srgbClr val="0A1628"/>
                </a:solidFill>
                <a:latin typeface="Calibri" pitchFamily="34" charset="0"/>
                <a:ea typeface="Calibri" pitchFamily="34" charset="-122"/>
                <a:cs typeface="Calibri" pitchFamily="34" charset="-120"/>
              </a:rPr>
              <a:t>(Shallow — Ours)</a:t>
            </a:r>
            <a:endParaRPr lang="en-US" sz="950" dirty="0"/>
          </a:p>
        </p:txBody>
      </p:sp>
      <p:sp>
        <p:nvSpPr>
          <p:cNvPr id="16" name="Text 14"/>
          <p:cNvSpPr/>
          <p:nvPr/>
        </p:nvSpPr>
        <p:spPr>
          <a:xfrm>
            <a:off x="2039112" y="139903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15s</a:t>
            </a:r>
            <a:endParaRPr lang="en-US" sz="950" dirty="0"/>
          </a:p>
        </p:txBody>
      </p:sp>
      <p:sp>
        <p:nvSpPr>
          <p:cNvPr id="17" name="Text 15"/>
          <p:cNvSpPr/>
          <p:nvPr/>
        </p:nvSpPr>
        <p:spPr>
          <a:xfrm>
            <a:off x="3383280" y="1399032"/>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No</a:t>
            </a:r>
            <a:endParaRPr lang="en-US" sz="950" dirty="0"/>
          </a:p>
        </p:txBody>
      </p:sp>
      <p:sp>
        <p:nvSpPr>
          <p:cNvPr id="18" name="Text 16"/>
          <p:cNvSpPr/>
          <p:nvPr/>
        </p:nvSpPr>
        <p:spPr>
          <a:xfrm>
            <a:off x="4636008" y="1399032"/>
            <a:ext cx="1188720" cy="402336"/>
          </a:xfrm>
          <a:prstGeom prst="rect">
            <a:avLst/>
          </a:prstGeom>
          <a:noFill/>
          <a:ln/>
        </p:spPr>
        <p:txBody>
          <a:bodyPr wrap="square" lIns="0" tIns="0" rIns="0" bIns="0" rtlCol="0" anchor="ctr"/>
          <a:lstStyle/>
          <a:p>
            <a:pPr algn="ctr" indent="0" marL="0">
              <a:buNone/>
            </a:pPr>
            <a:r>
              <a:rPr lang="en-US" sz="950" dirty="0">
                <a:solidFill>
                  <a:srgbClr val="E67E22"/>
                </a:solidFill>
                <a:latin typeface="Calibri" pitchFamily="34" charset="0"/>
                <a:ea typeface="Calibri" pitchFamily="34" charset="-122"/>
                <a:cs typeface="Calibri" pitchFamily="34" charset="-120"/>
              </a:rPr>
              <a:t>Partial ⚠️</a:t>
            </a:r>
            <a:endParaRPr lang="en-US" sz="950" dirty="0"/>
          </a:p>
        </p:txBody>
      </p:sp>
      <p:sp>
        <p:nvSpPr>
          <p:cNvPr id="19" name="Text 17"/>
          <p:cNvSpPr/>
          <p:nvPr/>
        </p:nvSpPr>
        <p:spPr>
          <a:xfrm>
            <a:off x="5843016" y="1399032"/>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20" name="Text 18"/>
          <p:cNvSpPr/>
          <p:nvPr/>
        </p:nvSpPr>
        <p:spPr>
          <a:xfrm>
            <a:off x="7187184" y="1399032"/>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21" name="Text 19"/>
          <p:cNvSpPr/>
          <p:nvPr/>
        </p:nvSpPr>
        <p:spPr>
          <a:xfrm>
            <a:off x="8394192" y="1399032"/>
            <a:ext cx="1234440" cy="402336"/>
          </a:xfrm>
          <a:prstGeom prst="rect">
            <a:avLst/>
          </a:prstGeom>
          <a:noFill/>
          <a:ln/>
        </p:spPr>
        <p:txBody>
          <a:bodyPr wrap="square" lIns="0" tIns="0" rIns="0" bIns="0" rtlCol="0" anchor="ctr"/>
          <a:lstStyle/>
          <a:p>
            <a:pPr algn="ctr" indent="0" marL="0">
              <a:buNone/>
            </a:pPr>
            <a:r>
              <a:rPr lang="en-US" sz="950" dirty="0">
                <a:solidFill>
                  <a:srgbClr val="E67E22"/>
                </a:solidFill>
                <a:latin typeface="Calibri" pitchFamily="34" charset="0"/>
                <a:ea typeface="Calibri" pitchFamily="34" charset="-122"/>
                <a:cs typeface="Calibri" pitchFamily="34" charset="-120"/>
              </a:rPr>
              <a:t>Partial ⚠️</a:t>
            </a:r>
            <a:endParaRPr lang="en-US" sz="950" dirty="0"/>
          </a:p>
        </p:txBody>
      </p:sp>
      <p:sp>
        <p:nvSpPr>
          <p:cNvPr id="22" name="Shape 20"/>
          <p:cNvSpPr/>
          <p:nvPr/>
        </p:nvSpPr>
        <p:spPr>
          <a:xfrm>
            <a:off x="228600" y="1847088"/>
            <a:ext cx="8686800" cy="457200"/>
          </a:xfrm>
          <a:prstGeom prst="rect">
            <a:avLst/>
          </a:prstGeom>
          <a:solidFill>
            <a:srgbClr val="F5F8FA"/>
          </a:solidFill>
          <a:ln w="12700">
            <a:solidFill>
              <a:srgbClr val="F5F8FA"/>
            </a:solidFill>
            <a:prstDash val="solid"/>
          </a:ln>
        </p:spPr>
      </p:sp>
      <p:sp>
        <p:nvSpPr>
          <p:cNvPr id="23" name="Text 21"/>
          <p:cNvSpPr/>
          <p:nvPr/>
        </p:nvSpPr>
        <p:spPr>
          <a:xfrm>
            <a:off x="283464" y="1874520"/>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Checkpoint &amp; Restore</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(Kong et al. 2018)</a:t>
            </a:r>
            <a:endParaRPr lang="en-US" sz="950" dirty="0"/>
          </a:p>
        </p:txBody>
      </p:sp>
      <p:sp>
        <p:nvSpPr>
          <p:cNvPr id="24" name="Text 22"/>
          <p:cNvSpPr/>
          <p:nvPr/>
        </p:nvSpPr>
        <p:spPr>
          <a:xfrm>
            <a:off x="2039112" y="1874520"/>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Minutes</a:t>
            </a:r>
            <a:endParaRPr lang="en-US" sz="950" dirty="0"/>
          </a:p>
        </p:txBody>
      </p:sp>
      <p:sp>
        <p:nvSpPr>
          <p:cNvPr id="25" name="Text 23"/>
          <p:cNvSpPr/>
          <p:nvPr/>
        </p:nvSpPr>
        <p:spPr>
          <a:xfrm>
            <a:off x="3383280" y="1874520"/>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No</a:t>
            </a:r>
            <a:endParaRPr lang="en-US" sz="950" dirty="0"/>
          </a:p>
        </p:txBody>
      </p:sp>
      <p:sp>
        <p:nvSpPr>
          <p:cNvPr id="26" name="Text 24"/>
          <p:cNvSpPr/>
          <p:nvPr/>
        </p:nvSpPr>
        <p:spPr>
          <a:xfrm>
            <a:off x="4636008" y="1874520"/>
            <a:ext cx="1188720" cy="402336"/>
          </a:xfrm>
          <a:prstGeom prst="rect">
            <a:avLst/>
          </a:prstGeom>
          <a:noFill/>
          <a:ln/>
        </p:spPr>
        <p:txBody>
          <a:bodyPr wrap="square" lIns="0" tIns="0" rIns="0" bIns="0" rtlCol="0" anchor="ctr"/>
          <a:lstStyle/>
          <a:p>
            <a:pPr algn="ctr" indent="0" marL="0">
              <a:buNone/>
            </a:pPr>
            <a:r>
              <a:rPr lang="en-US" sz="950" dirty="0">
                <a:solidFill>
                  <a:srgbClr val="E74C3C"/>
                </a:solidFill>
                <a:latin typeface="Calibri" pitchFamily="34" charset="0"/>
                <a:ea typeface="Calibri" pitchFamily="34" charset="-122"/>
                <a:cs typeface="Calibri" pitchFamily="34" charset="-120"/>
              </a:rPr>
              <a:t>No ✗</a:t>
            </a:r>
            <a:endParaRPr lang="en-US" sz="950" dirty="0"/>
          </a:p>
        </p:txBody>
      </p:sp>
      <p:sp>
        <p:nvSpPr>
          <p:cNvPr id="27" name="Text 25"/>
          <p:cNvSpPr/>
          <p:nvPr/>
        </p:nvSpPr>
        <p:spPr>
          <a:xfrm>
            <a:off x="5843016" y="1874520"/>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HMI only</a:t>
            </a:r>
            <a:endParaRPr lang="en-US" sz="950" dirty="0"/>
          </a:p>
        </p:txBody>
      </p:sp>
      <p:sp>
        <p:nvSpPr>
          <p:cNvPr id="28" name="Text 26"/>
          <p:cNvSpPr/>
          <p:nvPr/>
        </p:nvSpPr>
        <p:spPr>
          <a:xfrm>
            <a:off x="7187184" y="187452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29" name="Text 27"/>
          <p:cNvSpPr/>
          <p:nvPr/>
        </p:nvSpPr>
        <p:spPr>
          <a:xfrm>
            <a:off x="8394192" y="1874520"/>
            <a:ext cx="1234440" cy="402336"/>
          </a:xfrm>
          <a:prstGeom prst="rect">
            <a:avLst/>
          </a:prstGeom>
          <a:noFill/>
          <a:ln/>
        </p:spPr>
        <p:txBody>
          <a:bodyPr wrap="square" lIns="0" tIns="0" rIns="0" bIns="0" rtlCol="0" anchor="ctr"/>
          <a:lstStyle/>
          <a:p>
            <a:pPr algn="ctr" indent="0" marL="0">
              <a:buNone/>
            </a:pPr>
            <a:r>
              <a:rPr lang="en-US" sz="950" dirty="0">
                <a:solidFill>
                  <a:srgbClr val="E74C3C"/>
                </a:solidFill>
                <a:latin typeface="Calibri" pitchFamily="34" charset="0"/>
                <a:ea typeface="Calibri" pitchFamily="34" charset="-122"/>
                <a:cs typeface="Calibri" pitchFamily="34" charset="-120"/>
              </a:rPr>
              <a:t>No ✗</a:t>
            </a:r>
            <a:endParaRPr lang="en-US" sz="950" dirty="0"/>
          </a:p>
        </p:txBody>
      </p:sp>
      <p:sp>
        <p:nvSpPr>
          <p:cNvPr id="30" name="Shape 28"/>
          <p:cNvSpPr/>
          <p:nvPr/>
        </p:nvSpPr>
        <p:spPr>
          <a:xfrm>
            <a:off x="228600" y="2322576"/>
            <a:ext cx="8686800" cy="457200"/>
          </a:xfrm>
          <a:prstGeom prst="rect">
            <a:avLst/>
          </a:prstGeom>
          <a:solidFill>
            <a:srgbClr val="FFFFFF"/>
          </a:solidFill>
          <a:ln w="12700">
            <a:solidFill>
              <a:srgbClr val="FFFFFF"/>
            </a:solidFill>
            <a:prstDash val="solid"/>
          </a:ln>
        </p:spPr>
      </p:sp>
      <p:sp>
        <p:nvSpPr>
          <p:cNvPr id="31" name="Text 29"/>
          <p:cNvSpPr/>
          <p:nvPr/>
        </p:nvSpPr>
        <p:spPr>
          <a:xfrm>
            <a:off x="283464" y="2350008"/>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Luenberger SSE</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(Lu &amp; Yang 2017)</a:t>
            </a:r>
            <a:endParaRPr lang="en-US" sz="950" dirty="0"/>
          </a:p>
        </p:txBody>
      </p:sp>
      <p:sp>
        <p:nvSpPr>
          <p:cNvPr id="32" name="Text 30"/>
          <p:cNvSpPr/>
          <p:nvPr/>
        </p:nvSpPr>
        <p:spPr>
          <a:xfrm>
            <a:off x="2039112" y="2350008"/>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1–3 cycles</a:t>
            </a:r>
            <a:endParaRPr lang="en-US" sz="950" dirty="0"/>
          </a:p>
        </p:txBody>
      </p:sp>
      <p:sp>
        <p:nvSpPr>
          <p:cNvPr id="33" name="Text 31"/>
          <p:cNvSpPr/>
          <p:nvPr/>
        </p:nvSpPr>
        <p:spPr>
          <a:xfrm>
            <a:off x="3383280" y="2350008"/>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Linear</a:t>
            </a:r>
            <a:endParaRPr lang="en-US" sz="950" dirty="0"/>
          </a:p>
        </p:txBody>
      </p:sp>
      <p:sp>
        <p:nvSpPr>
          <p:cNvPr id="34" name="Text 32"/>
          <p:cNvSpPr/>
          <p:nvPr/>
        </p:nvSpPr>
        <p:spPr>
          <a:xfrm>
            <a:off x="4636008" y="2350008"/>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35" name="Text 33"/>
          <p:cNvSpPr/>
          <p:nvPr/>
        </p:nvSpPr>
        <p:spPr>
          <a:xfrm>
            <a:off x="5843016" y="2350008"/>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36" name="Text 34"/>
          <p:cNvSpPr/>
          <p:nvPr/>
        </p:nvSpPr>
        <p:spPr>
          <a:xfrm>
            <a:off x="7187184" y="2350008"/>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37" name="Text 35"/>
          <p:cNvSpPr/>
          <p:nvPr/>
        </p:nvSpPr>
        <p:spPr>
          <a:xfrm>
            <a:off x="8394192" y="2350008"/>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38" name="Shape 36"/>
          <p:cNvSpPr/>
          <p:nvPr/>
        </p:nvSpPr>
        <p:spPr>
          <a:xfrm>
            <a:off x="228600" y="2798064"/>
            <a:ext cx="8686800" cy="457200"/>
          </a:xfrm>
          <a:prstGeom prst="rect">
            <a:avLst/>
          </a:prstGeom>
          <a:solidFill>
            <a:srgbClr val="F5F8FA"/>
          </a:solidFill>
          <a:ln w="12700">
            <a:solidFill>
              <a:srgbClr val="F5F8FA"/>
            </a:solidFill>
            <a:prstDash val="solid"/>
          </a:ln>
        </p:spPr>
      </p:sp>
      <p:sp>
        <p:nvSpPr>
          <p:cNvPr id="39" name="Text 37"/>
          <p:cNvSpPr/>
          <p:nvPr/>
        </p:nvSpPr>
        <p:spPr>
          <a:xfrm>
            <a:off x="283464" y="2825496"/>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Kalman Secure Est.</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(Chang et al. 2015)</a:t>
            </a:r>
            <a:endParaRPr lang="en-US" sz="950" dirty="0"/>
          </a:p>
        </p:txBody>
      </p:sp>
      <p:sp>
        <p:nvSpPr>
          <p:cNvPr id="40" name="Text 38"/>
          <p:cNvSpPr/>
          <p:nvPr/>
        </p:nvSpPr>
        <p:spPr>
          <a:xfrm>
            <a:off x="2039112" y="2825496"/>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1–3 cycles</a:t>
            </a:r>
            <a:endParaRPr lang="en-US" sz="950" dirty="0"/>
          </a:p>
        </p:txBody>
      </p:sp>
      <p:sp>
        <p:nvSpPr>
          <p:cNvPr id="41" name="Text 39"/>
          <p:cNvSpPr/>
          <p:nvPr/>
        </p:nvSpPr>
        <p:spPr>
          <a:xfrm>
            <a:off x="3383280" y="2825496"/>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Stochastic</a:t>
            </a:r>
            <a:endParaRPr lang="en-US" sz="950" dirty="0"/>
          </a:p>
        </p:txBody>
      </p:sp>
      <p:sp>
        <p:nvSpPr>
          <p:cNvPr id="42" name="Text 40"/>
          <p:cNvSpPr/>
          <p:nvPr/>
        </p:nvSpPr>
        <p:spPr>
          <a:xfrm>
            <a:off x="4636008" y="2825496"/>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43" name="Text 41"/>
          <p:cNvSpPr/>
          <p:nvPr/>
        </p:nvSpPr>
        <p:spPr>
          <a:xfrm>
            <a:off x="5843016" y="2825496"/>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44" name="Text 42"/>
          <p:cNvSpPr/>
          <p:nvPr/>
        </p:nvSpPr>
        <p:spPr>
          <a:xfrm>
            <a:off x="7187184" y="2825496"/>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45" name="Text 43"/>
          <p:cNvSpPr/>
          <p:nvPr/>
        </p:nvSpPr>
        <p:spPr>
          <a:xfrm>
            <a:off x="8394192" y="2825496"/>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46" name="Shape 44"/>
          <p:cNvSpPr/>
          <p:nvPr/>
        </p:nvSpPr>
        <p:spPr>
          <a:xfrm>
            <a:off x="228600" y="3273552"/>
            <a:ext cx="8686800" cy="457200"/>
          </a:xfrm>
          <a:prstGeom prst="rect">
            <a:avLst/>
          </a:prstGeom>
          <a:solidFill>
            <a:srgbClr val="FFFFFF"/>
          </a:solidFill>
          <a:ln w="12700">
            <a:solidFill>
              <a:srgbClr val="FFFFFF"/>
            </a:solidFill>
            <a:prstDash val="solid"/>
          </a:ln>
        </p:spPr>
      </p:sp>
      <p:sp>
        <p:nvSpPr>
          <p:cNvPr id="47" name="Text 45"/>
          <p:cNvSpPr/>
          <p:nvPr/>
        </p:nvSpPr>
        <p:spPr>
          <a:xfrm>
            <a:off x="283464" y="3300984"/>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Sliding Mode Obs.</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(Adaptive 2016)</a:t>
            </a:r>
            <a:endParaRPr lang="en-US" sz="950" dirty="0"/>
          </a:p>
        </p:txBody>
      </p:sp>
      <p:sp>
        <p:nvSpPr>
          <p:cNvPr id="48" name="Text 46"/>
          <p:cNvSpPr/>
          <p:nvPr/>
        </p:nvSpPr>
        <p:spPr>
          <a:xfrm>
            <a:off x="2039112" y="3300984"/>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1 cycle</a:t>
            </a:r>
            <a:endParaRPr lang="en-US" sz="950" dirty="0"/>
          </a:p>
        </p:txBody>
      </p:sp>
      <p:sp>
        <p:nvSpPr>
          <p:cNvPr id="49" name="Text 47"/>
          <p:cNvSpPr/>
          <p:nvPr/>
        </p:nvSpPr>
        <p:spPr>
          <a:xfrm>
            <a:off x="3383280" y="3300984"/>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Partial</a:t>
            </a:r>
            <a:endParaRPr lang="en-US" sz="950" dirty="0"/>
          </a:p>
        </p:txBody>
      </p:sp>
      <p:sp>
        <p:nvSpPr>
          <p:cNvPr id="50" name="Text 48"/>
          <p:cNvSpPr/>
          <p:nvPr/>
        </p:nvSpPr>
        <p:spPr>
          <a:xfrm>
            <a:off x="4636008" y="3300984"/>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Explicit</a:t>
            </a:r>
            <a:endParaRPr lang="en-US" sz="950" dirty="0"/>
          </a:p>
        </p:txBody>
      </p:sp>
      <p:sp>
        <p:nvSpPr>
          <p:cNvPr id="51" name="Text 49"/>
          <p:cNvSpPr/>
          <p:nvPr/>
        </p:nvSpPr>
        <p:spPr>
          <a:xfrm>
            <a:off x="5843016" y="3300984"/>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Feasible</a:t>
            </a:r>
            <a:endParaRPr lang="en-US" sz="950" dirty="0"/>
          </a:p>
        </p:txBody>
      </p:sp>
      <p:sp>
        <p:nvSpPr>
          <p:cNvPr id="52" name="Text 50"/>
          <p:cNvSpPr/>
          <p:nvPr/>
        </p:nvSpPr>
        <p:spPr>
          <a:xfrm>
            <a:off x="7187184" y="3300984"/>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53" name="Text 51"/>
          <p:cNvSpPr/>
          <p:nvPr/>
        </p:nvSpPr>
        <p:spPr>
          <a:xfrm>
            <a:off x="8394192" y="3300984"/>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Best</a:t>
            </a:r>
            <a:endParaRPr lang="en-US" sz="950" dirty="0"/>
          </a:p>
        </p:txBody>
      </p:sp>
      <p:sp>
        <p:nvSpPr>
          <p:cNvPr id="54" name="Shape 52"/>
          <p:cNvSpPr/>
          <p:nvPr/>
        </p:nvSpPr>
        <p:spPr>
          <a:xfrm>
            <a:off x="228600" y="3749040"/>
            <a:ext cx="8686800" cy="457200"/>
          </a:xfrm>
          <a:prstGeom prst="rect">
            <a:avLst/>
          </a:prstGeom>
          <a:solidFill>
            <a:srgbClr val="F5F8FA"/>
          </a:solidFill>
          <a:ln w="12700">
            <a:solidFill>
              <a:srgbClr val="F5F8FA"/>
            </a:solidFill>
            <a:prstDash val="solid"/>
          </a:ln>
        </p:spPr>
      </p:sp>
      <p:sp>
        <p:nvSpPr>
          <p:cNvPr id="55" name="Text 53"/>
          <p:cNvSpPr/>
          <p:nvPr/>
        </p:nvSpPr>
        <p:spPr>
          <a:xfrm>
            <a:off x="283464" y="3776472"/>
            <a:ext cx="1737360" cy="402336"/>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MPC Recovery</a:t>
            </a:r>
            <a:endParaRPr lang="en-US" sz="950" dirty="0"/>
          </a:p>
          <a:p>
            <a:pPr algn="l" indent="0" marL="0">
              <a:buNone/>
            </a:pPr>
            <a:r>
              <a:rPr lang="en-US" sz="950" dirty="0">
                <a:solidFill>
                  <a:srgbClr val="0A1628"/>
                </a:solidFill>
                <a:latin typeface="Calibri" pitchFamily="34" charset="0"/>
                <a:ea typeface="Calibri" pitchFamily="34" charset="-122"/>
                <a:cs typeface="Calibri" pitchFamily="34" charset="-120"/>
              </a:rPr>
              <a:t>(He et al. 2021)</a:t>
            </a:r>
            <a:endParaRPr lang="en-US" sz="950" dirty="0"/>
          </a:p>
        </p:txBody>
      </p:sp>
      <p:sp>
        <p:nvSpPr>
          <p:cNvPr id="56" name="Text 54"/>
          <p:cNvSpPr/>
          <p:nvPr/>
        </p:nvSpPr>
        <p:spPr>
          <a:xfrm>
            <a:off x="2039112" y="377647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Multi-cycle</a:t>
            </a:r>
            <a:endParaRPr lang="en-US" sz="950" dirty="0"/>
          </a:p>
        </p:txBody>
      </p:sp>
      <p:sp>
        <p:nvSpPr>
          <p:cNvPr id="57" name="Text 55"/>
          <p:cNvSpPr/>
          <p:nvPr/>
        </p:nvSpPr>
        <p:spPr>
          <a:xfrm>
            <a:off x="3383280" y="3776472"/>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Full MPC</a:t>
            </a:r>
            <a:endParaRPr lang="en-US" sz="950" dirty="0"/>
          </a:p>
        </p:txBody>
      </p:sp>
      <p:sp>
        <p:nvSpPr>
          <p:cNvPr id="58" name="Text 56"/>
          <p:cNvSpPr/>
          <p:nvPr/>
        </p:nvSpPr>
        <p:spPr>
          <a:xfrm>
            <a:off x="4636008" y="3776472"/>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59" name="Text 57"/>
          <p:cNvSpPr/>
          <p:nvPr/>
        </p:nvSpPr>
        <p:spPr>
          <a:xfrm>
            <a:off x="5843016" y="3776472"/>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Complex</a:t>
            </a:r>
            <a:endParaRPr lang="en-US" sz="950" dirty="0"/>
          </a:p>
        </p:txBody>
      </p:sp>
      <p:sp>
        <p:nvSpPr>
          <p:cNvPr id="60" name="Text 58"/>
          <p:cNvSpPr/>
          <p:nvPr/>
        </p:nvSpPr>
        <p:spPr>
          <a:xfrm>
            <a:off x="7187184" y="3776472"/>
            <a:ext cx="118872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Partial</a:t>
            </a:r>
            <a:endParaRPr lang="en-US" sz="950" dirty="0"/>
          </a:p>
        </p:txBody>
      </p:sp>
      <p:sp>
        <p:nvSpPr>
          <p:cNvPr id="61" name="Text 59"/>
          <p:cNvSpPr/>
          <p:nvPr/>
        </p:nvSpPr>
        <p:spPr>
          <a:xfrm>
            <a:off x="8394192" y="3776472"/>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62" name="Shape 60"/>
          <p:cNvSpPr/>
          <p:nvPr/>
        </p:nvSpPr>
        <p:spPr>
          <a:xfrm>
            <a:off x="228600" y="4224528"/>
            <a:ext cx="8686800" cy="457200"/>
          </a:xfrm>
          <a:prstGeom prst="rect">
            <a:avLst/>
          </a:prstGeom>
          <a:solidFill>
            <a:srgbClr val="E8F5E9"/>
          </a:solidFill>
          <a:ln w="12700">
            <a:solidFill>
              <a:srgbClr val="E8F5E9"/>
            </a:solidFill>
            <a:prstDash val="solid"/>
          </a:ln>
        </p:spPr>
      </p:sp>
      <p:sp>
        <p:nvSpPr>
          <p:cNvPr id="63" name="Shape 61"/>
          <p:cNvSpPr/>
          <p:nvPr/>
        </p:nvSpPr>
        <p:spPr>
          <a:xfrm>
            <a:off x="228600" y="4224528"/>
            <a:ext cx="64008" cy="457200"/>
          </a:xfrm>
          <a:prstGeom prst="rect">
            <a:avLst/>
          </a:prstGeom>
          <a:solidFill>
            <a:srgbClr val="0A7E8C"/>
          </a:solidFill>
          <a:ln w="12700">
            <a:solidFill>
              <a:srgbClr val="0A7E8C"/>
            </a:solidFill>
            <a:prstDash val="solid"/>
          </a:ln>
        </p:spPr>
      </p:sp>
      <p:sp>
        <p:nvSpPr>
          <p:cNvPr id="64" name="Text 62"/>
          <p:cNvSpPr/>
          <p:nvPr/>
        </p:nvSpPr>
        <p:spPr>
          <a:xfrm>
            <a:off x="283464" y="4251960"/>
            <a:ext cx="1737360" cy="402336"/>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Inv-Guided Re-entry</a:t>
            </a:r>
            <a:endParaRPr lang="en-US" sz="950" dirty="0"/>
          </a:p>
          <a:p>
            <a:pPr algn="l" indent="0" marL="0">
              <a:buNone/>
            </a:pPr>
            <a:r>
              <a:rPr lang="en-US" sz="950" b="1" dirty="0">
                <a:solidFill>
                  <a:srgbClr val="0A1628"/>
                </a:solidFill>
                <a:latin typeface="Calibri" pitchFamily="34" charset="0"/>
                <a:ea typeface="Calibri" pitchFamily="34" charset="-122"/>
                <a:cs typeface="Calibri" pitchFamily="34" charset="-120"/>
              </a:rPr>
              <a:t>(Proposed — Ours)</a:t>
            </a:r>
            <a:endParaRPr lang="en-US" sz="950" dirty="0"/>
          </a:p>
        </p:txBody>
      </p:sp>
      <p:sp>
        <p:nvSpPr>
          <p:cNvPr id="65" name="Text 63"/>
          <p:cNvSpPr/>
          <p:nvPr/>
        </p:nvSpPr>
        <p:spPr>
          <a:xfrm>
            <a:off x="2039112" y="4251960"/>
            <a:ext cx="132588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&lt; 30s</a:t>
            </a:r>
            <a:endParaRPr lang="en-US" sz="950" dirty="0"/>
          </a:p>
        </p:txBody>
      </p:sp>
      <p:sp>
        <p:nvSpPr>
          <p:cNvPr id="66" name="Text 64"/>
          <p:cNvSpPr/>
          <p:nvPr/>
        </p:nvSpPr>
        <p:spPr>
          <a:xfrm>
            <a:off x="3383280" y="4251960"/>
            <a:ext cx="1234440" cy="402336"/>
          </a:xfrm>
          <a:prstGeom prst="rect">
            <a:avLst/>
          </a:prstGeom>
          <a:noFill/>
          <a:ln/>
        </p:spPr>
        <p:txBody>
          <a:bodyPr wrap="square" lIns="0" tIns="0" rIns="0" bIns="0" rtlCol="0" anchor="ctr"/>
          <a:lstStyle/>
          <a:p>
            <a:pPr algn="ctr" indent="0" marL="0">
              <a:buNone/>
            </a:pPr>
            <a:r>
              <a:rPr lang="en-US" sz="950" dirty="0">
                <a:solidFill>
                  <a:srgbClr val="0A1628"/>
                </a:solidFill>
                <a:latin typeface="Calibri" pitchFamily="34" charset="0"/>
                <a:ea typeface="Calibri" pitchFamily="34" charset="-122"/>
                <a:cs typeface="Calibri" pitchFamily="34" charset="-120"/>
              </a:rPr>
              <a:t>ODE only</a:t>
            </a:r>
            <a:endParaRPr lang="en-US" sz="950" dirty="0"/>
          </a:p>
        </p:txBody>
      </p:sp>
      <p:sp>
        <p:nvSpPr>
          <p:cNvPr id="67" name="Text 65"/>
          <p:cNvSpPr/>
          <p:nvPr/>
        </p:nvSpPr>
        <p:spPr>
          <a:xfrm>
            <a:off x="4636008" y="425196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68" name="Text 66"/>
          <p:cNvSpPr/>
          <p:nvPr/>
        </p:nvSpPr>
        <p:spPr>
          <a:xfrm>
            <a:off x="5843016" y="4251960"/>
            <a:ext cx="132588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Yes</a:t>
            </a:r>
            <a:endParaRPr lang="en-US" sz="950" dirty="0"/>
          </a:p>
        </p:txBody>
      </p:sp>
      <p:sp>
        <p:nvSpPr>
          <p:cNvPr id="69" name="Text 67"/>
          <p:cNvSpPr/>
          <p:nvPr/>
        </p:nvSpPr>
        <p:spPr>
          <a:xfrm>
            <a:off x="7187184" y="4251960"/>
            <a:ext cx="118872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70" name="Text 68"/>
          <p:cNvSpPr/>
          <p:nvPr/>
        </p:nvSpPr>
        <p:spPr>
          <a:xfrm>
            <a:off x="8394192" y="4251960"/>
            <a:ext cx="1234440" cy="402336"/>
          </a:xfrm>
          <a:prstGeom prst="rect">
            <a:avLst/>
          </a:prstGeom>
          <a:noFill/>
          <a:ln/>
        </p:spPr>
        <p:txBody>
          <a:bodyPr wrap="square" lIns="0" tIns="0" rIns="0" bIns="0" rtlCol="0" anchor="ctr"/>
          <a:lstStyle/>
          <a:p>
            <a:pPr algn="ctr" indent="0" marL="0">
              <a:buNone/>
            </a:pPr>
            <a:r>
              <a:rPr lang="en-US" sz="950" dirty="0">
                <a:solidFill>
                  <a:srgbClr val="1A7A42"/>
                </a:solidFill>
                <a:latin typeface="Calibri" pitchFamily="34" charset="0"/>
                <a:ea typeface="Calibri" pitchFamily="34" charset="-122"/>
                <a:cs typeface="Calibri" pitchFamily="34" charset="-120"/>
              </a:rPr>
              <a:t>✓ Full</a:t>
            </a:r>
            <a:endParaRPr lang="en-US" sz="950" dirty="0"/>
          </a:p>
        </p:txBody>
      </p:sp>
      <p:sp>
        <p:nvSpPr>
          <p:cNvPr id="71" name="Shape 69"/>
          <p:cNvSpPr/>
          <p:nvPr/>
        </p:nvSpPr>
        <p:spPr>
          <a:xfrm>
            <a:off x="228600" y="4718304"/>
            <a:ext cx="8686800" cy="338328"/>
          </a:xfrm>
          <a:prstGeom prst="rect">
            <a:avLst/>
          </a:prstGeom>
          <a:solidFill>
            <a:srgbClr val="0A1628"/>
          </a:solidFill>
          <a:ln w="12700">
            <a:solidFill>
              <a:srgbClr val="0A1628"/>
            </a:solidFill>
            <a:prstDash val="solid"/>
          </a:ln>
        </p:spPr>
      </p:sp>
      <p:sp>
        <p:nvSpPr>
          <p:cNvPr id="72" name="Text 70"/>
          <p:cNvSpPr/>
          <p:nvPr/>
        </p:nvSpPr>
        <p:spPr>
          <a:xfrm>
            <a:off x="411480" y="4736592"/>
            <a:ext cx="8321040" cy="310896"/>
          </a:xfrm>
          <a:prstGeom prst="rect">
            <a:avLst/>
          </a:prstGeom>
          <a:noFill/>
          <a:ln/>
        </p:spPr>
        <p:txBody>
          <a:bodyPr wrap="square" lIns="0" tIns="0" rIns="0" bIns="0" rtlCol="0" anchor="ctr"/>
          <a:lstStyle/>
          <a:p>
            <a:pPr indent="0" marL="0">
              <a:buNone/>
            </a:pPr>
            <a:r>
              <a:rPr lang="en-US" sz="1050" b="1" dirty="0">
                <a:solidFill>
                  <a:srgbClr val="12B5C8"/>
                </a:solidFill>
                <a:latin typeface="Calibri" pitchFamily="34" charset="0"/>
                <a:ea typeface="Calibri" pitchFamily="34" charset="-122"/>
                <a:cs typeface="Calibri" pitchFamily="34" charset="-120"/>
              </a:rPr>
              <a:t xml:space="preserve">Recommended for SWaT:  </a:t>
            </a:r>
            <a:pPr indent="0" marL="0">
              <a:buNone/>
            </a:pPr>
            <a:r>
              <a:rPr lang="en-US" sz="1050" dirty="0">
                <a:solidFill>
                  <a:srgbClr val="E8EEF4"/>
                </a:solidFill>
                <a:latin typeface="Calibri" pitchFamily="34" charset="0"/>
                <a:ea typeface="Calibri" pitchFamily="34" charset="-122"/>
                <a:cs typeface="Calibri" pitchFamily="34" charset="-120"/>
              </a:rPr>
              <a:t>Deploy Shallow (Safe State + Failover) immediately — zero model requirements. Layer in Invariant-Guided Re-entry (proposed) for sensor-level recovery. Luenberger SSE is the academic stretch goal for full deep recovery.</a:t>
            </a:r>
            <a:endParaRPr lang="en-US" sz="1050" dirty="0"/>
          </a:p>
        </p:txBody>
      </p:sp>
      <p:sp>
        <p:nvSpPr>
          <p:cNvPr id="73" name="Shape 71"/>
          <p:cNvSpPr/>
          <p:nvPr/>
        </p:nvSpPr>
        <p:spPr>
          <a:xfrm>
            <a:off x="0" y="4773168"/>
            <a:ext cx="9144000" cy="374904"/>
          </a:xfrm>
          <a:prstGeom prst="rect">
            <a:avLst/>
          </a:prstGeom>
          <a:solidFill>
            <a:srgbClr val="1B3A5C"/>
          </a:solidFill>
          <a:ln w="12700">
            <a:solidFill>
              <a:srgbClr val="1B3A5C"/>
            </a:solidFill>
            <a:prstDash val="solid"/>
          </a:ln>
        </p:spPr>
      </p:sp>
      <p:sp>
        <p:nvSpPr>
          <p:cNvPr id="74" name="Text 72"/>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Comparison Matrix</a:t>
            </a:r>
            <a:endParaRPr lang="en-US" sz="10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7AE60"/>
          </a:solidFill>
          <a:ln w="12700">
            <a:solidFill>
              <a:srgbClr val="27AE60"/>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Integrated Recovery Architecture — SWaT</a:t>
            </a:r>
            <a:endParaRPr lang="en-US" sz="26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Combining shallow + deep recovery in a single automated pipeline triggered by the hybrid detector</a:t>
            </a:r>
            <a:endParaRPr lang="en-US" sz="1150" dirty="0"/>
          </a:p>
        </p:txBody>
      </p:sp>
      <p:sp>
        <p:nvSpPr>
          <p:cNvPr id="5" name="Shape 3"/>
          <p:cNvSpPr/>
          <p:nvPr/>
        </p:nvSpPr>
        <p:spPr>
          <a:xfrm>
            <a:off x="201168" y="987552"/>
            <a:ext cx="1325880" cy="457200"/>
          </a:xfrm>
          <a:prstGeom prst="rect">
            <a:avLst/>
          </a:prstGeom>
          <a:solidFill>
            <a:srgbClr val="E74C3C"/>
          </a:solidFill>
          <a:ln w="12700">
            <a:solidFill>
              <a:srgbClr val="E74C3C"/>
            </a:solidFill>
            <a:prstDash val="solid"/>
          </a:ln>
        </p:spPr>
      </p:sp>
      <p:sp>
        <p:nvSpPr>
          <p:cNvPr id="6" name="Text 4"/>
          <p:cNvSpPr/>
          <p:nvPr/>
        </p:nvSpPr>
        <p:spPr>
          <a:xfrm>
            <a:off x="201168"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DETECT</a:t>
            </a:r>
            <a:endParaRPr lang="en-US" sz="1100" dirty="0"/>
          </a:p>
        </p:txBody>
      </p:sp>
      <p:sp>
        <p:nvSpPr>
          <p:cNvPr id="7" name="Text 5"/>
          <p:cNvSpPr/>
          <p:nvPr/>
        </p:nvSpPr>
        <p:spPr>
          <a:xfrm>
            <a:off x="1545336"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201168"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Hybrid detector</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fusion score ≥ 1.5</a:t>
            </a:r>
            <a:endParaRPr lang="en-US" sz="850" dirty="0"/>
          </a:p>
        </p:txBody>
      </p:sp>
      <p:sp>
        <p:nvSpPr>
          <p:cNvPr id="9" name="Shape 7"/>
          <p:cNvSpPr/>
          <p:nvPr/>
        </p:nvSpPr>
        <p:spPr>
          <a:xfrm>
            <a:off x="521208" y="1883664"/>
            <a:ext cx="685800" cy="219456"/>
          </a:xfrm>
          <a:prstGeom prst="rect">
            <a:avLst/>
          </a:prstGeom>
          <a:solidFill>
            <a:srgbClr val="1A3A1A"/>
          </a:solidFill>
          <a:ln w="12700">
            <a:solidFill>
              <a:srgbClr val="1A3A1A"/>
            </a:solidFill>
            <a:prstDash val="solid"/>
          </a:ln>
        </p:spPr>
      </p:sp>
      <p:sp>
        <p:nvSpPr>
          <p:cNvPr id="10" name="Text 8"/>
          <p:cNvSpPr/>
          <p:nvPr/>
        </p:nvSpPr>
        <p:spPr>
          <a:xfrm>
            <a:off x="521208"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0s</a:t>
            </a:r>
            <a:endParaRPr lang="en-US" sz="900" dirty="0"/>
          </a:p>
        </p:txBody>
      </p:sp>
      <p:sp>
        <p:nvSpPr>
          <p:cNvPr id="11" name="Shape 9"/>
          <p:cNvSpPr/>
          <p:nvPr/>
        </p:nvSpPr>
        <p:spPr>
          <a:xfrm>
            <a:off x="1682496" y="987552"/>
            <a:ext cx="1325880" cy="457200"/>
          </a:xfrm>
          <a:prstGeom prst="rect">
            <a:avLst/>
          </a:prstGeom>
          <a:solidFill>
            <a:srgbClr val="E67E22"/>
          </a:solidFill>
          <a:ln w="12700">
            <a:solidFill>
              <a:srgbClr val="E67E22"/>
            </a:solidFill>
            <a:prstDash val="solid"/>
          </a:ln>
        </p:spPr>
      </p:sp>
      <p:sp>
        <p:nvSpPr>
          <p:cNvPr id="12" name="Text 10"/>
          <p:cNvSpPr/>
          <p:nvPr/>
        </p:nvSpPr>
        <p:spPr>
          <a:xfrm>
            <a:off x="1682496"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CONTAIN</a:t>
            </a:r>
            <a:endParaRPr lang="en-US" sz="1100" dirty="0"/>
          </a:p>
        </p:txBody>
      </p:sp>
      <p:sp>
        <p:nvSpPr>
          <p:cNvPr id="13" name="Text 11"/>
          <p:cNvSpPr/>
          <p:nvPr/>
        </p:nvSpPr>
        <p:spPr>
          <a:xfrm>
            <a:off x="3026664"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682496"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iptables block</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VLAN isolation</a:t>
            </a:r>
            <a:endParaRPr lang="en-US" sz="850" dirty="0"/>
          </a:p>
        </p:txBody>
      </p:sp>
      <p:sp>
        <p:nvSpPr>
          <p:cNvPr id="15" name="Shape 13"/>
          <p:cNvSpPr/>
          <p:nvPr/>
        </p:nvSpPr>
        <p:spPr>
          <a:xfrm>
            <a:off x="2002536" y="1883664"/>
            <a:ext cx="685800" cy="219456"/>
          </a:xfrm>
          <a:prstGeom prst="rect">
            <a:avLst/>
          </a:prstGeom>
          <a:solidFill>
            <a:srgbClr val="1A3A1A"/>
          </a:solidFill>
          <a:ln w="12700">
            <a:solidFill>
              <a:srgbClr val="1A3A1A"/>
            </a:solidFill>
            <a:prstDash val="solid"/>
          </a:ln>
        </p:spPr>
      </p:sp>
      <p:sp>
        <p:nvSpPr>
          <p:cNvPr id="16" name="Text 14"/>
          <p:cNvSpPr/>
          <p:nvPr/>
        </p:nvSpPr>
        <p:spPr>
          <a:xfrm>
            <a:off x="2002536"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&lt;3s</a:t>
            </a:r>
            <a:endParaRPr lang="en-US" sz="900" dirty="0"/>
          </a:p>
        </p:txBody>
      </p:sp>
      <p:sp>
        <p:nvSpPr>
          <p:cNvPr id="17" name="Shape 15"/>
          <p:cNvSpPr/>
          <p:nvPr/>
        </p:nvSpPr>
        <p:spPr>
          <a:xfrm>
            <a:off x="3163824" y="987552"/>
            <a:ext cx="1325880" cy="457200"/>
          </a:xfrm>
          <a:prstGeom prst="rect">
            <a:avLst/>
          </a:prstGeom>
          <a:solidFill>
            <a:srgbClr val="7D3C98"/>
          </a:solidFill>
          <a:ln w="12700">
            <a:solidFill>
              <a:srgbClr val="7D3C98"/>
            </a:solidFill>
            <a:prstDash val="solid"/>
          </a:ln>
        </p:spPr>
      </p:sp>
      <p:sp>
        <p:nvSpPr>
          <p:cNvPr id="18" name="Text 16"/>
          <p:cNvSpPr/>
          <p:nvPr/>
        </p:nvSpPr>
        <p:spPr>
          <a:xfrm>
            <a:off x="3163824"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SAFE STATE</a:t>
            </a:r>
            <a:endParaRPr lang="en-US" sz="1100" dirty="0"/>
          </a:p>
        </p:txBody>
      </p:sp>
      <p:sp>
        <p:nvSpPr>
          <p:cNvPr id="19" name="Text 17"/>
          <p:cNvSpPr/>
          <p:nvPr/>
        </p:nvSpPr>
        <p:spPr>
          <a:xfrm>
            <a:off x="4507992"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3163824"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Actuator reset</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PLC registers</a:t>
            </a:r>
            <a:endParaRPr lang="en-US" sz="850" dirty="0"/>
          </a:p>
        </p:txBody>
      </p:sp>
      <p:sp>
        <p:nvSpPr>
          <p:cNvPr id="21" name="Shape 19"/>
          <p:cNvSpPr/>
          <p:nvPr/>
        </p:nvSpPr>
        <p:spPr>
          <a:xfrm>
            <a:off x="3483864" y="1883664"/>
            <a:ext cx="685800" cy="219456"/>
          </a:xfrm>
          <a:prstGeom prst="rect">
            <a:avLst/>
          </a:prstGeom>
          <a:solidFill>
            <a:srgbClr val="1A3A1A"/>
          </a:solidFill>
          <a:ln w="12700">
            <a:solidFill>
              <a:srgbClr val="1A3A1A"/>
            </a:solidFill>
            <a:prstDash val="solid"/>
          </a:ln>
        </p:spPr>
      </p:sp>
      <p:sp>
        <p:nvSpPr>
          <p:cNvPr id="22" name="Text 20"/>
          <p:cNvSpPr/>
          <p:nvPr/>
        </p:nvSpPr>
        <p:spPr>
          <a:xfrm>
            <a:off x="3483864"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&lt;5s</a:t>
            </a:r>
            <a:endParaRPr lang="en-US" sz="900" dirty="0"/>
          </a:p>
        </p:txBody>
      </p:sp>
      <p:sp>
        <p:nvSpPr>
          <p:cNvPr id="23" name="Shape 21"/>
          <p:cNvSpPr/>
          <p:nvPr/>
        </p:nvSpPr>
        <p:spPr>
          <a:xfrm>
            <a:off x="4645152" y="987552"/>
            <a:ext cx="1325880" cy="457200"/>
          </a:xfrm>
          <a:prstGeom prst="rect">
            <a:avLst/>
          </a:prstGeom>
          <a:solidFill>
            <a:srgbClr val="2980B9"/>
          </a:solidFill>
          <a:ln w="12700">
            <a:solidFill>
              <a:srgbClr val="2980B9"/>
            </a:solidFill>
            <a:prstDash val="solid"/>
          </a:ln>
        </p:spPr>
      </p:sp>
      <p:sp>
        <p:nvSpPr>
          <p:cNvPr id="24" name="Text 22"/>
          <p:cNvSpPr/>
          <p:nvPr/>
        </p:nvSpPr>
        <p:spPr>
          <a:xfrm>
            <a:off x="4645152"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FAILOVER</a:t>
            </a:r>
            <a:endParaRPr lang="en-US" sz="1100" dirty="0"/>
          </a:p>
        </p:txBody>
      </p:sp>
      <p:sp>
        <p:nvSpPr>
          <p:cNvPr id="25" name="Text 23"/>
          <p:cNvSpPr/>
          <p:nvPr/>
        </p:nvSpPr>
        <p:spPr>
          <a:xfrm>
            <a:off x="5989320"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4645152"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PLC1B takes</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control (EIP)</a:t>
            </a:r>
            <a:endParaRPr lang="en-US" sz="850" dirty="0"/>
          </a:p>
        </p:txBody>
      </p:sp>
      <p:sp>
        <p:nvSpPr>
          <p:cNvPr id="27" name="Shape 25"/>
          <p:cNvSpPr/>
          <p:nvPr/>
        </p:nvSpPr>
        <p:spPr>
          <a:xfrm>
            <a:off x="4965192" y="1883664"/>
            <a:ext cx="685800" cy="219456"/>
          </a:xfrm>
          <a:prstGeom prst="rect">
            <a:avLst/>
          </a:prstGeom>
          <a:solidFill>
            <a:srgbClr val="1A3A1A"/>
          </a:solidFill>
          <a:ln w="12700">
            <a:solidFill>
              <a:srgbClr val="1A3A1A"/>
            </a:solidFill>
            <a:prstDash val="solid"/>
          </a:ln>
        </p:spPr>
      </p:sp>
      <p:sp>
        <p:nvSpPr>
          <p:cNvPr id="28" name="Text 26"/>
          <p:cNvSpPr/>
          <p:nvPr/>
        </p:nvSpPr>
        <p:spPr>
          <a:xfrm>
            <a:off x="4965192"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&lt;8s</a:t>
            </a:r>
            <a:endParaRPr lang="en-US" sz="900" dirty="0"/>
          </a:p>
        </p:txBody>
      </p:sp>
      <p:sp>
        <p:nvSpPr>
          <p:cNvPr id="29" name="Shape 27"/>
          <p:cNvSpPr/>
          <p:nvPr/>
        </p:nvSpPr>
        <p:spPr>
          <a:xfrm>
            <a:off x="6126480" y="987552"/>
            <a:ext cx="1325880" cy="457200"/>
          </a:xfrm>
          <a:prstGeom prst="rect">
            <a:avLst/>
          </a:prstGeom>
          <a:solidFill>
            <a:srgbClr val="0A7E8C"/>
          </a:solidFill>
          <a:ln w="12700">
            <a:solidFill>
              <a:srgbClr val="0A7E8C"/>
            </a:solidFill>
            <a:prstDash val="solid"/>
          </a:ln>
        </p:spPr>
      </p:sp>
      <p:sp>
        <p:nvSpPr>
          <p:cNvPr id="30" name="Text 28"/>
          <p:cNvSpPr/>
          <p:nvPr/>
        </p:nvSpPr>
        <p:spPr>
          <a:xfrm>
            <a:off x="6126480"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RECONSTRUCT</a:t>
            </a:r>
            <a:endParaRPr lang="en-US" sz="1100" dirty="0"/>
          </a:p>
        </p:txBody>
      </p:sp>
      <p:sp>
        <p:nvSpPr>
          <p:cNvPr id="31" name="Text 29"/>
          <p:cNvSpPr/>
          <p:nvPr/>
        </p:nvSpPr>
        <p:spPr>
          <a:xfrm>
            <a:off x="7470648" y="1069848"/>
            <a:ext cx="237744" cy="310896"/>
          </a:xfrm>
          <a:prstGeom prst="rect">
            <a:avLst/>
          </a:prstGeom>
          <a:noFill/>
          <a:ln/>
        </p:spPr>
        <p:txBody>
          <a:bodyPr wrap="square" lIns="0" tIns="0" rIns="0" bIns="0"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6126480"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SSE + invariant-</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guided re-entry</a:t>
            </a:r>
            <a:endParaRPr lang="en-US" sz="850" dirty="0"/>
          </a:p>
        </p:txBody>
      </p:sp>
      <p:sp>
        <p:nvSpPr>
          <p:cNvPr id="33" name="Shape 31"/>
          <p:cNvSpPr/>
          <p:nvPr/>
        </p:nvSpPr>
        <p:spPr>
          <a:xfrm>
            <a:off x="6446520" y="1883664"/>
            <a:ext cx="685800" cy="219456"/>
          </a:xfrm>
          <a:prstGeom prst="rect">
            <a:avLst/>
          </a:prstGeom>
          <a:solidFill>
            <a:srgbClr val="1A3A1A"/>
          </a:solidFill>
          <a:ln w="12700">
            <a:solidFill>
              <a:srgbClr val="1A3A1A"/>
            </a:solidFill>
            <a:prstDash val="solid"/>
          </a:ln>
        </p:spPr>
      </p:sp>
      <p:sp>
        <p:nvSpPr>
          <p:cNvPr id="34" name="Text 32"/>
          <p:cNvSpPr/>
          <p:nvPr/>
        </p:nvSpPr>
        <p:spPr>
          <a:xfrm>
            <a:off x="6446520"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&lt;30s</a:t>
            </a:r>
            <a:endParaRPr lang="en-US" sz="900" dirty="0"/>
          </a:p>
        </p:txBody>
      </p:sp>
      <p:sp>
        <p:nvSpPr>
          <p:cNvPr id="35" name="Shape 33"/>
          <p:cNvSpPr/>
          <p:nvPr/>
        </p:nvSpPr>
        <p:spPr>
          <a:xfrm>
            <a:off x="7607808" y="987552"/>
            <a:ext cx="1325880" cy="457200"/>
          </a:xfrm>
          <a:prstGeom prst="rect">
            <a:avLst/>
          </a:prstGeom>
          <a:solidFill>
            <a:srgbClr val="27AE60"/>
          </a:solidFill>
          <a:ln w="12700">
            <a:solidFill>
              <a:srgbClr val="27AE60"/>
            </a:solidFill>
            <a:prstDash val="solid"/>
          </a:ln>
        </p:spPr>
      </p:sp>
      <p:sp>
        <p:nvSpPr>
          <p:cNvPr id="36" name="Text 34"/>
          <p:cNvSpPr/>
          <p:nvPr/>
        </p:nvSpPr>
        <p:spPr>
          <a:xfrm>
            <a:off x="7607808" y="1005840"/>
            <a:ext cx="13258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RESUME</a:t>
            </a:r>
            <a:endParaRPr lang="en-US" sz="1100" dirty="0"/>
          </a:p>
        </p:txBody>
      </p:sp>
      <p:sp>
        <p:nvSpPr>
          <p:cNvPr id="37" name="Text 35"/>
          <p:cNvSpPr/>
          <p:nvPr/>
        </p:nvSpPr>
        <p:spPr>
          <a:xfrm>
            <a:off x="7607808" y="1463040"/>
            <a:ext cx="1325880" cy="402336"/>
          </a:xfrm>
          <a:prstGeom prst="rect">
            <a:avLst/>
          </a:prstGeom>
          <a:noFill/>
          <a:ln/>
        </p:spPr>
        <p:txBody>
          <a:bodyPr wrap="square" lIns="0" tIns="0" rIns="0" bIns="0" rtlCol="0" anchor="ctr"/>
          <a:lstStyle/>
          <a:p>
            <a:pPr algn="ctr" indent="0" marL="0">
              <a:buNone/>
            </a:pPr>
            <a:r>
              <a:rPr lang="en-US" sz="850" dirty="0">
                <a:solidFill>
                  <a:srgbClr val="C9D6DF"/>
                </a:solidFill>
                <a:latin typeface="Calibri" pitchFamily="34" charset="0"/>
                <a:ea typeface="Calibri" pitchFamily="34" charset="-122"/>
                <a:cs typeface="Calibri" pitchFamily="34" charset="-120"/>
              </a:rPr>
              <a:t>All invariants</a:t>
            </a:r>
            <a:endParaRPr lang="en-US" sz="850" dirty="0"/>
          </a:p>
          <a:p>
            <a:pPr algn="ctr" indent="0" marL="0">
              <a:buNone/>
            </a:pPr>
            <a:r>
              <a:rPr lang="en-US" sz="850" dirty="0">
                <a:solidFill>
                  <a:srgbClr val="C9D6DF"/>
                </a:solidFill>
                <a:latin typeface="Calibri" pitchFamily="34" charset="0"/>
                <a:ea typeface="Calibri" pitchFamily="34" charset="-122"/>
                <a:cs typeface="Calibri" pitchFamily="34" charset="-120"/>
              </a:rPr>
              <a:t>pass 5+ cycles</a:t>
            </a:r>
            <a:endParaRPr lang="en-US" sz="850" dirty="0"/>
          </a:p>
        </p:txBody>
      </p:sp>
      <p:sp>
        <p:nvSpPr>
          <p:cNvPr id="38" name="Shape 36"/>
          <p:cNvSpPr/>
          <p:nvPr/>
        </p:nvSpPr>
        <p:spPr>
          <a:xfrm>
            <a:off x="7927848" y="1883664"/>
            <a:ext cx="685800" cy="219456"/>
          </a:xfrm>
          <a:prstGeom prst="rect">
            <a:avLst/>
          </a:prstGeom>
          <a:solidFill>
            <a:srgbClr val="1A3A1A"/>
          </a:solidFill>
          <a:ln w="12700">
            <a:solidFill>
              <a:srgbClr val="1A3A1A"/>
            </a:solidFill>
            <a:prstDash val="solid"/>
          </a:ln>
        </p:spPr>
      </p:sp>
      <p:sp>
        <p:nvSpPr>
          <p:cNvPr id="39" name="Text 37"/>
          <p:cNvSpPr/>
          <p:nvPr/>
        </p:nvSpPr>
        <p:spPr>
          <a:xfrm>
            <a:off x="7927848" y="1901952"/>
            <a:ext cx="685800" cy="20116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&lt;60s</a:t>
            </a:r>
            <a:endParaRPr lang="en-US" sz="900" dirty="0"/>
          </a:p>
        </p:txBody>
      </p:sp>
      <p:sp>
        <p:nvSpPr>
          <p:cNvPr id="40" name="Shape 38"/>
          <p:cNvSpPr/>
          <p:nvPr/>
        </p:nvSpPr>
        <p:spPr>
          <a:xfrm>
            <a:off x="228600" y="2231136"/>
            <a:ext cx="4160520" cy="2377440"/>
          </a:xfrm>
          <a:prstGeom prst="rect">
            <a:avLst/>
          </a:prstGeom>
          <a:solidFill>
            <a:srgbClr val="1B3A5C"/>
          </a:solidFill>
          <a:ln w="12700">
            <a:solidFill>
              <a:srgbClr val="1B3A5C"/>
            </a:solidFill>
            <a:prstDash val="solid"/>
          </a:ln>
        </p:spPr>
      </p:sp>
      <p:sp>
        <p:nvSpPr>
          <p:cNvPr id="41" name="Shape 39"/>
          <p:cNvSpPr/>
          <p:nvPr/>
        </p:nvSpPr>
        <p:spPr>
          <a:xfrm>
            <a:off x="228600" y="2231136"/>
            <a:ext cx="64008" cy="2377440"/>
          </a:xfrm>
          <a:prstGeom prst="rect">
            <a:avLst/>
          </a:prstGeom>
          <a:solidFill>
            <a:srgbClr val="27AE60"/>
          </a:solidFill>
          <a:ln w="12700">
            <a:solidFill>
              <a:srgbClr val="27AE60"/>
            </a:solidFill>
            <a:prstDash val="solid"/>
          </a:ln>
        </p:spPr>
      </p:sp>
      <p:sp>
        <p:nvSpPr>
          <p:cNvPr id="42" name="Text 40"/>
          <p:cNvSpPr/>
          <p:nvPr/>
        </p:nvSpPr>
        <p:spPr>
          <a:xfrm>
            <a:off x="411480" y="2286000"/>
            <a:ext cx="3840480" cy="274320"/>
          </a:xfrm>
          <a:prstGeom prst="rect">
            <a:avLst/>
          </a:prstGeom>
          <a:noFill/>
          <a:ln/>
        </p:spPr>
        <p:txBody>
          <a:bodyPr wrap="square" lIns="0" tIns="0" rIns="0" bIns="0" rtlCol="0" anchor="ctr"/>
          <a:lstStyle/>
          <a:p>
            <a:pPr indent="0" marL="0">
              <a:buNone/>
            </a:pPr>
            <a:r>
              <a:rPr lang="en-US" sz="1300" b="1" dirty="0">
                <a:solidFill>
                  <a:srgbClr val="27AE60"/>
                </a:solidFill>
                <a:latin typeface="Calibri" pitchFamily="34" charset="0"/>
                <a:ea typeface="Calibri" pitchFamily="34" charset="-122"/>
                <a:cs typeface="Calibri" pitchFamily="34" charset="-120"/>
              </a:rPr>
              <a:t>Path A — Shallow Recovery (Immediate)</a:t>
            </a:r>
            <a:endParaRPr lang="en-US" sz="1300" dirty="0"/>
          </a:p>
        </p:txBody>
      </p:sp>
      <p:sp>
        <p:nvSpPr>
          <p:cNvPr id="43" name="Text 41"/>
          <p:cNvSpPr/>
          <p:nvPr/>
        </p:nvSpPr>
        <p:spPr>
          <a:xfrm>
            <a:off x="411480" y="2578608"/>
            <a:ext cx="384048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Deployed in SWaT today — no additional development needed</a:t>
            </a:r>
            <a:endParaRPr lang="en-US" sz="1000" dirty="0"/>
          </a:p>
        </p:txBody>
      </p:sp>
      <p:sp>
        <p:nvSpPr>
          <p:cNvPr id="44" name="Text 42"/>
          <p:cNvSpPr/>
          <p:nvPr/>
        </p:nvSpPr>
        <p:spPr>
          <a:xfrm>
            <a:off x="411480" y="2816352"/>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recovery_agent.py runs automatically on ALERT</a:t>
            </a:r>
            <a:endParaRPr lang="en-US" sz="1000" dirty="0"/>
          </a:p>
        </p:txBody>
      </p:sp>
      <p:sp>
        <p:nvSpPr>
          <p:cNvPr id="45" name="Text 43"/>
          <p:cNvSpPr/>
          <p:nvPr/>
        </p:nvSpPr>
        <p:spPr>
          <a:xfrm>
            <a:off x="411480" y="3118104"/>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iptables: drop port 502 from attacker MAC</a:t>
            </a:r>
            <a:endParaRPr lang="en-US" sz="1000" dirty="0"/>
          </a:p>
        </p:txBody>
      </p:sp>
      <p:sp>
        <p:nvSpPr>
          <p:cNvPr id="46" name="Text 44"/>
          <p:cNvSpPr/>
          <p:nvPr/>
        </p:nvSpPr>
        <p:spPr>
          <a:xfrm>
            <a:off x="411480" y="3419856"/>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Write safe-state dict to PLC1 coil registers via pyModbus</a:t>
            </a:r>
            <a:endParaRPr lang="en-US" sz="1000" dirty="0"/>
          </a:p>
        </p:txBody>
      </p:sp>
      <p:sp>
        <p:nvSpPr>
          <p:cNvPr id="47" name="Text 45"/>
          <p:cNvSpPr/>
          <p:nvPr/>
        </p:nvSpPr>
        <p:spPr>
          <a:xfrm>
            <a:off x="411480" y="3721608"/>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EtherNet/IP handshake activates PLC1B as primary</a:t>
            </a:r>
            <a:endParaRPr lang="en-US" sz="1000" dirty="0"/>
          </a:p>
        </p:txBody>
      </p:sp>
      <p:sp>
        <p:nvSpPr>
          <p:cNvPr id="48" name="Text 46"/>
          <p:cNvSpPr/>
          <p:nvPr/>
        </p:nvSpPr>
        <p:spPr>
          <a:xfrm>
            <a:off x="411480" y="4023360"/>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Human engineer verifies physically before final resume</a:t>
            </a:r>
            <a:endParaRPr lang="en-US" sz="1000" dirty="0"/>
          </a:p>
        </p:txBody>
      </p:sp>
      <p:sp>
        <p:nvSpPr>
          <p:cNvPr id="49" name="Text 47"/>
          <p:cNvSpPr/>
          <p:nvPr/>
        </p:nvSpPr>
        <p:spPr>
          <a:xfrm>
            <a:off x="411480" y="4325112"/>
            <a:ext cx="384048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Total time target: &lt; 15 seconds</a:t>
            </a:r>
            <a:endParaRPr lang="en-US" sz="1000" dirty="0"/>
          </a:p>
        </p:txBody>
      </p:sp>
      <p:sp>
        <p:nvSpPr>
          <p:cNvPr id="50" name="Shape 48"/>
          <p:cNvSpPr/>
          <p:nvPr/>
        </p:nvSpPr>
        <p:spPr>
          <a:xfrm>
            <a:off x="4617720" y="2231136"/>
            <a:ext cx="4297680" cy="2377440"/>
          </a:xfrm>
          <a:prstGeom prst="rect">
            <a:avLst/>
          </a:prstGeom>
          <a:solidFill>
            <a:srgbClr val="1B3A5C"/>
          </a:solidFill>
          <a:ln w="12700">
            <a:solidFill>
              <a:srgbClr val="1B3A5C"/>
            </a:solidFill>
            <a:prstDash val="solid"/>
          </a:ln>
        </p:spPr>
      </p:sp>
      <p:sp>
        <p:nvSpPr>
          <p:cNvPr id="51" name="Shape 49"/>
          <p:cNvSpPr/>
          <p:nvPr/>
        </p:nvSpPr>
        <p:spPr>
          <a:xfrm>
            <a:off x="4617720" y="2231136"/>
            <a:ext cx="64008" cy="2377440"/>
          </a:xfrm>
          <a:prstGeom prst="rect">
            <a:avLst/>
          </a:prstGeom>
          <a:solidFill>
            <a:srgbClr val="0A7E8C"/>
          </a:solidFill>
          <a:ln w="12700">
            <a:solidFill>
              <a:srgbClr val="0A7E8C"/>
            </a:solidFill>
            <a:prstDash val="solid"/>
          </a:ln>
        </p:spPr>
      </p:sp>
      <p:sp>
        <p:nvSpPr>
          <p:cNvPr id="52" name="Text 50"/>
          <p:cNvSpPr/>
          <p:nvPr/>
        </p:nvSpPr>
        <p:spPr>
          <a:xfrm>
            <a:off x="4800600" y="2286000"/>
            <a:ext cx="3931920" cy="274320"/>
          </a:xfrm>
          <a:prstGeom prst="rect">
            <a:avLst/>
          </a:prstGeom>
          <a:noFill/>
          <a:ln/>
        </p:spPr>
        <p:txBody>
          <a:bodyPr wrap="square" lIns="0" tIns="0" rIns="0" bIns="0" rtlCol="0" anchor="ctr"/>
          <a:lstStyle/>
          <a:p>
            <a:pPr indent="0" marL="0">
              <a:buNone/>
            </a:pPr>
            <a:r>
              <a:rPr lang="en-US" sz="1300" b="1" dirty="0">
                <a:solidFill>
                  <a:srgbClr val="12B5C8"/>
                </a:solidFill>
                <a:latin typeface="Calibri" pitchFamily="34" charset="0"/>
                <a:ea typeface="Calibri" pitchFamily="34" charset="-122"/>
                <a:cs typeface="Calibri" pitchFamily="34" charset="-120"/>
              </a:rPr>
              <a:t>Path B — Deep Recovery (Research Extension)</a:t>
            </a:r>
            <a:endParaRPr lang="en-US" sz="1300" dirty="0"/>
          </a:p>
        </p:txBody>
      </p:sp>
      <p:sp>
        <p:nvSpPr>
          <p:cNvPr id="53" name="Text 51"/>
          <p:cNvSpPr/>
          <p:nvPr/>
        </p:nvSpPr>
        <p:spPr>
          <a:xfrm>
            <a:off x="4800600" y="2578608"/>
            <a:ext cx="3931920" cy="182880"/>
          </a:xfrm>
          <a:prstGeom prst="rect">
            <a:avLst/>
          </a:prstGeom>
          <a:noFill/>
          <a:ln/>
        </p:spPr>
        <p:txBody>
          <a:bodyPr wrap="square" lIns="0" tIns="0" rIns="0" bIns="0" rtlCol="0" anchor="ctr"/>
          <a:lstStyle/>
          <a:p>
            <a:pPr indent="0" marL="0">
              <a:buNone/>
            </a:pPr>
            <a:r>
              <a:rPr lang="en-US" sz="1000" i="1" dirty="0">
                <a:solidFill>
                  <a:srgbClr val="8FA3B1"/>
                </a:solidFill>
                <a:latin typeface="Calibri" pitchFamily="34" charset="0"/>
                <a:ea typeface="Calibri" pitchFamily="34" charset="-122"/>
                <a:cs typeface="Calibri" pitchFamily="34" charset="-120"/>
              </a:rPr>
              <a:t>Extends shallow — adds sensor-level reconstruction</a:t>
            </a:r>
            <a:endParaRPr lang="en-US" sz="1000" dirty="0"/>
          </a:p>
        </p:txBody>
      </p:sp>
      <p:sp>
        <p:nvSpPr>
          <p:cNvPr id="54" name="Text 52"/>
          <p:cNvSpPr/>
          <p:nvPr/>
        </p:nvSpPr>
        <p:spPr>
          <a:xfrm>
            <a:off x="4800600" y="2816352"/>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Luenberger SSE runs on parallel thread during attack</a:t>
            </a:r>
            <a:endParaRPr lang="en-US" sz="1000" dirty="0"/>
          </a:p>
        </p:txBody>
      </p:sp>
      <p:sp>
        <p:nvSpPr>
          <p:cNvPr id="55" name="Text 53"/>
          <p:cNvSpPr/>
          <p:nvPr/>
        </p:nvSpPr>
        <p:spPr>
          <a:xfrm>
            <a:off x="4800600" y="3118104"/>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Reconstructs LIT101/FIT101 from uncorrupted subset</a:t>
            </a:r>
            <a:endParaRPr lang="en-US" sz="1000" dirty="0"/>
          </a:p>
        </p:txBody>
      </p:sp>
      <p:sp>
        <p:nvSpPr>
          <p:cNvPr id="56" name="Text 54"/>
          <p:cNvSpPr/>
          <p:nvPr/>
        </p:nvSpPr>
        <p:spPr>
          <a:xfrm>
            <a:off x="4800600" y="3419856"/>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Invariant-guided re-entry gates each sensor re-acceptance</a:t>
            </a:r>
            <a:endParaRPr lang="en-US" sz="1000" dirty="0"/>
          </a:p>
        </p:txBody>
      </p:sp>
      <p:sp>
        <p:nvSpPr>
          <p:cNvPr id="57" name="Text 55"/>
          <p:cNvSpPr/>
          <p:nvPr/>
        </p:nvSpPr>
        <p:spPr>
          <a:xfrm>
            <a:off x="4800600" y="3721608"/>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ODE-predicted LIT101 compared with SSE estimate</a:t>
            </a:r>
            <a:endParaRPr lang="en-US" sz="1000" dirty="0"/>
          </a:p>
        </p:txBody>
      </p:sp>
      <p:sp>
        <p:nvSpPr>
          <p:cNvPr id="58" name="Text 56"/>
          <p:cNvSpPr/>
          <p:nvPr/>
        </p:nvSpPr>
        <p:spPr>
          <a:xfrm>
            <a:off x="4800600" y="4023360"/>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Accept sensor only if ODE, SSE, and invariant agree</a:t>
            </a:r>
            <a:endParaRPr lang="en-US" sz="1000" dirty="0"/>
          </a:p>
        </p:txBody>
      </p:sp>
      <p:sp>
        <p:nvSpPr>
          <p:cNvPr id="59" name="Text 57"/>
          <p:cNvSpPr/>
          <p:nvPr/>
        </p:nvSpPr>
        <p:spPr>
          <a:xfrm>
            <a:off x="4800600" y="4325112"/>
            <a:ext cx="3931920" cy="274320"/>
          </a:xfrm>
          <a:prstGeom prst="rect">
            <a:avLst/>
          </a:prstGeom>
          <a:noFill/>
          <a:ln/>
        </p:spPr>
        <p:txBody>
          <a:bodyPr wrap="square" lIns="0" tIns="0" rIns="0" bIns="0"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Full automated resume — no human required</a:t>
            </a:r>
            <a:endParaRPr lang="en-US" sz="1000" dirty="0"/>
          </a:p>
        </p:txBody>
      </p:sp>
      <p:sp>
        <p:nvSpPr>
          <p:cNvPr id="60" name="Shape 58"/>
          <p:cNvSpPr/>
          <p:nvPr/>
        </p:nvSpPr>
        <p:spPr>
          <a:xfrm>
            <a:off x="0" y="4773168"/>
            <a:ext cx="9144000" cy="374904"/>
          </a:xfrm>
          <a:prstGeom prst="rect">
            <a:avLst/>
          </a:prstGeom>
          <a:solidFill>
            <a:srgbClr val="1B3A5C"/>
          </a:solidFill>
          <a:ln w="12700">
            <a:solidFill>
              <a:srgbClr val="1B3A5C"/>
            </a:solidFill>
            <a:prstDash val="solid"/>
          </a:ln>
        </p:spPr>
      </p:sp>
      <p:sp>
        <p:nvSpPr>
          <p:cNvPr id="61" name="Text 59"/>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Integrated Architecture</a:t>
            </a:r>
            <a:endParaRPr lang="en-US" sz="10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7E8C"/>
          </a:solidFill>
          <a:ln w="12700">
            <a:solidFill>
              <a:srgbClr val="0A7E8C"/>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indent="0" marL="0">
              <a:buNone/>
            </a:pPr>
            <a:r>
              <a:rPr lang="en-US" sz="2500" b="1" dirty="0">
                <a:solidFill>
                  <a:srgbClr val="0A1628"/>
                </a:solidFill>
                <a:latin typeface="Calibri" pitchFamily="34" charset="0"/>
                <a:ea typeface="Calibri" pitchFamily="34" charset="-122"/>
                <a:cs typeface="Calibri" pitchFamily="34" charset="-120"/>
              </a:rPr>
              <a:t>Implementation Plan &amp; Open Research Challenges</a:t>
            </a:r>
            <a:endParaRPr lang="en-US" sz="25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indent="0" marL="0">
              <a:buNone/>
            </a:pPr>
            <a:r>
              <a:rPr lang="en-US" sz="1150" i="1" dirty="0">
                <a:solidFill>
                  <a:srgbClr val="8FA3B1"/>
                </a:solidFill>
                <a:latin typeface="Calibri" pitchFamily="34" charset="0"/>
                <a:ea typeface="Calibri" pitchFamily="34" charset="-122"/>
                <a:cs typeface="Calibri" pitchFamily="34" charset="-120"/>
              </a:rPr>
              <a:t>What we can build now vs what remains as open problems worth studying</a:t>
            </a:r>
            <a:endParaRPr lang="en-US" sz="1150" dirty="0"/>
          </a:p>
        </p:txBody>
      </p:sp>
      <p:sp>
        <p:nvSpPr>
          <p:cNvPr id="5" name="Shape 3"/>
          <p:cNvSpPr/>
          <p:nvPr/>
        </p:nvSpPr>
        <p:spPr>
          <a:xfrm>
            <a:off x="228600" y="914400"/>
            <a:ext cx="4160520" cy="3794760"/>
          </a:xfrm>
          <a:prstGeom prst="rect">
            <a:avLst/>
          </a:prstGeom>
          <a:solidFill>
            <a:srgbClr val="FFFFFF"/>
          </a:solidFill>
          <a:ln w="12700">
            <a:solidFill>
              <a:srgbClr val="FFFFFF"/>
            </a:solidFill>
            <a:prstDash val="solid"/>
          </a:ln>
        </p:spPr>
      </p:sp>
      <p:sp>
        <p:nvSpPr>
          <p:cNvPr id="6" name="Shape 4"/>
          <p:cNvSpPr/>
          <p:nvPr/>
        </p:nvSpPr>
        <p:spPr>
          <a:xfrm>
            <a:off x="228600" y="914400"/>
            <a:ext cx="64008" cy="3794760"/>
          </a:xfrm>
          <a:prstGeom prst="rect">
            <a:avLst/>
          </a:prstGeom>
          <a:solidFill>
            <a:srgbClr val="27AE60"/>
          </a:solidFill>
          <a:ln w="12700">
            <a:solidFill>
              <a:srgbClr val="27AE60"/>
            </a:solidFill>
            <a:prstDash val="solid"/>
          </a:ln>
        </p:spPr>
      </p:sp>
      <p:sp>
        <p:nvSpPr>
          <p:cNvPr id="7" name="Text 5"/>
          <p:cNvSpPr/>
          <p:nvPr/>
        </p:nvSpPr>
        <p:spPr>
          <a:xfrm>
            <a:off x="411480" y="978408"/>
            <a:ext cx="3840480" cy="292608"/>
          </a:xfrm>
          <a:prstGeom prst="rect">
            <a:avLst/>
          </a:prstGeom>
          <a:noFill/>
          <a:ln/>
        </p:spPr>
        <p:txBody>
          <a:bodyPr wrap="square" lIns="0" tIns="0" rIns="0" bIns="0" rtlCol="0" anchor="ctr"/>
          <a:lstStyle/>
          <a:p>
            <a:pPr indent="0" marL="0">
              <a:buNone/>
            </a:pPr>
            <a:r>
              <a:rPr lang="en-US" sz="1350" b="1" dirty="0">
                <a:solidFill>
                  <a:srgbClr val="1A7A42"/>
                </a:solidFill>
                <a:latin typeface="Calibri" pitchFamily="34" charset="0"/>
                <a:ea typeface="Calibri" pitchFamily="34" charset="-122"/>
                <a:cs typeface="Calibri" pitchFamily="34" charset="-120"/>
              </a:rPr>
              <a:t>Buildable Now — Project Deliverables</a:t>
            </a:r>
            <a:endParaRPr lang="en-US" sz="1350" dirty="0"/>
          </a:p>
        </p:txBody>
      </p:sp>
      <p:sp>
        <p:nvSpPr>
          <p:cNvPr id="8" name="Shape 6"/>
          <p:cNvSpPr/>
          <p:nvPr/>
        </p:nvSpPr>
        <p:spPr>
          <a:xfrm>
            <a:off x="347472" y="1353312"/>
            <a:ext cx="685800" cy="237744"/>
          </a:xfrm>
          <a:prstGeom prst="rect">
            <a:avLst/>
          </a:prstGeom>
          <a:solidFill>
            <a:srgbClr val="27AE60"/>
          </a:solidFill>
          <a:ln w="12700">
            <a:solidFill>
              <a:srgbClr val="27AE60"/>
            </a:solidFill>
            <a:prstDash val="solid"/>
          </a:ln>
        </p:spPr>
      </p:sp>
      <p:sp>
        <p:nvSpPr>
          <p:cNvPr id="9" name="Text 7"/>
          <p:cNvSpPr/>
          <p:nvPr/>
        </p:nvSpPr>
        <p:spPr>
          <a:xfrm>
            <a:off x="347472" y="1353312"/>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10" name="Text 8"/>
          <p:cNvSpPr/>
          <p:nvPr/>
        </p:nvSpPr>
        <p:spPr>
          <a:xfrm>
            <a:off x="1097280" y="1353312"/>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recovery_agent.py</a:t>
            </a:r>
            <a:endParaRPr lang="en-US" sz="1050" dirty="0"/>
          </a:p>
        </p:txBody>
      </p:sp>
      <p:sp>
        <p:nvSpPr>
          <p:cNvPr id="11" name="Text 9"/>
          <p:cNvSpPr/>
          <p:nvPr/>
        </p:nvSpPr>
        <p:spPr>
          <a:xfrm>
            <a:off x="411480" y="1600200"/>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Automated safe-state writer + iptables containment + PLC1B handshake trigger. Uses pyModbus + pyEthernetIP.</a:t>
            </a:r>
            <a:endParaRPr lang="en-US" sz="950" dirty="0"/>
          </a:p>
        </p:txBody>
      </p:sp>
      <p:sp>
        <p:nvSpPr>
          <p:cNvPr id="12" name="Shape 10"/>
          <p:cNvSpPr/>
          <p:nvPr/>
        </p:nvSpPr>
        <p:spPr>
          <a:xfrm>
            <a:off x="347472" y="2011680"/>
            <a:ext cx="685800" cy="237744"/>
          </a:xfrm>
          <a:prstGeom prst="rect">
            <a:avLst/>
          </a:prstGeom>
          <a:solidFill>
            <a:srgbClr val="27AE60"/>
          </a:solidFill>
          <a:ln w="12700">
            <a:solidFill>
              <a:srgbClr val="27AE60"/>
            </a:solidFill>
            <a:prstDash val="solid"/>
          </a:ln>
        </p:spPr>
      </p:sp>
      <p:sp>
        <p:nvSpPr>
          <p:cNvPr id="13" name="Text 11"/>
          <p:cNvSpPr/>
          <p:nvPr/>
        </p:nvSpPr>
        <p:spPr>
          <a:xfrm>
            <a:off x="347472" y="2011680"/>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14" name="Text 12"/>
          <p:cNvSpPr/>
          <p:nvPr/>
        </p:nvSpPr>
        <p:spPr>
          <a:xfrm>
            <a:off x="1097280" y="2011680"/>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ode_estimator.py</a:t>
            </a:r>
            <a:endParaRPr lang="en-US" sz="1050" dirty="0"/>
          </a:p>
        </p:txBody>
      </p:sp>
      <p:sp>
        <p:nvSpPr>
          <p:cNvPr id="15" name="Text 13"/>
          <p:cNvSpPr/>
          <p:nvPr/>
        </p:nvSpPr>
        <p:spPr>
          <a:xfrm>
            <a:off x="411480" y="2258568"/>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Discrete ODE integrator for LIT101 using PLC1B register reads during recovery window. Predicts expected tank level.</a:t>
            </a:r>
            <a:endParaRPr lang="en-US" sz="950" dirty="0"/>
          </a:p>
        </p:txBody>
      </p:sp>
      <p:sp>
        <p:nvSpPr>
          <p:cNvPr id="16" name="Shape 14"/>
          <p:cNvSpPr/>
          <p:nvPr/>
        </p:nvSpPr>
        <p:spPr>
          <a:xfrm>
            <a:off x="347472" y="2670048"/>
            <a:ext cx="685800" cy="237744"/>
          </a:xfrm>
          <a:prstGeom prst="rect">
            <a:avLst/>
          </a:prstGeom>
          <a:solidFill>
            <a:srgbClr val="E67E22"/>
          </a:solidFill>
          <a:ln w="12700">
            <a:solidFill>
              <a:srgbClr val="E67E22"/>
            </a:solidFill>
            <a:prstDash val="solid"/>
          </a:ln>
        </p:spPr>
      </p:sp>
      <p:sp>
        <p:nvSpPr>
          <p:cNvPr id="17" name="Text 15"/>
          <p:cNvSpPr/>
          <p:nvPr/>
        </p:nvSpPr>
        <p:spPr>
          <a:xfrm>
            <a:off x="347472" y="2670048"/>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LAB NEEDED</a:t>
            </a:r>
            <a:endParaRPr lang="en-US" sz="800" dirty="0"/>
          </a:p>
        </p:txBody>
      </p:sp>
      <p:sp>
        <p:nvSpPr>
          <p:cNvPr id="18" name="Text 16"/>
          <p:cNvSpPr/>
          <p:nvPr/>
        </p:nvSpPr>
        <p:spPr>
          <a:xfrm>
            <a:off x="1097280" y="2670048"/>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sse_observer.py</a:t>
            </a:r>
            <a:endParaRPr lang="en-US" sz="1050" dirty="0"/>
          </a:p>
        </p:txBody>
      </p:sp>
      <p:sp>
        <p:nvSpPr>
          <p:cNvPr id="19" name="Text 17"/>
          <p:cNvSpPr/>
          <p:nvPr/>
        </p:nvSpPr>
        <p:spPr>
          <a:xfrm>
            <a:off x="411480" y="2916936"/>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observer for P1 linearised around operating point. Requires P1 A, B, C matrices from system ID.</a:t>
            </a:r>
            <a:endParaRPr lang="en-US" sz="950" dirty="0"/>
          </a:p>
        </p:txBody>
      </p:sp>
      <p:sp>
        <p:nvSpPr>
          <p:cNvPr id="20" name="Shape 18"/>
          <p:cNvSpPr/>
          <p:nvPr/>
        </p:nvSpPr>
        <p:spPr>
          <a:xfrm>
            <a:off x="347472" y="3328416"/>
            <a:ext cx="685800" cy="237744"/>
          </a:xfrm>
          <a:prstGeom prst="rect">
            <a:avLst/>
          </a:prstGeom>
          <a:solidFill>
            <a:srgbClr val="27AE60"/>
          </a:solidFill>
          <a:ln w="12700">
            <a:solidFill>
              <a:srgbClr val="27AE60"/>
            </a:solidFill>
            <a:prstDash val="solid"/>
          </a:ln>
        </p:spPr>
      </p:sp>
      <p:sp>
        <p:nvSpPr>
          <p:cNvPr id="21" name="Text 19"/>
          <p:cNvSpPr/>
          <p:nvPr/>
        </p:nvSpPr>
        <p:spPr>
          <a:xfrm>
            <a:off x="347472" y="3328416"/>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22" name="Text 20"/>
          <p:cNvSpPr/>
          <p:nvPr/>
        </p:nvSpPr>
        <p:spPr>
          <a:xfrm>
            <a:off x="1097280" y="3328416"/>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reentry_gate.py</a:t>
            </a:r>
            <a:endParaRPr lang="en-US" sz="1050" dirty="0"/>
          </a:p>
        </p:txBody>
      </p:sp>
      <p:sp>
        <p:nvSpPr>
          <p:cNvPr id="23" name="Text 21"/>
          <p:cNvSpPr/>
          <p:nvPr/>
        </p:nvSpPr>
        <p:spPr>
          <a:xfrm>
            <a:off x="411480" y="3575304"/>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Invariant-gated sensor acceptance on recovery. Reads each sensor, validates against all 8 invariants × 5 cycles before accepting.</a:t>
            </a:r>
            <a:endParaRPr lang="en-US" sz="950" dirty="0"/>
          </a:p>
        </p:txBody>
      </p:sp>
      <p:sp>
        <p:nvSpPr>
          <p:cNvPr id="24" name="Shape 22"/>
          <p:cNvSpPr/>
          <p:nvPr/>
        </p:nvSpPr>
        <p:spPr>
          <a:xfrm>
            <a:off x="347472" y="3986784"/>
            <a:ext cx="685800" cy="237744"/>
          </a:xfrm>
          <a:prstGeom prst="rect">
            <a:avLst/>
          </a:prstGeom>
          <a:solidFill>
            <a:srgbClr val="0A7E8C"/>
          </a:solidFill>
          <a:ln w="12700">
            <a:solidFill>
              <a:srgbClr val="0A7E8C"/>
            </a:solidFill>
            <a:prstDash val="solid"/>
          </a:ln>
        </p:spPr>
      </p:sp>
      <p:sp>
        <p:nvSpPr>
          <p:cNvPr id="25" name="Text 23"/>
          <p:cNvSpPr/>
          <p:nvPr/>
        </p:nvSpPr>
        <p:spPr>
          <a:xfrm>
            <a:off x="347472" y="3986784"/>
            <a:ext cx="685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DEMO</a:t>
            </a:r>
            <a:endParaRPr lang="en-US" sz="800" dirty="0"/>
          </a:p>
        </p:txBody>
      </p:sp>
      <p:sp>
        <p:nvSpPr>
          <p:cNvPr id="26" name="Text 24"/>
          <p:cNvSpPr/>
          <p:nvPr/>
        </p:nvSpPr>
        <p:spPr>
          <a:xfrm>
            <a:off x="1097280" y="3986784"/>
            <a:ext cx="3154680" cy="219456"/>
          </a:xfrm>
          <a:prstGeom prst="rect">
            <a:avLst/>
          </a:prstGeom>
          <a:noFill/>
          <a:ln/>
        </p:spPr>
        <p:txBody>
          <a:bodyPr wrap="square" lIns="0" tIns="0" rIns="0" bIns="0" rtlCol="0" anchor="ctr"/>
          <a:lstStyle/>
          <a:p>
            <a:pPr indent="0" marL="0">
              <a:buNone/>
            </a:pPr>
            <a:r>
              <a:rPr lang="en-US" sz="1050" b="1" dirty="0">
                <a:solidFill>
                  <a:srgbClr val="0A1628"/>
                </a:solidFill>
                <a:latin typeface="Consolas" pitchFamily="34" charset="0"/>
                <a:ea typeface="Consolas" pitchFamily="34" charset="-122"/>
                <a:cs typeface="Consolas" pitchFamily="34" charset="-120"/>
              </a:rPr>
              <a:t>Full integration test</a:t>
            </a:r>
            <a:endParaRPr lang="en-US" sz="1050" dirty="0"/>
          </a:p>
        </p:txBody>
      </p:sp>
      <p:sp>
        <p:nvSpPr>
          <p:cNvPr id="27" name="Text 25"/>
          <p:cNvSpPr/>
          <p:nvPr/>
        </p:nvSpPr>
        <p:spPr>
          <a:xfrm>
            <a:off x="411480" y="4233672"/>
            <a:ext cx="3840480" cy="384048"/>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Run simulated Paper #9+#31 attack → trigger detector → execute recovery pipeline → measure TTR on SWaT testbed.</a:t>
            </a:r>
            <a:endParaRPr lang="en-US" sz="950" dirty="0"/>
          </a:p>
        </p:txBody>
      </p:sp>
      <p:sp>
        <p:nvSpPr>
          <p:cNvPr id="28" name="Shape 26"/>
          <p:cNvSpPr/>
          <p:nvPr/>
        </p:nvSpPr>
        <p:spPr>
          <a:xfrm>
            <a:off x="4617720" y="914400"/>
            <a:ext cx="4297680" cy="3794760"/>
          </a:xfrm>
          <a:prstGeom prst="rect">
            <a:avLst/>
          </a:prstGeom>
          <a:solidFill>
            <a:srgbClr val="FFFFFF"/>
          </a:solidFill>
          <a:ln w="12700">
            <a:solidFill>
              <a:srgbClr val="FFFFFF"/>
            </a:solidFill>
            <a:prstDash val="solid"/>
          </a:ln>
        </p:spPr>
      </p:sp>
      <p:sp>
        <p:nvSpPr>
          <p:cNvPr id="29" name="Shape 27"/>
          <p:cNvSpPr/>
          <p:nvPr/>
        </p:nvSpPr>
        <p:spPr>
          <a:xfrm>
            <a:off x="4617720" y="914400"/>
            <a:ext cx="64008" cy="3794760"/>
          </a:xfrm>
          <a:prstGeom prst="rect">
            <a:avLst/>
          </a:prstGeom>
          <a:solidFill>
            <a:srgbClr val="E67E22"/>
          </a:solidFill>
          <a:ln w="12700">
            <a:solidFill>
              <a:srgbClr val="E67E22"/>
            </a:solidFill>
            <a:prstDash val="solid"/>
          </a:ln>
        </p:spPr>
      </p:sp>
      <p:sp>
        <p:nvSpPr>
          <p:cNvPr id="30" name="Text 28"/>
          <p:cNvSpPr/>
          <p:nvPr/>
        </p:nvSpPr>
        <p:spPr>
          <a:xfrm>
            <a:off x="4800600" y="978408"/>
            <a:ext cx="3931920" cy="292608"/>
          </a:xfrm>
          <a:prstGeom prst="rect">
            <a:avLst/>
          </a:prstGeom>
          <a:noFill/>
          <a:ln/>
        </p:spPr>
        <p:txBody>
          <a:bodyPr wrap="square" lIns="0" tIns="0" rIns="0" bIns="0" rtlCol="0" anchor="ctr"/>
          <a:lstStyle/>
          <a:p>
            <a:pPr indent="0" marL="0">
              <a:buNone/>
            </a:pPr>
            <a:r>
              <a:rPr lang="en-US" sz="1350" b="1" dirty="0">
                <a:solidFill>
                  <a:srgbClr val="E67E22"/>
                </a:solidFill>
                <a:latin typeface="Calibri" pitchFamily="34" charset="0"/>
                <a:ea typeface="Calibri" pitchFamily="34" charset="-122"/>
                <a:cs typeface="Calibri" pitchFamily="34" charset="-120"/>
              </a:rPr>
              <a:t>Open Research Challenges</a:t>
            </a:r>
            <a:endParaRPr lang="en-US" sz="1350" dirty="0"/>
          </a:p>
        </p:txBody>
      </p:sp>
      <p:sp>
        <p:nvSpPr>
          <p:cNvPr id="31" name="Shape 29"/>
          <p:cNvSpPr/>
          <p:nvPr/>
        </p:nvSpPr>
        <p:spPr>
          <a:xfrm>
            <a:off x="4736592" y="1371600"/>
            <a:ext cx="237744" cy="237744"/>
          </a:xfrm>
          <a:prstGeom prst="rect">
            <a:avLst/>
          </a:prstGeom>
          <a:solidFill>
            <a:srgbClr val="E67E22"/>
          </a:solidFill>
          <a:ln w="12700">
            <a:solidFill>
              <a:srgbClr val="E67E22"/>
            </a:solidFill>
            <a:prstDash val="solid"/>
          </a:ln>
        </p:spPr>
      </p:sp>
      <p:sp>
        <p:nvSpPr>
          <p:cNvPr id="32" name="Text 30"/>
          <p:cNvSpPr/>
          <p:nvPr/>
        </p:nvSpPr>
        <p:spPr>
          <a:xfrm>
            <a:off x="4736592" y="13716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5047488" y="1380744"/>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System identification for SWaT P1</a:t>
            </a:r>
            <a:endParaRPr lang="en-US" sz="1050" dirty="0"/>
          </a:p>
        </p:txBody>
      </p:sp>
      <p:sp>
        <p:nvSpPr>
          <p:cNvPr id="34" name="Text 32"/>
          <p:cNvSpPr/>
          <p:nvPr/>
        </p:nvSpPr>
        <p:spPr>
          <a:xfrm>
            <a:off x="4800600" y="1609344"/>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Luenberger SSE requires state-space matrices (A, B, C). SWaT uses nonlinear hydraulics — linearisation around operating point needed. Requires access to SWaT normal data + PLC ladder logic.</a:t>
            </a:r>
            <a:endParaRPr lang="en-US" sz="950" dirty="0"/>
          </a:p>
        </p:txBody>
      </p:sp>
      <p:sp>
        <p:nvSpPr>
          <p:cNvPr id="35" name="Shape 33"/>
          <p:cNvSpPr/>
          <p:nvPr/>
        </p:nvSpPr>
        <p:spPr>
          <a:xfrm>
            <a:off x="4736592" y="2029968"/>
            <a:ext cx="237744" cy="237744"/>
          </a:xfrm>
          <a:prstGeom prst="rect">
            <a:avLst/>
          </a:prstGeom>
          <a:solidFill>
            <a:srgbClr val="E67E22"/>
          </a:solidFill>
          <a:ln w="12700">
            <a:solidFill>
              <a:srgbClr val="E67E22"/>
            </a:solidFill>
            <a:prstDash val="solid"/>
          </a:ln>
        </p:spPr>
      </p:sp>
      <p:sp>
        <p:nvSpPr>
          <p:cNvPr id="36" name="Text 34"/>
          <p:cNvSpPr/>
          <p:nvPr/>
        </p:nvSpPr>
        <p:spPr>
          <a:xfrm>
            <a:off x="4736592" y="2029968"/>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5047488" y="2039112"/>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Multi-stage cascading recovery</a:t>
            </a:r>
            <a:endParaRPr lang="en-US" sz="1050" dirty="0"/>
          </a:p>
        </p:txBody>
      </p:sp>
      <p:sp>
        <p:nvSpPr>
          <p:cNvPr id="38" name="Text 36"/>
          <p:cNvSpPr/>
          <p:nvPr/>
        </p:nvSpPr>
        <p:spPr>
          <a:xfrm>
            <a:off x="4800600" y="2267712"/>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Paper #9 can attack all 6 stages simultaneously. Our design recovers P1 only. Multi-stage parallel recovery with cross-stage invariant checking is an open problem.</a:t>
            </a:r>
            <a:endParaRPr lang="en-US" sz="950" dirty="0"/>
          </a:p>
        </p:txBody>
      </p:sp>
      <p:sp>
        <p:nvSpPr>
          <p:cNvPr id="39" name="Shape 37"/>
          <p:cNvSpPr/>
          <p:nvPr/>
        </p:nvSpPr>
        <p:spPr>
          <a:xfrm>
            <a:off x="4736592" y="2688336"/>
            <a:ext cx="237744" cy="237744"/>
          </a:xfrm>
          <a:prstGeom prst="rect">
            <a:avLst/>
          </a:prstGeom>
          <a:solidFill>
            <a:srgbClr val="E67E22"/>
          </a:solidFill>
          <a:ln w="12700">
            <a:solidFill>
              <a:srgbClr val="E67E22"/>
            </a:solidFill>
            <a:prstDash val="solid"/>
          </a:ln>
        </p:spPr>
      </p:sp>
      <p:sp>
        <p:nvSpPr>
          <p:cNvPr id="40" name="Text 38"/>
          <p:cNvSpPr/>
          <p:nvPr/>
        </p:nvSpPr>
        <p:spPr>
          <a:xfrm>
            <a:off x="4736592" y="2688336"/>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1" name="Text 39"/>
          <p:cNvSpPr/>
          <p:nvPr/>
        </p:nvSpPr>
        <p:spPr>
          <a:xfrm>
            <a:off x="5047488" y="2697480"/>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Adversarial recovery evasion</a:t>
            </a:r>
            <a:endParaRPr lang="en-US" sz="1050" dirty="0"/>
          </a:p>
        </p:txBody>
      </p:sp>
      <p:sp>
        <p:nvSpPr>
          <p:cNvPr id="42" name="Text 40"/>
          <p:cNvSpPr/>
          <p:nvPr/>
        </p:nvSpPr>
        <p:spPr>
          <a:xfrm>
            <a:off x="4800600" y="2926080"/>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An advanced attacker could time their attack to coincide with the recovery window, spoofing the ODE-predicted values during invariant-guided re-entry. Counter: authenticated sensor channels.</a:t>
            </a:r>
            <a:endParaRPr lang="en-US" sz="950" dirty="0"/>
          </a:p>
        </p:txBody>
      </p:sp>
      <p:sp>
        <p:nvSpPr>
          <p:cNvPr id="43" name="Shape 41"/>
          <p:cNvSpPr/>
          <p:nvPr/>
        </p:nvSpPr>
        <p:spPr>
          <a:xfrm>
            <a:off x="4736592" y="3346704"/>
            <a:ext cx="237744" cy="237744"/>
          </a:xfrm>
          <a:prstGeom prst="rect">
            <a:avLst/>
          </a:prstGeom>
          <a:solidFill>
            <a:srgbClr val="E67E22"/>
          </a:solidFill>
          <a:ln w="12700">
            <a:solidFill>
              <a:srgbClr val="E67E22"/>
            </a:solidFill>
            <a:prstDash val="solid"/>
          </a:ln>
        </p:spPr>
      </p:sp>
      <p:sp>
        <p:nvSpPr>
          <p:cNvPr id="44" name="Text 42"/>
          <p:cNvSpPr/>
          <p:nvPr/>
        </p:nvSpPr>
        <p:spPr>
          <a:xfrm>
            <a:off x="4736592" y="3346704"/>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5" name="Text 43"/>
          <p:cNvSpPr/>
          <p:nvPr/>
        </p:nvSpPr>
        <p:spPr>
          <a:xfrm>
            <a:off x="5047488" y="3355848"/>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Recovery time guarantees</a:t>
            </a:r>
            <a:endParaRPr lang="en-US" sz="1050" dirty="0"/>
          </a:p>
        </p:txBody>
      </p:sp>
      <p:sp>
        <p:nvSpPr>
          <p:cNvPr id="46" name="Text 44"/>
          <p:cNvSpPr/>
          <p:nvPr/>
        </p:nvSpPr>
        <p:spPr>
          <a:xfrm>
            <a:off x="4800600" y="3584448"/>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Academic papers on CPS recovery rarely provide hard real-time guarantees for embedded PLC environments. Formal verification of recovery timing is open (RTAS/RTSS venue).</a:t>
            </a:r>
            <a:endParaRPr lang="en-US" sz="950" dirty="0"/>
          </a:p>
        </p:txBody>
      </p:sp>
      <p:sp>
        <p:nvSpPr>
          <p:cNvPr id="47" name="Shape 45"/>
          <p:cNvSpPr/>
          <p:nvPr/>
        </p:nvSpPr>
        <p:spPr>
          <a:xfrm>
            <a:off x="4736592" y="4005072"/>
            <a:ext cx="237744" cy="237744"/>
          </a:xfrm>
          <a:prstGeom prst="rect">
            <a:avLst/>
          </a:prstGeom>
          <a:solidFill>
            <a:srgbClr val="E67E22"/>
          </a:solidFill>
          <a:ln w="12700">
            <a:solidFill>
              <a:srgbClr val="E67E22"/>
            </a:solidFill>
            <a:prstDash val="solid"/>
          </a:ln>
        </p:spPr>
      </p:sp>
      <p:sp>
        <p:nvSpPr>
          <p:cNvPr id="48" name="Text 46"/>
          <p:cNvSpPr/>
          <p:nvPr/>
        </p:nvSpPr>
        <p:spPr>
          <a:xfrm>
            <a:off x="4736592" y="400507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9" name="Text 47"/>
          <p:cNvSpPr/>
          <p:nvPr/>
        </p:nvSpPr>
        <p:spPr>
          <a:xfrm>
            <a:off x="5047488" y="4014216"/>
            <a:ext cx="3749040" cy="201168"/>
          </a:xfrm>
          <a:prstGeom prst="rect">
            <a:avLst/>
          </a:prstGeom>
          <a:noFill/>
          <a:ln/>
        </p:spPr>
        <p:txBody>
          <a:bodyPr wrap="square" lIns="0" tIns="0" rIns="0" bIns="0" rtlCol="0" anchor="ctr"/>
          <a:lstStyle/>
          <a:p>
            <a:pPr indent="0" marL="0">
              <a:buNone/>
            </a:pPr>
            <a:r>
              <a:rPr lang="en-US" sz="1050" b="1" dirty="0">
                <a:solidFill>
                  <a:srgbClr val="E67E22"/>
                </a:solidFill>
                <a:latin typeface="Calibri" pitchFamily="34" charset="0"/>
                <a:ea typeface="Calibri" pitchFamily="34" charset="-122"/>
                <a:cs typeface="Calibri" pitchFamily="34" charset="-120"/>
              </a:rPr>
              <a:t>Post-attack forensics</a:t>
            </a:r>
            <a:endParaRPr lang="en-US" sz="1050" dirty="0"/>
          </a:p>
        </p:txBody>
      </p:sp>
      <p:sp>
        <p:nvSpPr>
          <p:cNvPr id="50" name="Text 48"/>
          <p:cNvSpPr/>
          <p:nvPr/>
        </p:nvSpPr>
        <p:spPr>
          <a:xfrm>
            <a:off x="4800600" y="4242816"/>
            <a:ext cx="4023360" cy="393192"/>
          </a:xfrm>
          <a:prstGeom prst="rect">
            <a:avLst/>
          </a:prstGeom>
          <a:noFill/>
          <a:ln/>
        </p:spPr>
        <p:txBody>
          <a:bodyPr wrap="square" lIns="0" tIns="0" rIns="0" bIns="0" rtlCol="0" anchor="ctr"/>
          <a:lstStyle/>
          <a:p>
            <a:pPr indent="0" marL="0">
              <a:buNone/>
            </a:pPr>
            <a:r>
              <a:rPr lang="en-US" sz="950" dirty="0">
                <a:solidFill>
                  <a:srgbClr val="444444"/>
                </a:solidFill>
                <a:latin typeface="Calibri" pitchFamily="34" charset="0"/>
                <a:ea typeface="Calibri" pitchFamily="34" charset="-122"/>
                <a:cs typeface="Calibri" pitchFamily="34" charset="-120"/>
              </a:rPr>
              <a:t>After recovery, how do we determine the full attack timeline for legal/attribution purposes? Tamper-evident Modbus traffic logging and PLC register versioning needed.</a:t>
            </a:r>
            <a:endParaRPr lang="en-US" sz="950" dirty="0"/>
          </a:p>
        </p:txBody>
      </p:sp>
      <p:sp>
        <p:nvSpPr>
          <p:cNvPr id="51" name="Shape 49"/>
          <p:cNvSpPr/>
          <p:nvPr/>
        </p:nvSpPr>
        <p:spPr>
          <a:xfrm>
            <a:off x="0" y="4773168"/>
            <a:ext cx="9144000" cy="374904"/>
          </a:xfrm>
          <a:prstGeom prst="rect">
            <a:avLst/>
          </a:prstGeom>
          <a:solidFill>
            <a:srgbClr val="1B3A5C"/>
          </a:solidFill>
          <a:ln w="12700">
            <a:solidFill>
              <a:srgbClr val="1B3A5C"/>
            </a:solidFill>
            <a:prstDash val="solid"/>
          </a:ln>
        </p:spPr>
      </p:sp>
      <p:sp>
        <p:nvSpPr>
          <p:cNvPr id="52" name="Text 50"/>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Implementation &amp; Challenges</a:t>
            </a:r>
            <a:endParaRPr lang="en-US" sz="10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FA3B1"/>
          </a:solidFill>
          <a:ln w="12700">
            <a:solidFill>
              <a:srgbClr val="8FA3B1"/>
            </a:solidFill>
            <a:prstDash val="solid"/>
          </a:ln>
        </p:spPr>
      </p:sp>
      <p:sp>
        <p:nvSpPr>
          <p:cNvPr id="3" name="Text 1"/>
          <p:cNvSpPr/>
          <p:nvPr/>
        </p:nvSpPr>
        <p:spPr>
          <a:xfrm>
            <a:off x="365760" y="91440"/>
            <a:ext cx="8412480" cy="402336"/>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Recovery Research References</a:t>
            </a:r>
            <a:endParaRPr lang="en-US" sz="2500" dirty="0"/>
          </a:p>
        </p:txBody>
      </p:sp>
      <p:sp>
        <p:nvSpPr>
          <p:cNvPr id="4" name="Shape 2"/>
          <p:cNvSpPr/>
          <p:nvPr/>
        </p:nvSpPr>
        <p:spPr>
          <a:xfrm>
            <a:off x="228600" y="566928"/>
            <a:ext cx="347472" cy="384048"/>
          </a:xfrm>
          <a:prstGeom prst="rect">
            <a:avLst/>
          </a:prstGeom>
          <a:solidFill>
            <a:srgbClr val="1B3A5C"/>
          </a:solidFill>
          <a:ln w="12700">
            <a:solidFill>
              <a:srgbClr val="1B3A5C"/>
            </a:solidFill>
            <a:prstDash val="solid"/>
          </a:ln>
        </p:spPr>
      </p:sp>
      <p:sp>
        <p:nvSpPr>
          <p:cNvPr id="5" name="Text 3"/>
          <p:cNvSpPr/>
          <p:nvPr/>
        </p:nvSpPr>
        <p:spPr>
          <a:xfrm>
            <a:off x="228600" y="566928"/>
            <a:ext cx="347472" cy="384048"/>
          </a:xfrm>
          <a:prstGeom prst="rect">
            <a:avLst/>
          </a:prstGeom>
          <a:noFill/>
          <a:ln/>
        </p:spPr>
        <p:txBody>
          <a:bodyPr wrap="square" lIns="0" tIns="0" rIns="0" bIns="0" rtlCol="0" anchor="ctr"/>
          <a:lstStyle/>
          <a:p>
            <a:pPr algn="ctr" indent="0" marL="0">
              <a:buNone/>
            </a:pPr>
            <a:r>
              <a:rPr lang="en-US" sz="900" b="1" dirty="0">
                <a:solidFill>
                  <a:srgbClr val="0A7E8C"/>
                </a:solidFill>
                <a:latin typeface="Calibri" pitchFamily="34" charset="0"/>
                <a:ea typeface="Calibri" pitchFamily="34" charset="-122"/>
                <a:cs typeface="Calibri" pitchFamily="34" charset="-120"/>
              </a:rPr>
              <a:t>[R1]</a:t>
            </a:r>
            <a:endParaRPr lang="en-US" sz="900" dirty="0"/>
          </a:p>
        </p:txBody>
      </p:sp>
      <p:sp>
        <p:nvSpPr>
          <p:cNvPr id="6" name="Text 4"/>
          <p:cNvSpPr/>
          <p:nvPr/>
        </p:nvSpPr>
        <p:spPr>
          <a:xfrm>
            <a:off x="630936" y="58521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ACM Computing Surveys 2024 — Recovery from Adversarial Attacks in CPS: Shallow, Deep and Exploratory Works. doi:10.1145/3653974</a:t>
            </a:r>
            <a:endParaRPr lang="en-US" sz="850" dirty="0"/>
          </a:p>
        </p:txBody>
      </p:sp>
      <p:sp>
        <p:nvSpPr>
          <p:cNvPr id="7" name="Shape 5"/>
          <p:cNvSpPr/>
          <p:nvPr/>
        </p:nvSpPr>
        <p:spPr>
          <a:xfrm>
            <a:off x="228600" y="1243584"/>
            <a:ext cx="347472" cy="384048"/>
          </a:xfrm>
          <a:prstGeom prst="rect">
            <a:avLst/>
          </a:prstGeom>
          <a:solidFill>
            <a:srgbClr val="1B3A5C"/>
          </a:solidFill>
          <a:ln w="12700">
            <a:solidFill>
              <a:srgbClr val="1B3A5C"/>
            </a:solidFill>
            <a:prstDash val="solid"/>
          </a:ln>
        </p:spPr>
      </p:sp>
      <p:sp>
        <p:nvSpPr>
          <p:cNvPr id="8" name="Text 6"/>
          <p:cNvSpPr/>
          <p:nvPr/>
        </p:nvSpPr>
        <p:spPr>
          <a:xfrm>
            <a:off x="228600" y="1243584"/>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[R2]</a:t>
            </a:r>
            <a:endParaRPr lang="en-US" sz="900" dirty="0"/>
          </a:p>
        </p:txBody>
      </p:sp>
      <p:sp>
        <p:nvSpPr>
          <p:cNvPr id="9" name="Text 7"/>
          <p:cNvSpPr/>
          <p:nvPr/>
        </p:nvSpPr>
        <p:spPr>
          <a:xfrm>
            <a:off x="630936" y="1261872"/>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Y. Lu &amp; G. H. Yang — Secure State Estimation for CPS under Sparse Sensor Attacks via Switched Luenberger Observer. Information Sciences 417, 2017.</a:t>
            </a:r>
            <a:endParaRPr lang="en-US" sz="850" dirty="0"/>
          </a:p>
        </p:txBody>
      </p:sp>
      <p:sp>
        <p:nvSpPr>
          <p:cNvPr id="10" name="Shape 8"/>
          <p:cNvSpPr/>
          <p:nvPr/>
        </p:nvSpPr>
        <p:spPr>
          <a:xfrm>
            <a:off x="228600" y="1920240"/>
            <a:ext cx="347472" cy="384048"/>
          </a:xfrm>
          <a:prstGeom prst="rect">
            <a:avLst/>
          </a:prstGeom>
          <a:solidFill>
            <a:srgbClr val="1B3A5C"/>
          </a:solidFill>
          <a:ln w="12700">
            <a:solidFill>
              <a:srgbClr val="1B3A5C"/>
            </a:solidFill>
            <a:prstDash val="solid"/>
          </a:ln>
        </p:spPr>
      </p:sp>
      <p:sp>
        <p:nvSpPr>
          <p:cNvPr id="11" name="Text 9"/>
          <p:cNvSpPr/>
          <p:nvPr/>
        </p:nvSpPr>
        <p:spPr>
          <a:xfrm>
            <a:off x="228600" y="1920240"/>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[R3]</a:t>
            </a:r>
            <a:endParaRPr lang="en-US" sz="900" dirty="0"/>
          </a:p>
        </p:txBody>
      </p:sp>
      <p:sp>
        <p:nvSpPr>
          <p:cNvPr id="12" name="Text 10"/>
          <p:cNvSpPr/>
          <p:nvPr/>
        </p:nvSpPr>
        <p:spPr>
          <a:xfrm>
            <a:off x="630936" y="1938528"/>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Y. Lu &amp; G. H. Yang — Secure Luenberger-like Observers for CPS under Sparse Actuator and Sensor Attacks. Automatica 98, 2018.</a:t>
            </a:r>
            <a:endParaRPr lang="en-US" sz="850" dirty="0"/>
          </a:p>
        </p:txBody>
      </p:sp>
      <p:sp>
        <p:nvSpPr>
          <p:cNvPr id="13" name="Shape 11"/>
          <p:cNvSpPr/>
          <p:nvPr/>
        </p:nvSpPr>
        <p:spPr>
          <a:xfrm>
            <a:off x="228600" y="2596896"/>
            <a:ext cx="347472" cy="384048"/>
          </a:xfrm>
          <a:prstGeom prst="rect">
            <a:avLst/>
          </a:prstGeom>
          <a:solidFill>
            <a:srgbClr val="1B3A5C"/>
          </a:solidFill>
          <a:ln w="12700">
            <a:solidFill>
              <a:srgbClr val="1B3A5C"/>
            </a:solidFill>
            <a:prstDash val="solid"/>
          </a:ln>
        </p:spPr>
      </p:sp>
      <p:sp>
        <p:nvSpPr>
          <p:cNvPr id="14" name="Text 12"/>
          <p:cNvSpPr/>
          <p:nvPr/>
        </p:nvSpPr>
        <p:spPr>
          <a:xfrm>
            <a:off x="228600" y="2596896"/>
            <a:ext cx="347472" cy="384048"/>
          </a:xfrm>
          <a:prstGeom prst="rect">
            <a:avLst/>
          </a:prstGeom>
          <a:noFill/>
          <a:ln/>
        </p:spPr>
        <p:txBody>
          <a:bodyPr wrap="square" lIns="0" tIns="0" rIns="0" bIns="0" rtlCol="0" anchor="ctr"/>
          <a:lstStyle/>
          <a:p>
            <a:pPr algn="ctr" indent="0" marL="0">
              <a:buNone/>
            </a:pPr>
            <a:r>
              <a:rPr lang="en-US" sz="900" b="1" dirty="0">
                <a:solidFill>
                  <a:srgbClr val="7D3C98"/>
                </a:solidFill>
                <a:latin typeface="Calibri" pitchFamily="34" charset="0"/>
                <a:ea typeface="Calibri" pitchFamily="34" charset="-122"/>
                <a:cs typeface="Calibri" pitchFamily="34" charset="-120"/>
              </a:rPr>
              <a:t>[R4]</a:t>
            </a:r>
            <a:endParaRPr lang="en-US" sz="900" dirty="0"/>
          </a:p>
        </p:txBody>
      </p:sp>
      <p:sp>
        <p:nvSpPr>
          <p:cNvPr id="15" name="Text 13"/>
          <p:cNvSpPr/>
          <p:nvPr/>
        </p:nvSpPr>
        <p:spPr>
          <a:xfrm>
            <a:off x="630936" y="2615184"/>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Y. Shoukry &amp; P. Tabuada — Event-triggered State Observers for Sparse Sensor Noise/Attacks. IEEE TAC 61(8), 2016. (2s-sparse observability theorem)</a:t>
            </a:r>
            <a:endParaRPr lang="en-US" sz="850" dirty="0"/>
          </a:p>
        </p:txBody>
      </p:sp>
      <p:sp>
        <p:nvSpPr>
          <p:cNvPr id="16" name="Shape 14"/>
          <p:cNvSpPr/>
          <p:nvPr/>
        </p:nvSpPr>
        <p:spPr>
          <a:xfrm>
            <a:off x="228600" y="3273552"/>
            <a:ext cx="347472" cy="384048"/>
          </a:xfrm>
          <a:prstGeom prst="rect">
            <a:avLst/>
          </a:prstGeom>
          <a:solidFill>
            <a:srgbClr val="1B3A5C"/>
          </a:solidFill>
          <a:ln w="12700">
            <a:solidFill>
              <a:srgbClr val="1B3A5C"/>
            </a:solidFill>
            <a:prstDash val="solid"/>
          </a:ln>
        </p:spPr>
      </p:sp>
      <p:sp>
        <p:nvSpPr>
          <p:cNvPr id="17" name="Text 15"/>
          <p:cNvSpPr/>
          <p:nvPr/>
        </p:nvSpPr>
        <p:spPr>
          <a:xfrm>
            <a:off x="228600" y="3273552"/>
            <a:ext cx="347472" cy="384048"/>
          </a:xfrm>
          <a:prstGeom prst="rect">
            <a:avLst/>
          </a:prstGeom>
          <a:noFill/>
          <a:ln/>
        </p:spPr>
        <p:txBody>
          <a:bodyPr wrap="square" lIns="0" tIns="0" rIns="0" bIns="0" rtlCol="0" anchor="ctr"/>
          <a:lstStyle/>
          <a:p>
            <a:pPr algn="ctr" indent="0" marL="0">
              <a:buNone/>
            </a:pPr>
            <a:r>
              <a:rPr lang="en-US" sz="900" b="1" dirty="0">
                <a:solidFill>
                  <a:srgbClr val="2980B9"/>
                </a:solidFill>
                <a:latin typeface="Calibri" pitchFamily="34" charset="0"/>
                <a:ea typeface="Calibri" pitchFamily="34" charset="-122"/>
                <a:cs typeface="Calibri" pitchFamily="34" charset="-120"/>
              </a:rPr>
              <a:t>[R5]</a:t>
            </a:r>
            <a:endParaRPr lang="en-US" sz="900" dirty="0"/>
          </a:p>
        </p:txBody>
      </p:sp>
      <p:sp>
        <p:nvSpPr>
          <p:cNvPr id="18" name="Text 16"/>
          <p:cNvSpPr/>
          <p:nvPr/>
        </p:nvSpPr>
        <p:spPr>
          <a:xfrm>
            <a:off x="630936" y="3291840"/>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Y. H. Chang, Q. Hu &amp; C. Tomlin — Secure Estimation based Kalman Filter for CPS against Adversarial Attacks. ArXiv 2015.</a:t>
            </a:r>
            <a:endParaRPr lang="en-US" sz="850" dirty="0"/>
          </a:p>
        </p:txBody>
      </p:sp>
      <p:sp>
        <p:nvSpPr>
          <p:cNvPr id="19" name="Shape 17"/>
          <p:cNvSpPr/>
          <p:nvPr/>
        </p:nvSpPr>
        <p:spPr>
          <a:xfrm>
            <a:off x="228600" y="3950208"/>
            <a:ext cx="347472" cy="384048"/>
          </a:xfrm>
          <a:prstGeom prst="rect">
            <a:avLst/>
          </a:prstGeom>
          <a:solidFill>
            <a:srgbClr val="1B3A5C"/>
          </a:solidFill>
          <a:ln w="12700">
            <a:solidFill>
              <a:srgbClr val="1B3A5C"/>
            </a:solidFill>
            <a:prstDash val="solid"/>
          </a:ln>
        </p:spPr>
      </p:sp>
      <p:sp>
        <p:nvSpPr>
          <p:cNvPr id="20" name="Text 18"/>
          <p:cNvSpPr/>
          <p:nvPr/>
        </p:nvSpPr>
        <p:spPr>
          <a:xfrm>
            <a:off x="228600" y="3950208"/>
            <a:ext cx="347472" cy="384048"/>
          </a:xfrm>
          <a:prstGeom prst="rect">
            <a:avLst/>
          </a:prstGeom>
          <a:noFill/>
          <a:ln/>
        </p:spPr>
        <p:txBody>
          <a:bodyPr wrap="square" lIns="0" tIns="0" rIns="0" bIns="0"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[R6]</a:t>
            </a:r>
            <a:endParaRPr lang="en-US" sz="900" dirty="0"/>
          </a:p>
        </p:txBody>
      </p:sp>
      <p:sp>
        <p:nvSpPr>
          <p:cNvPr id="21" name="Text 19"/>
          <p:cNvSpPr/>
          <p:nvPr/>
        </p:nvSpPr>
        <p:spPr>
          <a:xfrm>
            <a:off x="630936" y="396849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NIST SP 800-82 Revision 3 — Guide to Operational Technology (OT) Security. NIST, September 2023. https://csrc.nist.gov/pubs/sp/800/82/r3/final</a:t>
            </a:r>
            <a:endParaRPr lang="en-US" sz="850" dirty="0"/>
          </a:p>
        </p:txBody>
      </p:sp>
      <p:sp>
        <p:nvSpPr>
          <p:cNvPr id="22" name="Shape 20"/>
          <p:cNvSpPr/>
          <p:nvPr/>
        </p:nvSpPr>
        <p:spPr>
          <a:xfrm>
            <a:off x="4663440" y="566928"/>
            <a:ext cx="347472" cy="384048"/>
          </a:xfrm>
          <a:prstGeom prst="rect">
            <a:avLst/>
          </a:prstGeom>
          <a:solidFill>
            <a:srgbClr val="1B3A5C"/>
          </a:solidFill>
          <a:ln w="12700">
            <a:solidFill>
              <a:srgbClr val="1B3A5C"/>
            </a:solidFill>
            <a:prstDash val="solid"/>
          </a:ln>
        </p:spPr>
      </p:sp>
      <p:sp>
        <p:nvSpPr>
          <p:cNvPr id="23" name="Text 21"/>
          <p:cNvSpPr/>
          <p:nvPr/>
        </p:nvSpPr>
        <p:spPr>
          <a:xfrm>
            <a:off x="4663440" y="566928"/>
            <a:ext cx="347472" cy="38404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[R7]</a:t>
            </a:r>
            <a:endParaRPr lang="en-US" sz="900" dirty="0"/>
          </a:p>
        </p:txBody>
      </p:sp>
      <p:sp>
        <p:nvSpPr>
          <p:cNvPr id="24" name="Text 22"/>
          <p:cNvSpPr/>
          <p:nvPr/>
        </p:nvSpPr>
        <p:spPr>
          <a:xfrm>
            <a:off x="5065776" y="585216"/>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F. Kong et al. — Cyber-Physical System Checkpointing and Recovery. ICCPS 2018. IEEE.</a:t>
            </a:r>
            <a:endParaRPr lang="en-US" sz="850" dirty="0"/>
          </a:p>
        </p:txBody>
      </p:sp>
      <p:sp>
        <p:nvSpPr>
          <p:cNvPr id="25" name="Shape 23"/>
          <p:cNvSpPr/>
          <p:nvPr/>
        </p:nvSpPr>
        <p:spPr>
          <a:xfrm>
            <a:off x="4663440" y="1243584"/>
            <a:ext cx="347472" cy="384048"/>
          </a:xfrm>
          <a:prstGeom prst="rect">
            <a:avLst/>
          </a:prstGeom>
          <a:solidFill>
            <a:srgbClr val="1B3A5C"/>
          </a:solidFill>
          <a:ln w="12700">
            <a:solidFill>
              <a:srgbClr val="1B3A5C"/>
            </a:solidFill>
            <a:prstDash val="solid"/>
          </a:ln>
        </p:spPr>
      </p:sp>
      <p:sp>
        <p:nvSpPr>
          <p:cNvPr id="26" name="Text 24"/>
          <p:cNvSpPr/>
          <p:nvPr/>
        </p:nvSpPr>
        <p:spPr>
          <a:xfrm>
            <a:off x="4663440" y="1243584"/>
            <a:ext cx="347472" cy="384048"/>
          </a:xfrm>
          <a:prstGeom prst="rect">
            <a:avLst/>
          </a:prstGeom>
          <a:noFill/>
          <a:ln/>
        </p:spPr>
        <p:txBody>
          <a:bodyPr wrap="square" lIns="0" tIns="0" rIns="0" bIns="0"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[R8]</a:t>
            </a:r>
            <a:endParaRPr lang="en-US" sz="900" dirty="0"/>
          </a:p>
        </p:txBody>
      </p:sp>
      <p:sp>
        <p:nvSpPr>
          <p:cNvPr id="27" name="Text 25"/>
          <p:cNvSpPr/>
          <p:nvPr/>
        </p:nvSpPr>
        <p:spPr>
          <a:xfrm>
            <a:off x="5065776" y="1261872"/>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M. Liu et al. — Learn-to-Respond: Sequence-Predictive Recovery from Sensor Attacks in CPS. RTSS 2023. IEEE.</a:t>
            </a:r>
            <a:endParaRPr lang="en-US" sz="850" dirty="0"/>
          </a:p>
        </p:txBody>
      </p:sp>
      <p:sp>
        <p:nvSpPr>
          <p:cNvPr id="28" name="Shape 26"/>
          <p:cNvSpPr/>
          <p:nvPr/>
        </p:nvSpPr>
        <p:spPr>
          <a:xfrm>
            <a:off x="4663440" y="1920240"/>
            <a:ext cx="347472" cy="384048"/>
          </a:xfrm>
          <a:prstGeom prst="rect">
            <a:avLst/>
          </a:prstGeom>
          <a:solidFill>
            <a:srgbClr val="1B3A5C"/>
          </a:solidFill>
          <a:ln w="12700">
            <a:solidFill>
              <a:srgbClr val="1B3A5C"/>
            </a:solidFill>
            <a:prstDash val="solid"/>
          </a:ln>
        </p:spPr>
      </p:sp>
      <p:sp>
        <p:nvSpPr>
          <p:cNvPr id="29" name="Text 27"/>
          <p:cNvSpPr/>
          <p:nvPr/>
        </p:nvSpPr>
        <p:spPr>
          <a:xfrm>
            <a:off x="4663440" y="1920240"/>
            <a:ext cx="347472" cy="384048"/>
          </a:xfrm>
          <a:prstGeom prst="rect">
            <a:avLst/>
          </a:prstGeom>
          <a:noFill/>
          <a:ln/>
        </p:spPr>
        <p:txBody>
          <a:bodyPr wrap="square" lIns="0" tIns="0" rIns="0" bIns="0"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[R9]</a:t>
            </a:r>
            <a:endParaRPr lang="en-US" sz="900" dirty="0"/>
          </a:p>
        </p:txBody>
      </p:sp>
      <p:sp>
        <p:nvSpPr>
          <p:cNvPr id="30" name="Text 28"/>
          <p:cNvSpPr/>
          <p:nvPr/>
        </p:nvSpPr>
        <p:spPr>
          <a:xfrm>
            <a:off x="5065776" y="1938528"/>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A. Staves et al. — A Cyber Incident Response and Recovery Framework for ICS Operators. Int. J. Critical Infrastructure Protection 37, 2022.</a:t>
            </a:r>
            <a:endParaRPr lang="en-US" sz="850" dirty="0"/>
          </a:p>
        </p:txBody>
      </p:sp>
      <p:sp>
        <p:nvSpPr>
          <p:cNvPr id="31" name="Shape 29"/>
          <p:cNvSpPr/>
          <p:nvPr/>
        </p:nvSpPr>
        <p:spPr>
          <a:xfrm>
            <a:off x="4663440" y="2596896"/>
            <a:ext cx="347472" cy="384048"/>
          </a:xfrm>
          <a:prstGeom prst="rect">
            <a:avLst/>
          </a:prstGeom>
          <a:solidFill>
            <a:srgbClr val="1B3A5C"/>
          </a:solidFill>
          <a:ln w="12700">
            <a:solidFill>
              <a:srgbClr val="1B3A5C"/>
            </a:solidFill>
            <a:prstDash val="solid"/>
          </a:ln>
        </p:spPr>
      </p:sp>
      <p:sp>
        <p:nvSpPr>
          <p:cNvPr id="32" name="Text 30"/>
          <p:cNvSpPr/>
          <p:nvPr/>
        </p:nvSpPr>
        <p:spPr>
          <a:xfrm>
            <a:off x="4663440" y="2596896"/>
            <a:ext cx="347472" cy="384048"/>
          </a:xfrm>
          <a:prstGeom prst="rect">
            <a:avLst/>
          </a:prstGeom>
          <a:noFill/>
          <a:ln/>
        </p:spPr>
        <p:txBody>
          <a:bodyPr wrap="square" lIns="0" tIns="0" rIns="0" bIns="0" rtlCol="0" anchor="ctr"/>
          <a:lstStyle/>
          <a:p>
            <a:pPr algn="ctr" indent="0" marL="0">
              <a:buNone/>
            </a:pPr>
            <a:r>
              <a:rPr lang="en-US" sz="900" b="1" dirty="0">
                <a:solidFill>
                  <a:srgbClr val="E74C3C"/>
                </a:solidFill>
                <a:latin typeface="Calibri" pitchFamily="34" charset="0"/>
                <a:ea typeface="Calibri" pitchFamily="34" charset="-122"/>
                <a:cs typeface="Calibri" pitchFamily="34" charset="-120"/>
              </a:rPr>
              <a:t>[R10]</a:t>
            </a:r>
            <a:endParaRPr lang="en-US" sz="900" dirty="0"/>
          </a:p>
        </p:txBody>
      </p:sp>
      <p:sp>
        <p:nvSpPr>
          <p:cNvPr id="33" name="Text 31"/>
          <p:cNvSpPr/>
          <p:nvPr/>
        </p:nvSpPr>
        <p:spPr>
          <a:xfrm>
            <a:off x="5065776" y="2615184"/>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SANS Institute — 2024 State of ICS/OT Cybersecurity. SANS Institute, May 2024. https://www.sans.org/blog/the-2024-state-of-ics-ot-cybersecurity</a:t>
            </a:r>
            <a:endParaRPr lang="en-US" sz="850" dirty="0"/>
          </a:p>
        </p:txBody>
      </p:sp>
      <p:sp>
        <p:nvSpPr>
          <p:cNvPr id="34" name="Shape 32"/>
          <p:cNvSpPr/>
          <p:nvPr/>
        </p:nvSpPr>
        <p:spPr>
          <a:xfrm>
            <a:off x="4663440" y="3273552"/>
            <a:ext cx="347472" cy="384048"/>
          </a:xfrm>
          <a:prstGeom prst="rect">
            <a:avLst/>
          </a:prstGeom>
          <a:solidFill>
            <a:srgbClr val="1B3A5C"/>
          </a:solidFill>
          <a:ln w="12700">
            <a:solidFill>
              <a:srgbClr val="1B3A5C"/>
            </a:solidFill>
            <a:prstDash val="solid"/>
          </a:ln>
        </p:spPr>
      </p:sp>
      <p:sp>
        <p:nvSpPr>
          <p:cNvPr id="35" name="Text 33"/>
          <p:cNvSpPr/>
          <p:nvPr/>
        </p:nvSpPr>
        <p:spPr>
          <a:xfrm>
            <a:off x="4663440" y="3273552"/>
            <a:ext cx="347472" cy="384048"/>
          </a:xfrm>
          <a:prstGeom prst="rect">
            <a:avLst/>
          </a:prstGeom>
          <a:noFill/>
          <a:ln/>
        </p:spPr>
        <p:txBody>
          <a:bodyPr wrap="square" lIns="0" tIns="0" rIns="0" bIns="0" rtlCol="0" anchor="ctr"/>
          <a:lstStyle/>
          <a:p>
            <a:pPr algn="ctr" indent="0" marL="0">
              <a:buNone/>
            </a:pPr>
            <a:r>
              <a:rPr lang="en-US" sz="900" b="1" dirty="0">
                <a:solidFill>
                  <a:srgbClr val="2980B9"/>
                </a:solidFill>
                <a:latin typeface="Calibri" pitchFamily="34" charset="0"/>
                <a:ea typeface="Calibri" pitchFamily="34" charset="-122"/>
                <a:cs typeface="Calibri" pitchFamily="34" charset="-120"/>
              </a:rPr>
              <a:t>[R11]</a:t>
            </a:r>
            <a:endParaRPr lang="en-US" sz="900" dirty="0"/>
          </a:p>
        </p:txBody>
      </p:sp>
      <p:sp>
        <p:nvSpPr>
          <p:cNvPr id="36" name="Text 34"/>
          <p:cNvSpPr/>
          <p:nvPr/>
        </p:nvSpPr>
        <p:spPr>
          <a:xfrm>
            <a:off x="5065776" y="3291840"/>
            <a:ext cx="3794760" cy="365760"/>
          </a:xfrm>
          <a:prstGeom prst="rect">
            <a:avLst/>
          </a:prstGeom>
          <a:noFill/>
          <a:ln/>
        </p:spPr>
        <p:txBody>
          <a:bodyPr wrap="square" lIns="0" tIns="0" rIns="0" bIns="0" rtlCol="0" anchor="ctr"/>
          <a:lstStyle/>
          <a:p>
            <a:pPr indent="0" marL="0">
              <a:buNone/>
            </a:pPr>
            <a:r>
              <a:rPr lang="en-US" sz="850" dirty="0">
                <a:solidFill>
                  <a:srgbClr val="C9D6DF"/>
                </a:solidFill>
                <a:latin typeface="Calibri" pitchFamily="34" charset="0"/>
                <a:ea typeface="Calibri" pitchFamily="34" charset="-122"/>
                <a:cs typeface="Calibri" pitchFamily="34" charset="-120"/>
              </a:rPr>
              <a:t>ScienceDirect 2024 — Attack Isolation in a Water Treatment Plant (SWaT). IFAC-PapersOnLine. doi:10.1016/j.ifacol.2024.07...</a:t>
            </a:r>
            <a:endParaRPr lang="en-US" sz="850" dirty="0"/>
          </a:p>
        </p:txBody>
      </p:sp>
      <p:sp>
        <p:nvSpPr>
          <p:cNvPr id="37" name="Shape 35"/>
          <p:cNvSpPr/>
          <p:nvPr/>
        </p:nvSpPr>
        <p:spPr>
          <a:xfrm>
            <a:off x="0" y="4773168"/>
            <a:ext cx="9144000" cy="374904"/>
          </a:xfrm>
          <a:prstGeom prst="rect">
            <a:avLst/>
          </a:prstGeom>
          <a:solidFill>
            <a:srgbClr val="1B3A5C"/>
          </a:solidFill>
          <a:ln w="12700">
            <a:solidFill>
              <a:srgbClr val="1B3A5C"/>
            </a:solidFill>
            <a:prstDash val="solid"/>
          </a:ln>
        </p:spPr>
      </p:sp>
      <p:sp>
        <p:nvSpPr>
          <p:cNvPr id="38" name="Text 36"/>
          <p:cNvSpPr/>
          <p:nvPr/>
        </p:nvSpPr>
        <p:spPr>
          <a:xfrm>
            <a:off x="274320" y="4773168"/>
            <a:ext cx="8595360" cy="374904"/>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51.508 Secure CPS  ·  SWaT Recovery Research  ·  References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SWaT Attack &amp; Defense — Full Project Deck</dc:title>
  <dc:subject>PptxGenJS Presentation</dc:subject>
  <dc:creator>PptxGenJS</dc:creator>
  <cp:lastModifiedBy>PptxGenJS</cp:lastModifiedBy>
  <cp:revision>1</cp:revision>
  <dcterms:created xsi:type="dcterms:W3CDTF">2026-03-12T03:43:07Z</dcterms:created>
  <dcterms:modified xsi:type="dcterms:W3CDTF">2026-03-12T03:43:07Z</dcterms:modified>
</cp:coreProperties>
</file>