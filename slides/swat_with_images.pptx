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E63946"/>
          </a:solidFill>
          <a:ln w="12700">
            <a:solidFill>
              <a:srgbClr val="E63946"/>
            </a:solidFill>
            <a:prstDash val="solid"/>
          </a:ln>
        </p:spPr>
      </p:sp>
      <p:sp>
        <p:nvSpPr>
          <p:cNvPr id="3" name="Shape 1"/>
          <p:cNvSpPr/>
          <p:nvPr/>
        </p:nvSpPr>
        <p:spPr>
          <a:xfrm>
            <a:off x="685800" y="2651760"/>
            <a:ext cx="8046720" cy="36576"/>
          </a:xfrm>
          <a:prstGeom prst="rect">
            <a:avLst/>
          </a:prstGeom>
          <a:solidFill>
            <a:srgbClr val="1B3A5C"/>
          </a:solidFill>
          <a:ln w="12700">
            <a:solidFill>
              <a:srgbClr val="1B3A5C"/>
            </a:solidFill>
            <a:prstDash val="solid"/>
          </a:ln>
        </p:spPr>
      </p:sp>
      <p:sp>
        <p:nvSpPr>
          <p:cNvPr id="4" name="Text 2"/>
          <p:cNvSpPr/>
          <p:nvPr/>
        </p:nvSpPr>
        <p:spPr>
          <a:xfrm>
            <a:off x="685800" y="640080"/>
            <a:ext cx="8229600" cy="77724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Stealthy Attack &amp; Resilient</a:t>
            </a:r>
            <a:endParaRPr lang="en-US" sz="3800" dirty="0"/>
          </a:p>
        </p:txBody>
      </p:sp>
      <p:sp>
        <p:nvSpPr>
          <p:cNvPr id="5" name="Text 3"/>
          <p:cNvSpPr/>
          <p:nvPr/>
        </p:nvSpPr>
        <p:spPr>
          <a:xfrm>
            <a:off x="685800" y="1371600"/>
            <a:ext cx="8229600" cy="777240"/>
          </a:xfrm>
          <a:prstGeom prst="rect">
            <a:avLst/>
          </a:prstGeom>
          <a:noFill/>
          <a:ln/>
        </p:spPr>
        <p:txBody>
          <a:bodyPr wrap="square" lIns="0" tIns="0" rIns="0" bIns="0" rtlCol="0" anchor="ctr"/>
          <a:lstStyle/>
          <a:p>
            <a:pPr indent="0" marL="0">
              <a:buNone/>
            </a:pPr>
            <a:r>
              <a:rPr lang="en-US" sz="3800" b="1" dirty="0">
                <a:solidFill>
                  <a:srgbClr val="E63946"/>
                </a:solidFill>
                <a:latin typeface="Calibri" pitchFamily="34" charset="0"/>
                <a:ea typeface="Calibri" pitchFamily="34" charset="-122"/>
                <a:cs typeface="Calibri" pitchFamily="34" charset="-120"/>
              </a:rPr>
              <a:t>Defense on the SWaT Testbed</a:t>
            </a:r>
            <a:endParaRPr lang="en-US" sz="3800" dirty="0"/>
          </a:p>
        </p:txBody>
      </p:sp>
      <p:sp>
        <p:nvSpPr>
          <p:cNvPr id="6" name="Text 4"/>
          <p:cNvSpPr/>
          <p:nvPr/>
        </p:nvSpPr>
        <p:spPr>
          <a:xfrm>
            <a:off x="685800" y="2724912"/>
            <a:ext cx="8046720" cy="411480"/>
          </a:xfrm>
          <a:prstGeom prst="rect">
            <a:avLst/>
          </a:prstGeom>
          <a:noFill/>
          <a:ln/>
        </p:spPr>
        <p:txBody>
          <a:bodyPr wrap="square" lIns="0" tIns="0" rIns="0" bIns="0" rtlCol="0" anchor="ctr"/>
          <a:lstStyle/>
          <a:p>
            <a:pPr indent="0" marL="0">
              <a:buNone/>
            </a:pPr>
            <a:r>
              <a:rPr lang="en-US" sz="1400" dirty="0">
                <a:solidFill>
                  <a:srgbClr val="8FA3B1"/>
                </a:solidFill>
                <a:latin typeface="Calibri" pitchFamily="34" charset="0"/>
                <a:ea typeface="Calibri" pitchFamily="34" charset="-122"/>
                <a:cs typeface="Calibri" pitchFamily="34" charset="-120"/>
              </a:rPr>
              <a:t>51.508 Secure Cyber Physical Systems  |  Project Proposal</a:t>
            </a:r>
            <a:endParaRPr lang="en-US" sz="1400" dirty="0"/>
          </a:p>
        </p:txBody>
      </p:sp>
      <p:sp>
        <p:nvSpPr>
          <p:cNvPr id="7" name="Shape 5"/>
          <p:cNvSpPr/>
          <p:nvPr/>
        </p:nvSpPr>
        <p:spPr>
          <a:xfrm>
            <a:off x="685800" y="3337560"/>
            <a:ext cx="2606040" cy="347472"/>
          </a:xfrm>
          <a:prstGeom prst="roundRect">
            <a:avLst>
              <a:gd name="adj" fmla="val 13158"/>
            </a:avLst>
          </a:prstGeom>
          <a:solidFill>
            <a:srgbClr val="E63946">
              <a:alpha val="75000"/>
            </a:srgbClr>
          </a:solidFill>
          <a:ln w="19050">
            <a:solidFill>
              <a:srgbClr val="E63946"/>
            </a:solidFill>
            <a:prstDash val="solid"/>
          </a:ln>
        </p:spPr>
      </p:sp>
      <p:sp>
        <p:nvSpPr>
          <p:cNvPr id="8" name="Text 6"/>
          <p:cNvSpPr/>
          <p:nvPr/>
        </p:nvSpPr>
        <p:spPr>
          <a:xfrm>
            <a:off x="685800" y="3337560"/>
            <a:ext cx="2606040" cy="34747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Modbus False Command Injection</a:t>
            </a:r>
            <a:endParaRPr lang="en-US" sz="1000" dirty="0"/>
          </a:p>
        </p:txBody>
      </p:sp>
      <p:sp>
        <p:nvSpPr>
          <p:cNvPr id="9" name="Shape 7"/>
          <p:cNvSpPr/>
          <p:nvPr/>
        </p:nvSpPr>
        <p:spPr>
          <a:xfrm>
            <a:off x="3502152" y="3337560"/>
            <a:ext cx="2606040" cy="347472"/>
          </a:xfrm>
          <a:prstGeom prst="roundRect">
            <a:avLst>
              <a:gd name="adj" fmla="val 13158"/>
            </a:avLst>
          </a:prstGeom>
          <a:solidFill>
            <a:srgbClr val="F4A261">
              <a:alpha val="75000"/>
            </a:srgbClr>
          </a:solidFill>
          <a:ln w="19050">
            <a:solidFill>
              <a:srgbClr val="F4A261"/>
            </a:solidFill>
            <a:prstDash val="solid"/>
          </a:ln>
        </p:spPr>
      </p:sp>
      <p:sp>
        <p:nvSpPr>
          <p:cNvPr id="10" name="Text 8"/>
          <p:cNvSpPr/>
          <p:nvPr/>
        </p:nvSpPr>
        <p:spPr>
          <a:xfrm>
            <a:off x="3502152" y="3337560"/>
            <a:ext cx="2606040" cy="34747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Constrained Concealment Evasion</a:t>
            </a:r>
            <a:endParaRPr lang="en-US" sz="1000" dirty="0"/>
          </a:p>
        </p:txBody>
      </p:sp>
      <p:sp>
        <p:nvSpPr>
          <p:cNvPr id="11" name="Shape 9"/>
          <p:cNvSpPr/>
          <p:nvPr/>
        </p:nvSpPr>
        <p:spPr>
          <a:xfrm>
            <a:off x="6318504" y="3337560"/>
            <a:ext cx="2606040" cy="347472"/>
          </a:xfrm>
          <a:prstGeom prst="roundRect">
            <a:avLst>
              <a:gd name="adj" fmla="val 13158"/>
            </a:avLst>
          </a:prstGeom>
          <a:solidFill>
            <a:srgbClr val="2ECC71">
              <a:alpha val="75000"/>
            </a:srgbClr>
          </a:solidFill>
          <a:ln w="19050">
            <a:solidFill>
              <a:srgbClr val="2ECC71"/>
            </a:solidFill>
            <a:prstDash val="solid"/>
          </a:ln>
        </p:spPr>
      </p:sp>
      <p:sp>
        <p:nvSpPr>
          <p:cNvPr id="12" name="Text 10"/>
          <p:cNvSpPr/>
          <p:nvPr/>
        </p:nvSpPr>
        <p:spPr>
          <a:xfrm>
            <a:off x="6318504" y="3337560"/>
            <a:ext cx="2606040" cy="34747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Invariant-Based Recovery</a:t>
            </a:r>
            <a:endParaRPr lang="en-US" sz="1000" dirty="0"/>
          </a:p>
        </p:txBody>
      </p:sp>
      <p:sp>
        <p:nvSpPr>
          <p:cNvPr id="13" name="Shape 11"/>
          <p:cNvSpPr/>
          <p:nvPr/>
        </p:nvSpPr>
        <p:spPr>
          <a:xfrm>
            <a:off x="0" y="4663440"/>
            <a:ext cx="9144000" cy="480060"/>
          </a:xfrm>
          <a:prstGeom prst="rect">
            <a:avLst/>
          </a:prstGeom>
          <a:solidFill>
            <a:srgbClr val="1B3A5C"/>
          </a:solidFill>
          <a:ln w="12700">
            <a:solidFill>
              <a:srgbClr val="1B3A5C"/>
            </a:solidFill>
            <a:prstDash val="solid"/>
          </a:ln>
        </p:spPr>
      </p:sp>
      <p:sp>
        <p:nvSpPr>
          <p:cNvPr id="14" name="Text 12"/>
          <p:cNvSpPr/>
          <p:nvPr/>
        </p:nvSpPr>
        <p:spPr>
          <a:xfrm>
            <a:off x="457200" y="4663440"/>
            <a:ext cx="8229600" cy="480060"/>
          </a:xfrm>
          <a:prstGeom prst="rect">
            <a:avLst/>
          </a:prstGeom>
          <a:noFill/>
          <a:ln/>
        </p:spPr>
        <p:txBody>
          <a:bodyPr wrap="square" lIns="0" tIns="0" rIns="0" bIns="0" rtlCol="0" anchor="ctr"/>
          <a:lstStyle/>
          <a:p>
            <a:pPr algn="ctr" indent="0" marL="0">
              <a:buNone/>
            </a:pPr>
            <a:r>
              <a:rPr lang="en-US" sz="1200" dirty="0">
                <a:solidFill>
                  <a:srgbClr val="8FA3B1"/>
                </a:solidFill>
                <a:latin typeface="Calibri" pitchFamily="34" charset="0"/>
                <a:ea typeface="Calibri" pitchFamily="34" charset="-122"/>
                <a:cs typeface="Calibri" pitchFamily="34" charset="-120"/>
              </a:rPr>
              <a:t>iTrust Lab  |  SWaT Testbed  |  AY2025/26 Term 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63946"/>
          </a:solidFill>
          <a:ln w="12700">
            <a:solidFill>
              <a:srgbClr val="E63946"/>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Project Overview</a:t>
            </a:r>
            <a:endParaRPr lang="en-US" sz="2800" dirty="0"/>
          </a:p>
        </p:txBody>
      </p:sp>
      <p:sp>
        <p:nvSpPr>
          <p:cNvPr id="4" name="Shape 2"/>
          <p:cNvSpPr/>
          <p:nvPr/>
        </p:nvSpPr>
        <p:spPr>
          <a:xfrm>
            <a:off x="274320" y="960120"/>
            <a:ext cx="2011680" cy="356616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5" name="Shape 3"/>
          <p:cNvSpPr/>
          <p:nvPr/>
        </p:nvSpPr>
        <p:spPr>
          <a:xfrm>
            <a:off x="274320" y="960120"/>
            <a:ext cx="2011680" cy="457200"/>
          </a:xfrm>
          <a:prstGeom prst="rect">
            <a:avLst/>
          </a:prstGeom>
          <a:solidFill>
            <a:srgbClr val="E63946"/>
          </a:solidFill>
          <a:ln w="12700">
            <a:solidFill>
              <a:srgbClr val="E63946"/>
            </a:solidFill>
            <a:prstDash val="solid"/>
          </a:ln>
        </p:spPr>
      </p:sp>
      <p:sp>
        <p:nvSpPr>
          <p:cNvPr id="6" name="Text 4"/>
          <p:cNvSpPr/>
          <p:nvPr/>
        </p:nvSpPr>
        <p:spPr>
          <a:xfrm>
            <a:off x="274320" y="960120"/>
            <a:ext cx="201168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01</a:t>
            </a:r>
            <a:endParaRPr lang="en-US" sz="1800" dirty="0"/>
          </a:p>
        </p:txBody>
      </p:sp>
      <p:sp>
        <p:nvSpPr>
          <p:cNvPr id="7" name="Text 5"/>
          <p:cNvSpPr/>
          <p:nvPr/>
        </p:nvSpPr>
        <p:spPr>
          <a:xfrm>
            <a:off x="411480" y="1508760"/>
            <a:ext cx="1737360" cy="411480"/>
          </a:xfrm>
          <a:prstGeom prst="rect">
            <a:avLst/>
          </a:prstGeom>
          <a:noFill/>
          <a:ln/>
        </p:spPr>
        <p:txBody>
          <a:bodyPr wrap="square" lIns="0" tIns="0" rIns="0" bIns="0" rtlCol="0" anchor="ctr"/>
          <a:lstStyle/>
          <a:p>
            <a:pPr indent="0" marL="0">
              <a:buNone/>
            </a:pPr>
            <a:r>
              <a:rPr lang="en-US" sz="1500" b="1" dirty="0">
                <a:solidFill>
                  <a:srgbClr val="E63946"/>
                </a:solidFill>
                <a:latin typeface="Calibri" pitchFamily="34" charset="0"/>
                <a:ea typeface="Calibri" pitchFamily="34" charset="-122"/>
                <a:cs typeface="Calibri" pitchFamily="34" charset="-120"/>
              </a:rPr>
              <a:t>Motivation</a:t>
            </a:r>
            <a:endParaRPr lang="en-US" sz="1500" dirty="0"/>
          </a:p>
        </p:txBody>
      </p:sp>
      <p:sp>
        <p:nvSpPr>
          <p:cNvPr id="8" name="Text 6"/>
          <p:cNvSpPr/>
          <p:nvPr/>
        </p:nvSpPr>
        <p:spPr>
          <a:xfrm>
            <a:off x="411480" y="1965960"/>
            <a:ext cx="1737360" cy="2286000"/>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SWaT uses Modbus/EtherNet-IP with no auth. Existing ML detectors are vulnerable to adversarial evasion.</a:t>
            </a:r>
            <a:endParaRPr lang="en-US" sz="1100" dirty="0"/>
          </a:p>
        </p:txBody>
      </p:sp>
      <p:sp>
        <p:nvSpPr>
          <p:cNvPr id="9" name="Shape 7"/>
          <p:cNvSpPr/>
          <p:nvPr/>
        </p:nvSpPr>
        <p:spPr>
          <a:xfrm>
            <a:off x="2450592" y="960120"/>
            <a:ext cx="2011680" cy="356616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10" name="Shape 8"/>
          <p:cNvSpPr/>
          <p:nvPr/>
        </p:nvSpPr>
        <p:spPr>
          <a:xfrm>
            <a:off x="2450592" y="960120"/>
            <a:ext cx="2011680" cy="457200"/>
          </a:xfrm>
          <a:prstGeom prst="rect">
            <a:avLst/>
          </a:prstGeom>
          <a:solidFill>
            <a:srgbClr val="F4A261"/>
          </a:solidFill>
          <a:ln w="12700">
            <a:solidFill>
              <a:srgbClr val="F4A261"/>
            </a:solidFill>
            <a:prstDash val="solid"/>
          </a:ln>
        </p:spPr>
      </p:sp>
      <p:sp>
        <p:nvSpPr>
          <p:cNvPr id="11" name="Text 9"/>
          <p:cNvSpPr/>
          <p:nvPr/>
        </p:nvSpPr>
        <p:spPr>
          <a:xfrm>
            <a:off x="2450592" y="960120"/>
            <a:ext cx="201168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02</a:t>
            </a:r>
            <a:endParaRPr lang="en-US" sz="1800" dirty="0"/>
          </a:p>
        </p:txBody>
      </p:sp>
      <p:sp>
        <p:nvSpPr>
          <p:cNvPr id="12" name="Text 10"/>
          <p:cNvSpPr/>
          <p:nvPr/>
        </p:nvSpPr>
        <p:spPr>
          <a:xfrm>
            <a:off x="2587752" y="1508760"/>
            <a:ext cx="1737360" cy="411480"/>
          </a:xfrm>
          <a:prstGeom prst="rect">
            <a:avLst/>
          </a:prstGeom>
          <a:noFill/>
          <a:ln/>
        </p:spPr>
        <p:txBody>
          <a:bodyPr wrap="square" lIns="0" tIns="0" rIns="0" bIns="0" rtlCol="0" anchor="ctr"/>
          <a:lstStyle/>
          <a:p>
            <a:pPr indent="0" marL="0">
              <a:buNone/>
            </a:pPr>
            <a:r>
              <a:rPr lang="en-US" sz="1500" b="1" dirty="0">
                <a:solidFill>
                  <a:srgbClr val="F4A261"/>
                </a:solidFill>
                <a:latin typeface="Calibri" pitchFamily="34" charset="0"/>
                <a:ea typeface="Calibri" pitchFamily="34" charset="-122"/>
                <a:cs typeface="Calibri" pitchFamily="34" charset="-120"/>
              </a:rPr>
              <a:t>Attack</a:t>
            </a:r>
            <a:endParaRPr lang="en-US" sz="1500" dirty="0"/>
          </a:p>
        </p:txBody>
      </p:sp>
      <p:sp>
        <p:nvSpPr>
          <p:cNvPr id="13" name="Text 11"/>
          <p:cNvSpPr/>
          <p:nvPr/>
        </p:nvSpPr>
        <p:spPr>
          <a:xfrm>
            <a:off x="2587752" y="1965960"/>
            <a:ext cx="1737360" cy="2286000"/>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Stealthy Modbus false command injection targeting pumps &amp; valves with sensor spoofing to evade anomaly detection.</a:t>
            </a:r>
            <a:endParaRPr lang="en-US" sz="1100" dirty="0"/>
          </a:p>
        </p:txBody>
      </p:sp>
      <p:sp>
        <p:nvSpPr>
          <p:cNvPr id="14" name="Shape 12"/>
          <p:cNvSpPr/>
          <p:nvPr/>
        </p:nvSpPr>
        <p:spPr>
          <a:xfrm>
            <a:off x="4626864" y="960120"/>
            <a:ext cx="2011680" cy="356616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15" name="Shape 13"/>
          <p:cNvSpPr/>
          <p:nvPr/>
        </p:nvSpPr>
        <p:spPr>
          <a:xfrm>
            <a:off x="4626864" y="960120"/>
            <a:ext cx="2011680" cy="457200"/>
          </a:xfrm>
          <a:prstGeom prst="rect">
            <a:avLst/>
          </a:prstGeom>
          <a:solidFill>
            <a:srgbClr val="2196F3"/>
          </a:solidFill>
          <a:ln w="12700">
            <a:solidFill>
              <a:srgbClr val="2196F3"/>
            </a:solidFill>
            <a:prstDash val="solid"/>
          </a:ln>
        </p:spPr>
      </p:sp>
      <p:sp>
        <p:nvSpPr>
          <p:cNvPr id="16" name="Text 14"/>
          <p:cNvSpPr/>
          <p:nvPr/>
        </p:nvSpPr>
        <p:spPr>
          <a:xfrm>
            <a:off x="4626864" y="960120"/>
            <a:ext cx="201168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03</a:t>
            </a:r>
            <a:endParaRPr lang="en-US" sz="1800" dirty="0"/>
          </a:p>
        </p:txBody>
      </p:sp>
      <p:sp>
        <p:nvSpPr>
          <p:cNvPr id="17" name="Text 15"/>
          <p:cNvSpPr/>
          <p:nvPr/>
        </p:nvSpPr>
        <p:spPr>
          <a:xfrm>
            <a:off x="4764024" y="1508760"/>
            <a:ext cx="1737360" cy="411480"/>
          </a:xfrm>
          <a:prstGeom prst="rect">
            <a:avLst/>
          </a:prstGeom>
          <a:noFill/>
          <a:ln/>
        </p:spPr>
        <p:txBody>
          <a:bodyPr wrap="square" lIns="0" tIns="0" rIns="0" bIns="0" rtlCol="0" anchor="ctr"/>
          <a:lstStyle/>
          <a:p>
            <a:pPr indent="0" marL="0">
              <a:buNone/>
            </a:pPr>
            <a:r>
              <a:rPr lang="en-US" sz="1500" b="1" dirty="0">
                <a:solidFill>
                  <a:srgbClr val="2196F3"/>
                </a:solidFill>
                <a:latin typeface="Calibri" pitchFamily="34" charset="0"/>
                <a:ea typeface="Calibri" pitchFamily="34" charset="-122"/>
                <a:cs typeface="Calibri" pitchFamily="34" charset="-120"/>
              </a:rPr>
              <a:t>Defense</a:t>
            </a:r>
            <a:endParaRPr lang="en-US" sz="1500" dirty="0"/>
          </a:p>
        </p:txBody>
      </p:sp>
      <p:sp>
        <p:nvSpPr>
          <p:cNvPr id="18" name="Text 16"/>
          <p:cNvSpPr/>
          <p:nvPr/>
        </p:nvSpPr>
        <p:spPr>
          <a:xfrm>
            <a:off x="4764024" y="1965960"/>
            <a:ext cx="1737360" cy="2286000"/>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Hybrid detector: process invariants (physics-based) combined with a reconstruction-based ML autoencoder.</a:t>
            </a:r>
            <a:endParaRPr lang="en-US" sz="1100" dirty="0"/>
          </a:p>
        </p:txBody>
      </p:sp>
      <p:sp>
        <p:nvSpPr>
          <p:cNvPr id="19" name="Shape 17"/>
          <p:cNvSpPr/>
          <p:nvPr/>
        </p:nvSpPr>
        <p:spPr>
          <a:xfrm>
            <a:off x="6803136" y="960120"/>
            <a:ext cx="2011680" cy="356616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20" name="Shape 18"/>
          <p:cNvSpPr/>
          <p:nvPr/>
        </p:nvSpPr>
        <p:spPr>
          <a:xfrm>
            <a:off x="6803136" y="960120"/>
            <a:ext cx="2011680" cy="457200"/>
          </a:xfrm>
          <a:prstGeom prst="rect">
            <a:avLst/>
          </a:prstGeom>
          <a:solidFill>
            <a:srgbClr val="2ECC71"/>
          </a:solidFill>
          <a:ln w="12700">
            <a:solidFill>
              <a:srgbClr val="2ECC71"/>
            </a:solidFill>
            <a:prstDash val="solid"/>
          </a:ln>
        </p:spPr>
      </p:sp>
      <p:sp>
        <p:nvSpPr>
          <p:cNvPr id="21" name="Text 19"/>
          <p:cNvSpPr/>
          <p:nvPr/>
        </p:nvSpPr>
        <p:spPr>
          <a:xfrm>
            <a:off x="6803136" y="960120"/>
            <a:ext cx="201168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04</a:t>
            </a:r>
            <a:endParaRPr lang="en-US" sz="1800" dirty="0"/>
          </a:p>
        </p:txBody>
      </p:sp>
      <p:sp>
        <p:nvSpPr>
          <p:cNvPr id="22" name="Text 20"/>
          <p:cNvSpPr/>
          <p:nvPr/>
        </p:nvSpPr>
        <p:spPr>
          <a:xfrm>
            <a:off x="6940296" y="1508760"/>
            <a:ext cx="1737360" cy="411480"/>
          </a:xfrm>
          <a:prstGeom prst="rect">
            <a:avLst/>
          </a:prstGeom>
          <a:noFill/>
          <a:ln/>
        </p:spPr>
        <p:txBody>
          <a:bodyPr wrap="square" lIns="0" tIns="0" rIns="0" bIns="0" rtlCol="0" anchor="ctr"/>
          <a:lstStyle/>
          <a:p>
            <a:pPr indent="0" marL="0">
              <a:buNone/>
            </a:pPr>
            <a:r>
              <a:rPr lang="en-US" sz="1500" b="1" dirty="0">
                <a:solidFill>
                  <a:srgbClr val="2ECC71"/>
                </a:solidFill>
                <a:latin typeface="Calibri" pitchFamily="34" charset="0"/>
                <a:ea typeface="Calibri" pitchFamily="34" charset="-122"/>
                <a:cs typeface="Calibri" pitchFamily="34" charset="-120"/>
              </a:rPr>
              <a:t>Recovery</a:t>
            </a:r>
            <a:endParaRPr lang="en-US" sz="1500" dirty="0"/>
          </a:p>
        </p:txBody>
      </p:sp>
      <p:sp>
        <p:nvSpPr>
          <p:cNvPr id="23" name="Text 21"/>
          <p:cNvSpPr/>
          <p:nvPr/>
        </p:nvSpPr>
        <p:spPr>
          <a:xfrm>
            <a:off x="6940296" y="1965960"/>
            <a:ext cx="1737360" cy="2286000"/>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Automated safe-state transition + hot-standby PLC failover + invariant-guided sensor reconstruction.</a:t>
            </a:r>
            <a:endParaRPr lang="en-US" sz="1100" dirty="0"/>
          </a:p>
        </p:txBody>
      </p:sp>
      <p:sp>
        <p:nvSpPr>
          <p:cNvPr id="24" name="Shape 22"/>
          <p:cNvSpPr/>
          <p:nvPr/>
        </p:nvSpPr>
        <p:spPr>
          <a:xfrm>
            <a:off x="274320" y="4572000"/>
            <a:ext cx="8595360" cy="411480"/>
          </a:xfrm>
          <a:prstGeom prst="rect">
            <a:avLst/>
          </a:prstGeom>
          <a:solidFill>
            <a:srgbClr val="E8EEF4"/>
          </a:solidFill>
          <a:ln w="12700">
            <a:solidFill>
              <a:srgbClr val="E8EEF4"/>
            </a:solidFill>
            <a:prstDash val="solid"/>
          </a:ln>
        </p:spPr>
      </p:sp>
      <p:sp>
        <p:nvSpPr>
          <p:cNvPr id="25" name="Text 23"/>
          <p:cNvSpPr/>
          <p:nvPr/>
        </p:nvSpPr>
        <p:spPr>
          <a:xfrm>
            <a:off x="457200" y="4572000"/>
            <a:ext cx="8321040" cy="411480"/>
          </a:xfrm>
          <a:prstGeom prst="rect">
            <a:avLst/>
          </a:prstGeom>
          <a:noFill/>
          <a:ln/>
        </p:spPr>
        <p:txBody>
          <a:bodyPr wrap="square" lIns="0" tIns="0" rIns="0" bIns="0" rtlCol="0" anchor="ctr"/>
          <a:lstStyle/>
          <a:p>
            <a:pPr algn="ctr" indent="0" marL="0">
              <a:buNone/>
            </a:pPr>
            <a:r>
              <a:rPr lang="en-US" sz="1100" i="1" dirty="0">
                <a:solidFill>
                  <a:srgbClr val="1B3A5C"/>
                </a:solidFill>
                <a:latin typeface="Calibri" pitchFamily="34" charset="0"/>
                <a:ea typeface="Calibri" pitchFamily="34" charset="-122"/>
                <a:cs typeface="Calibri" pitchFamily="34" charset="-120"/>
              </a:rPr>
              <a:t>Research Contribution: First end-to-end demonstration on SWaT combining adversarial evasion attacks with a hybrid physics+ML defense and automated recovery.</a:t>
            </a:r>
            <a:endParaRPr lang="en-US" sz="1100" dirty="0"/>
          </a:p>
        </p:txBody>
      </p:sp>
      <p:sp>
        <p:nvSpPr>
          <p:cNvPr id="27" name="TextBox 26"/>
          <p:cNvSpPr txBox="1"/>
          <p:nvPr/>
        </p:nvSpPr>
        <p:spPr>
          <a:xfrm>
            <a:off x="182880" y="6720840"/>
            <a:ext cx="8778240" cy="274320"/>
          </a:xfrm>
          <a:prstGeom prst="rect">
            <a:avLst/>
          </a:prstGeom>
          <a:noFill/>
        </p:spPr>
        <p:txBody>
          <a:bodyPr wrap="square">
            <a:spAutoFit/>
          </a:bodyPr>
          <a:lstStyle/>
          <a:p>
            <a:pPr algn="ctr"/>
            <a:r>
              <a:rPr sz="1000" i="1">
                <a:solidFill>
                  <a:srgbClr val="90B4CE"/>
                </a:solidFill>
              </a:rPr>
              <a:t>SWaT Testbed — 6-stage water treatment process, PLC1–PLC6, iTrust Lab SUTD</a:t>
            </a:r>
          </a:p>
        </p:txBody>
      </p:sp>
      <p:pic>
        <p:nvPicPr>
          <p:cNvPr id="28" name="Picture 27" descr="image.png"/>
          <p:cNvPicPr>
            <a:picLocks noChangeAspect="1"/>
          </p:cNvPicPr>
          <p:nvPr/>
        </p:nvPicPr>
        <p:blipFill>
          <a:blip r:embed="rId3"/>
          <a:stretch>
            <a:fillRect/>
          </a:stretch>
        </p:blipFill>
        <p:spPr>
          <a:xfrm>
            <a:off x="137160" y="5029200"/>
            <a:ext cx="8869680" cy="1691640"/>
          </a:xfrm>
          <a:prstGeom prst="rect">
            <a:avLst/>
          </a:prstGeom>
        </p:spPr>
      </p:pic>
      <p:sp>
        <p:nvSpPr>
          <p:cNvPr id="29" name="TextBox 28"/>
          <p:cNvSpPr txBox="1"/>
          <p:nvPr/>
        </p:nvSpPr>
        <p:spPr>
          <a:xfrm>
            <a:off x="137160" y="6675120"/>
            <a:ext cx="8869680" cy="228600"/>
          </a:xfrm>
          <a:prstGeom prst="rect">
            <a:avLst/>
          </a:prstGeom>
          <a:noFill/>
        </p:spPr>
        <p:txBody>
          <a:bodyPr wrap="none">
            <a:spAutoFit/>
          </a:bodyPr>
          <a:lstStyle/>
          <a:p>
            <a:pPr algn="ctr"/>
            <a:r>
              <a:rPr sz="900" i="1">
                <a:solidFill>
                  <a:srgbClr val="90B4CE"/>
                </a:solidFill>
              </a:rPr>
              <a:t>SWaT Testbed — 6-stage water treatment process, PLC1–PLC6, iTrust Lab SUTD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196F3"/>
          </a:solidFill>
          <a:ln w="12700">
            <a:solidFill>
              <a:srgbClr val="2196F3"/>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Threat Model &amp; Assumptions</a:t>
            </a:r>
            <a:endParaRPr lang="en-US" sz="2800" dirty="0"/>
          </a:p>
        </p:txBody>
      </p:sp>
      <p:sp>
        <p:nvSpPr>
          <p:cNvPr id="4" name="Shape 2"/>
          <p:cNvSpPr/>
          <p:nvPr/>
        </p:nvSpPr>
        <p:spPr>
          <a:xfrm>
            <a:off x="365760" y="914400"/>
            <a:ext cx="3931920" cy="3931920"/>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25000"/>
              </a:srgbClr>
            </a:outerShdw>
          </a:effectLst>
        </p:spPr>
      </p:sp>
      <p:sp>
        <p:nvSpPr>
          <p:cNvPr id="5" name="Shape 3"/>
          <p:cNvSpPr/>
          <p:nvPr/>
        </p:nvSpPr>
        <p:spPr>
          <a:xfrm>
            <a:off x="365760" y="914400"/>
            <a:ext cx="64008" cy="3931920"/>
          </a:xfrm>
          <a:prstGeom prst="rect">
            <a:avLst/>
          </a:prstGeom>
          <a:solidFill>
            <a:srgbClr val="E63946"/>
          </a:solidFill>
          <a:ln w="12700">
            <a:solidFill>
              <a:srgbClr val="E63946"/>
            </a:solidFill>
            <a:prstDash val="solid"/>
          </a:ln>
        </p:spPr>
      </p:sp>
      <p:sp>
        <p:nvSpPr>
          <p:cNvPr id="6" name="Text 4"/>
          <p:cNvSpPr/>
          <p:nvPr/>
        </p:nvSpPr>
        <p:spPr>
          <a:xfrm>
            <a:off x="594360" y="1005840"/>
            <a:ext cx="3566160" cy="365760"/>
          </a:xfrm>
          <a:prstGeom prst="rect">
            <a:avLst/>
          </a:prstGeom>
          <a:noFill/>
          <a:ln/>
        </p:spPr>
        <p:txBody>
          <a:bodyPr wrap="square" lIns="0" tIns="0" rIns="0" bIns="0" rtlCol="0" anchor="ctr"/>
          <a:lstStyle/>
          <a:p>
            <a:pPr indent="0" marL="0">
              <a:buNone/>
            </a:pPr>
            <a:r>
              <a:rPr lang="en-US" sz="1600" b="1" dirty="0">
                <a:solidFill>
                  <a:srgbClr val="E63946"/>
                </a:solidFill>
                <a:latin typeface="Calibri" pitchFamily="34" charset="0"/>
                <a:ea typeface="Calibri" pitchFamily="34" charset="-122"/>
                <a:cs typeface="Calibri" pitchFamily="34" charset="-120"/>
              </a:rPr>
              <a:t>Attacker Profile</a:t>
            </a:r>
            <a:endParaRPr lang="en-US" sz="1600" dirty="0"/>
          </a:p>
        </p:txBody>
      </p:sp>
      <p:sp>
        <p:nvSpPr>
          <p:cNvPr id="7" name="Text 5"/>
          <p:cNvSpPr/>
          <p:nvPr/>
        </p:nvSpPr>
        <p:spPr>
          <a:xfrm>
            <a:off x="640080" y="1508760"/>
            <a:ext cx="777240" cy="320040"/>
          </a:xfrm>
          <a:prstGeom prst="rect">
            <a:avLst/>
          </a:prstGeom>
          <a:noFill/>
          <a:ln/>
        </p:spPr>
        <p:txBody>
          <a:bodyPr wrap="square" lIns="0" tIns="0" rIns="0" bIns="0"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Access:</a:t>
            </a:r>
            <a:endParaRPr lang="en-US" sz="1100" dirty="0"/>
          </a:p>
        </p:txBody>
      </p:sp>
      <p:sp>
        <p:nvSpPr>
          <p:cNvPr id="8" name="Text 6"/>
          <p:cNvSpPr/>
          <p:nvPr/>
        </p:nvSpPr>
        <p:spPr>
          <a:xfrm>
            <a:off x="1444752" y="1508760"/>
            <a:ext cx="2651760" cy="640080"/>
          </a:xfrm>
          <a:prstGeom prst="rect">
            <a:avLst/>
          </a:prstGeom>
          <a:noFill/>
          <a:ln/>
        </p:spPr>
        <p:txBody>
          <a:bodyPr wrap="square" lIns="0" tIns="0" rIns="0" bIns="0" rtlCol="0" anchor="ctr"/>
          <a:lstStyle/>
          <a:p>
            <a:pPr indent="0" marL="0">
              <a:buNone/>
            </a:pPr>
            <a:r>
              <a:rPr lang="en-US" sz="1050" dirty="0">
                <a:solidFill>
                  <a:srgbClr val="0D1B2A"/>
                </a:solidFill>
                <a:latin typeface="Calibri" pitchFamily="34" charset="0"/>
                <a:ea typeface="Calibri" pitchFamily="34" charset="-122"/>
                <a:cs typeface="Calibri" pitchFamily="34" charset="-120"/>
              </a:rPr>
              <a:t>Network-level access to Level 1/2 OT network (e.g. via compromised engineering workstation or rogue laptop on switch)</a:t>
            </a:r>
            <a:endParaRPr lang="en-US" sz="1050" dirty="0"/>
          </a:p>
        </p:txBody>
      </p:sp>
      <p:sp>
        <p:nvSpPr>
          <p:cNvPr id="9" name="Text 7"/>
          <p:cNvSpPr/>
          <p:nvPr/>
        </p:nvSpPr>
        <p:spPr>
          <a:xfrm>
            <a:off x="640080" y="2258568"/>
            <a:ext cx="777240" cy="320040"/>
          </a:xfrm>
          <a:prstGeom prst="rect">
            <a:avLst/>
          </a:prstGeom>
          <a:noFill/>
          <a:ln/>
        </p:spPr>
        <p:txBody>
          <a:bodyPr wrap="square" lIns="0" tIns="0" rIns="0" bIns="0"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Knowledge:</a:t>
            </a:r>
            <a:endParaRPr lang="en-US" sz="1100" dirty="0"/>
          </a:p>
        </p:txBody>
      </p:sp>
      <p:sp>
        <p:nvSpPr>
          <p:cNvPr id="10" name="Text 8"/>
          <p:cNvSpPr/>
          <p:nvPr/>
        </p:nvSpPr>
        <p:spPr>
          <a:xfrm>
            <a:off x="1444752" y="2258568"/>
            <a:ext cx="2651760" cy="640080"/>
          </a:xfrm>
          <a:prstGeom prst="rect">
            <a:avLst/>
          </a:prstGeom>
          <a:noFill/>
          <a:ln/>
        </p:spPr>
        <p:txBody>
          <a:bodyPr wrap="square" lIns="0" tIns="0" rIns="0" bIns="0" rtlCol="0" anchor="ctr"/>
          <a:lstStyle/>
          <a:p>
            <a:pPr indent="0" marL="0">
              <a:buNone/>
            </a:pPr>
            <a:r>
              <a:rPr lang="en-US" sz="1050" dirty="0">
                <a:solidFill>
                  <a:srgbClr val="0D1B2A"/>
                </a:solidFill>
                <a:latin typeface="Calibri" pitchFamily="34" charset="0"/>
                <a:ea typeface="Calibri" pitchFamily="34" charset="-122"/>
                <a:cs typeface="Calibri" pitchFamily="34" charset="-120"/>
              </a:rPr>
              <a:t>Knows Modbus register map (obtainable via passive sniffing). Black-box knowledge of anomaly detector.</a:t>
            </a:r>
            <a:endParaRPr lang="en-US" sz="1050" dirty="0"/>
          </a:p>
        </p:txBody>
      </p:sp>
      <p:sp>
        <p:nvSpPr>
          <p:cNvPr id="11" name="Text 9"/>
          <p:cNvSpPr/>
          <p:nvPr/>
        </p:nvSpPr>
        <p:spPr>
          <a:xfrm>
            <a:off x="640080" y="3008376"/>
            <a:ext cx="777240" cy="320040"/>
          </a:xfrm>
          <a:prstGeom prst="rect">
            <a:avLst/>
          </a:prstGeom>
          <a:noFill/>
          <a:ln/>
        </p:spPr>
        <p:txBody>
          <a:bodyPr wrap="square" lIns="0" tIns="0" rIns="0" bIns="0"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Capability:</a:t>
            </a:r>
            <a:endParaRPr lang="en-US" sz="1100" dirty="0"/>
          </a:p>
        </p:txBody>
      </p:sp>
      <p:sp>
        <p:nvSpPr>
          <p:cNvPr id="12" name="Text 10"/>
          <p:cNvSpPr/>
          <p:nvPr/>
        </p:nvSpPr>
        <p:spPr>
          <a:xfrm>
            <a:off x="1444752" y="3008376"/>
            <a:ext cx="2651760" cy="640080"/>
          </a:xfrm>
          <a:prstGeom prst="rect">
            <a:avLst/>
          </a:prstGeom>
          <a:noFill/>
          <a:ln/>
        </p:spPr>
        <p:txBody>
          <a:bodyPr wrap="square" lIns="0" tIns="0" rIns="0" bIns="0" rtlCol="0" anchor="ctr"/>
          <a:lstStyle/>
          <a:p>
            <a:pPr indent="0" marL="0">
              <a:buNone/>
            </a:pPr>
            <a:r>
              <a:rPr lang="en-US" sz="1050" dirty="0">
                <a:solidFill>
                  <a:srgbClr val="0D1B2A"/>
                </a:solidFill>
                <a:latin typeface="Calibri" pitchFamily="34" charset="0"/>
                <a:ea typeface="Calibri" pitchFamily="34" charset="-122"/>
                <a:cs typeface="Calibri" pitchFamily="34" charset="-120"/>
              </a:rPr>
              <a:t>Can intercept, inject, and spoof Modbus TCP frames. Can manipulate sensor readings reported to SCADA HMI.</a:t>
            </a:r>
            <a:endParaRPr lang="en-US" sz="1050" dirty="0"/>
          </a:p>
        </p:txBody>
      </p:sp>
      <p:sp>
        <p:nvSpPr>
          <p:cNvPr id="13" name="Text 11"/>
          <p:cNvSpPr/>
          <p:nvPr/>
        </p:nvSpPr>
        <p:spPr>
          <a:xfrm>
            <a:off x="640080" y="3758184"/>
            <a:ext cx="777240" cy="320040"/>
          </a:xfrm>
          <a:prstGeom prst="rect">
            <a:avLst/>
          </a:prstGeom>
          <a:noFill/>
          <a:ln/>
        </p:spPr>
        <p:txBody>
          <a:bodyPr wrap="square" lIns="0" tIns="0" rIns="0" bIns="0"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Goal:</a:t>
            </a:r>
            <a:endParaRPr lang="en-US" sz="1100" dirty="0"/>
          </a:p>
        </p:txBody>
      </p:sp>
      <p:sp>
        <p:nvSpPr>
          <p:cNvPr id="14" name="Text 12"/>
          <p:cNvSpPr/>
          <p:nvPr/>
        </p:nvSpPr>
        <p:spPr>
          <a:xfrm>
            <a:off x="1444752" y="3758184"/>
            <a:ext cx="2651760" cy="640080"/>
          </a:xfrm>
          <a:prstGeom prst="rect">
            <a:avLst/>
          </a:prstGeom>
          <a:noFill/>
          <a:ln/>
        </p:spPr>
        <p:txBody>
          <a:bodyPr wrap="square" lIns="0" tIns="0" rIns="0" bIns="0" rtlCol="0" anchor="ctr"/>
          <a:lstStyle/>
          <a:p>
            <a:pPr indent="0" marL="0">
              <a:buNone/>
            </a:pPr>
            <a:r>
              <a:rPr lang="en-US" sz="1050" dirty="0">
                <a:solidFill>
                  <a:srgbClr val="0D1B2A"/>
                </a:solidFill>
                <a:latin typeface="Calibri" pitchFamily="34" charset="0"/>
                <a:ea typeface="Calibri" pitchFamily="34" charset="-122"/>
                <a:cs typeface="Calibri" pitchFamily="34" charset="-120"/>
              </a:rPr>
              <a:t>Cause physical damage (tank overflow / pump cavitation) without triggering alarms for as long as possible.</a:t>
            </a:r>
            <a:endParaRPr lang="en-US" sz="1050" dirty="0"/>
          </a:p>
        </p:txBody>
      </p:sp>
      <p:sp>
        <p:nvSpPr>
          <p:cNvPr id="15" name="Shape 13"/>
          <p:cNvSpPr/>
          <p:nvPr/>
        </p:nvSpPr>
        <p:spPr>
          <a:xfrm>
            <a:off x="4663440" y="914400"/>
            <a:ext cx="4114800" cy="3931920"/>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25000"/>
              </a:srgbClr>
            </a:outerShdw>
          </a:effectLst>
        </p:spPr>
      </p:sp>
      <p:sp>
        <p:nvSpPr>
          <p:cNvPr id="16" name="Shape 14"/>
          <p:cNvSpPr/>
          <p:nvPr/>
        </p:nvSpPr>
        <p:spPr>
          <a:xfrm>
            <a:off x="4663440" y="914400"/>
            <a:ext cx="64008" cy="3931920"/>
          </a:xfrm>
          <a:prstGeom prst="rect">
            <a:avLst/>
          </a:prstGeom>
          <a:solidFill>
            <a:srgbClr val="2196F3"/>
          </a:solidFill>
          <a:ln w="12700">
            <a:solidFill>
              <a:srgbClr val="2196F3"/>
            </a:solidFill>
            <a:prstDash val="solid"/>
          </a:ln>
        </p:spPr>
      </p:sp>
      <p:sp>
        <p:nvSpPr>
          <p:cNvPr id="17" name="Text 15"/>
          <p:cNvSpPr/>
          <p:nvPr/>
        </p:nvSpPr>
        <p:spPr>
          <a:xfrm>
            <a:off x="4892040" y="1005840"/>
            <a:ext cx="3749040" cy="365760"/>
          </a:xfrm>
          <a:prstGeom prst="rect">
            <a:avLst/>
          </a:prstGeom>
          <a:noFill/>
          <a:ln/>
        </p:spPr>
        <p:txBody>
          <a:bodyPr wrap="square" lIns="0" tIns="0" rIns="0" bIns="0" rtlCol="0" anchor="ctr"/>
          <a:lstStyle/>
          <a:p>
            <a:pPr indent="0" marL="0">
              <a:buNone/>
            </a:pPr>
            <a:r>
              <a:rPr lang="en-US" sz="1600" b="1" dirty="0">
                <a:solidFill>
                  <a:srgbClr val="2196F3"/>
                </a:solidFill>
                <a:latin typeface="Calibri" pitchFamily="34" charset="0"/>
                <a:ea typeface="Calibri" pitchFamily="34" charset="-122"/>
                <a:cs typeface="Calibri" pitchFamily="34" charset="-120"/>
              </a:rPr>
              <a:t>SWaT Attack Surface</a:t>
            </a:r>
            <a:endParaRPr lang="en-US" sz="1600" dirty="0"/>
          </a:p>
        </p:txBody>
      </p:sp>
      <p:sp>
        <p:nvSpPr>
          <p:cNvPr id="18" name="Shape 16"/>
          <p:cNvSpPr/>
          <p:nvPr/>
        </p:nvSpPr>
        <p:spPr>
          <a:xfrm>
            <a:off x="4892040" y="1508760"/>
            <a:ext cx="91440" cy="502920"/>
          </a:xfrm>
          <a:prstGeom prst="rect">
            <a:avLst/>
          </a:prstGeom>
          <a:solidFill>
            <a:srgbClr val="E63946"/>
          </a:solidFill>
          <a:ln w="12700">
            <a:solidFill>
              <a:srgbClr val="E63946"/>
            </a:solidFill>
            <a:prstDash val="solid"/>
          </a:ln>
        </p:spPr>
      </p:sp>
      <p:sp>
        <p:nvSpPr>
          <p:cNvPr id="19" name="Text 17"/>
          <p:cNvSpPr/>
          <p:nvPr/>
        </p:nvSpPr>
        <p:spPr>
          <a:xfrm>
            <a:off x="5074920" y="1508760"/>
            <a:ext cx="1097280" cy="256032"/>
          </a:xfrm>
          <a:prstGeom prst="rect">
            <a:avLst/>
          </a:prstGeom>
          <a:noFill/>
          <a:ln/>
        </p:spPr>
        <p:txBody>
          <a:bodyPr wrap="square" lIns="0" tIns="0" rIns="0" bIns="0"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Zone D (IT)</a:t>
            </a:r>
            <a:endParaRPr lang="en-US" sz="1100" dirty="0"/>
          </a:p>
        </p:txBody>
      </p:sp>
      <p:sp>
        <p:nvSpPr>
          <p:cNvPr id="20" name="Text 18"/>
          <p:cNvSpPr/>
          <p:nvPr/>
        </p:nvSpPr>
        <p:spPr>
          <a:xfrm>
            <a:off x="5074920" y="1764792"/>
            <a:ext cx="3520440" cy="347472"/>
          </a:xfrm>
          <a:prstGeom prst="rect">
            <a:avLst/>
          </a:prstGeom>
          <a:noFill/>
          <a:ln/>
        </p:spPr>
        <p:txBody>
          <a:bodyPr wrap="square" lIns="0" tIns="0" rIns="0" bIns="0" rtlCol="0" anchor="ctr"/>
          <a:lstStyle/>
          <a:p>
            <a:pPr indent="0" marL="0">
              <a:buNone/>
            </a:pPr>
            <a:r>
              <a:rPr lang="en-US" sz="1000" dirty="0">
                <a:solidFill>
                  <a:srgbClr val="0D1B2A"/>
                </a:solidFill>
                <a:latin typeface="Calibri" pitchFamily="34" charset="0"/>
                <a:ea typeface="Calibri" pitchFamily="34" charset="-122"/>
                <a:cs typeface="Calibri" pitchFamily="34" charset="-120"/>
              </a:rPr>
              <a:t>SCADA workstation — initial foothold via phishing or rogue device</a:t>
            </a:r>
            <a:endParaRPr lang="en-US" sz="1000" dirty="0"/>
          </a:p>
        </p:txBody>
      </p:sp>
      <p:sp>
        <p:nvSpPr>
          <p:cNvPr id="21" name="Shape 19"/>
          <p:cNvSpPr/>
          <p:nvPr/>
        </p:nvSpPr>
        <p:spPr>
          <a:xfrm>
            <a:off x="4892040" y="2258568"/>
            <a:ext cx="91440" cy="502920"/>
          </a:xfrm>
          <a:prstGeom prst="rect">
            <a:avLst/>
          </a:prstGeom>
          <a:solidFill>
            <a:srgbClr val="F4A261"/>
          </a:solidFill>
          <a:ln w="12700">
            <a:solidFill>
              <a:srgbClr val="F4A261"/>
            </a:solidFill>
            <a:prstDash val="solid"/>
          </a:ln>
        </p:spPr>
      </p:sp>
      <p:sp>
        <p:nvSpPr>
          <p:cNvPr id="22" name="Text 20"/>
          <p:cNvSpPr/>
          <p:nvPr/>
        </p:nvSpPr>
        <p:spPr>
          <a:xfrm>
            <a:off x="5074920" y="2258568"/>
            <a:ext cx="1097280" cy="256032"/>
          </a:xfrm>
          <a:prstGeom prst="rect">
            <a:avLst/>
          </a:prstGeom>
          <a:noFill/>
          <a:ln/>
        </p:spPr>
        <p:txBody>
          <a:bodyPr wrap="square" lIns="0" tIns="0" rIns="0" bIns="0" rtlCol="0" anchor="ctr"/>
          <a:lstStyle/>
          <a:p>
            <a:pPr indent="0" marL="0">
              <a:buNone/>
            </a:pPr>
            <a:r>
              <a:rPr lang="en-US" sz="1100" b="1" dirty="0">
                <a:solidFill>
                  <a:srgbClr val="F4A261"/>
                </a:solidFill>
                <a:latin typeface="Calibri" pitchFamily="34" charset="0"/>
                <a:ea typeface="Calibri" pitchFamily="34" charset="-122"/>
                <a:cs typeface="Calibri" pitchFamily="34" charset="-120"/>
              </a:rPr>
              <a:t>Firewall</a:t>
            </a:r>
            <a:endParaRPr lang="en-US" sz="1100" dirty="0"/>
          </a:p>
        </p:txBody>
      </p:sp>
      <p:sp>
        <p:nvSpPr>
          <p:cNvPr id="23" name="Text 21"/>
          <p:cNvSpPr/>
          <p:nvPr/>
        </p:nvSpPr>
        <p:spPr>
          <a:xfrm>
            <a:off x="5074920" y="2514600"/>
            <a:ext cx="3520440" cy="347472"/>
          </a:xfrm>
          <a:prstGeom prst="rect">
            <a:avLst/>
          </a:prstGeom>
          <a:noFill/>
          <a:ln/>
        </p:spPr>
        <p:txBody>
          <a:bodyPr wrap="square" lIns="0" tIns="0" rIns="0" bIns="0" rtlCol="0" anchor="ctr"/>
          <a:lstStyle/>
          <a:p>
            <a:pPr indent="0" marL="0">
              <a:buNone/>
            </a:pPr>
            <a:r>
              <a:rPr lang="en-US" sz="1000" dirty="0">
                <a:solidFill>
                  <a:srgbClr val="0D1B2A"/>
                </a:solidFill>
                <a:latin typeface="Calibri" pitchFamily="34" charset="0"/>
                <a:ea typeface="Calibri" pitchFamily="34" charset="-122"/>
                <a:cs typeface="Calibri" pitchFamily="34" charset="-120"/>
              </a:rPr>
              <a:t>Traversal possible if SCADA talks to OT — common misconfiguration</a:t>
            </a:r>
            <a:endParaRPr lang="en-US" sz="1000" dirty="0"/>
          </a:p>
        </p:txBody>
      </p:sp>
      <p:sp>
        <p:nvSpPr>
          <p:cNvPr id="24" name="Shape 22"/>
          <p:cNvSpPr/>
          <p:nvPr/>
        </p:nvSpPr>
        <p:spPr>
          <a:xfrm>
            <a:off x="4892040" y="3008376"/>
            <a:ext cx="91440" cy="502920"/>
          </a:xfrm>
          <a:prstGeom prst="rect">
            <a:avLst/>
          </a:prstGeom>
          <a:solidFill>
            <a:srgbClr val="E63946"/>
          </a:solidFill>
          <a:ln w="12700">
            <a:solidFill>
              <a:srgbClr val="E63946"/>
            </a:solidFill>
            <a:prstDash val="solid"/>
          </a:ln>
        </p:spPr>
      </p:sp>
      <p:sp>
        <p:nvSpPr>
          <p:cNvPr id="25" name="Text 23"/>
          <p:cNvSpPr/>
          <p:nvPr/>
        </p:nvSpPr>
        <p:spPr>
          <a:xfrm>
            <a:off x="5074920" y="3008376"/>
            <a:ext cx="1097280" cy="256032"/>
          </a:xfrm>
          <a:prstGeom prst="rect">
            <a:avLst/>
          </a:prstGeom>
          <a:noFill/>
          <a:ln/>
        </p:spPr>
        <p:txBody>
          <a:bodyPr wrap="square" lIns="0" tIns="0" rIns="0" bIns="0"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Zone B (OT)</a:t>
            </a:r>
            <a:endParaRPr lang="en-US" sz="1100" dirty="0"/>
          </a:p>
        </p:txBody>
      </p:sp>
      <p:sp>
        <p:nvSpPr>
          <p:cNvPr id="26" name="Text 24"/>
          <p:cNvSpPr/>
          <p:nvPr/>
        </p:nvSpPr>
        <p:spPr>
          <a:xfrm>
            <a:off x="5074920" y="3264408"/>
            <a:ext cx="3520440" cy="347472"/>
          </a:xfrm>
          <a:prstGeom prst="rect">
            <a:avLst/>
          </a:prstGeom>
          <a:noFill/>
          <a:ln/>
        </p:spPr>
        <p:txBody>
          <a:bodyPr wrap="square" lIns="0" tIns="0" rIns="0" bIns="0" rtlCol="0" anchor="ctr"/>
          <a:lstStyle/>
          <a:p>
            <a:pPr indent="0" marL="0">
              <a:buNone/>
            </a:pPr>
            <a:r>
              <a:rPr lang="en-US" sz="1000" dirty="0">
                <a:solidFill>
                  <a:srgbClr val="0D1B2A"/>
                </a:solidFill>
                <a:latin typeface="Calibri" pitchFamily="34" charset="0"/>
                <a:ea typeface="Calibri" pitchFamily="34" charset="-122"/>
                <a:cs typeface="Calibri" pitchFamily="34" charset="-120"/>
              </a:rPr>
              <a:t>Modbus/TCP to PLC1–PLC6, no authentication — direct command injection</a:t>
            </a:r>
            <a:endParaRPr lang="en-US" sz="1000" dirty="0"/>
          </a:p>
        </p:txBody>
      </p:sp>
      <p:sp>
        <p:nvSpPr>
          <p:cNvPr id="27" name="Shape 25"/>
          <p:cNvSpPr/>
          <p:nvPr/>
        </p:nvSpPr>
        <p:spPr>
          <a:xfrm>
            <a:off x="4892040" y="3758184"/>
            <a:ext cx="91440" cy="502920"/>
          </a:xfrm>
          <a:prstGeom prst="rect">
            <a:avLst/>
          </a:prstGeom>
          <a:solidFill>
            <a:srgbClr val="2ECC71"/>
          </a:solidFill>
          <a:ln w="12700">
            <a:solidFill>
              <a:srgbClr val="2ECC71"/>
            </a:solidFill>
            <a:prstDash val="solid"/>
          </a:ln>
        </p:spPr>
      </p:sp>
      <p:sp>
        <p:nvSpPr>
          <p:cNvPr id="28" name="Text 26"/>
          <p:cNvSpPr/>
          <p:nvPr/>
        </p:nvSpPr>
        <p:spPr>
          <a:xfrm>
            <a:off x="5074920" y="3758184"/>
            <a:ext cx="1097280" cy="256032"/>
          </a:xfrm>
          <a:prstGeom prst="rect">
            <a:avLst/>
          </a:prstGeom>
          <a:noFill/>
          <a:ln/>
        </p:spPr>
        <p:txBody>
          <a:bodyPr wrap="square" lIns="0" tIns="0" rIns="0" bIns="0" rtlCol="0" anchor="ctr"/>
          <a:lstStyle/>
          <a:p>
            <a:pPr indent="0" marL="0">
              <a:buNone/>
            </a:pPr>
            <a:r>
              <a:rPr lang="en-US" sz="1100" b="1" dirty="0">
                <a:solidFill>
                  <a:srgbClr val="2ECC71"/>
                </a:solidFill>
                <a:latin typeface="Calibri" pitchFamily="34" charset="0"/>
                <a:ea typeface="Calibri" pitchFamily="34" charset="-122"/>
                <a:cs typeface="Calibri" pitchFamily="34" charset="-120"/>
              </a:rPr>
              <a:t>Zone A (SIS)</a:t>
            </a:r>
            <a:endParaRPr lang="en-US" sz="1100" dirty="0"/>
          </a:p>
        </p:txBody>
      </p:sp>
      <p:sp>
        <p:nvSpPr>
          <p:cNvPr id="29" name="Text 27"/>
          <p:cNvSpPr/>
          <p:nvPr/>
        </p:nvSpPr>
        <p:spPr>
          <a:xfrm>
            <a:off x="5074920" y="4014216"/>
            <a:ext cx="3520440" cy="347472"/>
          </a:xfrm>
          <a:prstGeom prst="rect">
            <a:avLst/>
          </a:prstGeom>
          <a:noFill/>
          <a:ln/>
        </p:spPr>
        <p:txBody>
          <a:bodyPr wrap="square" lIns="0" tIns="0" rIns="0" bIns="0" rtlCol="0" anchor="ctr"/>
          <a:lstStyle/>
          <a:p>
            <a:pPr indent="0" marL="0">
              <a:buNone/>
            </a:pPr>
            <a:r>
              <a:rPr lang="en-US" sz="1000" dirty="0">
                <a:solidFill>
                  <a:srgbClr val="0D1B2A"/>
                </a:solidFill>
                <a:latin typeface="Calibri" pitchFamily="34" charset="0"/>
                <a:ea typeface="Calibri" pitchFamily="34" charset="-122"/>
                <a:cs typeface="Calibri" pitchFamily="34" charset="-120"/>
              </a:rPr>
              <a:t>Safety Instrumented System — target is to stay below SIS thresholds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63946"/>
          </a:solidFill>
          <a:ln w="12700">
            <a:solidFill>
              <a:srgbClr val="E63946"/>
            </a:solidFill>
            <a:prstDash val="solid"/>
          </a:ln>
        </p:spPr>
      </p:sp>
      <p:sp>
        <p:nvSpPr>
          <p:cNvPr id="3" name="Text 1"/>
          <p:cNvSpPr/>
          <p:nvPr/>
        </p:nvSpPr>
        <p:spPr>
          <a:xfrm>
            <a:off x="457200" y="137160"/>
            <a:ext cx="4572000" cy="5029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Attack Design</a:t>
            </a:r>
            <a:endParaRPr lang="en-US" sz="2800" dirty="0"/>
          </a:p>
        </p:txBody>
      </p:sp>
      <p:sp>
        <p:nvSpPr>
          <p:cNvPr id="4" name="Text 2"/>
          <p:cNvSpPr/>
          <p:nvPr/>
        </p:nvSpPr>
        <p:spPr>
          <a:xfrm>
            <a:off x="457200" y="621792"/>
            <a:ext cx="8229600" cy="274320"/>
          </a:xfrm>
          <a:prstGeom prst="rect">
            <a:avLst/>
          </a:prstGeom>
          <a:noFill/>
          <a:ln/>
        </p:spPr>
        <p:txBody>
          <a:bodyPr wrap="square" lIns="0" tIns="0" rIns="0" bIns="0" rtlCol="0" anchor="ctr"/>
          <a:lstStyle/>
          <a:p>
            <a:pPr indent="0" marL="0">
              <a:buNone/>
            </a:pPr>
            <a:r>
              <a:rPr lang="en-US" sz="1200" i="1" dirty="0">
                <a:solidFill>
                  <a:srgbClr val="8FA3B1"/>
                </a:solidFill>
                <a:latin typeface="Calibri" pitchFamily="34" charset="0"/>
                <a:ea typeface="Calibri" pitchFamily="34" charset="-122"/>
                <a:cs typeface="Calibri" pitchFamily="34" charset="-120"/>
              </a:rPr>
              <a:t>Papers #9 (Modbus FCI) + #31 (Constrained Concealment)</a:t>
            </a:r>
            <a:endParaRPr lang="en-US" sz="1200" dirty="0"/>
          </a:p>
        </p:txBody>
      </p:sp>
      <p:sp>
        <p:nvSpPr>
          <p:cNvPr id="5" name="Shape 3"/>
          <p:cNvSpPr/>
          <p:nvPr/>
        </p:nvSpPr>
        <p:spPr>
          <a:xfrm>
            <a:off x="365760" y="1005840"/>
            <a:ext cx="2560320" cy="329184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6" name="Shape 4"/>
          <p:cNvSpPr/>
          <p:nvPr/>
        </p:nvSpPr>
        <p:spPr>
          <a:xfrm>
            <a:off x="365760" y="1005840"/>
            <a:ext cx="2560320" cy="502920"/>
          </a:xfrm>
          <a:prstGeom prst="rect">
            <a:avLst/>
          </a:prstGeom>
          <a:solidFill>
            <a:srgbClr val="F4A261"/>
          </a:solidFill>
          <a:ln w="12700">
            <a:solidFill>
              <a:srgbClr val="F4A261"/>
            </a:solidFill>
            <a:prstDash val="solid"/>
          </a:ln>
        </p:spPr>
      </p:sp>
      <p:sp>
        <p:nvSpPr>
          <p:cNvPr id="7" name="Text 5"/>
          <p:cNvSpPr/>
          <p:nvPr/>
        </p:nvSpPr>
        <p:spPr>
          <a:xfrm>
            <a:off x="365760" y="1005840"/>
            <a:ext cx="25603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Phase 0</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Reconnaissance</a:t>
            </a:r>
            <a:endParaRPr lang="en-US" sz="1300" dirty="0"/>
          </a:p>
        </p:txBody>
      </p:sp>
      <p:sp>
        <p:nvSpPr>
          <p:cNvPr id="8" name="Text 6"/>
          <p:cNvSpPr/>
          <p:nvPr/>
        </p:nvSpPr>
        <p:spPr>
          <a:xfrm>
            <a:off x="502920" y="1627632"/>
            <a:ext cx="2286000" cy="2514600"/>
          </a:xfrm>
          <a:prstGeom prst="rect">
            <a:avLst/>
          </a:prstGeom>
          <a:noFill/>
          <a:ln/>
        </p:spPr>
        <p:txBody>
          <a:bodyPr wrap="square" lIns="0" tIns="0" rIns="0" bIns="0" rtlCol="0" anchor="ctr"/>
          <a:lstStyle/>
          <a:p>
            <a:pPr indent="0" marL="0">
              <a:buNone/>
            </a:pPr>
            <a:r>
              <a:rPr lang="en-US" sz="1150" dirty="0">
                <a:solidFill>
                  <a:srgbClr val="E8EEF4"/>
                </a:solidFill>
                <a:latin typeface="Calibri" pitchFamily="34" charset="0"/>
                <a:ea typeface="Calibri" pitchFamily="34" charset="-122"/>
                <a:cs typeface="Calibri" pitchFamily="34" charset="-120"/>
              </a:rPr>
              <a:t>Passive Wireshark sniff on</a:t>
            </a:r>
            <a:endParaRPr lang="en-US" sz="1150" dirty="0"/>
          </a:p>
          <a:p>
            <a:pPr indent="0" marL="0">
              <a:buNone/>
            </a:pPr>
            <a:r>
              <a:rPr lang="en-US" sz="1150" dirty="0">
                <a:solidFill>
                  <a:srgbClr val="E8EEF4"/>
                </a:solidFill>
                <a:latin typeface="Calibri" pitchFamily="34" charset="0"/>
                <a:ea typeface="Calibri" pitchFamily="34" charset="-122"/>
                <a:cs typeface="Calibri" pitchFamily="34" charset="-120"/>
              </a:rPr>
              <a:t>Modbus TCP port 502.</a:t>
            </a:r>
            <a:endParaRPr lang="en-US" sz="1150" dirty="0"/>
          </a:p>
          <a:p>
            <a:pPr indent="0" marL="0">
              <a:buNone/>
            </a:pPr>
            <a:r>
              <a:rPr lang="en-US" sz="1150" dirty="0">
                <a:solidFill>
                  <a:srgbClr val="E8EEF4"/>
                </a:solidFill>
                <a:latin typeface="Calibri" pitchFamily="34" charset="0"/>
                <a:ea typeface="Calibri" pitchFamily="34" charset="-122"/>
                <a:cs typeface="Calibri" pitchFamily="34" charset="-120"/>
              </a:rPr>
              <a:t>Map PLC IPs, register</a:t>
            </a:r>
            <a:endParaRPr lang="en-US" sz="1150" dirty="0"/>
          </a:p>
          <a:p>
            <a:pPr indent="0" marL="0">
              <a:buNone/>
            </a:pPr>
            <a:r>
              <a:rPr lang="en-US" sz="1150" dirty="0">
                <a:solidFill>
                  <a:srgbClr val="E8EEF4"/>
                </a:solidFill>
                <a:latin typeface="Calibri" pitchFamily="34" charset="0"/>
                <a:ea typeface="Calibri" pitchFamily="34" charset="-122"/>
                <a:cs typeface="Calibri" pitchFamily="34" charset="-120"/>
              </a:rPr>
              <a:t>addresses, I/O tags.</a:t>
            </a:r>
            <a:endParaRPr lang="en-US" sz="1150" dirty="0"/>
          </a:p>
        </p:txBody>
      </p:sp>
      <p:sp>
        <p:nvSpPr>
          <p:cNvPr id="9" name="Shape 7"/>
          <p:cNvSpPr/>
          <p:nvPr/>
        </p:nvSpPr>
        <p:spPr>
          <a:xfrm>
            <a:off x="2926080" y="2468880"/>
            <a:ext cx="256032" cy="54864"/>
          </a:xfrm>
          <a:prstGeom prst="rect">
            <a:avLst/>
          </a:prstGeom>
          <a:solidFill>
            <a:srgbClr val="8FA3B1"/>
          </a:solidFill>
          <a:ln w="12700">
            <a:solidFill>
              <a:srgbClr val="8FA3B1"/>
            </a:solidFill>
            <a:prstDash val="solid"/>
          </a:ln>
        </p:spPr>
      </p:sp>
      <p:sp>
        <p:nvSpPr>
          <p:cNvPr id="10" name="Text 8"/>
          <p:cNvSpPr/>
          <p:nvPr/>
        </p:nvSpPr>
        <p:spPr>
          <a:xfrm>
            <a:off x="3072384" y="2331720"/>
            <a:ext cx="228600" cy="320040"/>
          </a:xfrm>
          <a:prstGeom prst="rect">
            <a:avLst/>
          </a:prstGeom>
          <a:noFill/>
          <a:ln/>
        </p:spPr>
        <p:txBody>
          <a:bodyPr wrap="square" lIns="0" tIns="0" rIns="0" bIns="0" rtlCol="0" anchor="ctr"/>
          <a:lstStyle/>
          <a:p>
            <a:pPr algn="ctr" indent="0" marL="0">
              <a:buNone/>
            </a:pPr>
            <a:r>
              <a:rPr lang="en-US" sz="1400" dirty="0">
                <a:solidFill>
                  <a:srgbClr val="8FA3B1"/>
                </a:solidFill>
                <a:latin typeface="Calibri" pitchFamily="34" charset="0"/>
                <a:ea typeface="Calibri" pitchFamily="34" charset="-122"/>
                <a:cs typeface="Calibri" pitchFamily="34" charset="-120"/>
              </a:rPr>
              <a:t>▶</a:t>
            </a:r>
            <a:endParaRPr lang="en-US" sz="1400" dirty="0"/>
          </a:p>
        </p:txBody>
      </p:sp>
      <p:sp>
        <p:nvSpPr>
          <p:cNvPr id="11" name="Shape 9"/>
          <p:cNvSpPr/>
          <p:nvPr/>
        </p:nvSpPr>
        <p:spPr>
          <a:xfrm>
            <a:off x="3246120" y="1005840"/>
            <a:ext cx="2560320" cy="329184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12" name="Shape 10"/>
          <p:cNvSpPr/>
          <p:nvPr/>
        </p:nvSpPr>
        <p:spPr>
          <a:xfrm>
            <a:off x="3246120" y="1005840"/>
            <a:ext cx="2560320" cy="502920"/>
          </a:xfrm>
          <a:prstGeom prst="rect">
            <a:avLst/>
          </a:prstGeom>
          <a:solidFill>
            <a:srgbClr val="E63946"/>
          </a:solidFill>
          <a:ln w="12700">
            <a:solidFill>
              <a:srgbClr val="E63946"/>
            </a:solidFill>
            <a:prstDash val="solid"/>
          </a:ln>
        </p:spPr>
      </p:sp>
      <p:sp>
        <p:nvSpPr>
          <p:cNvPr id="13" name="Text 11"/>
          <p:cNvSpPr/>
          <p:nvPr/>
        </p:nvSpPr>
        <p:spPr>
          <a:xfrm>
            <a:off x="3246120" y="1005840"/>
            <a:ext cx="25603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Phase 1</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False Command</a:t>
            </a:r>
            <a:endParaRPr lang="en-US" sz="1300" dirty="0"/>
          </a:p>
        </p:txBody>
      </p:sp>
      <p:sp>
        <p:nvSpPr>
          <p:cNvPr id="14" name="Text 12"/>
          <p:cNvSpPr/>
          <p:nvPr/>
        </p:nvSpPr>
        <p:spPr>
          <a:xfrm>
            <a:off x="3383280" y="1627632"/>
            <a:ext cx="2286000" cy="2514600"/>
          </a:xfrm>
          <a:prstGeom prst="rect">
            <a:avLst/>
          </a:prstGeom>
          <a:noFill/>
          <a:ln/>
        </p:spPr>
        <p:txBody>
          <a:bodyPr wrap="square" lIns="0" tIns="0" rIns="0" bIns="0" rtlCol="0" anchor="ctr"/>
          <a:lstStyle/>
          <a:p>
            <a:pPr indent="0" marL="0">
              <a:buNone/>
            </a:pPr>
            <a:r>
              <a:rPr lang="en-US" sz="1150" dirty="0">
                <a:solidFill>
                  <a:srgbClr val="E8EEF4"/>
                </a:solidFill>
                <a:latin typeface="Calibri" pitchFamily="34" charset="0"/>
                <a:ea typeface="Calibri" pitchFamily="34" charset="-122"/>
                <a:cs typeface="Calibri" pitchFamily="34" charset="-120"/>
              </a:rPr>
              <a:t>Inject crafted Modbus</a:t>
            </a:r>
            <a:endParaRPr lang="en-US" sz="1150" dirty="0"/>
          </a:p>
          <a:p>
            <a:pPr indent="0" marL="0">
              <a:buNone/>
            </a:pPr>
            <a:r>
              <a:rPr lang="en-US" sz="1150" dirty="0">
                <a:solidFill>
                  <a:srgbClr val="E8EEF4"/>
                </a:solidFill>
                <a:latin typeface="Calibri" pitchFamily="34" charset="0"/>
                <a:ea typeface="Calibri" pitchFamily="34" charset="-122"/>
                <a:cs typeface="Calibri" pitchFamily="34" charset="-120"/>
              </a:rPr>
              <a:t>write-coil/register frames</a:t>
            </a:r>
            <a:endParaRPr lang="en-US" sz="1150" dirty="0"/>
          </a:p>
          <a:p>
            <a:pPr indent="0" marL="0">
              <a:buNone/>
            </a:pPr>
            <a:r>
              <a:rPr lang="en-US" sz="1150" dirty="0">
                <a:solidFill>
                  <a:srgbClr val="E8EEF4"/>
                </a:solidFill>
                <a:latin typeface="Calibri" pitchFamily="34" charset="0"/>
                <a:ea typeface="Calibri" pitchFamily="34" charset="-122"/>
                <a:cs typeface="Calibri" pitchFamily="34" charset="-120"/>
              </a:rPr>
              <a:t>e.g. close MV101, force</a:t>
            </a:r>
            <a:endParaRPr lang="en-US" sz="1150" dirty="0"/>
          </a:p>
          <a:p>
            <a:pPr indent="0" marL="0">
              <a:buNone/>
            </a:pPr>
            <a:r>
              <a:rPr lang="en-US" sz="1150" dirty="0">
                <a:solidFill>
                  <a:srgbClr val="E8EEF4"/>
                </a:solidFill>
                <a:latin typeface="Calibri" pitchFamily="34" charset="0"/>
                <a:ea typeface="Calibri" pitchFamily="34" charset="-122"/>
                <a:cs typeface="Calibri" pitchFamily="34" charset="-120"/>
              </a:rPr>
              <a:t>P101 pump OFF.</a:t>
            </a:r>
            <a:endParaRPr lang="en-US" sz="1150" dirty="0"/>
          </a:p>
        </p:txBody>
      </p:sp>
      <p:sp>
        <p:nvSpPr>
          <p:cNvPr id="15" name="Shape 13"/>
          <p:cNvSpPr/>
          <p:nvPr/>
        </p:nvSpPr>
        <p:spPr>
          <a:xfrm>
            <a:off x="5806440" y="2468880"/>
            <a:ext cx="256032" cy="54864"/>
          </a:xfrm>
          <a:prstGeom prst="rect">
            <a:avLst/>
          </a:prstGeom>
          <a:solidFill>
            <a:srgbClr val="8FA3B1"/>
          </a:solidFill>
          <a:ln w="12700">
            <a:solidFill>
              <a:srgbClr val="8FA3B1"/>
            </a:solidFill>
            <a:prstDash val="solid"/>
          </a:ln>
        </p:spPr>
      </p:sp>
      <p:sp>
        <p:nvSpPr>
          <p:cNvPr id="16" name="Text 14"/>
          <p:cNvSpPr/>
          <p:nvPr/>
        </p:nvSpPr>
        <p:spPr>
          <a:xfrm>
            <a:off x="5952744" y="2331720"/>
            <a:ext cx="228600" cy="320040"/>
          </a:xfrm>
          <a:prstGeom prst="rect">
            <a:avLst/>
          </a:prstGeom>
          <a:noFill/>
          <a:ln/>
        </p:spPr>
        <p:txBody>
          <a:bodyPr wrap="square" lIns="0" tIns="0" rIns="0" bIns="0" rtlCol="0" anchor="ctr"/>
          <a:lstStyle/>
          <a:p>
            <a:pPr algn="ctr" indent="0" marL="0">
              <a:buNone/>
            </a:pPr>
            <a:r>
              <a:rPr lang="en-US" sz="1400" dirty="0">
                <a:solidFill>
                  <a:srgbClr val="8FA3B1"/>
                </a:solidFill>
                <a:latin typeface="Calibri" pitchFamily="34" charset="0"/>
                <a:ea typeface="Calibri" pitchFamily="34" charset="-122"/>
                <a:cs typeface="Calibri" pitchFamily="34" charset="-120"/>
              </a:rPr>
              <a:t>▶</a:t>
            </a:r>
            <a:endParaRPr lang="en-US" sz="1400" dirty="0"/>
          </a:p>
        </p:txBody>
      </p:sp>
      <p:sp>
        <p:nvSpPr>
          <p:cNvPr id="17" name="Shape 15"/>
          <p:cNvSpPr/>
          <p:nvPr/>
        </p:nvSpPr>
        <p:spPr>
          <a:xfrm>
            <a:off x="6126480" y="1005840"/>
            <a:ext cx="2560320" cy="329184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18" name="Shape 16"/>
          <p:cNvSpPr/>
          <p:nvPr/>
        </p:nvSpPr>
        <p:spPr>
          <a:xfrm>
            <a:off x="6126480" y="1005840"/>
            <a:ext cx="2560320" cy="502920"/>
          </a:xfrm>
          <a:prstGeom prst="rect">
            <a:avLst/>
          </a:prstGeom>
          <a:solidFill>
            <a:srgbClr val="9B59B6"/>
          </a:solidFill>
          <a:ln w="12700">
            <a:solidFill>
              <a:srgbClr val="9B59B6"/>
            </a:solidFill>
            <a:prstDash val="solid"/>
          </a:ln>
        </p:spPr>
      </p:sp>
      <p:sp>
        <p:nvSpPr>
          <p:cNvPr id="19" name="Text 17"/>
          <p:cNvSpPr/>
          <p:nvPr/>
        </p:nvSpPr>
        <p:spPr>
          <a:xfrm>
            <a:off x="6126480" y="1005840"/>
            <a:ext cx="25603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Phase 2</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Sensor Spoofing</a:t>
            </a:r>
            <a:endParaRPr lang="en-US" sz="1300" dirty="0"/>
          </a:p>
        </p:txBody>
      </p:sp>
      <p:sp>
        <p:nvSpPr>
          <p:cNvPr id="20" name="Text 18"/>
          <p:cNvSpPr/>
          <p:nvPr/>
        </p:nvSpPr>
        <p:spPr>
          <a:xfrm>
            <a:off x="6263640" y="1627632"/>
            <a:ext cx="2286000" cy="2514600"/>
          </a:xfrm>
          <a:prstGeom prst="rect">
            <a:avLst/>
          </a:prstGeom>
          <a:noFill/>
          <a:ln/>
        </p:spPr>
        <p:txBody>
          <a:bodyPr wrap="square" lIns="0" tIns="0" rIns="0" bIns="0" rtlCol="0" anchor="ctr"/>
          <a:lstStyle/>
          <a:p>
            <a:pPr indent="0" marL="0">
              <a:buNone/>
            </a:pPr>
            <a:r>
              <a:rPr lang="en-US" sz="1150" dirty="0">
                <a:solidFill>
                  <a:srgbClr val="E8EEF4"/>
                </a:solidFill>
                <a:latin typeface="Calibri" pitchFamily="34" charset="0"/>
                <a:ea typeface="Calibri" pitchFamily="34" charset="-122"/>
                <a:cs typeface="Calibri" pitchFamily="34" charset="-120"/>
              </a:rPr>
              <a:t>Replay captured legitimate</a:t>
            </a:r>
            <a:endParaRPr lang="en-US" sz="1150" dirty="0"/>
          </a:p>
          <a:p>
            <a:pPr indent="0" marL="0">
              <a:buNone/>
            </a:pPr>
            <a:r>
              <a:rPr lang="en-US" sz="1150" dirty="0">
                <a:solidFill>
                  <a:srgbClr val="E8EEF4"/>
                </a:solidFill>
                <a:latin typeface="Calibri" pitchFamily="34" charset="0"/>
                <a:ea typeface="Calibri" pitchFamily="34" charset="-122"/>
                <a:cs typeface="Calibri" pitchFamily="34" charset="-120"/>
              </a:rPr>
              <a:t>responses to SCADA HMI (Paper #9 Algorithm 1).</a:t>
            </a:r>
            <a:endParaRPr lang="en-US" sz="1150" dirty="0"/>
          </a:p>
          <a:p>
            <a:pPr indent="0" marL="0">
              <a:buNone/>
            </a:pPr>
            <a:r>
              <a:rPr lang="en-US" sz="1150" dirty="0">
                <a:solidFill>
                  <a:srgbClr val="E8EEF4"/>
                </a:solidFill>
                <a:latin typeface="Calibri" pitchFamily="34" charset="0"/>
                <a:ea typeface="Calibri" pitchFamily="34" charset="-122"/>
                <a:cs typeface="Calibri" pitchFamily="34" charset="-120"/>
              </a:rPr>
              <a:t>Additionally spoof sensor values</a:t>
            </a:r>
            <a:endParaRPr lang="en-US" sz="1150" dirty="0"/>
          </a:p>
          <a:p>
            <a:pPr indent="0" marL="0">
              <a:buNone/>
            </a:pPr>
            <a:r>
              <a:rPr lang="en-US" sz="1150" dirty="0">
                <a:solidFill>
                  <a:srgbClr val="E8EEF4"/>
                </a:solidFill>
                <a:latin typeface="Calibri" pitchFamily="34" charset="0"/>
                <a:ea typeface="Calibri" pitchFamily="34" charset="-122"/>
                <a:cs typeface="Calibri" pitchFamily="34" charset="-120"/>
              </a:rPr>
              <a:t>via adversarial AE to evade ML detectors (Paper #31).</a:t>
            </a:r>
            <a:endParaRPr lang="en-US" sz="1150" dirty="0"/>
          </a:p>
        </p:txBody>
      </p:sp>
      <p:sp>
        <p:nvSpPr>
          <p:cNvPr id="21" name="Shape 19"/>
          <p:cNvSpPr/>
          <p:nvPr/>
        </p:nvSpPr>
        <p:spPr>
          <a:xfrm>
            <a:off x="365760" y="4434840"/>
            <a:ext cx="8412480" cy="54864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22" name="Shape 20"/>
          <p:cNvSpPr/>
          <p:nvPr/>
        </p:nvSpPr>
        <p:spPr>
          <a:xfrm>
            <a:off x="365760" y="4434840"/>
            <a:ext cx="73152" cy="548640"/>
          </a:xfrm>
          <a:prstGeom prst="rect">
            <a:avLst/>
          </a:prstGeom>
          <a:solidFill>
            <a:srgbClr val="E63946"/>
          </a:solidFill>
          <a:ln w="12700">
            <a:solidFill>
              <a:srgbClr val="E63946"/>
            </a:solidFill>
            <a:prstDash val="solid"/>
          </a:ln>
        </p:spPr>
      </p:sp>
      <p:sp>
        <p:nvSpPr>
          <p:cNvPr id="23" name="Text 21"/>
          <p:cNvSpPr/>
          <p:nvPr/>
        </p:nvSpPr>
        <p:spPr>
          <a:xfrm>
            <a:off x="594360" y="4434840"/>
            <a:ext cx="8046720" cy="548640"/>
          </a:xfrm>
          <a:prstGeom prst="rect">
            <a:avLst/>
          </a:prstGeom>
          <a:noFill/>
          <a:ln/>
        </p:spPr>
        <p:txBody>
          <a:bodyPr wrap="square" lIns="0" tIns="0" rIns="0" bIns="0" rtlCol="0" anchor="ctr"/>
          <a:lstStyle/>
          <a:p>
            <a:pPr indent="0" marL="0">
              <a:buNone/>
            </a:pPr>
            <a:r>
              <a:rPr lang="en-US" sz="1150" dirty="0">
                <a:solidFill>
                  <a:srgbClr val="E8EEF4"/>
                </a:solidFill>
                <a:latin typeface="Calibri" pitchFamily="34" charset="0"/>
                <a:ea typeface="Calibri" pitchFamily="34" charset="-122"/>
                <a:cs typeface="Calibri" pitchFamily="34" charset="-120"/>
              </a:rPr>
              <a:t>Target:  SWaT P1 (raw water intake) → force MV101 closed + P101 OFF while LIT101 shows normal level  →  starvation of downstream stages P2–P6</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Why Existing Detectors Fail</a:t>
            </a:r>
            <a:endParaRPr lang="en-US" sz="2800" dirty="0"/>
          </a:p>
        </p:txBody>
      </p:sp>
      <p:sp>
        <p:nvSpPr>
          <p:cNvPr id="4" name="Shape 2"/>
          <p:cNvSpPr/>
          <p:nvPr/>
        </p:nvSpPr>
        <p:spPr>
          <a:xfrm>
            <a:off x="365760" y="868680"/>
            <a:ext cx="3931920" cy="4069080"/>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25000"/>
              </a:srgbClr>
            </a:outerShdw>
          </a:effectLst>
        </p:spPr>
      </p:sp>
      <p:sp>
        <p:nvSpPr>
          <p:cNvPr id="5" name="Shape 3"/>
          <p:cNvSpPr/>
          <p:nvPr/>
        </p:nvSpPr>
        <p:spPr>
          <a:xfrm>
            <a:off x="365760" y="868680"/>
            <a:ext cx="64008" cy="4069080"/>
          </a:xfrm>
          <a:prstGeom prst="rect">
            <a:avLst/>
          </a:prstGeom>
          <a:solidFill>
            <a:srgbClr val="E63946"/>
          </a:solidFill>
          <a:ln w="12700">
            <a:solidFill>
              <a:srgbClr val="E63946"/>
            </a:solidFill>
            <a:prstDash val="solid"/>
          </a:ln>
        </p:spPr>
      </p:sp>
      <p:sp>
        <p:nvSpPr>
          <p:cNvPr id="6" name="Text 4"/>
          <p:cNvSpPr/>
          <p:nvPr/>
        </p:nvSpPr>
        <p:spPr>
          <a:xfrm>
            <a:off x="594360" y="960120"/>
            <a:ext cx="3566160" cy="365760"/>
          </a:xfrm>
          <a:prstGeom prst="rect">
            <a:avLst/>
          </a:prstGeom>
          <a:noFill/>
          <a:ln/>
        </p:spPr>
        <p:txBody>
          <a:bodyPr wrap="square" lIns="0" tIns="0" rIns="0" bIns="0" rtlCol="0" anchor="ctr"/>
          <a:lstStyle/>
          <a:p>
            <a:pPr indent="0" marL="0">
              <a:buNone/>
            </a:pPr>
            <a:r>
              <a:rPr lang="en-US" sz="1500" b="1" dirty="0">
                <a:solidFill>
                  <a:srgbClr val="E63946"/>
                </a:solidFill>
                <a:latin typeface="Calibri" pitchFamily="34" charset="0"/>
                <a:ea typeface="Calibri" pitchFamily="34" charset="-122"/>
                <a:cs typeface="Calibri" pitchFamily="34" charset="-120"/>
              </a:rPr>
              <a:t>ML-Only Anomaly Detector</a:t>
            </a:r>
            <a:endParaRPr lang="en-US" sz="1500" dirty="0"/>
          </a:p>
        </p:txBody>
      </p:sp>
      <p:sp>
        <p:nvSpPr>
          <p:cNvPr id="7" name="Text 5"/>
          <p:cNvSpPr/>
          <p:nvPr/>
        </p:nvSpPr>
        <p:spPr>
          <a:xfrm>
            <a:off x="594360" y="1298448"/>
            <a:ext cx="3566160" cy="274320"/>
          </a:xfrm>
          <a:prstGeom prst="rect">
            <a:avLst/>
          </a:prstGeom>
          <a:noFill/>
          <a:ln/>
        </p:spPr>
        <p:txBody>
          <a:bodyPr wrap="square" lIns="0" tIns="0" rIns="0" bIns="0" rtlCol="0" anchor="ctr"/>
          <a:lstStyle/>
          <a:p>
            <a:pPr indent="0" marL="0">
              <a:buNone/>
            </a:pPr>
            <a:r>
              <a:rPr lang="en-US" sz="1000" i="1" dirty="0">
                <a:solidFill>
                  <a:srgbClr val="8FA3B1"/>
                </a:solidFill>
                <a:latin typeface="Calibri" pitchFamily="34" charset="0"/>
                <a:ea typeface="Calibri" pitchFamily="34" charset="-122"/>
                <a:cs typeface="Calibri" pitchFamily="34" charset="-120"/>
              </a:rPr>
              <a:t>(e.g. reconstruction autoencoder)</a:t>
            </a:r>
            <a:endParaRPr lang="en-US" sz="1000" dirty="0"/>
          </a:p>
        </p:txBody>
      </p:sp>
      <p:sp>
        <p:nvSpPr>
          <p:cNvPr id="8" name="Text 6"/>
          <p:cNvSpPr/>
          <p:nvPr/>
        </p:nvSpPr>
        <p:spPr>
          <a:xfrm>
            <a:off x="594360" y="1645920"/>
            <a:ext cx="3566160" cy="475488"/>
          </a:xfrm>
          <a:prstGeom prst="rect">
            <a:avLst/>
          </a:prstGeom>
          <a:noFill/>
          <a:ln/>
        </p:spPr>
        <p:txBody>
          <a:bodyPr wrap="square" lIns="0" tIns="0" rIns="0" bIns="0"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 xml:space="preserve">✗  </a:t>
            </a:r>
            <a:pPr indent="0" marL="0">
              <a:buNone/>
            </a:pPr>
            <a:r>
              <a:rPr lang="en-US" sz="1100" dirty="0">
                <a:solidFill>
                  <a:srgbClr val="0D1B2A"/>
                </a:solidFill>
                <a:latin typeface="Calibri" pitchFamily="34" charset="0"/>
                <a:ea typeface="Calibri" pitchFamily="34" charset="-122"/>
                <a:cs typeface="Calibri" pitchFamily="34" charset="-120"/>
              </a:rPr>
              <a:t>Learns normal sensor correlations from training data</a:t>
            </a:r>
            <a:endParaRPr lang="en-US" sz="1100" dirty="0"/>
          </a:p>
        </p:txBody>
      </p:sp>
      <p:sp>
        <p:nvSpPr>
          <p:cNvPr id="9" name="Text 7"/>
          <p:cNvSpPr/>
          <p:nvPr/>
        </p:nvSpPr>
        <p:spPr>
          <a:xfrm>
            <a:off x="594360" y="2176272"/>
            <a:ext cx="3566160" cy="475488"/>
          </a:xfrm>
          <a:prstGeom prst="rect">
            <a:avLst/>
          </a:prstGeom>
          <a:noFill/>
          <a:ln/>
        </p:spPr>
        <p:txBody>
          <a:bodyPr wrap="square" lIns="0" tIns="0" rIns="0" bIns="0"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 xml:space="preserve">✗  </a:t>
            </a:r>
            <a:pPr indent="0" marL="0">
              <a:buNone/>
            </a:pPr>
            <a:r>
              <a:rPr lang="en-US" sz="1100" dirty="0">
                <a:solidFill>
                  <a:srgbClr val="0D1B2A"/>
                </a:solidFill>
                <a:latin typeface="Calibri" pitchFamily="34" charset="0"/>
                <a:ea typeface="Calibri" pitchFamily="34" charset="-122"/>
                <a:cs typeface="Calibri" pitchFamily="34" charset="-120"/>
              </a:rPr>
              <a:t>Paper #31 adversarial autoencoder crafts sensor perturbations that minimise MSE reconstruction error</a:t>
            </a:r>
            <a:endParaRPr lang="en-US" sz="1100" dirty="0"/>
          </a:p>
        </p:txBody>
      </p:sp>
      <p:sp>
        <p:nvSpPr>
          <p:cNvPr id="10" name="Text 8"/>
          <p:cNvSpPr/>
          <p:nvPr/>
        </p:nvSpPr>
        <p:spPr>
          <a:xfrm>
            <a:off x="594360" y="2706624"/>
            <a:ext cx="3566160" cy="475488"/>
          </a:xfrm>
          <a:prstGeom prst="rect">
            <a:avLst/>
          </a:prstGeom>
          <a:noFill/>
          <a:ln/>
        </p:spPr>
        <p:txBody>
          <a:bodyPr wrap="square" lIns="0" tIns="0" rIns="0" bIns="0"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 xml:space="preserve">✗  </a:t>
            </a:r>
            <a:pPr indent="0" marL="0">
              <a:buNone/>
            </a:pPr>
            <a:r>
              <a:rPr lang="en-US" sz="1100" dirty="0">
                <a:solidFill>
                  <a:srgbClr val="0D1B2A"/>
                </a:solidFill>
                <a:latin typeface="Calibri" pitchFamily="34" charset="0"/>
                <a:ea typeface="Calibri" pitchFamily="34" charset="-122"/>
                <a:cs typeface="Calibri" pitchFamily="34" charset="-120"/>
              </a:rPr>
              <a:t>Black-box attack — no need to know model internals</a:t>
            </a:r>
            <a:endParaRPr lang="en-US" sz="1100" dirty="0"/>
          </a:p>
        </p:txBody>
      </p:sp>
      <p:sp>
        <p:nvSpPr>
          <p:cNvPr id="11" name="Text 9"/>
          <p:cNvSpPr/>
          <p:nvPr/>
        </p:nvSpPr>
        <p:spPr>
          <a:xfrm>
            <a:off x="594360" y="3236976"/>
            <a:ext cx="3566160" cy="475488"/>
          </a:xfrm>
          <a:prstGeom prst="rect">
            <a:avLst/>
          </a:prstGeom>
          <a:noFill/>
          <a:ln/>
        </p:spPr>
        <p:txBody>
          <a:bodyPr wrap="square" lIns="0" tIns="0" rIns="0" bIns="0"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 xml:space="preserve">✗  </a:t>
            </a:r>
            <a:pPr indent="0" marL="0">
              <a:buNone/>
            </a:pPr>
            <a:r>
              <a:rPr lang="en-US" sz="1100" dirty="0">
                <a:solidFill>
                  <a:srgbClr val="0D1B2A"/>
                </a:solidFill>
                <a:latin typeface="Calibri" pitchFamily="34" charset="0"/>
                <a:ea typeface="Calibri" pitchFamily="34" charset="-122"/>
                <a:cs typeface="Calibri" pitchFamily="34" charset="-120"/>
              </a:rPr>
              <a:t>Operates in milliseconds — meets real-time Modbus constraints</a:t>
            </a:r>
            <a:endParaRPr lang="en-US" sz="1100" dirty="0"/>
          </a:p>
        </p:txBody>
      </p:sp>
      <p:sp>
        <p:nvSpPr>
          <p:cNvPr id="12" name="Text 10"/>
          <p:cNvSpPr/>
          <p:nvPr/>
        </p:nvSpPr>
        <p:spPr>
          <a:xfrm>
            <a:off x="594360" y="3767328"/>
            <a:ext cx="3566160" cy="475488"/>
          </a:xfrm>
          <a:prstGeom prst="rect">
            <a:avLst/>
          </a:prstGeom>
          <a:noFill/>
          <a:ln/>
        </p:spPr>
        <p:txBody>
          <a:bodyPr wrap="square" lIns="0" tIns="0" rIns="0" bIns="0"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 xml:space="preserve">✗  </a:t>
            </a:r>
            <a:pPr indent="0" marL="0">
              <a:buNone/>
            </a:pPr>
            <a:r>
              <a:rPr lang="en-US" sz="1100" dirty="0">
                <a:solidFill>
                  <a:srgbClr val="0D1B2A"/>
                </a:solidFill>
                <a:latin typeface="Calibri" pitchFamily="34" charset="0"/>
                <a:ea typeface="Calibri" pitchFamily="34" charset="-122"/>
                <a:cs typeface="Calibri" pitchFamily="34" charset="-120"/>
              </a:rPr>
              <a:t>Detection rate drops to near-zero under constrained concealment</a:t>
            </a:r>
            <a:endParaRPr lang="en-US" sz="1100" dirty="0"/>
          </a:p>
        </p:txBody>
      </p:sp>
      <p:sp>
        <p:nvSpPr>
          <p:cNvPr id="13" name="Shape 11"/>
          <p:cNvSpPr/>
          <p:nvPr/>
        </p:nvSpPr>
        <p:spPr>
          <a:xfrm>
            <a:off x="4663440" y="868680"/>
            <a:ext cx="4114800" cy="4069080"/>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25000"/>
              </a:srgbClr>
            </a:outerShdw>
          </a:effectLst>
        </p:spPr>
      </p:sp>
      <p:sp>
        <p:nvSpPr>
          <p:cNvPr id="14" name="Shape 12"/>
          <p:cNvSpPr/>
          <p:nvPr/>
        </p:nvSpPr>
        <p:spPr>
          <a:xfrm>
            <a:off x="4663440" y="868680"/>
            <a:ext cx="64008" cy="4069080"/>
          </a:xfrm>
          <a:prstGeom prst="rect">
            <a:avLst/>
          </a:prstGeom>
          <a:solidFill>
            <a:srgbClr val="2196F3"/>
          </a:solidFill>
          <a:ln w="12700">
            <a:solidFill>
              <a:srgbClr val="2196F3"/>
            </a:solidFill>
            <a:prstDash val="solid"/>
          </a:ln>
        </p:spPr>
      </p:sp>
      <p:sp>
        <p:nvSpPr>
          <p:cNvPr id="15" name="Text 13"/>
          <p:cNvSpPr/>
          <p:nvPr/>
        </p:nvSpPr>
        <p:spPr>
          <a:xfrm>
            <a:off x="4892040" y="960120"/>
            <a:ext cx="3749040" cy="365760"/>
          </a:xfrm>
          <a:prstGeom prst="rect">
            <a:avLst/>
          </a:prstGeom>
          <a:noFill/>
          <a:ln/>
        </p:spPr>
        <p:txBody>
          <a:bodyPr wrap="square" lIns="0" tIns="0" rIns="0" bIns="0" rtlCol="0" anchor="ctr"/>
          <a:lstStyle/>
          <a:p>
            <a:pPr indent="0" marL="0">
              <a:buNone/>
            </a:pPr>
            <a:r>
              <a:rPr lang="en-US" sz="1500" b="1" dirty="0">
                <a:solidFill>
                  <a:srgbClr val="2196F3"/>
                </a:solidFill>
                <a:latin typeface="Calibri" pitchFamily="34" charset="0"/>
                <a:ea typeface="Calibri" pitchFamily="34" charset="-122"/>
                <a:cs typeface="Calibri" pitchFamily="34" charset="-120"/>
              </a:rPr>
              <a:t>Invariant-Only Detector</a:t>
            </a:r>
            <a:endParaRPr lang="en-US" sz="1500" dirty="0"/>
          </a:p>
        </p:txBody>
      </p:sp>
      <p:sp>
        <p:nvSpPr>
          <p:cNvPr id="16" name="Text 14"/>
          <p:cNvSpPr/>
          <p:nvPr/>
        </p:nvSpPr>
        <p:spPr>
          <a:xfrm>
            <a:off x="4892040" y="1298448"/>
            <a:ext cx="3749040" cy="274320"/>
          </a:xfrm>
          <a:prstGeom prst="rect">
            <a:avLst/>
          </a:prstGeom>
          <a:noFill/>
          <a:ln/>
        </p:spPr>
        <p:txBody>
          <a:bodyPr wrap="square" lIns="0" tIns="0" rIns="0" bIns="0" rtlCol="0" anchor="ctr"/>
          <a:lstStyle/>
          <a:p>
            <a:pPr indent="0" marL="0">
              <a:buNone/>
            </a:pPr>
            <a:r>
              <a:rPr lang="en-US" sz="1000" i="1" dirty="0">
                <a:solidFill>
                  <a:srgbClr val="8FA3B1"/>
                </a:solidFill>
                <a:latin typeface="Calibri" pitchFamily="34" charset="0"/>
                <a:ea typeface="Calibri" pitchFamily="34" charset="-122"/>
                <a:cs typeface="Calibri" pitchFamily="34" charset="-120"/>
              </a:rPr>
              <a:t>(e.g. SWaT DAD / Adepu &amp; Mathur)</a:t>
            </a:r>
            <a:endParaRPr lang="en-US" sz="1000" dirty="0"/>
          </a:p>
        </p:txBody>
      </p:sp>
      <p:sp>
        <p:nvSpPr>
          <p:cNvPr id="17" name="Text 15"/>
          <p:cNvSpPr/>
          <p:nvPr/>
        </p:nvSpPr>
        <p:spPr>
          <a:xfrm>
            <a:off x="4892040" y="1645920"/>
            <a:ext cx="3749040" cy="475488"/>
          </a:xfrm>
          <a:prstGeom prst="rect">
            <a:avLst/>
          </a:prstGeom>
          <a:noFill/>
          <a:ln/>
        </p:spPr>
        <p:txBody>
          <a:bodyPr wrap="square" lIns="0" tIns="0" rIns="0" bIns="0" rtlCol="0" anchor="ctr"/>
          <a:lstStyle/>
          <a:p>
            <a:pPr indent="0" marL="0">
              <a:buNone/>
            </a:pPr>
            <a:r>
              <a:rPr lang="en-US" sz="1100" b="1" dirty="0">
                <a:solidFill>
                  <a:srgbClr val="2196F3"/>
                </a:solidFill>
                <a:latin typeface="Calibri" pitchFamily="34" charset="0"/>
                <a:ea typeface="Calibri" pitchFamily="34" charset="-122"/>
                <a:cs typeface="Calibri" pitchFamily="34" charset="-120"/>
              </a:rPr>
              <a:t xml:space="preserve">✗  </a:t>
            </a:r>
            <a:pPr indent="0" marL="0">
              <a:buNone/>
            </a:pPr>
            <a:r>
              <a:rPr lang="en-US" sz="1100" dirty="0">
                <a:solidFill>
                  <a:srgbClr val="0D1B2A"/>
                </a:solidFill>
                <a:latin typeface="Calibri" pitchFamily="34" charset="0"/>
                <a:ea typeface="Calibri" pitchFamily="34" charset="-122"/>
                <a:cs typeface="Calibri" pitchFamily="34" charset="-120"/>
              </a:rPr>
              <a:t>Encodes physics-based rules from P&amp;ID (e.g. if P101 ON → FIT101 &gt; threshold)</a:t>
            </a:r>
            <a:endParaRPr lang="en-US" sz="1100" dirty="0"/>
          </a:p>
        </p:txBody>
      </p:sp>
      <p:sp>
        <p:nvSpPr>
          <p:cNvPr id="18" name="Text 16"/>
          <p:cNvSpPr/>
          <p:nvPr/>
        </p:nvSpPr>
        <p:spPr>
          <a:xfrm>
            <a:off x="4892040" y="2176272"/>
            <a:ext cx="3749040" cy="475488"/>
          </a:xfrm>
          <a:prstGeom prst="rect">
            <a:avLst/>
          </a:prstGeom>
          <a:noFill/>
          <a:ln/>
        </p:spPr>
        <p:txBody>
          <a:bodyPr wrap="square" lIns="0" tIns="0" rIns="0" bIns="0" rtlCol="0" anchor="ctr"/>
          <a:lstStyle/>
          <a:p>
            <a:pPr indent="0" marL="0">
              <a:buNone/>
            </a:pPr>
            <a:r>
              <a:rPr lang="en-US" sz="1100" b="1" dirty="0">
                <a:solidFill>
                  <a:srgbClr val="2196F3"/>
                </a:solidFill>
                <a:latin typeface="Calibri" pitchFamily="34" charset="0"/>
                <a:ea typeface="Calibri" pitchFamily="34" charset="-122"/>
                <a:cs typeface="Calibri" pitchFamily="34" charset="-120"/>
              </a:rPr>
              <a:t xml:space="preserve">✗  </a:t>
            </a:r>
            <a:pPr indent="0" marL="0">
              <a:buNone/>
            </a:pPr>
            <a:r>
              <a:rPr lang="en-US" sz="1100" dirty="0">
                <a:solidFill>
                  <a:srgbClr val="0D1B2A"/>
                </a:solidFill>
                <a:latin typeface="Calibri" pitchFamily="34" charset="0"/>
                <a:ea typeface="Calibri" pitchFamily="34" charset="-122"/>
                <a:cs typeface="Calibri" pitchFamily="34" charset="-120"/>
              </a:rPr>
              <a:t>Catches gross physical violations but misses low-rate stealthy changes</a:t>
            </a:r>
            <a:endParaRPr lang="en-US" sz="1100" dirty="0"/>
          </a:p>
        </p:txBody>
      </p:sp>
      <p:sp>
        <p:nvSpPr>
          <p:cNvPr id="19" name="Text 17"/>
          <p:cNvSpPr/>
          <p:nvPr/>
        </p:nvSpPr>
        <p:spPr>
          <a:xfrm>
            <a:off x="4892040" y="2706624"/>
            <a:ext cx="3749040" cy="475488"/>
          </a:xfrm>
          <a:prstGeom prst="rect">
            <a:avLst/>
          </a:prstGeom>
          <a:noFill/>
          <a:ln/>
        </p:spPr>
        <p:txBody>
          <a:bodyPr wrap="square" lIns="0" tIns="0" rIns="0" bIns="0" rtlCol="0" anchor="ctr"/>
          <a:lstStyle/>
          <a:p>
            <a:pPr indent="0" marL="0">
              <a:buNone/>
            </a:pPr>
            <a:r>
              <a:rPr lang="en-US" sz="1100" b="1" dirty="0">
                <a:solidFill>
                  <a:srgbClr val="2196F3"/>
                </a:solidFill>
                <a:latin typeface="Calibri" pitchFamily="34" charset="0"/>
                <a:ea typeface="Calibri" pitchFamily="34" charset="-122"/>
                <a:cs typeface="Calibri" pitchFamily="34" charset="-120"/>
              </a:rPr>
              <a:t xml:space="preserve">✗  </a:t>
            </a:r>
            <a:pPr indent="0" marL="0">
              <a:buNone/>
            </a:pPr>
            <a:r>
              <a:rPr lang="en-US" sz="1100" dirty="0">
                <a:solidFill>
                  <a:srgbClr val="0D1B2A"/>
                </a:solidFill>
                <a:latin typeface="Calibri" pitchFamily="34" charset="0"/>
                <a:ea typeface="Calibri" pitchFamily="34" charset="-122"/>
                <a:cs typeface="Calibri" pitchFamily="34" charset="-120"/>
              </a:rPr>
              <a:t>AICrit only detected 24/36 attacks in SWaT dataset (Adepu et al.)</a:t>
            </a:r>
            <a:endParaRPr lang="en-US" sz="1100" dirty="0"/>
          </a:p>
        </p:txBody>
      </p:sp>
      <p:sp>
        <p:nvSpPr>
          <p:cNvPr id="20" name="Text 18"/>
          <p:cNvSpPr/>
          <p:nvPr/>
        </p:nvSpPr>
        <p:spPr>
          <a:xfrm>
            <a:off x="4892040" y="3236976"/>
            <a:ext cx="3749040" cy="475488"/>
          </a:xfrm>
          <a:prstGeom prst="rect">
            <a:avLst/>
          </a:prstGeom>
          <a:noFill/>
          <a:ln/>
        </p:spPr>
        <p:txBody>
          <a:bodyPr wrap="square" lIns="0" tIns="0" rIns="0" bIns="0" rtlCol="0" anchor="ctr"/>
          <a:lstStyle/>
          <a:p>
            <a:pPr indent="0" marL="0">
              <a:buNone/>
            </a:pPr>
            <a:r>
              <a:rPr lang="en-US" sz="1100" b="1" dirty="0">
                <a:solidFill>
                  <a:srgbClr val="2196F3"/>
                </a:solidFill>
                <a:latin typeface="Calibri" pitchFamily="34" charset="0"/>
                <a:ea typeface="Calibri" pitchFamily="34" charset="-122"/>
                <a:cs typeface="Calibri" pitchFamily="34" charset="-120"/>
              </a:rPr>
              <a:t xml:space="preserve">✗  </a:t>
            </a:r>
            <a:pPr indent="0" marL="0">
              <a:buNone/>
            </a:pPr>
            <a:r>
              <a:rPr lang="en-US" sz="1100" dirty="0">
                <a:solidFill>
                  <a:srgbClr val="0D1B2A"/>
                </a:solidFill>
                <a:latin typeface="Calibri" pitchFamily="34" charset="0"/>
                <a:ea typeface="Calibri" pitchFamily="34" charset="-122"/>
                <a:cs typeface="Calibri" pitchFamily="34" charset="-120"/>
              </a:rPr>
              <a:t>Attacker can stay within invariant bounds by manipulating slowly</a:t>
            </a:r>
            <a:endParaRPr lang="en-US" sz="1100" dirty="0"/>
          </a:p>
        </p:txBody>
      </p:sp>
      <p:sp>
        <p:nvSpPr>
          <p:cNvPr id="21" name="Text 19"/>
          <p:cNvSpPr/>
          <p:nvPr/>
        </p:nvSpPr>
        <p:spPr>
          <a:xfrm>
            <a:off x="4892040" y="3767328"/>
            <a:ext cx="3749040" cy="475488"/>
          </a:xfrm>
          <a:prstGeom prst="rect">
            <a:avLst/>
          </a:prstGeom>
          <a:noFill/>
          <a:ln/>
        </p:spPr>
        <p:txBody>
          <a:bodyPr wrap="square" lIns="0" tIns="0" rIns="0" bIns="0" rtlCol="0" anchor="ctr"/>
          <a:lstStyle/>
          <a:p>
            <a:pPr indent="0" marL="0">
              <a:buNone/>
            </a:pPr>
            <a:r>
              <a:rPr lang="en-US" sz="1100" b="1" dirty="0">
                <a:solidFill>
                  <a:srgbClr val="2196F3"/>
                </a:solidFill>
                <a:latin typeface="Calibri" pitchFamily="34" charset="0"/>
                <a:ea typeface="Calibri" pitchFamily="34" charset="-122"/>
                <a:cs typeface="Calibri" pitchFamily="34" charset="-120"/>
              </a:rPr>
              <a:t xml:space="preserve">✗  </a:t>
            </a:r>
            <a:pPr indent="0" marL="0">
              <a:buNone/>
            </a:pPr>
            <a:r>
              <a:rPr lang="en-US" sz="1100" dirty="0">
                <a:solidFill>
                  <a:srgbClr val="0D1B2A"/>
                </a:solidFill>
                <a:latin typeface="Calibri" pitchFamily="34" charset="0"/>
                <a:ea typeface="Calibri" pitchFamily="34" charset="-122"/>
                <a:cs typeface="Calibri" pitchFamily="34" charset="-120"/>
              </a:rPr>
              <a:t>No ML component means blind to novel multi-sensor coordinated spoofing</a:t>
            </a:r>
            <a:endParaRPr lang="en-US" sz="1100" dirty="0"/>
          </a:p>
        </p:txBody>
      </p:sp>
      <p:sp>
        <p:nvSpPr>
          <p:cNvPr id="22" name="Shape 20"/>
          <p:cNvSpPr/>
          <p:nvPr/>
        </p:nvSpPr>
        <p:spPr>
          <a:xfrm>
            <a:off x="365760" y="5029200"/>
            <a:ext cx="8412480" cy="0"/>
          </a:xfrm>
          <a:prstGeom prst="rect">
            <a:avLst/>
          </a:prstGeom>
          <a:solidFill>
            <a:srgbClr val="2ECC71"/>
          </a:solidFill>
          <a:ln w="12700">
            <a:solidFill>
              <a:srgbClr val="2ECC71"/>
            </a:solidFill>
            <a:prstDash val="solid"/>
          </a:ln>
        </p:spPr>
      </p:sp>
      <p:sp>
        <p:nvSpPr>
          <p:cNvPr id="23" name="Shape 21"/>
          <p:cNvSpPr/>
          <p:nvPr/>
        </p:nvSpPr>
        <p:spPr>
          <a:xfrm>
            <a:off x="365760" y="4983480"/>
            <a:ext cx="8412480" cy="0"/>
          </a:xfrm>
          <a:prstGeom prst="rect">
            <a:avLst/>
          </a:prstGeom>
          <a:solidFill>
            <a:srgbClr val="DFFFD6"/>
          </a:solidFill>
          <a:ln w="12700">
            <a:solidFill>
              <a:srgbClr val="DFFFD6"/>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196F3"/>
          </a:solidFill>
          <a:ln w="12700">
            <a:solidFill>
              <a:srgbClr val="2196F3"/>
            </a:solidFill>
            <a:prstDash val="solid"/>
          </a:ln>
        </p:spPr>
      </p:sp>
      <p:sp>
        <p:nvSpPr>
          <p:cNvPr id="3" name="Text 1"/>
          <p:cNvSpPr/>
          <p:nvPr/>
        </p:nvSpPr>
        <p:spPr>
          <a:xfrm>
            <a:off x="457200" y="137160"/>
            <a:ext cx="4572000" cy="5029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Defense Design</a:t>
            </a:r>
            <a:endParaRPr lang="en-US" sz="2800" dirty="0"/>
          </a:p>
        </p:txBody>
      </p:sp>
      <p:sp>
        <p:nvSpPr>
          <p:cNvPr id="4" name="Text 2"/>
          <p:cNvSpPr/>
          <p:nvPr/>
        </p:nvSpPr>
        <p:spPr>
          <a:xfrm>
            <a:off x="457200" y="621792"/>
            <a:ext cx="8229600" cy="274320"/>
          </a:xfrm>
          <a:prstGeom prst="rect">
            <a:avLst/>
          </a:prstGeom>
          <a:noFill/>
          <a:ln/>
        </p:spPr>
        <p:txBody>
          <a:bodyPr wrap="square" lIns="0" tIns="0" rIns="0" bIns="0" rtlCol="0" anchor="ctr"/>
          <a:lstStyle/>
          <a:p>
            <a:pPr indent="0" marL="0">
              <a:buNone/>
            </a:pPr>
            <a:r>
              <a:rPr lang="en-US" sz="1200" i="1" dirty="0">
                <a:solidFill>
                  <a:srgbClr val="8FA3B1"/>
                </a:solidFill>
                <a:latin typeface="Calibri" pitchFamily="34" charset="0"/>
                <a:ea typeface="Calibri" pitchFamily="34" charset="-122"/>
                <a:cs typeface="Calibri" pitchFamily="34" charset="-120"/>
              </a:rPr>
              <a:t>Hybrid Invariant + ML Anomaly Detection</a:t>
            </a:r>
            <a:endParaRPr lang="en-US" sz="1200" dirty="0"/>
          </a:p>
        </p:txBody>
      </p:sp>
      <p:sp>
        <p:nvSpPr>
          <p:cNvPr id="5" name="Shape 3"/>
          <p:cNvSpPr/>
          <p:nvPr/>
        </p:nvSpPr>
        <p:spPr>
          <a:xfrm>
            <a:off x="274320" y="1051560"/>
            <a:ext cx="2103120" cy="77724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6" name="Text 4"/>
          <p:cNvSpPr/>
          <p:nvPr/>
        </p:nvSpPr>
        <p:spPr>
          <a:xfrm>
            <a:off x="274320" y="1051560"/>
            <a:ext cx="2103120" cy="777240"/>
          </a:xfrm>
          <a:prstGeom prst="rect">
            <a:avLst/>
          </a:prstGeom>
          <a:noFill/>
          <a:ln/>
        </p:spPr>
        <p:txBody>
          <a:bodyPr wrap="square" lIns="0" tIns="0" rIns="0" bIns="0" rtlCol="0" anchor="ctr"/>
          <a:lstStyle/>
          <a:p>
            <a:pPr algn="ctr" indent="0" marL="0">
              <a:buNone/>
            </a:pPr>
            <a:r>
              <a:rPr lang="en-US" sz="1100" dirty="0">
                <a:solidFill>
                  <a:srgbClr val="E8EEF4"/>
                </a:solidFill>
                <a:latin typeface="Calibri" pitchFamily="34" charset="0"/>
                <a:ea typeface="Calibri" pitchFamily="34" charset="-122"/>
                <a:cs typeface="Calibri" pitchFamily="34" charset="-120"/>
              </a:rPr>
              <a:t>Sensor &amp;</a:t>
            </a:r>
            <a:endParaRPr lang="en-US" sz="1100" dirty="0"/>
          </a:p>
          <a:p>
            <a:pPr algn="ctr" indent="0" marL="0">
              <a:buNone/>
            </a:pPr>
            <a:r>
              <a:rPr lang="en-US" sz="1100" dirty="0">
                <a:solidFill>
                  <a:srgbClr val="E8EEF4"/>
                </a:solidFill>
                <a:latin typeface="Calibri" pitchFamily="34" charset="0"/>
                <a:ea typeface="Calibri" pitchFamily="34" charset="-122"/>
                <a:cs typeface="Calibri" pitchFamily="34" charset="-120"/>
              </a:rPr>
              <a:t>Actuator Readings</a:t>
            </a:r>
            <a:endParaRPr lang="en-US" sz="1100" dirty="0"/>
          </a:p>
        </p:txBody>
      </p:sp>
      <p:sp>
        <p:nvSpPr>
          <p:cNvPr id="7" name="Text 5"/>
          <p:cNvSpPr/>
          <p:nvPr/>
        </p:nvSpPr>
        <p:spPr>
          <a:xfrm>
            <a:off x="2450592" y="1234440"/>
            <a:ext cx="365760" cy="411480"/>
          </a:xfrm>
          <a:prstGeom prst="rect">
            <a:avLst/>
          </a:prstGeom>
          <a:noFill/>
          <a:ln/>
        </p:spPr>
        <p:txBody>
          <a:bodyPr wrap="square" lIns="0" tIns="0" rIns="0" bIns="0" rtlCol="0" anchor="ctr"/>
          <a:lstStyle/>
          <a:p>
            <a:pPr algn="ctr" indent="0" marL="0">
              <a:buNone/>
            </a:pPr>
            <a:r>
              <a:rPr lang="en-US" sz="1800" dirty="0">
                <a:solidFill>
                  <a:srgbClr val="8FA3B1"/>
                </a:solidFill>
                <a:latin typeface="Calibri" pitchFamily="34" charset="0"/>
                <a:ea typeface="Calibri" pitchFamily="34" charset="-122"/>
                <a:cs typeface="Calibri" pitchFamily="34" charset="-120"/>
              </a:rPr>
              <a:t>▶</a:t>
            </a:r>
            <a:endParaRPr lang="en-US" sz="1800" dirty="0"/>
          </a:p>
        </p:txBody>
      </p:sp>
      <p:sp>
        <p:nvSpPr>
          <p:cNvPr id="8" name="Shape 6"/>
          <p:cNvSpPr/>
          <p:nvPr/>
        </p:nvSpPr>
        <p:spPr>
          <a:xfrm>
            <a:off x="2880360" y="1051560"/>
            <a:ext cx="2560320" cy="77724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9" name="Shape 7"/>
          <p:cNvSpPr/>
          <p:nvPr/>
        </p:nvSpPr>
        <p:spPr>
          <a:xfrm>
            <a:off x="2880360" y="1051560"/>
            <a:ext cx="73152" cy="777240"/>
          </a:xfrm>
          <a:prstGeom prst="rect">
            <a:avLst/>
          </a:prstGeom>
          <a:solidFill>
            <a:srgbClr val="2196F3"/>
          </a:solidFill>
          <a:ln w="12700">
            <a:solidFill>
              <a:srgbClr val="2196F3"/>
            </a:solidFill>
            <a:prstDash val="solid"/>
          </a:ln>
        </p:spPr>
      </p:sp>
      <p:sp>
        <p:nvSpPr>
          <p:cNvPr id="10" name="Text 8"/>
          <p:cNvSpPr/>
          <p:nvPr/>
        </p:nvSpPr>
        <p:spPr>
          <a:xfrm>
            <a:off x="3017520" y="1051560"/>
            <a:ext cx="2286000" cy="777240"/>
          </a:xfrm>
          <a:prstGeom prst="rect">
            <a:avLst/>
          </a:prstGeom>
          <a:noFill/>
          <a:ln/>
        </p:spPr>
        <p:txBody>
          <a:bodyPr wrap="square" lIns="0" tIns="0" rIns="0" bIns="0" rtlCol="0" anchor="ctr"/>
          <a:lstStyle/>
          <a:p>
            <a:pPr algn="ctr" indent="0" marL="0">
              <a:buNone/>
            </a:pPr>
            <a:r>
              <a:rPr lang="en-US" sz="1100" dirty="0">
                <a:solidFill>
                  <a:srgbClr val="E8EEF4"/>
                </a:solidFill>
                <a:latin typeface="Calibri" pitchFamily="34" charset="0"/>
                <a:ea typeface="Calibri" pitchFamily="34" charset="-122"/>
                <a:cs typeface="Calibri" pitchFamily="34" charset="-120"/>
              </a:rPr>
              <a:t>Process Invariant</a:t>
            </a:r>
            <a:endParaRPr lang="en-US" sz="1100" dirty="0"/>
          </a:p>
          <a:p>
            <a:pPr algn="ctr" indent="0" marL="0">
              <a:buNone/>
            </a:pPr>
            <a:r>
              <a:rPr lang="en-US" sz="1100" dirty="0">
                <a:solidFill>
                  <a:srgbClr val="E8EEF4"/>
                </a:solidFill>
                <a:latin typeface="Calibri" pitchFamily="34" charset="0"/>
                <a:ea typeface="Calibri" pitchFamily="34" charset="-122"/>
                <a:cs typeface="Calibri" pitchFamily="34" charset="-120"/>
              </a:rPr>
              <a:t>Checker (Physics)</a:t>
            </a:r>
            <a:endParaRPr lang="en-US" sz="1100" dirty="0"/>
          </a:p>
        </p:txBody>
      </p:sp>
      <p:sp>
        <p:nvSpPr>
          <p:cNvPr id="11" name="Text 9"/>
          <p:cNvSpPr/>
          <p:nvPr/>
        </p:nvSpPr>
        <p:spPr>
          <a:xfrm>
            <a:off x="4023360" y="1901952"/>
            <a:ext cx="365760" cy="320040"/>
          </a:xfrm>
          <a:prstGeom prst="rect">
            <a:avLst/>
          </a:prstGeom>
          <a:noFill/>
          <a:ln/>
        </p:spPr>
        <p:txBody>
          <a:bodyPr wrap="square" lIns="0" tIns="0" rIns="0" bIns="0" rtlCol="0" anchor="ctr"/>
          <a:lstStyle/>
          <a:p>
            <a:pPr algn="ctr" indent="0" marL="0">
              <a:buNone/>
            </a:pPr>
            <a:r>
              <a:rPr lang="en-US" sz="1600" dirty="0">
                <a:solidFill>
                  <a:srgbClr val="8FA3B1"/>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274320" y="2148840"/>
            <a:ext cx="2103120" cy="77724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13" name="Shape 11"/>
          <p:cNvSpPr/>
          <p:nvPr/>
        </p:nvSpPr>
        <p:spPr>
          <a:xfrm>
            <a:off x="274320" y="2148840"/>
            <a:ext cx="73152" cy="777240"/>
          </a:xfrm>
          <a:prstGeom prst="rect">
            <a:avLst/>
          </a:prstGeom>
          <a:solidFill>
            <a:srgbClr val="F4A261"/>
          </a:solidFill>
          <a:ln w="12700">
            <a:solidFill>
              <a:srgbClr val="F4A261"/>
            </a:solidFill>
            <a:prstDash val="solid"/>
          </a:ln>
        </p:spPr>
      </p:sp>
      <p:sp>
        <p:nvSpPr>
          <p:cNvPr id="14" name="Text 12"/>
          <p:cNvSpPr/>
          <p:nvPr/>
        </p:nvSpPr>
        <p:spPr>
          <a:xfrm>
            <a:off x="411480" y="2148840"/>
            <a:ext cx="1920240" cy="777240"/>
          </a:xfrm>
          <a:prstGeom prst="rect">
            <a:avLst/>
          </a:prstGeom>
          <a:noFill/>
          <a:ln/>
        </p:spPr>
        <p:txBody>
          <a:bodyPr wrap="square" lIns="0" tIns="0" rIns="0" bIns="0" rtlCol="0" anchor="ctr"/>
          <a:lstStyle/>
          <a:p>
            <a:pPr algn="ctr" indent="0" marL="0">
              <a:buNone/>
            </a:pPr>
            <a:r>
              <a:rPr lang="en-US" sz="1100" dirty="0">
                <a:solidFill>
                  <a:srgbClr val="E8EEF4"/>
                </a:solidFill>
                <a:latin typeface="Calibri" pitchFamily="34" charset="0"/>
                <a:ea typeface="Calibri" pitchFamily="34" charset="-122"/>
                <a:cs typeface="Calibri" pitchFamily="34" charset="-120"/>
              </a:rPr>
              <a:t>Reconstruction</a:t>
            </a:r>
            <a:endParaRPr lang="en-US" sz="1100" dirty="0"/>
          </a:p>
          <a:p>
            <a:pPr algn="ctr" indent="0" marL="0">
              <a:buNone/>
            </a:pPr>
            <a:r>
              <a:rPr lang="en-US" sz="1100" dirty="0">
                <a:solidFill>
                  <a:srgbClr val="E8EEF4"/>
                </a:solidFill>
                <a:latin typeface="Calibri" pitchFamily="34" charset="0"/>
                <a:ea typeface="Calibri" pitchFamily="34" charset="-122"/>
                <a:cs typeface="Calibri" pitchFamily="34" charset="-120"/>
              </a:rPr>
              <a:t>Autoencoder (ML)</a:t>
            </a:r>
            <a:endParaRPr lang="en-US" sz="1100" dirty="0"/>
          </a:p>
        </p:txBody>
      </p:sp>
      <p:sp>
        <p:nvSpPr>
          <p:cNvPr id="15" name="Text 13"/>
          <p:cNvSpPr/>
          <p:nvPr/>
        </p:nvSpPr>
        <p:spPr>
          <a:xfrm>
            <a:off x="2450592" y="2331720"/>
            <a:ext cx="365760" cy="411480"/>
          </a:xfrm>
          <a:prstGeom prst="rect">
            <a:avLst/>
          </a:prstGeom>
          <a:noFill/>
          <a:ln/>
        </p:spPr>
        <p:txBody>
          <a:bodyPr wrap="square" lIns="0" tIns="0" rIns="0" bIns="0" rtlCol="0" anchor="ctr"/>
          <a:lstStyle/>
          <a:p>
            <a:pPr algn="ctr" indent="0" marL="0">
              <a:buNone/>
            </a:pPr>
            <a:r>
              <a:rPr lang="en-US" sz="1800" dirty="0">
                <a:solidFill>
                  <a:srgbClr val="8FA3B1"/>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2880360" y="2148840"/>
            <a:ext cx="2560320" cy="77724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17" name="Shape 15"/>
          <p:cNvSpPr/>
          <p:nvPr/>
        </p:nvSpPr>
        <p:spPr>
          <a:xfrm>
            <a:off x="2880360" y="2148840"/>
            <a:ext cx="73152" cy="777240"/>
          </a:xfrm>
          <a:prstGeom prst="rect">
            <a:avLst/>
          </a:prstGeom>
          <a:solidFill>
            <a:srgbClr val="F4A261"/>
          </a:solidFill>
          <a:ln w="12700">
            <a:solidFill>
              <a:srgbClr val="F4A261"/>
            </a:solidFill>
            <a:prstDash val="solid"/>
          </a:ln>
        </p:spPr>
      </p:sp>
      <p:sp>
        <p:nvSpPr>
          <p:cNvPr id="18" name="Text 16"/>
          <p:cNvSpPr/>
          <p:nvPr/>
        </p:nvSpPr>
        <p:spPr>
          <a:xfrm>
            <a:off x="3017520" y="2148840"/>
            <a:ext cx="2286000" cy="777240"/>
          </a:xfrm>
          <a:prstGeom prst="rect">
            <a:avLst/>
          </a:prstGeom>
          <a:noFill/>
          <a:ln/>
        </p:spPr>
        <p:txBody>
          <a:bodyPr wrap="square" lIns="0" tIns="0" rIns="0" bIns="0" rtlCol="0" anchor="ctr"/>
          <a:lstStyle/>
          <a:p>
            <a:pPr algn="ctr" indent="0" marL="0">
              <a:buNone/>
            </a:pPr>
            <a:r>
              <a:rPr lang="en-US" sz="1100" dirty="0">
                <a:solidFill>
                  <a:srgbClr val="E8EEF4"/>
                </a:solidFill>
                <a:latin typeface="Calibri" pitchFamily="34" charset="0"/>
                <a:ea typeface="Calibri" pitchFamily="34" charset="-122"/>
                <a:cs typeface="Calibri" pitchFamily="34" charset="-120"/>
              </a:rPr>
              <a:t>Decision Fusion</a:t>
            </a:r>
            <a:endParaRPr lang="en-US" sz="1100" dirty="0"/>
          </a:p>
          <a:p>
            <a:pPr algn="ctr" indent="0" marL="0">
              <a:buNone/>
            </a:pPr>
            <a:r>
              <a:rPr lang="en-US" sz="1100" dirty="0">
                <a:solidFill>
                  <a:srgbClr val="E8EEF4"/>
                </a:solidFill>
                <a:latin typeface="Calibri" pitchFamily="34" charset="0"/>
                <a:ea typeface="Calibri" pitchFamily="34" charset="-122"/>
                <a:cs typeface="Calibri" pitchFamily="34" charset="-120"/>
              </a:rPr>
              <a:t>(AND / weighted vote)</a:t>
            </a:r>
            <a:endParaRPr lang="en-US" sz="1100" dirty="0"/>
          </a:p>
        </p:txBody>
      </p:sp>
      <p:sp>
        <p:nvSpPr>
          <p:cNvPr id="19" name="Text 17"/>
          <p:cNvSpPr/>
          <p:nvPr/>
        </p:nvSpPr>
        <p:spPr>
          <a:xfrm>
            <a:off x="5513832" y="2331720"/>
            <a:ext cx="365760" cy="411480"/>
          </a:xfrm>
          <a:prstGeom prst="rect">
            <a:avLst/>
          </a:prstGeom>
          <a:noFill/>
          <a:ln/>
        </p:spPr>
        <p:txBody>
          <a:bodyPr wrap="square" lIns="0" tIns="0" rIns="0" bIns="0" rtlCol="0" anchor="ctr"/>
          <a:lstStyle/>
          <a:p>
            <a:pPr algn="ctr" indent="0" marL="0">
              <a:buNone/>
            </a:pPr>
            <a:r>
              <a:rPr lang="en-US" sz="1800" dirty="0">
                <a:solidFill>
                  <a:srgbClr val="8FA3B1"/>
                </a:solidFill>
                <a:latin typeface="Calibri" pitchFamily="34" charset="0"/>
                <a:ea typeface="Calibri" pitchFamily="34" charset="-122"/>
                <a:cs typeface="Calibri" pitchFamily="34" charset="-120"/>
              </a:rPr>
              <a:t>▶</a:t>
            </a:r>
            <a:endParaRPr lang="en-US" sz="1800" dirty="0"/>
          </a:p>
        </p:txBody>
      </p:sp>
      <p:sp>
        <p:nvSpPr>
          <p:cNvPr id="20" name="Shape 18"/>
          <p:cNvSpPr/>
          <p:nvPr/>
        </p:nvSpPr>
        <p:spPr>
          <a:xfrm>
            <a:off x="5943600" y="2148840"/>
            <a:ext cx="2651760" cy="777240"/>
          </a:xfrm>
          <a:prstGeom prst="rect">
            <a:avLst/>
          </a:prstGeom>
          <a:solidFill>
            <a:srgbClr val="E63946"/>
          </a:solidFill>
          <a:ln w="12700">
            <a:solidFill>
              <a:srgbClr val="E63946"/>
            </a:solidFill>
            <a:prstDash val="solid"/>
          </a:ln>
          <a:effectLst>
            <a:outerShdw sx="100000" sy="100000" kx="0" ky="0" algn="bl" rotWithShape="0" blurRad="101600" dist="38100" dir="8100000">
              <a:srgbClr val="000000">
                <a:alpha val="25000"/>
              </a:srgbClr>
            </a:outerShdw>
          </a:effectLst>
        </p:spPr>
      </p:sp>
      <p:sp>
        <p:nvSpPr>
          <p:cNvPr id="21" name="Text 19"/>
          <p:cNvSpPr/>
          <p:nvPr/>
        </p:nvSpPr>
        <p:spPr>
          <a:xfrm>
            <a:off x="5943600" y="2148840"/>
            <a:ext cx="265176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ALERT</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 Trigger Recovery</a:t>
            </a:r>
            <a:endParaRPr lang="en-US" sz="1300" dirty="0"/>
          </a:p>
        </p:txBody>
      </p:sp>
      <p:sp>
        <p:nvSpPr>
          <p:cNvPr id="22" name="Text 20"/>
          <p:cNvSpPr/>
          <p:nvPr/>
        </p:nvSpPr>
        <p:spPr>
          <a:xfrm>
            <a:off x="274320" y="3108960"/>
            <a:ext cx="8595360" cy="320040"/>
          </a:xfrm>
          <a:prstGeom prst="rect">
            <a:avLst/>
          </a:prstGeom>
          <a:noFill/>
          <a:ln/>
        </p:spPr>
        <p:txBody>
          <a:bodyPr wrap="square" lIns="0" tIns="0" rIns="0" bIns="0" rtlCol="0" anchor="ctr"/>
          <a:lstStyle/>
          <a:p>
            <a:pPr indent="0" marL="0">
              <a:buNone/>
            </a:pPr>
            <a:r>
              <a:rPr lang="en-US" sz="1300" b="1" dirty="0">
                <a:solidFill>
                  <a:srgbClr val="2196F3"/>
                </a:solidFill>
                <a:latin typeface="Calibri" pitchFamily="34" charset="0"/>
                <a:ea typeface="Calibri" pitchFamily="34" charset="-122"/>
                <a:cs typeface="Calibri" pitchFamily="34" charset="-120"/>
              </a:rPr>
              <a:t>Example Invariants for P1:</a:t>
            </a:r>
            <a:endParaRPr lang="en-US" sz="1300" dirty="0"/>
          </a:p>
        </p:txBody>
      </p:sp>
      <p:sp>
        <p:nvSpPr>
          <p:cNvPr id="23" name="Shape 21"/>
          <p:cNvSpPr/>
          <p:nvPr/>
        </p:nvSpPr>
        <p:spPr>
          <a:xfrm>
            <a:off x="274320" y="3520440"/>
            <a:ext cx="8595360" cy="420624"/>
          </a:xfrm>
          <a:prstGeom prst="rect">
            <a:avLst/>
          </a:prstGeom>
          <a:solidFill>
            <a:srgbClr val="1B3A5C"/>
          </a:solidFill>
          <a:ln w="12700">
            <a:solidFill>
              <a:srgbClr val="1B3A5C"/>
            </a:solidFill>
            <a:prstDash val="solid"/>
          </a:ln>
        </p:spPr>
      </p:sp>
      <p:sp>
        <p:nvSpPr>
          <p:cNvPr id="24" name="Text 22"/>
          <p:cNvSpPr/>
          <p:nvPr/>
        </p:nvSpPr>
        <p:spPr>
          <a:xfrm>
            <a:off x="457200" y="3520440"/>
            <a:ext cx="8321040" cy="420624"/>
          </a:xfrm>
          <a:prstGeom prst="rect">
            <a:avLst/>
          </a:prstGeom>
          <a:noFill/>
          <a:ln/>
        </p:spPr>
        <p:txBody>
          <a:bodyPr wrap="square" lIns="0" tIns="0" rIns="0" bIns="0" rtlCol="0" anchor="ctr"/>
          <a:lstStyle/>
          <a:p>
            <a:pPr indent="0" marL="0">
              <a:buNone/>
            </a:pPr>
            <a:r>
              <a:rPr lang="en-US" sz="1050" dirty="0">
                <a:solidFill>
                  <a:srgbClr val="F4A261"/>
                </a:solidFill>
                <a:latin typeface="Consolas" pitchFamily="34" charset="0"/>
                <a:ea typeface="Consolas" pitchFamily="34" charset="-122"/>
                <a:cs typeface="Consolas" pitchFamily="34" charset="-120"/>
              </a:rPr>
              <a:t>IF  MV101=OPEN  AND  P101=ON  THEN  FIT101 &gt; 0.4 m³/h  within 10s</a:t>
            </a:r>
            <a:endParaRPr lang="en-US" sz="1050" dirty="0"/>
          </a:p>
        </p:txBody>
      </p:sp>
      <p:sp>
        <p:nvSpPr>
          <p:cNvPr id="25" name="Shape 23"/>
          <p:cNvSpPr/>
          <p:nvPr/>
        </p:nvSpPr>
        <p:spPr>
          <a:xfrm>
            <a:off x="274320" y="4014216"/>
            <a:ext cx="8595360" cy="420624"/>
          </a:xfrm>
          <a:prstGeom prst="rect">
            <a:avLst/>
          </a:prstGeom>
          <a:solidFill>
            <a:srgbClr val="1B3A5C"/>
          </a:solidFill>
          <a:ln w="12700">
            <a:solidFill>
              <a:srgbClr val="1B3A5C"/>
            </a:solidFill>
            <a:prstDash val="solid"/>
          </a:ln>
        </p:spPr>
      </p:sp>
      <p:sp>
        <p:nvSpPr>
          <p:cNvPr id="26" name="Text 24"/>
          <p:cNvSpPr/>
          <p:nvPr/>
        </p:nvSpPr>
        <p:spPr>
          <a:xfrm>
            <a:off x="457200" y="4014216"/>
            <a:ext cx="8321040" cy="420624"/>
          </a:xfrm>
          <a:prstGeom prst="rect">
            <a:avLst/>
          </a:prstGeom>
          <a:noFill/>
          <a:ln/>
        </p:spPr>
        <p:txBody>
          <a:bodyPr wrap="square" lIns="0" tIns="0" rIns="0" bIns="0" rtlCol="0" anchor="ctr"/>
          <a:lstStyle/>
          <a:p>
            <a:pPr indent="0" marL="0">
              <a:buNone/>
            </a:pPr>
            <a:r>
              <a:rPr lang="en-US" sz="1050" dirty="0">
                <a:solidFill>
                  <a:srgbClr val="F4A261"/>
                </a:solidFill>
                <a:latin typeface="Consolas" pitchFamily="34" charset="0"/>
                <a:ea typeface="Consolas" pitchFamily="34" charset="-122"/>
                <a:cs typeface="Consolas" pitchFamily="34" charset="-120"/>
              </a:rPr>
              <a:t>IF  LIT101 &lt; LOW_THRESHOLD  THEN  P101=OFF  (tank protection invariant)</a:t>
            </a:r>
            <a:endParaRPr lang="en-US" sz="1050" dirty="0"/>
          </a:p>
        </p:txBody>
      </p:sp>
      <p:sp>
        <p:nvSpPr>
          <p:cNvPr id="27" name="Shape 25"/>
          <p:cNvSpPr/>
          <p:nvPr/>
        </p:nvSpPr>
        <p:spPr>
          <a:xfrm>
            <a:off x="274320" y="4507992"/>
            <a:ext cx="8595360" cy="420624"/>
          </a:xfrm>
          <a:prstGeom prst="rect">
            <a:avLst/>
          </a:prstGeom>
          <a:solidFill>
            <a:srgbClr val="1B3A5C"/>
          </a:solidFill>
          <a:ln w="12700">
            <a:solidFill>
              <a:srgbClr val="1B3A5C"/>
            </a:solidFill>
            <a:prstDash val="solid"/>
          </a:ln>
        </p:spPr>
      </p:sp>
      <p:sp>
        <p:nvSpPr>
          <p:cNvPr id="28" name="Text 26"/>
          <p:cNvSpPr/>
          <p:nvPr/>
        </p:nvSpPr>
        <p:spPr>
          <a:xfrm>
            <a:off x="457200" y="4507992"/>
            <a:ext cx="8321040" cy="420624"/>
          </a:xfrm>
          <a:prstGeom prst="rect">
            <a:avLst/>
          </a:prstGeom>
          <a:noFill/>
          <a:ln/>
        </p:spPr>
        <p:txBody>
          <a:bodyPr wrap="square" lIns="0" tIns="0" rIns="0" bIns="0" rtlCol="0" anchor="ctr"/>
          <a:lstStyle/>
          <a:p>
            <a:pPr indent="0" marL="0">
              <a:buNone/>
            </a:pPr>
            <a:r>
              <a:rPr lang="en-US" sz="1050" dirty="0">
                <a:solidFill>
                  <a:srgbClr val="F4A261"/>
                </a:solidFill>
                <a:latin typeface="Consolas" pitchFamily="34" charset="0"/>
                <a:ea typeface="Consolas" pitchFamily="34" charset="-122"/>
                <a:cs typeface="Consolas" pitchFamily="34" charset="-120"/>
              </a:rPr>
              <a:t>IF  P101=OFF  AND  MV101=CLOSED  THEN  LIT101_rate_of_change ≈ 0  (no spurious flow)</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CC71"/>
          </a:solidFill>
          <a:ln w="12700">
            <a:solidFill>
              <a:srgbClr val="2ECC71"/>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Recovery Design</a:t>
            </a:r>
            <a:endParaRPr lang="en-US" sz="2800" dirty="0"/>
          </a:p>
        </p:txBody>
      </p:sp>
      <p:sp>
        <p:nvSpPr>
          <p:cNvPr id="4" name="Shape 2"/>
          <p:cNvSpPr/>
          <p:nvPr/>
        </p:nvSpPr>
        <p:spPr>
          <a:xfrm>
            <a:off x="228600" y="960120"/>
            <a:ext cx="1554480" cy="347472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5" name="Shape 3"/>
          <p:cNvSpPr/>
          <p:nvPr/>
        </p:nvSpPr>
        <p:spPr>
          <a:xfrm>
            <a:off x="228600" y="960120"/>
            <a:ext cx="1554480" cy="548640"/>
          </a:xfrm>
          <a:prstGeom prst="rect">
            <a:avLst/>
          </a:prstGeom>
          <a:solidFill>
            <a:srgbClr val="E63946"/>
          </a:solidFill>
          <a:ln w="12700">
            <a:solidFill>
              <a:srgbClr val="E63946"/>
            </a:solidFill>
            <a:prstDash val="solid"/>
          </a:ln>
        </p:spPr>
      </p:sp>
      <p:sp>
        <p:nvSpPr>
          <p:cNvPr id="6" name="Text 4"/>
          <p:cNvSpPr/>
          <p:nvPr/>
        </p:nvSpPr>
        <p:spPr>
          <a:xfrm>
            <a:off x="228600" y="960120"/>
            <a:ext cx="155448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5"/>
          <p:cNvSpPr/>
          <p:nvPr/>
        </p:nvSpPr>
        <p:spPr>
          <a:xfrm>
            <a:off x="320040" y="1600200"/>
            <a:ext cx="1371600" cy="365760"/>
          </a:xfrm>
          <a:prstGeom prst="rect">
            <a:avLst/>
          </a:prstGeom>
          <a:noFill/>
          <a:ln/>
        </p:spPr>
        <p:txBody>
          <a:bodyPr wrap="square" lIns="0" tIns="0" rIns="0" bIns="0" rtlCol="0" anchor="ctr"/>
          <a:lstStyle/>
          <a:p>
            <a:pPr indent="0" marL="0">
              <a:buNone/>
            </a:pPr>
            <a:r>
              <a:rPr lang="en-US" sz="1300" b="1" dirty="0">
                <a:solidFill>
                  <a:srgbClr val="E63946"/>
                </a:solidFill>
                <a:latin typeface="Calibri" pitchFamily="34" charset="0"/>
                <a:ea typeface="Calibri" pitchFamily="34" charset="-122"/>
                <a:cs typeface="Calibri" pitchFamily="34" charset="-120"/>
              </a:rPr>
              <a:t>Detect</a:t>
            </a:r>
            <a:endParaRPr lang="en-US" sz="1300" dirty="0"/>
          </a:p>
        </p:txBody>
      </p:sp>
      <p:sp>
        <p:nvSpPr>
          <p:cNvPr id="8" name="Text 6"/>
          <p:cNvSpPr/>
          <p:nvPr/>
        </p:nvSpPr>
        <p:spPr>
          <a:xfrm>
            <a:off x="320040" y="2011680"/>
            <a:ext cx="1371600" cy="2286000"/>
          </a:xfrm>
          <a:prstGeom prst="rect">
            <a:avLst/>
          </a:prstGeom>
          <a:noFill/>
          <a:ln/>
        </p:spPr>
        <p:txBody>
          <a:bodyPr wrap="square" lIns="0" tIns="0" rIns="0" bIns="0" rtlCol="0" anchor="ctr"/>
          <a:lstStyle/>
          <a:p>
            <a:pPr indent="0" marL="0">
              <a:buNone/>
            </a:pPr>
            <a:r>
              <a:rPr lang="en-US" sz="1050" dirty="0">
                <a:solidFill>
                  <a:srgbClr val="E8EEF4"/>
                </a:solidFill>
                <a:latin typeface="Calibri" pitchFamily="34" charset="0"/>
                <a:ea typeface="Calibri" pitchFamily="34" charset="-122"/>
                <a:cs typeface="Calibri" pitchFamily="34" charset="-120"/>
              </a:rPr>
              <a:t>Hybrid detector raises alert. Affected P-stage and compromised sensors identified.</a:t>
            </a:r>
            <a:endParaRPr lang="en-US" sz="1050" dirty="0"/>
          </a:p>
        </p:txBody>
      </p:sp>
      <p:sp>
        <p:nvSpPr>
          <p:cNvPr id="9" name="Text 7"/>
          <p:cNvSpPr/>
          <p:nvPr/>
        </p:nvSpPr>
        <p:spPr>
          <a:xfrm>
            <a:off x="1783080" y="2331720"/>
            <a:ext cx="201168" cy="365760"/>
          </a:xfrm>
          <a:prstGeom prst="rect">
            <a:avLst/>
          </a:prstGeom>
          <a:noFill/>
          <a:ln/>
        </p:spPr>
        <p:txBody>
          <a:bodyPr wrap="square" lIns="0" tIns="0" rIns="0" bIns="0" rtlCol="0" anchor="ctr"/>
          <a:lstStyle/>
          <a:p>
            <a:pPr algn="ctr" indent="0" marL="0">
              <a:buNone/>
            </a:pPr>
            <a:r>
              <a:rPr lang="en-US" sz="1400" dirty="0">
                <a:solidFill>
                  <a:srgbClr val="8FA3B1"/>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1965960" y="960120"/>
            <a:ext cx="1554480" cy="347472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11" name="Shape 9"/>
          <p:cNvSpPr/>
          <p:nvPr/>
        </p:nvSpPr>
        <p:spPr>
          <a:xfrm>
            <a:off x="1965960" y="960120"/>
            <a:ext cx="1554480" cy="548640"/>
          </a:xfrm>
          <a:prstGeom prst="rect">
            <a:avLst/>
          </a:prstGeom>
          <a:solidFill>
            <a:srgbClr val="F4A261"/>
          </a:solidFill>
          <a:ln w="12700">
            <a:solidFill>
              <a:srgbClr val="F4A261"/>
            </a:solidFill>
            <a:prstDash val="solid"/>
          </a:ln>
        </p:spPr>
      </p:sp>
      <p:sp>
        <p:nvSpPr>
          <p:cNvPr id="12" name="Text 10"/>
          <p:cNvSpPr/>
          <p:nvPr/>
        </p:nvSpPr>
        <p:spPr>
          <a:xfrm>
            <a:off x="1965960" y="960120"/>
            <a:ext cx="155448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3" name="Text 11"/>
          <p:cNvSpPr/>
          <p:nvPr/>
        </p:nvSpPr>
        <p:spPr>
          <a:xfrm>
            <a:off x="2057400" y="1600200"/>
            <a:ext cx="1371600" cy="365760"/>
          </a:xfrm>
          <a:prstGeom prst="rect">
            <a:avLst/>
          </a:prstGeom>
          <a:noFill/>
          <a:ln/>
        </p:spPr>
        <p:txBody>
          <a:bodyPr wrap="square" lIns="0" tIns="0" rIns="0" bIns="0" rtlCol="0" anchor="ctr"/>
          <a:lstStyle/>
          <a:p>
            <a:pPr indent="0" marL="0">
              <a:buNone/>
            </a:pPr>
            <a:r>
              <a:rPr lang="en-US" sz="1300" b="1" dirty="0">
                <a:solidFill>
                  <a:srgbClr val="F4A261"/>
                </a:solidFill>
                <a:latin typeface="Calibri" pitchFamily="34" charset="0"/>
                <a:ea typeface="Calibri" pitchFamily="34" charset="-122"/>
                <a:cs typeface="Calibri" pitchFamily="34" charset="-120"/>
              </a:rPr>
              <a:t>Contain</a:t>
            </a:r>
            <a:endParaRPr lang="en-US" sz="1300" dirty="0"/>
          </a:p>
        </p:txBody>
      </p:sp>
      <p:sp>
        <p:nvSpPr>
          <p:cNvPr id="14" name="Text 12"/>
          <p:cNvSpPr/>
          <p:nvPr/>
        </p:nvSpPr>
        <p:spPr>
          <a:xfrm>
            <a:off x="2057400" y="2011680"/>
            <a:ext cx="1371600" cy="2286000"/>
          </a:xfrm>
          <a:prstGeom prst="rect">
            <a:avLst/>
          </a:prstGeom>
          <a:noFill/>
          <a:ln/>
        </p:spPr>
        <p:txBody>
          <a:bodyPr wrap="square" lIns="0" tIns="0" rIns="0" bIns="0" rtlCol="0" anchor="ctr"/>
          <a:lstStyle/>
          <a:p>
            <a:pPr indent="0" marL="0">
              <a:buNone/>
            </a:pPr>
            <a:r>
              <a:rPr lang="en-US" sz="1050" dirty="0">
                <a:solidFill>
                  <a:srgbClr val="E8EEF4"/>
                </a:solidFill>
                <a:latin typeface="Calibri" pitchFamily="34" charset="0"/>
                <a:ea typeface="Calibri" pitchFamily="34" charset="-122"/>
                <a:cs typeface="Calibri" pitchFamily="34" charset="-120"/>
              </a:rPr>
              <a:t>Block malicious Modbus frames at network layer. Isolate compromised PLC channel.</a:t>
            </a:r>
            <a:endParaRPr lang="en-US" sz="1050" dirty="0"/>
          </a:p>
        </p:txBody>
      </p:sp>
      <p:sp>
        <p:nvSpPr>
          <p:cNvPr id="15" name="Text 13"/>
          <p:cNvSpPr/>
          <p:nvPr/>
        </p:nvSpPr>
        <p:spPr>
          <a:xfrm>
            <a:off x="3520440" y="2331720"/>
            <a:ext cx="201168" cy="365760"/>
          </a:xfrm>
          <a:prstGeom prst="rect">
            <a:avLst/>
          </a:prstGeom>
          <a:noFill/>
          <a:ln/>
        </p:spPr>
        <p:txBody>
          <a:bodyPr wrap="square" lIns="0" tIns="0" rIns="0" bIns="0" rtlCol="0" anchor="ctr"/>
          <a:lstStyle/>
          <a:p>
            <a:pPr algn="ctr" indent="0" marL="0">
              <a:buNone/>
            </a:pPr>
            <a:r>
              <a:rPr lang="en-US" sz="1400" dirty="0">
                <a:solidFill>
                  <a:srgbClr val="8FA3B1"/>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3703320" y="960120"/>
            <a:ext cx="1554480" cy="347472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17" name="Shape 15"/>
          <p:cNvSpPr/>
          <p:nvPr/>
        </p:nvSpPr>
        <p:spPr>
          <a:xfrm>
            <a:off x="3703320" y="960120"/>
            <a:ext cx="1554480" cy="548640"/>
          </a:xfrm>
          <a:prstGeom prst="rect">
            <a:avLst/>
          </a:prstGeom>
          <a:solidFill>
            <a:srgbClr val="9B59B6"/>
          </a:solidFill>
          <a:ln w="12700">
            <a:solidFill>
              <a:srgbClr val="9B59B6"/>
            </a:solidFill>
            <a:prstDash val="solid"/>
          </a:ln>
        </p:spPr>
      </p:sp>
      <p:sp>
        <p:nvSpPr>
          <p:cNvPr id="18" name="Text 16"/>
          <p:cNvSpPr/>
          <p:nvPr/>
        </p:nvSpPr>
        <p:spPr>
          <a:xfrm>
            <a:off x="3703320" y="960120"/>
            <a:ext cx="155448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9" name="Text 17"/>
          <p:cNvSpPr/>
          <p:nvPr/>
        </p:nvSpPr>
        <p:spPr>
          <a:xfrm>
            <a:off x="3794760" y="1600200"/>
            <a:ext cx="1371600" cy="365760"/>
          </a:xfrm>
          <a:prstGeom prst="rect">
            <a:avLst/>
          </a:prstGeom>
          <a:noFill/>
          <a:ln/>
        </p:spPr>
        <p:txBody>
          <a:bodyPr wrap="square" lIns="0" tIns="0" rIns="0" bIns="0" rtlCol="0" anchor="ctr"/>
          <a:lstStyle/>
          <a:p>
            <a:pPr indent="0" marL="0">
              <a:buNone/>
            </a:pPr>
            <a:r>
              <a:rPr lang="en-US" sz="1300" b="1" dirty="0">
                <a:solidFill>
                  <a:srgbClr val="9B59B6"/>
                </a:solidFill>
                <a:latin typeface="Calibri" pitchFamily="34" charset="0"/>
                <a:ea typeface="Calibri" pitchFamily="34" charset="-122"/>
                <a:cs typeface="Calibri" pitchFamily="34" charset="-120"/>
              </a:rPr>
              <a:t>Safe State</a:t>
            </a:r>
            <a:endParaRPr lang="en-US" sz="1300" dirty="0"/>
          </a:p>
        </p:txBody>
      </p:sp>
      <p:sp>
        <p:nvSpPr>
          <p:cNvPr id="20" name="Text 18"/>
          <p:cNvSpPr/>
          <p:nvPr/>
        </p:nvSpPr>
        <p:spPr>
          <a:xfrm>
            <a:off x="3794760" y="2011680"/>
            <a:ext cx="1371600" cy="2286000"/>
          </a:xfrm>
          <a:prstGeom prst="rect">
            <a:avLst/>
          </a:prstGeom>
          <a:noFill/>
          <a:ln/>
        </p:spPr>
        <p:txBody>
          <a:bodyPr wrap="square" lIns="0" tIns="0" rIns="0" bIns="0" rtlCol="0" anchor="ctr"/>
          <a:lstStyle/>
          <a:p>
            <a:pPr indent="0" marL="0">
              <a:buNone/>
            </a:pPr>
            <a:r>
              <a:rPr lang="en-US" sz="1050" dirty="0">
                <a:solidFill>
                  <a:srgbClr val="E8EEF4"/>
                </a:solidFill>
                <a:latin typeface="Calibri" pitchFamily="34" charset="0"/>
                <a:ea typeface="Calibri" pitchFamily="34" charset="-122"/>
                <a:cs typeface="Calibri" pitchFamily="34" charset="-120"/>
              </a:rPr>
              <a:t>Transition affected stage to pre-defined safe config. Fail-safe valve/pump positions per P&amp;ID.</a:t>
            </a:r>
            <a:endParaRPr lang="en-US" sz="1050" dirty="0"/>
          </a:p>
        </p:txBody>
      </p:sp>
      <p:sp>
        <p:nvSpPr>
          <p:cNvPr id="21" name="Text 19"/>
          <p:cNvSpPr/>
          <p:nvPr/>
        </p:nvSpPr>
        <p:spPr>
          <a:xfrm>
            <a:off x="5257800" y="2331720"/>
            <a:ext cx="201168" cy="365760"/>
          </a:xfrm>
          <a:prstGeom prst="rect">
            <a:avLst/>
          </a:prstGeom>
          <a:noFill/>
          <a:ln/>
        </p:spPr>
        <p:txBody>
          <a:bodyPr wrap="square" lIns="0" tIns="0" rIns="0" bIns="0" rtlCol="0" anchor="ctr"/>
          <a:lstStyle/>
          <a:p>
            <a:pPr algn="ctr" indent="0" marL="0">
              <a:buNone/>
            </a:pPr>
            <a:r>
              <a:rPr lang="en-US" sz="1400" dirty="0">
                <a:solidFill>
                  <a:srgbClr val="8FA3B1"/>
                </a:solidFill>
                <a:latin typeface="Calibri" pitchFamily="34" charset="0"/>
                <a:ea typeface="Calibri" pitchFamily="34" charset="-122"/>
                <a:cs typeface="Calibri" pitchFamily="34" charset="-120"/>
              </a:rPr>
              <a:t>▶</a:t>
            </a:r>
            <a:endParaRPr lang="en-US" sz="1400" dirty="0"/>
          </a:p>
        </p:txBody>
      </p:sp>
      <p:sp>
        <p:nvSpPr>
          <p:cNvPr id="22" name="Shape 20"/>
          <p:cNvSpPr/>
          <p:nvPr/>
        </p:nvSpPr>
        <p:spPr>
          <a:xfrm>
            <a:off x="5440680" y="960120"/>
            <a:ext cx="1554480" cy="347472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23" name="Shape 21"/>
          <p:cNvSpPr/>
          <p:nvPr/>
        </p:nvSpPr>
        <p:spPr>
          <a:xfrm>
            <a:off x="5440680" y="960120"/>
            <a:ext cx="1554480" cy="548640"/>
          </a:xfrm>
          <a:prstGeom prst="rect">
            <a:avLst/>
          </a:prstGeom>
          <a:solidFill>
            <a:srgbClr val="2196F3"/>
          </a:solidFill>
          <a:ln w="12700">
            <a:solidFill>
              <a:srgbClr val="2196F3"/>
            </a:solidFill>
            <a:prstDash val="solid"/>
          </a:ln>
        </p:spPr>
      </p:sp>
      <p:sp>
        <p:nvSpPr>
          <p:cNvPr id="24" name="Text 22"/>
          <p:cNvSpPr/>
          <p:nvPr/>
        </p:nvSpPr>
        <p:spPr>
          <a:xfrm>
            <a:off x="5440680" y="960120"/>
            <a:ext cx="155448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5" name="Text 23"/>
          <p:cNvSpPr/>
          <p:nvPr/>
        </p:nvSpPr>
        <p:spPr>
          <a:xfrm>
            <a:off x="5532120" y="1600200"/>
            <a:ext cx="1371600" cy="365760"/>
          </a:xfrm>
          <a:prstGeom prst="rect">
            <a:avLst/>
          </a:prstGeom>
          <a:noFill/>
          <a:ln/>
        </p:spPr>
        <p:txBody>
          <a:bodyPr wrap="square" lIns="0" tIns="0" rIns="0" bIns="0" rtlCol="0" anchor="ctr"/>
          <a:lstStyle/>
          <a:p>
            <a:pPr indent="0" marL="0">
              <a:buNone/>
            </a:pPr>
            <a:r>
              <a:rPr lang="en-US" sz="1300" b="1" dirty="0">
                <a:solidFill>
                  <a:srgbClr val="2196F3"/>
                </a:solidFill>
                <a:latin typeface="Calibri" pitchFamily="34" charset="0"/>
                <a:ea typeface="Calibri" pitchFamily="34" charset="-122"/>
                <a:cs typeface="Calibri" pitchFamily="34" charset="-120"/>
              </a:rPr>
              <a:t>Failover</a:t>
            </a:r>
            <a:endParaRPr lang="en-US" sz="1300" dirty="0"/>
          </a:p>
        </p:txBody>
      </p:sp>
      <p:sp>
        <p:nvSpPr>
          <p:cNvPr id="26" name="Text 24"/>
          <p:cNvSpPr/>
          <p:nvPr/>
        </p:nvSpPr>
        <p:spPr>
          <a:xfrm>
            <a:off x="5532120" y="2011680"/>
            <a:ext cx="1371600" cy="2286000"/>
          </a:xfrm>
          <a:prstGeom prst="rect">
            <a:avLst/>
          </a:prstGeom>
          <a:noFill/>
          <a:ln/>
        </p:spPr>
        <p:txBody>
          <a:bodyPr wrap="square" lIns="0" tIns="0" rIns="0" bIns="0" rtlCol="0" anchor="ctr"/>
          <a:lstStyle/>
          <a:p>
            <a:pPr indent="0" marL="0">
              <a:buNone/>
            </a:pPr>
            <a:r>
              <a:rPr lang="en-US" sz="1050" dirty="0">
                <a:solidFill>
                  <a:srgbClr val="E8EEF4"/>
                </a:solidFill>
                <a:latin typeface="Calibri" pitchFamily="34" charset="0"/>
                <a:ea typeface="Calibri" pitchFamily="34" charset="-122"/>
                <a:cs typeface="Calibri" pitchFamily="34" charset="-120"/>
              </a:rPr>
              <a:t>Hot-standby PLC takes over. Switches to local sensor reads, bypasses compromised network path.</a:t>
            </a:r>
            <a:endParaRPr lang="en-US" sz="1050" dirty="0"/>
          </a:p>
        </p:txBody>
      </p:sp>
      <p:sp>
        <p:nvSpPr>
          <p:cNvPr id="27" name="Text 25"/>
          <p:cNvSpPr/>
          <p:nvPr/>
        </p:nvSpPr>
        <p:spPr>
          <a:xfrm>
            <a:off x="6995160" y="2331720"/>
            <a:ext cx="201168" cy="365760"/>
          </a:xfrm>
          <a:prstGeom prst="rect">
            <a:avLst/>
          </a:prstGeom>
          <a:noFill/>
          <a:ln/>
        </p:spPr>
        <p:txBody>
          <a:bodyPr wrap="square" lIns="0" tIns="0" rIns="0" bIns="0" rtlCol="0" anchor="ctr"/>
          <a:lstStyle/>
          <a:p>
            <a:pPr algn="ctr" indent="0" marL="0">
              <a:buNone/>
            </a:pPr>
            <a:r>
              <a:rPr lang="en-US" sz="1400" dirty="0">
                <a:solidFill>
                  <a:srgbClr val="8FA3B1"/>
                </a:solidFill>
                <a:latin typeface="Calibri" pitchFamily="34" charset="0"/>
                <a:ea typeface="Calibri" pitchFamily="34" charset="-122"/>
                <a:cs typeface="Calibri" pitchFamily="34" charset="-120"/>
              </a:rPr>
              <a:t>▶</a:t>
            </a:r>
            <a:endParaRPr lang="en-US" sz="1400" dirty="0"/>
          </a:p>
        </p:txBody>
      </p:sp>
      <p:sp>
        <p:nvSpPr>
          <p:cNvPr id="28" name="Shape 26"/>
          <p:cNvSpPr/>
          <p:nvPr/>
        </p:nvSpPr>
        <p:spPr>
          <a:xfrm>
            <a:off x="7178040" y="960120"/>
            <a:ext cx="1554480" cy="347472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29" name="Shape 27"/>
          <p:cNvSpPr/>
          <p:nvPr/>
        </p:nvSpPr>
        <p:spPr>
          <a:xfrm>
            <a:off x="7178040" y="960120"/>
            <a:ext cx="1554480" cy="548640"/>
          </a:xfrm>
          <a:prstGeom prst="rect">
            <a:avLst/>
          </a:prstGeom>
          <a:solidFill>
            <a:srgbClr val="2ECC71"/>
          </a:solidFill>
          <a:ln w="12700">
            <a:solidFill>
              <a:srgbClr val="2ECC71"/>
            </a:solidFill>
            <a:prstDash val="solid"/>
          </a:ln>
        </p:spPr>
      </p:sp>
      <p:sp>
        <p:nvSpPr>
          <p:cNvPr id="30" name="Text 28"/>
          <p:cNvSpPr/>
          <p:nvPr/>
        </p:nvSpPr>
        <p:spPr>
          <a:xfrm>
            <a:off x="7178040" y="960120"/>
            <a:ext cx="155448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31" name="Text 29"/>
          <p:cNvSpPr/>
          <p:nvPr/>
        </p:nvSpPr>
        <p:spPr>
          <a:xfrm>
            <a:off x="7269480" y="1600200"/>
            <a:ext cx="1371600" cy="365760"/>
          </a:xfrm>
          <a:prstGeom prst="rect">
            <a:avLst/>
          </a:prstGeom>
          <a:noFill/>
          <a:ln/>
        </p:spPr>
        <p:txBody>
          <a:bodyPr wrap="square" lIns="0" tIns="0" rIns="0" bIns="0" rtlCol="0" anchor="ctr"/>
          <a:lstStyle/>
          <a:p>
            <a:pPr indent="0" marL="0">
              <a:buNone/>
            </a:pPr>
            <a:r>
              <a:rPr lang="en-US" sz="1300" b="1" dirty="0">
                <a:solidFill>
                  <a:srgbClr val="2ECC71"/>
                </a:solidFill>
                <a:latin typeface="Calibri" pitchFamily="34" charset="0"/>
                <a:ea typeface="Calibri" pitchFamily="34" charset="-122"/>
                <a:cs typeface="Calibri" pitchFamily="34" charset="-120"/>
              </a:rPr>
              <a:t>Verify &amp; Resume</a:t>
            </a:r>
            <a:endParaRPr lang="en-US" sz="1300" dirty="0"/>
          </a:p>
        </p:txBody>
      </p:sp>
      <p:sp>
        <p:nvSpPr>
          <p:cNvPr id="32" name="Text 30"/>
          <p:cNvSpPr/>
          <p:nvPr/>
        </p:nvSpPr>
        <p:spPr>
          <a:xfrm>
            <a:off x="7269480" y="2011680"/>
            <a:ext cx="1371600" cy="2286000"/>
          </a:xfrm>
          <a:prstGeom prst="rect">
            <a:avLst/>
          </a:prstGeom>
          <a:noFill/>
          <a:ln/>
        </p:spPr>
        <p:txBody>
          <a:bodyPr wrap="square" lIns="0" tIns="0" rIns="0" bIns="0" rtlCol="0" anchor="ctr"/>
          <a:lstStyle/>
          <a:p>
            <a:pPr indent="0" marL="0">
              <a:buNone/>
            </a:pPr>
            <a:r>
              <a:rPr lang="en-US" sz="1050" dirty="0">
                <a:solidFill>
                  <a:srgbClr val="E8EEF4"/>
                </a:solidFill>
                <a:latin typeface="Calibri" pitchFamily="34" charset="0"/>
                <a:ea typeface="Calibri" pitchFamily="34" charset="-122"/>
                <a:cs typeface="Calibri" pitchFamily="34" charset="-120"/>
              </a:rPr>
              <a:t>Cross-validate sensors via invariant model. Gradually restore normal operation stage-by-stage.</a:t>
            </a:r>
            <a:endParaRPr lang="en-US" sz="1050" dirty="0"/>
          </a:p>
        </p:txBody>
      </p:sp>
      <p:sp>
        <p:nvSpPr>
          <p:cNvPr id="33" name="Text 31"/>
          <p:cNvSpPr/>
          <p:nvPr/>
        </p:nvSpPr>
        <p:spPr>
          <a:xfrm>
            <a:off x="365760" y="4572000"/>
            <a:ext cx="4572000" cy="320040"/>
          </a:xfrm>
          <a:prstGeom prst="rect">
            <a:avLst/>
          </a:prstGeom>
          <a:noFill/>
          <a:ln/>
        </p:spPr>
        <p:txBody>
          <a:bodyPr wrap="square" lIns="0" tIns="0" rIns="0" bIns="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SWaT Safe State Configuration (per stage):</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4937760"/>
          <a:ext cx="8412480" cy="1371600"/>
        </p:xfrm>
        <a:graphic>
          <a:graphicData uri="http://schemas.openxmlformats.org/drawingml/2006/table">
            <a:tbl>
              <a:tblPr/>
              <a:tblGrid>
                <a:gridCol w="2103120"/>
                <a:gridCol w="3154680"/>
                <a:gridCol w="3154680"/>
              </a:tblGrid>
              <a:tr h="274320">
                <a:tc>
                  <a:txBody>
                    <a:bodyPr/>
                    <a:lstStyle/>
                    <a:p>
                      <a:pPr indent="0" marL="0">
                        <a:buNone/>
                      </a:pPr>
                      <a:r>
                        <a:rPr lang="en-US" sz="1000" b="1" dirty="0">
                          <a:solidFill>
                            <a:srgbClr val="FFFFFF"/>
                          </a:solidFill>
                        </a:rPr>
                        <a:t>Stage</a:t>
                      </a:r>
                      <a:endParaRPr lang="en-US" sz="1000" dirty="0"/>
                    </a:p>
                  </a:txBody>
                  <a:tcPr marL="91440" marR="91440" marT="45720" marB="45720">
                    <a:lnL w="6350" cap="flat" cmpd="sng" algn="ctr">
                      <a:solidFill>
                        <a:srgbClr val="C9D6DF"/>
                      </a:solidFill>
                      <a:prstDash val="solid"/>
                      <a:round/>
                      <a:headEnd type="none" w="med" len="med"/>
                      <a:tailEnd type="none" w="med" len="med"/>
                    </a:lnL>
                    <a:lnR w="6350" cap="flat" cmpd="sng" algn="ctr">
                      <a:solidFill>
                        <a:srgbClr val="C9D6DF"/>
                      </a:solidFill>
                      <a:prstDash val="solid"/>
                      <a:round/>
                      <a:headEnd type="none" w="med" len="med"/>
                      <a:tailEnd type="none" w="med" len="med"/>
                    </a:lnR>
                    <a:lnT w="6350" cap="flat" cmpd="sng" algn="ctr">
                      <a:solidFill>
                        <a:srgbClr val="C9D6DF"/>
                      </a:solidFill>
                      <a:prstDash val="solid"/>
                      <a:round/>
                      <a:headEnd type="none" w="med" len="med"/>
                      <a:tailEnd type="none" w="med" len="med"/>
                    </a:lnT>
                    <a:lnB w="6350" cap="flat" cmpd="sng" algn="ctr">
                      <a:solidFill>
                        <a:srgbClr val="C9D6DF"/>
                      </a:solidFill>
                      <a:prstDash val="solid"/>
                      <a:round/>
                      <a:headEnd type="none" w="med" len="med"/>
                      <a:tailEnd type="none" w="med" len="med"/>
                    </a:lnB>
                    <a:solidFill>
                      <a:srgbClr val="0D1B2A"/>
                    </a:solidFill>
                  </a:tcPr>
                </a:tc>
                <a:tc>
                  <a:txBody>
                    <a:bodyPr/>
                    <a:lstStyle/>
                    <a:p>
                      <a:pPr indent="0" marL="0">
                        <a:buNone/>
                      </a:pPr>
                      <a:r>
                        <a:rPr lang="en-US" sz="1000" b="1" dirty="0">
                          <a:solidFill>
                            <a:srgbClr val="FFFFFF"/>
                          </a:solidFill>
                        </a:rPr>
                        <a:t>Safe Valve State</a:t>
                      </a:r>
                      <a:endParaRPr lang="en-US" sz="1000" dirty="0"/>
                    </a:p>
                  </a:txBody>
                  <a:tcPr marL="91440" marR="91440" marT="45720" marB="45720">
                    <a:lnL w="6350" cap="flat" cmpd="sng" algn="ctr">
                      <a:solidFill>
                        <a:srgbClr val="C9D6DF"/>
                      </a:solidFill>
                      <a:prstDash val="solid"/>
                      <a:round/>
                      <a:headEnd type="none" w="med" len="med"/>
                      <a:tailEnd type="none" w="med" len="med"/>
                    </a:lnL>
                    <a:lnR w="6350" cap="flat" cmpd="sng" algn="ctr">
                      <a:solidFill>
                        <a:srgbClr val="C9D6DF"/>
                      </a:solidFill>
                      <a:prstDash val="solid"/>
                      <a:round/>
                      <a:headEnd type="none" w="med" len="med"/>
                      <a:tailEnd type="none" w="med" len="med"/>
                    </a:lnR>
                    <a:lnT w="6350" cap="flat" cmpd="sng" algn="ctr">
                      <a:solidFill>
                        <a:srgbClr val="C9D6DF"/>
                      </a:solidFill>
                      <a:prstDash val="solid"/>
                      <a:round/>
                      <a:headEnd type="none" w="med" len="med"/>
                      <a:tailEnd type="none" w="med" len="med"/>
                    </a:lnT>
                    <a:lnB w="6350" cap="flat" cmpd="sng" algn="ctr">
                      <a:solidFill>
                        <a:srgbClr val="C9D6DF"/>
                      </a:solidFill>
                      <a:prstDash val="solid"/>
                      <a:round/>
                      <a:headEnd type="none" w="med" len="med"/>
                      <a:tailEnd type="none" w="med" len="med"/>
                    </a:lnB>
                    <a:solidFill>
                      <a:srgbClr val="0D1B2A"/>
                    </a:solidFill>
                  </a:tcPr>
                </a:tc>
                <a:tc>
                  <a:txBody>
                    <a:bodyPr/>
                    <a:lstStyle/>
                    <a:p>
                      <a:pPr indent="0" marL="0">
                        <a:buNone/>
                      </a:pPr>
                      <a:r>
                        <a:rPr lang="en-US" sz="1000" b="1" dirty="0">
                          <a:solidFill>
                            <a:srgbClr val="FFFFFF"/>
                          </a:solidFill>
                        </a:rPr>
                        <a:t>Safe Pump State</a:t>
                      </a:r>
                      <a:endParaRPr lang="en-US" sz="1000" dirty="0"/>
                    </a:p>
                  </a:txBody>
                  <a:tcPr marL="91440" marR="91440" marT="45720" marB="45720">
                    <a:lnL w="6350" cap="flat" cmpd="sng" algn="ctr">
                      <a:solidFill>
                        <a:srgbClr val="C9D6DF"/>
                      </a:solidFill>
                      <a:prstDash val="solid"/>
                      <a:round/>
                      <a:headEnd type="none" w="med" len="med"/>
                      <a:tailEnd type="none" w="med" len="med"/>
                    </a:lnL>
                    <a:lnR w="6350" cap="flat" cmpd="sng" algn="ctr">
                      <a:solidFill>
                        <a:srgbClr val="C9D6DF"/>
                      </a:solidFill>
                      <a:prstDash val="solid"/>
                      <a:round/>
                      <a:headEnd type="none" w="med" len="med"/>
                      <a:tailEnd type="none" w="med" len="med"/>
                    </a:lnR>
                    <a:lnT w="6350" cap="flat" cmpd="sng" algn="ctr">
                      <a:solidFill>
                        <a:srgbClr val="C9D6DF"/>
                      </a:solidFill>
                      <a:prstDash val="solid"/>
                      <a:round/>
                      <a:headEnd type="none" w="med" len="med"/>
                      <a:tailEnd type="none" w="med" len="med"/>
                    </a:lnT>
                    <a:lnB w="6350" cap="flat" cmpd="sng" algn="ctr">
                      <a:solidFill>
                        <a:srgbClr val="C9D6DF"/>
                      </a:solidFill>
                      <a:prstDash val="solid"/>
                      <a:round/>
                      <a:headEnd type="none" w="med" len="med"/>
                      <a:tailEnd type="none" w="med" len="med"/>
                    </a:lnB>
                    <a:solidFill>
                      <a:srgbClr val="0D1B2A"/>
                    </a:solidFill>
                  </a:tcPr>
                </a:tc>
              </a:tr>
              <a:tr h="274320">
                <a:tc>
                  <a:txBody>
                    <a:bodyPr/>
                    <a:lstStyle/>
                    <a:p>
                      <a:pPr indent="0" marL="0">
                        <a:buNone/>
                      </a:pPr>
                      <a:r>
                        <a:rPr lang="en-US" sz="1000" dirty="0">
                          <a:solidFill>
                            <a:srgbClr val="000000"/>
                          </a:solidFill>
                        </a:rPr>
                        <a:t>P1 – Raw Water</a:t>
                      </a:r>
                      <a:endParaRPr lang="en-US" sz="1000" dirty="0"/>
                    </a:p>
                  </a:txBody>
                  <a:tcPr marL="91440" marR="91440" marT="45720" marB="45720">
                    <a:lnL w="6350" cap="flat" cmpd="sng" algn="ctr">
                      <a:solidFill>
                        <a:srgbClr val="C9D6DF"/>
                      </a:solidFill>
                      <a:prstDash val="solid"/>
                      <a:round/>
                      <a:headEnd type="none" w="med" len="med"/>
                      <a:tailEnd type="none" w="med" len="med"/>
                    </a:lnL>
                    <a:lnR w="6350" cap="flat" cmpd="sng" algn="ctr">
                      <a:solidFill>
                        <a:srgbClr val="C9D6DF"/>
                      </a:solidFill>
                      <a:prstDash val="solid"/>
                      <a:round/>
                      <a:headEnd type="none" w="med" len="med"/>
                      <a:tailEnd type="none" w="med" len="med"/>
                    </a:lnR>
                    <a:lnT w="6350" cap="flat" cmpd="sng" algn="ctr">
                      <a:solidFill>
                        <a:srgbClr val="C9D6DF"/>
                      </a:solidFill>
                      <a:prstDash val="solid"/>
                      <a:round/>
                      <a:headEnd type="none" w="med" len="med"/>
                      <a:tailEnd type="none" w="med" len="med"/>
                    </a:lnT>
                    <a:lnB w="6350" cap="flat" cmpd="sng" algn="ctr">
                      <a:solidFill>
                        <a:srgbClr val="C9D6DF"/>
                      </a:solidFill>
                      <a:prstDash val="solid"/>
                      <a:round/>
                      <a:headEnd type="none" w="med" len="med"/>
                      <a:tailEnd type="none" w="med" len="med"/>
                    </a:lnB>
                  </a:tcPr>
                </a:tc>
                <a:tc>
                  <a:txBody>
                    <a:bodyPr/>
                    <a:lstStyle/>
                    <a:p>
                      <a:pPr indent="0" marL="0">
                        <a:buNone/>
                      </a:pPr>
                      <a:r>
                        <a:rPr lang="en-US" sz="1000" dirty="0">
                          <a:solidFill>
                            <a:srgbClr val="000000"/>
                          </a:solidFill>
                        </a:rPr>
                        <a:t>MV101: CLOSED</a:t>
                      </a:r>
                      <a:endParaRPr lang="en-US" sz="1000" dirty="0"/>
                    </a:p>
                  </a:txBody>
                  <a:tcPr marL="91440" marR="91440" marT="45720" marB="45720">
                    <a:lnL w="6350" cap="flat" cmpd="sng" algn="ctr">
                      <a:solidFill>
                        <a:srgbClr val="C9D6DF"/>
                      </a:solidFill>
                      <a:prstDash val="solid"/>
                      <a:round/>
                      <a:headEnd type="none" w="med" len="med"/>
                      <a:tailEnd type="none" w="med" len="med"/>
                    </a:lnL>
                    <a:lnR w="6350" cap="flat" cmpd="sng" algn="ctr">
                      <a:solidFill>
                        <a:srgbClr val="C9D6DF"/>
                      </a:solidFill>
                      <a:prstDash val="solid"/>
                      <a:round/>
                      <a:headEnd type="none" w="med" len="med"/>
                      <a:tailEnd type="none" w="med" len="med"/>
                    </a:lnR>
                    <a:lnT w="6350" cap="flat" cmpd="sng" algn="ctr">
                      <a:solidFill>
                        <a:srgbClr val="C9D6DF"/>
                      </a:solidFill>
                      <a:prstDash val="solid"/>
                      <a:round/>
                      <a:headEnd type="none" w="med" len="med"/>
                      <a:tailEnd type="none" w="med" len="med"/>
                    </a:lnT>
                    <a:lnB w="6350" cap="flat" cmpd="sng" algn="ctr">
                      <a:solidFill>
                        <a:srgbClr val="C9D6DF"/>
                      </a:solidFill>
                      <a:prstDash val="solid"/>
                      <a:round/>
                      <a:headEnd type="none" w="med" len="med"/>
                      <a:tailEnd type="none" w="med" len="med"/>
                    </a:lnB>
                  </a:tcPr>
                </a:tc>
                <a:tc>
                  <a:txBody>
                    <a:bodyPr/>
                    <a:lstStyle/>
                    <a:p>
                      <a:pPr indent="0" marL="0">
                        <a:buNone/>
                      </a:pPr>
                      <a:r>
                        <a:rPr lang="en-US" sz="1000" dirty="0">
                          <a:solidFill>
                            <a:srgbClr val="000000"/>
                          </a:solidFill>
                        </a:rPr>
                        <a:t>P101: OFF</a:t>
                      </a:r>
                      <a:endParaRPr lang="en-US" sz="1000" dirty="0"/>
                    </a:p>
                  </a:txBody>
                  <a:tcPr marL="91440" marR="91440" marT="45720" marB="45720">
                    <a:lnL w="6350" cap="flat" cmpd="sng" algn="ctr">
                      <a:solidFill>
                        <a:srgbClr val="C9D6DF"/>
                      </a:solidFill>
                      <a:prstDash val="solid"/>
                      <a:round/>
                      <a:headEnd type="none" w="med" len="med"/>
                      <a:tailEnd type="none" w="med" len="med"/>
                    </a:lnL>
                    <a:lnR w="6350" cap="flat" cmpd="sng" algn="ctr">
                      <a:solidFill>
                        <a:srgbClr val="C9D6DF"/>
                      </a:solidFill>
                      <a:prstDash val="solid"/>
                      <a:round/>
                      <a:headEnd type="none" w="med" len="med"/>
                      <a:tailEnd type="none" w="med" len="med"/>
                    </a:lnR>
                    <a:lnT w="6350" cap="flat" cmpd="sng" algn="ctr">
                      <a:solidFill>
                        <a:srgbClr val="C9D6DF"/>
                      </a:solidFill>
                      <a:prstDash val="solid"/>
                      <a:round/>
                      <a:headEnd type="none" w="med" len="med"/>
                      <a:tailEnd type="none" w="med" len="med"/>
                    </a:lnT>
                    <a:lnB w="6350" cap="flat" cmpd="sng" algn="ctr">
                      <a:solidFill>
                        <a:srgbClr val="C9D6DF"/>
                      </a:solidFill>
                      <a:prstDash val="solid"/>
                      <a:round/>
                      <a:headEnd type="none" w="med" len="med"/>
                      <a:tailEnd type="none" w="med" len="med"/>
                    </a:lnB>
                  </a:tcPr>
                </a:tc>
              </a:tr>
              <a:tr h="274320">
                <a:tc>
                  <a:txBody>
                    <a:bodyPr/>
                    <a:lstStyle/>
                    <a:p>
                      <a:pPr indent="0" marL="0">
                        <a:buNone/>
                      </a:pPr>
                      <a:r>
                        <a:rPr lang="en-US" sz="1000" dirty="0">
                          <a:solidFill>
                            <a:srgbClr val="000000"/>
                          </a:solidFill>
                        </a:rPr>
                        <a:t>P2 – Pre-Treatment</a:t>
                      </a:r>
                      <a:endParaRPr lang="en-US" sz="1000" dirty="0"/>
                    </a:p>
                  </a:txBody>
                  <a:tcPr marL="91440" marR="91440" marT="45720" marB="45720">
                    <a:lnL w="6350" cap="flat" cmpd="sng" algn="ctr">
                      <a:solidFill>
                        <a:srgbClr val="C9D6DF"/>
                      </a:solidFill>
                      <a:prstDash val="solid"/>
                      <a:round/>
                      <a:headEnd type="none" w="med" len="med"/>
                      <a:tailEnd type="none" w="med" len="med"/>
                    </a:lnL>
                    <a:lnR w="6350" cap="flat" cmpd="sng" algn="ctr">
                      <a:solidFill>
                        <a:srgbClr val="C9D6DF"/>
                      </a:solidFill>
                      <a:prstDash val="solid"/>
                      <a:round/>
                      <a:headEnd type="none" w="med" len="med"/>
                      <a:tailEnd type="none" w="med" len="med"/>
                    </a:lnR>
                    <a:lnT w="6350" cap="flat" cmpd="sng" algn="ctr">
                      <a:solidFill>
                        <a:srgbClr val="C9D6DF"/>
                      </a:solidFill>
                      <a:prstDash val="solid"/>
                      <a:round/>
                      <a:headEnd type="none" w="med" len="med"/>
                      <a:tailEnd type="none" w="med" len="med"/>
                    </a:lnT>
                    <a:lnB w="6350" cap="flat" cmpd="sng" algn="ctr">
                      <a:solidFill>
                        <a:srgbClr val="C9D6DF"/>
                      </a:solidFill>
                      <a:prstDash val="solid"/>
                      <a:round/>
                      <a:headEnd type="none" w="med" len="med"/>
                      <a:tailEnd type="none" w="med" len="med"/>
                    </a:lnB>
                  </a:tcPr>
                </a:tc>
                <a:tc>
                  <a:txBody>
                    <a:bodyPr/>
                    <a:lstStyle/>
                    <a:p>
                      <a:pPr indent="0" marL="0">
                        <a:buNone/>
                      </a:pPr>
                      <a:r>
                        <a:rPr lang="en-US" sz="1000" dirty="0">
                          <a:solidFill>
                            <a:srgbClr val="000000"/>
                          </a:solidFill>
                        </a:rPr>
                        <a:t>P201–P206: ALL OFF</a:t>
                      </a:r>
                      <a:endParaRPr lang="en-US" sz="1000" dirty="0"/>
                    </a:p>
                  </a:txBody>
                  <a:tcPr marL="91440" marR="91440" marT="45720" marB="45720">
                    <a:lnL w="6350" cap="flat" cmpd="sng" algn="ctr">
                      <a:solidFill>
                        <a:srgbClr val="C9D6DF"/>
                      </a:solidFill>
                      <a:prstDash val="solid"/>
                      <a:round/>
                      <a:headEnd type="none" w="med" len="med"/>
                      <a:tailEnd type="none" w="med" len="med"/>
                    </a:lnL>
                    <a:lnR w="6350" cap="flat" cmpd="sng" algn="ctr">
                      <a:solidFill>
                        <a:srgbClr val="C9D6DF"/>
                      </a:solidFill>
                      <a:prstDash val="solid"/>
                      <a:round/>
                      <a:headEnd type="none" w="med" len="med"/>
                      <a:tailEnd type="none" w="med" len="med"/>
                    </a:lnR>
                    <a:lnT w="6350" cap="flat" cmpd="sng" algn="ctr">
                      <a:solidFill>
                        <a:srgbClr val="C9D6DF"/>
                      </a:solidFill>
                      <a:prstDash val="solid"/>
                      <a:round/>
                      <a:headEnd type="none" w="med" len="med"/>
                      <a:tailEnd type="none" w="med" len="med"/>
                    </a:lnT>
                    <a:lnB w="6350" cap="flat" cmpd="sng" algn="ctr">
                      <a:solidFill>
                        <a:srgbClr val="C9D6DF"/>
                      </a:solidFill>
                      <a:prstDash val="solid"/>
                      <a:round/>
                      <a:headEnd type="none" w="med" len="med"/>
                      <a:tailEnd type="none" w="med" len="med"/>
                    </a:lnB>
                  </a:tcPr>
                </a:tc>
                <a:tc>
                  <a:txBody>
                    <a:bodyPr/>
                    <a:lstStyle/>
                    <a:p>
                      <a:pPr indent="0" marL="0">
                        <a:buNone/>
                      </a:pPr>
                      <a:r>
                        <a:rPr lang="en-US" sz="1000" dirty="0">
                          <a:solidFill>
                            <a:srgbClr val="000000"/>
                          </a:solidFill>
                        </a:rPr>
                        <a:t>P102: OFF (P1 backup pump)</a:t>
                      </a:r>
                      <a:endParaRPr lang="en-US" sz="1000" dirty="0"/>
                    </a:p>
                  </a:txBody>
                  <a:tcPr marL="91440" marR="91440" marT="45720" marB="45720">
                    <a:lnL w="6350" cap="flat" cmpd="sng" algn="ctr">
                      <a:solidFill>
                        <a:srgbClr val="C9D6DF"/>
                      </a:solidFill>
                      <a:prstDash val="solid"/>
                      <a:round/>
                      <a:headEnd type="none" w="med" len="med"/>
                      <a:tailEnd type="none" w="med" len="med"/>
                    </a:lnL>
                    <a:lnR w="6350" cap="flat" cmpd="sng" algn="ctr">
                      <a:solidFill>
                        <a:srgbClr val="C9D6DF"/>
                      </a:solidFill>
                      <a:prstDash val="solid"/>
                      <a:round/>
                      <a:headEnd type="none" w="med" len="med"/>
                      <a:tailEnd type="none" w="med" len="med"/>
                    </a:lnR>
                    <a:lnT w="6350" cap="flat" cmpd="sng" algn="ctr">
                      <a:solidFill>
                        <a:srgbClr val="C9D6DF"/>
                      </a:solidFill>
                      <a:prstDash val="solid"/>
                      <a:round/>
                      <a:headEnd type="none" w="med" len="med"/>
                      <a:tailEnd type="none" w="med" len="med"/>
                    </a:lnT>
                    <a:lnB w="6350" cap="flat" cmpd="sng" algn="ctr">
                      <a:solidFill>
                        <a:srgbClr val="C9D6DF"/>
                      </a:solidFill>
                      <a:prstDash val="solid"/>
                      <a:round/>
                      <a:headEnd type="none" w="med" len="med"/>
                      <a:tailEnd type="none" w="med" len="med"/>
                    </a:lnB>
                  </a:tcPr>
                </a:tc>
              </a:tr>
              <a:tr h="274320">
                <a:tc>
                  <a:txBody>
                    <a:bodyPr/>
                    <a:lstStyle/>
                    <a:p>
                      <a:pPr indent="0" marL="0">
                        <a:buNone/>
                      </a:pPr>
                      <a:r>
                        <a:rPr lang="en-US" sz="1000" dirty="0">
                          <a:solidFill>
                            <a:srgbClr val="000000"/>
                          </a:solidFill>
                        </a:rPr>
                        <a:t>P3 – Ultrafiltration</a:t>
                      </a:r>
                      <a:endParaRPr lang="en-US" sz="1000" dirty="0"/>
                    </a:p>
                  </a:txBody>
                  <a:tcPr marL="91440" marR="91440" marT="45720" marB="45720">
                    <a:lnL w="6350" cap="flat" cmpd="sng" algn="ctr">
                      <a:solidFill>
                        <a:srgbClr val="C9D6DF"/>
                      </a:solidFill>
                      <a:prstDash val="solid"/>
                      <a:round/>
                      <a:headEnd type="none" w="med" len="med"/>
                      <a:tailEnd type="none" w="med" len="med"/>
                    </a:lnL>
                    <a:lnR w="6350" cap="flat" cmpd="sng" algn="ctr">
                      <a:solidFill>
                        <a:srgbClr val="C9D6DF"/>
                      </a:solidFill>
                      <a:prstDash val="solid"/>
                      <a:round/>
                      <a:headEnd type="none" w="med" len="med"/>
                      <a:tailEnd type="none" w="med" len="med"/>
                    </a:lnR>
                    <a:lnT w="6350" cap="flat" cmpd="sng" algn="ctr">
                      <a:solidFill>
                        <a:srgbClr val="C9D6DF"/>
                      </a:solidFill>
                      <a:prstDash val="solid"/>
                      <a:round/>
                      <a:headEnd type="none" w="med" len="med"/>
                      <a:tailEnd type="none" w="med" len="med"/>
                    </a:lnT>
                    <a:lnB w="6350" cap="flat" cmpd="sng" algn="ctr">
                      <a:solidFill>
                        <a:srgbClr val="C9D6DF"/>
                      </a:solidFill>
                      <a:prstDash val="solid"/>
                      <a:round/>
                      <a:headEnd type="none" w="med" len="med"/>
                      <a:tailEnd type="none" w="med" len="med"/>
                    </a:lnB>
                  </a:tcPr>
                </a:tc>
                <a:tc>
                  <a:txBody>
                    <a:bodyPr/>
                    <a:lstStyle/>
                    <a:p>
                      <a:pPr indent="0" marL="0">
                        <a:buNone/>
                      </a:pPr>
                      <a:r>
                        <a:rPr lang="en-US" sz="1000" dirty="0">
                          <a:solidFill>
                            <a:srgbClr val="000000"/>
                          </a:solidFill>
                        </a:rPr>
                        <a:t>MV301: CLOSED</a:t>
                      </a:r>
                      <a:endParaRPr lang="en-US" sz="1000" dirty="0"/>
                    </a:p>
                  </a:txBody>
                  <a:tcPr marL="91440" marR="91440" marT="45720" marB="45720">
                    <a:lnL w="6350" cap="flat" cmpd="sng" algn="ctr">
                      <a:solidFill>
                        <a:srgbClr val="C9D6DF"/>
                      </a:solidFill>
                      <a:prstDash val="solid"/>
                      <a:round/>
                      <a:headEnd type="none" w="med" len="med"/>
                      <a:tailEnd type="none" w="med" len="med"/>
                    </a:lnL>
                    <a:lnR w="6350" cap="flat" cmpd="sng" algn="ctr">
                      <a:solidFill>
                        <a:srgbClr val="C9D6DF"/>
                      </a:solidFill>
                      <a:prstDash val="solid"/>
                      <a:round/>
                      <a:headEnd type="none" w="med" len="med"/>
                      <a:tailEnd type="none" w="med" len="med"/>
                    </a:lnR>
                    <a:lnT w="6350" cap="flat" cmpd="sng" algn="ctr">
                      <a:solidFill>
                        <a:srgbClr val="C9D6DF"/>
                      </a:solidFill>
                      <a:prstDash val="solid"/>
                      <a:round/>
                      <a:headEnd type="none" w="med" len="med"/>
                      <a:tailEnd type="none" w="med" len="med"/>
                    </a:lnT>
                    <a:lnB w="6350" cap="flat" cmpd="sng" algn="ctr">
                      <a:solidFill>
                        <a:srgbClr val="C9D6DF"/>
                      </a:solidFill>
                      <a:prstDash val="solid"/>
                      <a:round/>
                      <a:headEnd type="none" w="med" len="med"/>
                      <a:tailEnd type="none" w="med" len="med"/>
                    </a:lnB>
                  </a:tcPr>
                </a:tc>
                <a:tc>
                  <a:txBody>
                    <a:bodyPr/>
                    <a:lstStyle/>
                    <a:p>
                      <a:pPr indent="0" marL="0">
                        <a:buNone/>
                      </a:pPr>
                      <a:r>
                        <a:rPr lang="en-US" sz="1000" dirty="0">
                          <a:solidFill>
                            <a:srgbClr val="000000"/>
                          </a:solidFill>
                        </a:rPr>
                        <a:t>P301/302: OFF</a:t>
                      </a:r>
                      <a:endParaRPr lang="en-US" sz="1000" dirty="0"/>
                    </a:p>
                  </a:txBody>
                  <a:tcPr marL="91440" marR="91440" marT="45720" marB="45720">
                    <a:lnL w="6350" cap="flat" cmpd="sng" algn="ctr">
                      <a:solidFill>
                        <a:srgbClr val="C9D6DF"/>
                      </a:solidFill>
                      <a:prstDash val="solid"/>
                      <a:round/>
                      <a:headEnd type="none" w="med" len="med"/>
                      <a:tailEnd type="none" w="med" len="med"/>
                    </a:lnL>
                    <a:lnR w="6350" cap="flat" cmpd="sng" algn="ctr">
                      <a:solidFill>
                        <a:srgbClr val="C9D6DF"/>
                      </a:solidFill>
                      <a:prstDash val="solid"/>
                      <a:round/>
                      <a:headEnd type="none" w="med" len="med"/>
                      <a:tailEnd type="none" w="med" len="med"/>
                    </a:lnR>
                    <a:lnT w="6350" cap="flat" cmpd="sng" algn="ctr">
                      <a:solidFill>
                        <a:srgbClr val="C9D6DF"/>
                      </a:solidFill>
                      <a:prstDash val="solid"/>
                      <a:round/>
                      <a:headEnd type="none" w="med" len="med"/>
                      <a:tailEnd type="none" w="med" len="med"/>
                    </a:lnT>
                    <a:lnB w="6350" cap="flat" cmpd="sng" algn="ctr">
                      <a:solidFill>
                        <a:srgbClr val="C9D6DF"/>
                      </a:solidFill>
                      <a:prstDash val="solid"/>
                      <a:round/>
                      <a:headEnd type="none" w="med" len="med"/>
                      <a:tailEnd type="none" w="med" len="med"/>
                    </a:lnB>
                  </a:tcPr>
                </a:tc>
              </a:tr>
              <a:tr h="274320">
                <a:tc>
                  <a:txBody>
                    <a:bodyPr/>
                    <a:lstStyle/>
                    <a:p>
                      <a:pPr indent="0" marL="0">
                        <a:buNone/>
                      </a:pPr>
                      <a:r>
                        <a:rPr lang="en-US" sz="1000" dirty="0">
                          <a:solidFill>
                            <a:srgbClr val="000000"/>
                          </a:solidFill>
                        </a:rPr>
                        <a:t>P4 – De-chlorination / P6 – RO</a:t>
                      </a:r>
                      <a:endParaRPr lang="en-US" sz="1000" dirty="0"/>
                    </a:p>
                  </a:txBody>
                  <a:tcPr marL="91440" marR="91440" marT="45720" marB="45720">
                    <a:lnL w="6350" cap="flat" cmpd="sng" algn="ctr">
                      <a:solidFill>
                        <a:srgbClr val="C9D6DF"/>
                      </a:solidFill>
                      <a:prstDash val="solid"/>
                      <a:round/>
                      <a:headEnd type="none" w="med" len="med"/>
                      <a:tailEnd type="none" w="med" len="med"/>
                    </a:lnL>
                    <a:lnR w="6350" cap="flat" cmpd="sng" algn="ctr">
                      <a:solidFill>
                        <a:srgbClr val="C9D6DF"/>
                      </a:solidFill>
                      <a:prstDash val="solid"/>
                      <a:round/>
                      <a:headEnd type="none" w="med" len="med"/>
                      <a:tailEnd type="none" w="med" len="med"/>
                    </a:lnR>
                    <a:lnT w="6350" cap="flat" cmpd="sng" algn="ctr">
                      <a:solidFill>
                        <a:srgbClr val="C9D6DF"/>
                      </a:solidFill>
                      <a:prstDash val="solid"/>
                      <a:round/>
                      <a:headEnd type="none" w="med" len="med"/>
                      <a:tailEnd type="none" w="med" len="med"/>
                    </a:lnT>
                    <a:lnB w="6350" cap="flat" cmpd="sng" algn="ctr">
                      <a:solidFill>
                        <a:srgbClr val="C9D6DF"/>
                      </a:solidFill>
                      <a:prstDash val="solid"/>
                      <a:round/>
                      <a:headEnd type="none" w="med" len="med"/>
                      <a:tailEnd type="none" w="med" len="med"/>
                    </a:lnB>
                  </a:tcPr>
                </a:tc>
                <a:tc>
                  <a:txBody>
                    <a:bodyPr/>
                    <a:lstStyle/>
                    <a:p>
                      <a:pPr indent="0" marL="0">
                        <a:buNone/>
                      </a:pPr>
                      <a:r>
                        <a:rPr lang="en-US" sz="1000" dirty="0">
                          <a:solidFill>
                            <a:srgbClr val="000000"/>
                          </a:solidFill>
                        </a:rPr>
                        <a:t>UV401: OFF / P602: OFF</a:t>
                      </a:r>
                      <a:endParaRPr lang="en-US" sz="1000" dirty="0"/>
                    </a:p>
                  </a:txBody>
                  <a:tcPr marL="91440" marR="91440" marT="45720" marB="45720">
                    <a:lnL w="6350" cap="flat" cmpd="sng" algn="ctr">
                      <a:solidFill>
                        <a:srgbClr val="C9D6DF"/>
                      </a:solidFill>
                      <a:prstDash val="solid"/>
                      <a:round/>
                      <a:headEnd type="none" w="med" len="med"/>
                      <a:tailEnd type="none" w="med" len="med"/>
                    </a:lnL>
                    <a:lnR w="6350" cap="flat" cmpd="sng" algn="ctr">
                      <a:solidFill>
                        <a:srgbClr val="C9D6DF"/>
                      </a:solidFill>
                      <a:prstDash val="solid"/>
                      <a:round/>
                      <a:headEnd type="none" w="med" len="med"/>
                      <a:tailEnd type="none" w="med" len="med"/>
                    </a:lnR>
                    <a:lnT w="6350" cap="flat" cmpd="sng" algn="ctr">
                      <a:solidFill>
                        <a:srgbClr val="C9D6DF"/>
                      </a:solidFill>
                      <a:prstDash val="solid"/>
                      <a:round/>
                      <a:headEnd type="none" w="med" len="med"/>
                      <a:tailEnd type="none" w="med" len="med"/>
                    </a:lnT>
                    <a:lnB w="6350" cap="flat" cmpd="sng" algn="ctr">
                      <a:solidFill>
                        <a:srgbClr val="C9D6DF"/>
                      </a:solidFill>
                      <a:prstDash val="solid"/>
                      <a:round/>
                      <a:headEnd type="none" w="med" len="med"/>
                      <a:tailEnd type="none" w="med" len="med"/>
                    </a:lnB>
                  </a:tcPr>
                </a:tc>
                <a:tc>
                  <a:txBody>
                    <a:bodyPr/>
                    <a:lstStyle/>
                    <a:p>
                      <a:pPr indent="0" marL="0">
                        <a:buNone/>
                      </a:pPr>
                      <a:r>
                        <a:rPr lang="en-US" sz="1000" dirty="0">
                          <a:solidFill>
                            <a:srgbClr val="000000"/>
                          </a:solidFill>
                        </a:rPr>
                        <a:t>Hold / RO pump OFF</a:t>
                      </a:r>
                      <a:endParaRPr lang="en-US" sz="1000" dirty="0"/>
                    </a:p>
                  </a:txBody>
                  <a:tcPr marL="91440" marR="91440" marT="45720" marB="45720">
                    <a:lnL w="6350" cap="flat" cmpd="sng" algn="ctr">
                      <a:solidFill>
                        <a:srgbClr val="C9D6DF"/>
                      </a:solidFill>
                      <a:prstDash val="solid"/>
                      <a:round/>
                      <a:headEnd type="none" w="med" len="med"/>
                      <a:tailEnd type="none" w="med" len="med"/>
                    </a:lnL>
                    <a:lnR w="6350" cap="flat" cmpd="sng" algn="ctr">
                      <a:solidFill>
                        <a:srgbClr val="C9D6DF"/>
                      </a:solidFill>
                      <a:prstDash val="solid"/>
                      <a:round/>
                      <a:headEnd type="none" w="med" len="med"/>
                      <a:tailEnd type="none" w="med" len="med"/>
                    </a:lnR>
                    <a:lnT w="6350" cap="flat" cmpd="sng" algn="ctr">
                      <a:solidFill>
                        <a:srgbClr val="C9D6DF"/>
                      </a:solidFill>
                      <a:prstDash val="solid"/>
                      <a:round/>
                      <a:headEnd type="none" w="med" len="med"/>
                      <a:tailEnd type="none" w="med" len="med"/>
                    </a:lnT>
                    <a:lnB w="6350" cap="flat" cmpd="sng" algn="ctr">
                      <a:solidFill>
                        <a:srgbClr val="C9D6DF"/>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Text 1"/>
          <p:cNvSpPr/>
          <p:nvPr/>
        </p:nvSpPr>
        <p:spPr>
          <a:xfrm>
            <a:off x="457200" y="137160"/>
            <a:ext cx="8229600" cy="5029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Implementation Plan</a:t>
            </a:r>
            <a:endParaRPr lang="en-US" sz="2800" dirty="0"/>
          </a:p>
        </p:txBody>
      </p:sp>
      <p:sp>
        <p:nvSpPr>
          <p:cNvPr id="4" name="Shape 2"/>
          <p:cNvSpPr/>
          <p:nvPr/>
        </p:nvSpPr>
        <p:spPr>
          <a:xfrm>
            <a:off x="365760" y="777240"/>
            <a:ext cx="8412480" cy="128016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5" name="Shape 3"/>
          <p:cNvSpPr/>
          <p:nvPr/>
        </p:nvSpPr>
        <p:spPr>
          <a:xfrm>
            <a:off x="365760" y="777240"/>
            <a:ext cx="1463040" cy="1280160"/>
          </a:xfrm>
          <a:prstGeom prst="rect">
            <a:avLst/>
          </a:prstGeom>
          <a:solidFill>
            <a:srgbClr val="E63946"/>
          </a:solidFill>
          <a:ln w="12700">
            <a:solidFill>
              <a:srgbClr val="E63946"/>
            </a:solidFill>
            <a:prstDash val="solid"/>
          </a:ln>
        </p:spPr>
      </p:sp>
      <p:sp>
        <p:nvSpPr>
          <p:cNvPr id="6" name="Text 4"/>
          <p:cNvSpPr/>
          <p:nvPr/>
        </p:nvSpPr>
        <p:spPr>
          <a:xfrm>
            <a:off x="365760" y="850392"/>
            <a:ext cx="1463040" cy="32004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Week 9–10</a:t>
            </a:r>
            <a:endParaRPr lang="en-US" sz="1000" dirty="0"/>
          </a:p>
        </p:txBody>
      </p:sp>
      <p:sp>
        <p:nvSpPr>
          <p:cNvPr id="7" name="Text 5"/>
          <p:cNvSpPr/>
          <p:nvPr/>
        </p:nvSpPr>
        <p:spPr>
          <a:xfrm>
            <a:off x="365760" y="1161288"/>
            <a:ext cx="146304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Phase 1: Setup &amp; Attack</a:t>
            </a:r>
            <a:endParaRPr lang="en-US" sz="1200" dirty="0"/>
          </a:p>
        </p:txBody>
      </p:sp>
      <p:sp>
        <p:nvSpPr>
          <p:cNvPr id="8" name="Text 6"/>
          <p:cNvSpPr/>
          <p:nvPr/>
        </p:nvSpPr>
        <p:spPr>
          <a:xfrm>
            <a:off x="2011680" y="822960"/>
            <a:ext cx="6583680" cy="22860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-&gt; Deploy Wireshark on SWaT Level 1/2 switch mirror port</a:t>
            </a:r>
            <a:endParaRPr lang="en-US" sz="950" dirty="0"/>
          </a:p>
        </p:txBody>
      </p:sp>
      <p:sp>
        <p:nvSpPr>
          <p:cNvPr id="9" name="Text 7"/>
          <p:cNvSpPr/>
          <p:nvPr/>
        </p:nvSpPr>
        <p:spPr>
          <a:xfrm>
            <a:off x="2011680" y="1060704"/>
            <a:ext cx="6583680" cy="22860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-&gt; Map Modbus register addresses for P1 actuators (MV101, P101)</a:t>
            </a:r>
            <a:endParaRPr lang="en-US" sz="950" dirty="0"/>
          </a:p>
        </p:txBody>
      </p:sp>
      <p:sp>
        <p:nvSpPr>
          <p:cNvPr id="10" name="Text 8"/>
          <p:cNvSpPr/>
          <p:nvPr/>
        </p:nvSpPr>
        <p:spPr>
          <a:xfrm>
            <a:off x="2011680" y="1298448"/>
            <a:ext cx="6583680" cy="22860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-&gt; Implement Python-based Modbus injection script (port 502)</a:t>
            </a:r>
            <a:endParaRPr lang="en-US" sz="950" dirty="0"/>
          </a:p>
        </p:txBody>
      </p:sp>
      <p:sp>
        <p:nvSpPr>
          <p:cNvPr id="11" name="Text 9"/>
          <p:cNvSpPr/>
          <p:nvPr/>
        </p:nvSpPr>
        <p:spPr>
          <a:xfrm>
            <a:off x="2011680" y="1536192"/>
            <a:ext cx="6583680" cy="22860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-&gt; Verify false commands reach PLC — confirm physical effect on SWaT</a:t>
            </a:r>
            <a:endParaRPr lang="en-US" sz="950" dirty="0"/>
          </a:p>
        </p:txBody>
      </p:sp>
      <p:sp>
        <p:nvSpPr>
          <p:cNvPr id="12" name="Text 10"/>
          <p:cNvSpPr/>
          <p:nvPr/>
        </p:nvSpPr>
        <p:spPr>
          <a:xfrm>
            <a:off x="2011680" y="1773936"/>
            <a:ext cx="6583680" cy="22860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-&gt; Capture baseline sensor timeseries for autoencoder training</a:t>
            </a:r>
            <a:endParaRPr lang="en-US" sz="950" dirty="0"/>
          </a:p>
        </p:txBody>
      </p:sp>
      <p:sp>
        <p:nvSpPr>
          <p:cNvPr id="13" name="Shape 11"/>
          <p:cNvSpPr/>
          <p:nvPr/>
        </p:nvSpPr>
        <p:spPr>
          <a:xfrm>
            <a:off x="365760" y="2167128"/>
            <a:ext cx="8412480" cy="128016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14" name="Shape 12"/>
          <p:cNvSpPr/>
          <p:nvPr/>
        </p:nvSpPr>
        <p:spPr>
          <a:xfrm>
            <a:off x="365760" y="2167128"/>
            <a:ext cx="1463040" cy="1280160"/>
          </a:xfrm>
          <a:prstGeom prst="rect">
            <a:avLst/>
          </a:prstGeom>
          <a:solidFill>
            <a:srgbClr val="2196F3"/>
          </a:solidFill>
          <a:ln w="12700">
            <a:solidFill>
              <a:srgbClr val="2196F3"/>
            </a:solidFill>
            <a:prstDash val="solid"/>
          </a:ln>
        </p:spPr>
      </p:sp>
      <p:sp>
        <p:nvSpPr>
          <p:cNvPr id="15" name="Text 13"/>
          <p:cNvSpPr/>
          <p:nvPr/>
        </p:nvSpPr>
        <p:spPr>
          <a:xfrm>
            <a:off x="365760" y="2240280"/>
            <a:ext cx="1463040" cy="32004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Week 11</a:t>
            </a:r>
            <a:endParaRPr lang="en-US" sz="1000" dirty="0"/>
          </a:p>
        </p:txBody>
      </p:sp>
      <p:sp>
        <p:nvSpPr>
          <p:cNvPr id="16" name="Text 14"/>
          <p:cNvSpPr/>
          <p:nvPr/>
        </p:nvSpPr>
        <p:spPr>
          <a:xfrm>
            <a:off x="365760" y="2551176"/>
            <a:ext cx="146304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Phase 2: Evasion &amp; Defense</a:t>
            </a:r>
            <a:endParaRPr lang="en-US" sz="1200" dirty="0"/>
          </a:p>
        </p:txBody>
      </p:sp>
      <p:sp>
        <p:nvSpPr>
          <p:cNvPr id="17" name="Text 15"/>
          <p:cNvSpPr/>
          <p:nvPr/>
        </p:nvSpPr>
        <p:spPr>
          <a:xfrm>
            <a:off x="2011680" y="2212848"/>
            <a:ext cx="6583680" cy="22860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-&gt; Train reconstruction autoencoder on SWaT normal operation data</a:t>
            </a:r>
            <a:endParaRPr lang="en-US" sz="950" dirty="0"/>
          </a:p>
        </p:txBody>
      </p:sp>
      <p:sp>
        <p:nvSpPr>
          <p:cNvPr id="18" name="Text 16"/>
          <p:cNvSpPr/>
          <p:nvPr/>
        </p:nvSpPr>
        <p:spPr>
          <a:xfrm>
            <a:off x="2011680" y="2450592"/>
            <a:ext cx="6583680" cy="22860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-&gt; Implement adversarial perturbation (Paper #31 learning-based method)</a:t>
            </a:r>
            <a:endParaRPr lang="en-US" sz="950" dirty="0"/>
          </a:p>
        </p:txBody>
      </p:sp>
      <p:sp>
        <p:nvSpPr>
          <p:cNvPr id="19" name="Text 17"/>
          <p:cNvSpPr/>
          <p:nvPr/>
        </p:nvSpPr>
        <p:spPr>
          <a:xfrm>
            <a:off x="2011680" y="2688336"/>
            <a:ext cx="6583680" cy="22860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-&gt; Verify attack evades standalone ML detector</a:t>
            </a:r>
            <a:endParaRPr lang="en-US" sz="950" dirty="0"/>
          </a:p>
        </p:txBody>
      </p:sp>
      <p:sp>
        <p:nvSpPr>
          <p:cNvPr id="20" name="Text 18"/>
          <p:cNvSpPr/>
          <p:nvPr/>
        </p:nvSpPr>
        <p:spPr>
          <a:xfrm>
            <a:off x="2011680" y="2926080"/>
            <a:ext cx="6583680" cy="22860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-&gt; Derive process invariants for P1–P3 from SWaT P&amp;ID</a:t>
            </a:r>
            <a:endParaRPr lang="en-US" sz="950" dirty="0"/>
          </a:p>
        </p:txBody>
      </p:sp>
      <p:sp>
        <p:nvSpPr>
          <p:cNvPr id="21" name="Text 19"/>
          <p:cNvSpPr/>
          <p:nvPr/>
        </p:nvSpPr>
        <p:spPr>
          <a:xfrm>
            <a:off x="2011680" y="3163824"/>
            <a:ext cx="6583680" cy="22860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-&gt; Implement invariant checker + combine with autoencoder (decision fusion)</a:t>
            </a:r>
            <a:endParaRPr lang="en-US" sz="950" dirty="0"/>
          </a:p>
        </p:txBody>
      </p:sp>
      <p:sp>
        <p:nvSpPr>
          <p:cNvPr id="22" name="Shape 20"/>
          <p:cNvSpPr/>
          <p:nvPr/>
        </p:nvSpPr>
        <p:spPr>
          <a:xfrm>
            <a:off x="365760" y="3557016"/>
            <a:ext cx="8412480" cy="128016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23" name="Shape 21"/>
          <p:cNvSpPr/>
          <p:nvPr/>
        </p:nvSpPr>
        <p:spPr>
          <a:xfrm>
            <a:off x="365760" y="3557016"/>
            <a:ext cx="1463040" cy="1280160"/>
          </a:xfrm>
          <a:prstGeom prst="rect">
            <a:avLst/>
          </a:prstGeom>
          <a:solidFill>
            <a:srgbClr val="2ECC71"/>
          </a:solidFill>
          <a:ln w="12700">
            <a:solidFill>
              <a:srgbClr val="2ECC71"/>
            </a:solidFill>
            <a:prstDash val="solid"/>
          </a:ln>
        </p:spPr>
      </p:sp>
      <p:sp>
        <p:nvSpPr>
          <p:cNvPr id="24" name="Text 22"/>
          <p:cNvSpPr/>
          <p:nvPr/>
        </p:nvSpPr>
        <p:spPr>
          <a:xfrm>
            <a:off x="365760" y="3630168"/>
            <a:ext cx="1463040" cy="32004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Week 12–13</a:t>
            </a:r>
            <a:endParaRPr lang="en-US" sz="1000" dirty="0"/>
          </a:p>
        </p:txBody>
      </p:sp>
      <p:sp>
        <p:nvSpPr>
          <p:cNvPr id="25" name="Text 23"/>
          <p:cNvSpPr/>
          <p:nvPr/>
        </p:nvSpPr>
        <p:spPr>
          <a:xfrm>
            <a:off x="365760" y="3941064"/>
            <a:ext cx="146304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Phase 3: Recovery &amp; Demo</a:t>
            </a:r>
            <a:endParaRPr lang="en-US" sz="1200" dirty="0"/>
          </a:p>
        </p:txBody>
      </p:sp>
      <p:sp>
        <p:nvSpPr>
          <p:cNvPr id="26" name="Text 24"/>
          <p:cNvSpPr/>
          <p:nvPr/>
        </p:nvSpPr>
        <p:spPr>
          <a:xfrm>
            <a:off x="2011680" y="3602736"/>
            <a:ext cx="6583680" cy="22860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-&gt; Implement safe-state transition logic for P1 (trigger on alert)</a:t>
            </a:r>
            <a:endParaRPr lang="en-US" sz="950" dirty="0"/>
          </a:p>
        </p:txBody>
      </p:sp>
      <p:sp>
        <p:nvSpPr>
          <p:cNvPr id="27" name="Text 25"/>
          <p:cNvSpPr/>
          <p:nvPr/>
        </p:nvSpPr>
        <p:spPr>
          <a:xfrm>
            <a:off x="2011680" y="3840480"/>
            <a:ext cx="6583680" cy="22860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-&gt; Configure hot-standby PLC failover (using SWaT dual-PLC architecture)</a:t>
            </a:r>
            <a:endParaRPr lang="en-US" sz="950" dirty="0"/>
          </a:p>
        </p:txBody>
      </p:sp>
      <p:sp>
        <p:nvSpPr>
          <p:cNvPr id="28" name="Text 26"/>
          <p:cNvSpPr/>
          <p:nvPr/>
        </p:nvSpPr>
        <p:spPr>
          <a:xfrm>
            <a:off x="2011680" y="4078224"/>
            <a:ext cx="6583680" cy="22860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-&gt; Implement sensor cross-validation using invariant reconstruction model</a:t>
            </a:r>
            <a:endParaRPr lang="en-US" sz="950" dirty="0"/>
          </a:p>
        </p:txBody>
      </p:sp>
      <p:sp>
        <p:nvSpPr>
          <p:cNvPr id="29" name="Text 27"/>
          <p:cNvSpPr/>
          <p:nvPr/>
        </p:nvSpPr>
        <p:spPr>
          <a:xfrm>
            <a:off x="2011680" y="4315968"/>
            <a:ext cx="6583680" cy="22860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-&gt; Run full end-to-end demo: attack → evade → detect → recover</a:t>
            </a:r>
            <a:endParaRPr lang="en-US" sz="950" dirty="0"/>
          </a:p>
        </p:txBody>
      </p:sp>
      <p:sp>
        <p:nvSpPr>
          <p:cNvPr id="30" name="Text 28"/>
          <p:cNvSpPr/>
          <p:nvPr/>
        </p:nvSpPr>
        <p:spPr>
          <a:xfrm>
            <a:off x="2011680" y="4553712"/>
            <a:ext cx="6583680" cy="22860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-&gt; Measure recovery time (KPI: time from alert to normal operation)</a:t>
            </a:r>
            <a:endParaRPr lang="en-US" sz="950" dirty="0"/>
          </a:p>
        </p:txBody>
      </p:sp>
      <p:sp>
        <p:nvSpPr>
          <p:cNvPr id="31" name="Shape 29"/>
          <p:cNvSpPr/>
          <p:nvPr/>
        </p:nvSpPr>
        <p:spPr>
          <a:xfrm>
            <a:off x="365760" y="4983480"/>
            <a:ext cx="8412480" cy="502920"/>
          </a:xfrm>
          <a:prstGeom prst="rect">
            <a:avLst/>
          </a:prstGeom>
          <a:solidFill>
            <a:srgbClr val="1B3A5C"/>
          </a:solidFill>
          <a:ln w="12700">
            <a:solidFill>
              <a:srgbClr val="1B3A5C"/>
            </a:solidFill>
            <a:prstDash val="solid"/>
          </a:ln>
        </p:spPr>
      </p:sp>
      <p:sp>
        <p:nvSpPr>
          <p:cNvPr id="32" name="Text 30"/>
          <p:cNvSpPr/>
          <p:nvPr/>
        </p:nvSpPr>
        <p:spPr>
          <a:xfrm>
            <a:off x="548640" y="4983480"/>
            <a:ext cx="8046720" cy="502920"/>
          </a:xfrm>
          <a:prstGeom prst="rect">
            <a:avLst/>
          </a:prstGeom>
          <a:noFill/>
          <a:ln/>
        </p:spPr>
        <p:txBody>
          <a:bodyPr wrap="square" lIns="0" tIns="0" rIns="0" bIns="0" rtlCol="0" anchor="ctr"/>
          <a:lstStyle/>
          <a:p>
            <a:pPr indent="0" marL="0">
              <a:buNone/>
            </a:pPr>
            <a:r>
              <a:rPr lang="en-US" sz="1100" dirty="0">
                <a:solidFill>
                  <a:srgbClr val="F4A261"/>
                </a:solidFill>
                <a:latin typeface="Calibri" pitchFamily="34" charset="0"/>
                <a:ea typeface="Calibri" pitchFamily="34" charset="-122"/>
                <a:cs typeface="Calibri" pitchFamily="34" charset="-120"/>
              </a:rPr>
              <a:t>Tools:  Python (Scapy/pyModbus) · Wireshark · PyTorch (autoencoder) · Studio 5000 (PLC) · SWaT SCADA HMI</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CC71"/>
          </a:solidFill>
          <a:ln w="12700">
            <a:solidFill>
              <a:srgbClr val="2ECC71"/>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Evaluation Metrics</a:t>
            </a:r>
            <a:endParaRPr lang="en-US" sz="2800" dirty="0"/>
          </a:p>
        </p:txBody>
      </p:sp>
      <p:sp>
        <p:nvSpPr>
          <p:cNvPr id="4" name="Shape 2"/>
          <p:cNvSpPr/>
          <p:nvPr/>
        </p:nvSpPr>
        <p:spPr>
          <a:xfrm>
            <a:off x="365760" y="914400"/>
            <a:ext cx="8412480" cy="1234440"/>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25000"/>
              </a:srgbClr>
            </a:outerShdw>
          </a:effectLst>
        </p:spPr>
      </p:sp>
      <p:sp>
        <p:nvSpPr>
          <p:cNvPr id="5" name="Shape 3"/>
          <p:cNvSpPr/>
          <p:nvPr/>
        </p:nvSpPr>
        <p:spPr>
          <a:xfrm>
            <a:off x="365760" y="914400"/>
            <a:ext cx="64008" cy="1234440"/>
          </a:xfrm>
          <a:prstGeom prst="rect">
            <a:avLst/>
          </a:prstGeom>
          <a:solidFill>
            <a:srgbClr val="E63946"/>
          </a:solidFill>
          <a:ln w="12700">
            <a:solidFill>
              <a:srgbClr val="E63946"/>
            </a:solidFill>
            <a:prstDash val="solid"/>
          </a:ln>
        </p:spPr>
      </p:sp>
      <p:sp>
        <p:nvSpPr>
          <p:cNvPr id="6" name="Text 4"/>
          <p:cNvSpPr/>
          <p:nvPr/>
        </p:nvSpPr>
        <p:spPr>
          <a:xfrm>
            <a:off x="594360" y="960120"/>
            <a:ext cx="8046720" cy="347472"/>
          </a:xfrm>
          <a:prstGeom prst="rect">
            <a:avLst/>
          </a:prstGeom>
          <a:noFill/>
          <a:ln/>
        </p:spPr>
        <p:txBody>
          <a:bodyPr wrap="square" lIns="0" tIns="0" rIns="0" bIns="0" rtlCol="0" anchor="ctr"/>
          <a:lstStyle/>
          <a:p>
            <a:pPr indent="0" marL="0">
              <a:buNone/>
            </a:pPr>
            <a:r>
              <a:rPr lang="en-US" sz="1400" b="1" dirty="0">
                <a:solidFill>
                  <a:srgbClr val="E63946"/>
                </a:solidFill>
                <a:latin typeface="Calibri" pitchFamily="34" charset="0"/>
                <a:ea typeface="Calibri" pitchFamily="34" charset="-122"/>
                <a:cs typeface="Calibri" pitchFamily="34" charset="-120"/>
              </a:rPr>
              <a:t>Attack Effectiveness</a:t>
            </a:r>
            <a:endParaRPr lang="en-US" sz="1400" dirty="0"/>
          </a:p>
        </p:txBody>
      </p:sp>
      <p:sp>
        <p:nvSpPr>
          <p:cNvPr id="7" name="Text 5"/>
          <p:cNvSpPr/>
          <p:nvPr/>
        </p:nvSpPr>
        <p:spPr>
          <a:xfrm>
            <a:off x="594360" y="1353312"/>
            <a:ext cx="8046720" cy="256032"/>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  Time-to-impact: how quickly does tank level deviate from normal?</a:t>
            </a:r>
            <a:endParaRPr lang="en-US" sz="1100" dirty="0"/>
          </a:p>
        </p:txBody>
      </p:sp>
      <p:sp>
        <p:nvSpPr>
          <p:cNvPr id="8" name="Text 6"/>
          <p:cNvSpPr/>
          <p:nvPr/>
        </p:nvSpPr>
        <p:spPr>
          <a:xfrm>
            <a:off x="594360" y="1627632"/>
            <a:ext cx="8046720" cy="256032"/>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  Evasion rate: % of attack cycles that pass through standalone ML detector undetected</a:t>
            </a:r>
            <a:endParaRPr lang="en-US" sz="1100" dirty="0"/>
          </a:p>
        </p:txBody>
      </p:sp>
      <p:sp>
        <p:nvSpPr>
          <p:cNvPr id="9" name="Text 7"/>
          <p:cNvSpPr/>
          <p:nvPr/>
        </p:nvSpPr>
        <p:spPr>
          <a:xfrm>
            <a:off x="594360" y="1901952"/>
            <a:ext cx="8046720" cy="256032"/>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  Stealth duration: time elapsed before any alert is raised</a:t>
            </a:r>
            <a:endParaRPr lang="en-US" sz="1100" dirty="0"/>
          </a:p>
        </p:txBody>
      </p:sp>
      <p:sp>
        <p:nvSpPr>
          <p:cNvPr id="10" name="Shape 8"/>
          <p:cNvSpPr/>
          <p:nvPr/>
        </p:nvSpPr>
        <p:spPr>
          <a:xfrm>
            <a:off x="365760" y="2267712"/>
            <a:ext cx="8412480" cy="1234440"/>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25000"/>
              </a:srgbClr>
            </a:outerShdw>
          </a:effectLst>
        </p:spPr>
      </p:sp>
      <p:sp>
        <p:nvSpPr>
          <p:cNvPr id="11" name="Shape 9"/>
          <p:cNvSpPr/>
          <p:nvPr/>
        </p:nvSpPr>
        <p:spPr>
          <a:xfrm>
            <a:off x="365760" y="2267712"/>
            <a:ext cx="64008" cy="1234440"/>
          </a:xfrm>
          <a:prstGeom prst="rect">
            <a:avLst/>
          </a:prstGeom>
          <a:solidFill>
            <a:srgbClr val="2196F3"/>
          </a:solidFill>
          <a:ln w="12700">
            <a:solidFill>
              <a:srgbClr val="2196F3"/>
            </a:solidFill>
            <a:prstDash val="solid"/>
          </a:ln>
        </p:spPr>
      </p:sp>
      <p:sp>
        <p:nvSpPr>
          <p:cNvPr id="12" name="Text 10"/>
          <p:cNvSpPr/>
          <p:nvPr/>
        </p:nvSpPr>
        <p:spPr>
          <a:xfrm>
            <a:off x="594360" y="2313432"/>
            <a:ext cx="8046720" cy="347472"/>
          </a:xfrm>
          <a:prstGeom prst="rect">
            <a:avLst/>
          </a:prstGeom>
          <a:noFill/>
          <a:ln/>
        </p:spPr>
        <p:txBody>
          <a:bodyPr wrap="square" lIns="0" tIns="0" rIns="0" bIns="0" rtlCol="0" anchor="ctr"/>
          <a:lstStyle/>
          <a:p>
            <a:pPr indent="0" marL="0">
              <a:buNone/>
            </a:pPr>
            <a:r>
              <a:rPr lang="en-US" sz="1400" b="1" dirty="0">
                <a:solidFill>
                  <a:srgbClr val="2196F3"/>
                </a:solidFill>
                <a:latin typeface="Calibri" pitchFamily="34" charset="0"/>
                <a:ea typeface="Calibri" pitchFamily="34" charset="-122"/>
                <a:cs typeface="Calibri" pitchFamily="34" charset="-120"/>
              </a:rPr>
              <a:t>Detection Performance</a:t>
            </a:r>
            <a:endParaRPr lang="en-US" sz="1400" dirty="0"/>
          </a:p>
        </p:txBody>
      </p:sp>
      <p:sp>
        <p:nvSpPr>
          <p:cNvPr id="13" name="Text 11"/>
          <p:cNvSpPr/>
          <p:nvPr/>
        </p:nvSpPr>
        <p:spPr>
          <a:xfrm>
            <a:off x="594360" y="2706624"/>
            <a:ext cx="8046720" cy="256032"/>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  Detection rate (DR): % of attack scenarios detected by hybrid detector</a:t>
            </a:r>
            <a:endParaRPr lang="en-US" sz="1100" dirty="0"/>
          </a:p>
        </p:txBody>
      </p:sp>
      <p:sp>
        <p:nvSpPr>
          <p:cNvPr id="14" name="Text 12"/>
          <p:cNvSpPr/>
          <p:nvPr/>
        </p:nvSpPr>
        <p:spPr>
          <a:xfrm>
            <a:off x="594360" y="2980944"/>
            <a:ext cx="8046720" cy="256032"/>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  False positive rate (FPR): % of normal operation flagged as anomalous</a:t>
            </a:r>
            <a:endParaRPr lang="en-US" sz="1100" dirty="0"/>
          </a:p>
        </p:txBody>
      </p:sp>
      <p:sp>
        <p:nvSpPr>
          <p:cNvPr id="15" name="Text 13"/>
          <p:cNvSpPr/>
          <p:nvPr/>
        </p:nvSpPr>
        <p:spPr>
          <a:xfrm>
            <a:off x="594360" y="3255264"/>
            <a:ext cx="8046720" cy="256032"/>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  Comparison: invariant-only vs ML-only vs hybrid (DR &amp; FPR)</a:t>
            </a:r>
            <a:endParaRPr lang="en-US" sz="1100" dirty="0"/>
          </a:p>
        </p:txBody>
      </p:sp>
      <p:sp>
        <p:nvSpPr>
          <p:cNvPr id="16" name="Shape 14"/>
          <p:cNvSpPr/>
          <p:nvPr/>
        </p:nvSpPr>
        <p:spPr>
          <a:xfrm>
            <a:off x="365760" y="3621024"/>
            <a:ext cx="8412480" cy="1234440"/>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25000"/>
              </a:srgbClr>
            </a:outerShdw>
          </a:effectLst>
        </p:spPr>
      </p:sp>
      <p:sp>
        <p:nvSpPr>
          <p:cNvPr id="17" name="Shape 15"/>
          <p:cNvSpPr/>
          <p:nvPr/>
        </p:nvSpPr>
        <p:spPr>
          <a:xfrm>
            <a:off x="365760" y="3621024"/>
            <a:ext cx="64008" cy="1234440"/>
          </a:xfrm>
          <a:prstGeom prst="rect">
            <a:avLst/>
          </a:prstGeom>
          <a:solidFill>
            <a:srgbClr val="2ECC71"/>
          </a:solidFill>
          <a:ln w="12700">
            <a:solidFill>
              <a:srgbClr val="2ECC71"/>
            </a:solidFill>
            <a:prstDash val="solid"/>
          </a:ln>
        </p:spPr>
      </p:sp>
      <p:sp>
        <p:nvSpPr>
          <p:cNvPr id="18" name="Text 16"/>
          <p:cNvSpPr/>
          <p:nvPr/>
        </p:nvSpPr>
        <p:spPr>
          <a:xfrm>
            <a:off x="594360" y="3666744"/>
            <a:ext cx="8046720" cy="347472"/>
          </a:xfrm>
          <a:prstGeom prst="rect">
            <a:avLst/>
          </a:prstGeom>
          <a:noFill/>
          <a:ln/>
        </p:spPr>
        <p:txBody>
          <a:bodyPr wrap="square" lIns="0" tIns="0" rIns="0" bIns="0" rtlCol="0" anchor="ctr"/>
          <a:lstStyle/>
          <a:p>
            <a:pPr indent="0" marL="0">
              <a:buNone/>
            </a:pPr>
            <a:r>
              <a:rPr lang="en-US" sz="1400" b="1" dirty="0">
                <a:solidFill>
                  <a:srgbClr val="2ECC71"/>
                </a:solidFill>
                <a:latin typeface="Calibri" pitchFamily="34" charset="0"/>
                <a:ea typeface="Calibri" pitchFamily="34" charset="-122"/>
                <a:cs typeface="Calibri" pitchFamily="34" charset="-120"/>
              </a:rPr>
              <a:t>Recovery Performance</a:t>
            </a:r>
            <a:endParaRPr lang="en-US" sz="1400" dirty="0"/>
          </a:p>
        </p:txBody>
      </p:sp>
      <p:sp>
        <p:nvSpPr>
          <p:cNvPr id="19" name="Text 17"/>
          <p:cNvSpPr/>
          <p:nvPr/>
        </p:nvSpPr>
        <p:spPr>
          <a:xfrm>
            <a:off x="594360" y="4059936"/>
            <a:ext cx="8046720" cy="256032"/>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  Recovery time (RT): seconds from alert to restored normal operation</a:t>
            </a:r>
            <a:endParaRPr lang="en-US" sz="1100" dirty="0"/>
          </a:p>
        </p:txBody>
      </p:sp>
      <p:sp>
        <p:nvSpPr>
          <p:cNvPr id="20" name="Text 18"/>
          <p:cNvSpPr/>
          <p:nvPr/>
        </p:nvSpPr>
        <p:spPr>
          <a:xfrm>
            <a:off x="594360" y="4334256"/>
            <a:ext cx="8046720" cy="256032"/>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  Sensor trust accuracy: % of spoofed sensors correctly identified via invariant cross-validation</a:t>
            </a:r>
            <a:endParaRPr lang="en-US" sz="1100" dirty="0"/>
          </a:p>
        </p:txBody>
      </p:sp>
      <p:sp>
        <p:nvSpPr>
          <p:cNvPr id="21" name="Text 19"/>
          <p:cNvSpPr/>
          <p:nvPr/>
        </p:nvSpPr>
        <p:spPr>
          <a:xfrm>
            <a:off x="594360" y="4608576"/>
            <a:ext cx="8046720" cy="256032"/>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  Physical integrity: no unsafe state (overflow/underflow) during recovery window</a:t>
            </a:r>
            <a:endParaRPr lang="en-US" sz="1100" dirty="0"/>
          </a:p>
        </p:txBody>
      </p:sp>
      <p:sp>
        <p:nvSpPr>
          <p:cNvPr id="22" name="Shape 20"/>
          <p:cNvSpPr/>
          <p:nvPr/>
        </p:nvSpPr>
        <p:spPr>
          <a:xfrm>
            <a:off x="365760" y="4937760"/>
            <a:ext cx="8412480" cy="475488"/>
          </a:xfrm>
          <a:prstGeom prst="rect">
            <a:avLst/>
          </a:prstGeom>
          <a:solidFill>
            <a:srgbClr val="E8F4E8"/>
          </a:solidFill>
          <a:ln w="12700">
            <a:solidFill>
              <a:srgbClr val="E8F4E8"/>
            </a:solidFill>
            <a:prstDash val="solid"/>
          </a:ln>
        </p:spPr>
      </p:sp>
      <p:sp>
        <p:nvSpPr>
          <p:cNvPr id="23" name="Shape 21"/>
          <p:cNvSpPr/>
          <p:nvPr/>
        </p:nvSpPr>
        <p:spPr>
          <a:xfrm>
            <a:off x="365760" y="4937760"/>
            <a:ext cx="64008" cy="475488"/>
          </a:xfrm>
          <a:prstGeom prst="rect">
            <a:avLst/>
          </a:prstGeom>
          <a:solidFill>
            <a:srgbClr val="2ECC71"/>
          </a:solidFill>
          <a:ln w="12700">
            <a:solidFill>
              <a:srgbClr val="2ECC71"/>
            </a:solidFill>
            <a:prstDash val="solid"/>
          </a:ln>
        </p:spPr>
      </p:sp>
      <p:sp>
        <p:nvSpPr>
          <p:cNvPr id="24" name="Text 22"/>
          <p:cNvSpPr/>
          <p:nvPr/>
        </p:nvSpPr>
        <p:spPr>
          <a:xfrm>
            <a:off x="594360" y="4937760"/>
            <a:ext cx="8046720" cy="475488"/>
          </a:xfrm>
          <a:prstGeom prst="rect">
            <a:avLst/>
          </a:prstGeom>
          <a:noFill/>
          <a:ln/>
        </p:spPr>
        <p:txBody>
          <a:bodyPr wrap="square" lIns="0" tIns="0" rIns="0" bIns="0" rtlCol="0" anchor="ctr"/>
          <a:lstStyle/>
          <a:p>
            <a:pPr indent="0" marL="0">
              <a:buNone/>
            </a:pPr>
            <a:r>
              <a:rPr lang="en-US" sz="1100" i="1" dirty="0">
                <a:solidFill>
                  <a:srgbClr val="1A6B3A"/>
                </a:solidFill>
                <a:latin typeface="Calibri" pitchFamily="34" charset="0"/>
                <a:ea typeface="Calibri" pitchFamily="34" charset="-122"/>
                <a:cs typeface="Calibri" pitchFamily="34" charset="-120"/>
              </a:rPr>
              <a:t>Bonus Evaluation:  Apply our defense against another group's attack (cross-group exercise as per course rubric)</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8FA3B1"/>
          </a:solidFill>
          <a:ln w="12700">
            <a:solidFill>
              <a:srgbClr val="8FA3B1"/>
            </a:solidFill>
            <a:prstDash val="solid"/>
          </a:ln>
        </p:spPr>
      </p:sp>
      <p:sp>
        <p:nvSpPr>
          <p:cNvPr id="3" name="Text 1"/>
          <p:cNvSpPr/>
          <p:nvPr/>
        </p:nvSpPr>
        <p:spPr>
          <a:xfrm>
            <a:off x="457200" y="109728"/>
            <a:ext cx="8229600" cy="438912"/>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References</a:t>
            </a:r>
            <a:endParaRPr lang="en-US" sz="2600" dirty="0"/>
          </a:p>
        </p:txBody>
      </p:sp>
      <p:sp>
        <p:nvSpPr>
          <p:cNvPr id="4" name="Shape 2"/>
          <p:cNvSpPr/>
          <p:nvPr/>
        </p:nvSpPr>
        <p:spPr>
          <a:xfrm>
            <a:off x="228600" y="621792"/>
            <a:ext cx="384048" cy="621792"/>
          </a:xfrm>
          <a:prstGeom prst="rect">
            <a:avLst/>
          </a:prstGeom>
          <a:solidFill>
            <a:srgbClr val="1B3A5C"/>
          </a:solidFill>
          <a:ln w="12700">
            <a:solidFill>
              <a:srgbClr val="1B3A5C"/>
            </a:solidFill>
            <a:prstDash val="solid"/>
          </a:ln>
        </p:spPr>
      </p:sp>
      <p:sp>
        <p:nvSpPr>
          <p:cNvPr id="5" name="Text 3"/>
          <p:cNvSpPr/>
          <p:nvPr/>
        </p:nvSpPr>
        <p:spPr>
          <a:xfrm>
            <a:off x="228600" y="621792"/>
            <a:ext cx="384048" cy="621792"/>
          </a:xfrm>
          <a:prstGeom prst="rect">
            <a:avLst/>
          </a:prstGeom>
          <a:noFill/>
          <a:ln/>
        </p:spPr>
        <p:txBody>
          <a:bodyPr wrap="square" lIns="0" tIns="0" rIns="0" bIns="0" rtlCol="0" anchor="ctr"/>
          <a:lstStyle/>
          <a:p>
            <a:pPr algn="ctr" indent="0" marL="0">
              <a:buNone/>
            </a:pPr>
            <a:r>
              <a:rPr lang="en-US" sz="1000" b="1" dirty="0">
                <a:solidFill>
                  <a:srgbClr val="E63946"/>
                </a:solidFill>
                <a:latin typeface="Calibri" pitchFamily="34" charset="0"/>
                <a:ea typeface="Calibri" pitchFamily="34" charset="-122"/>
                <a:cs typeface="Calibri" pitchFamily="34" charset="-120"/>
              </a:rPr>
              <a:t>[1]</a:t>
            </a:r>
            <a:endParaRPr lang="en-US" sz="1000" dirty="0"/>
          </a:p>
        </p:txBody>
      </p:sp>
      <p:sp>
        <p:nvSpPr>
          <p:cNvPr id="6" name="Text 4"/>
          <p:cNvSpPr/>
          <p:nvPr/>
        </p:nvSpPr>
        <p:spPr>
          <a:xfrm>
            <a:off x="685800" y="640080"/>
            <a:ext cx="3840480" cy="182880"/>
          </a:xfrm>
          <a:prstGeom prst="rect">
            <a:avLst/>
          </a:prstGeom>
          <a:noFill/>
          <a:ln/>
        </p:spPr>
        <p:txBody>
          <a:bodyPr wrap="square" lIns="0" tIns="0" rIns="0" bIns="0" rtlCol="0" anchor="ctr"/>
          <a:lstStyle/>
          <a:p>
            <a:pPr indent="0" marL="0">
              <a:buNone/>
            </a:pPr>
            <a:r>
              <a:rPr lang="en-US" sz="850" i="1" dirty="0">
                <a:solidFill>
                  <a:srgbClr val="8FA3B1"/>
                </a:solidFill>
                <a:latin typeface="Calibri" pitchFamily="34" charset="0"/>
                <a:ea typeface="Calibri" pitchFamily="34" charset="-122"/>
                <a:cs typeface="Calibri" pitchFamily="34" charset="-120"/>
              </a:rPr>
              <a:t>W. Alsabbagh, S. Amogbonjaye, D. Urrego, and P. Langendörfer</a:t>
            </a:r>
            <a:endParaRPr lang="en-US" sz="850" dirty="0"/>
          </a:p>
        </p:txBody>
      </p:sp>
      <p:sp>
        <p:nvSpPr>
          <p:cNvPr id="7" name="Text 5"/>
          <p:cNvSpPr/>
          <p:nvPr/>
        </p:nvSpPr>
        <p:spPr>
          <a:xfrm>
            <a:off x="685800" y="822960"/>
            <a:ext cx="3840480" cy="237744"/>
          </a:xfrm>
          <a:prstGeom prst="rect">
            <a:avLst/>
          </a:prstGeom>
          <a:noFill/>
          <a:ln/>
        </p:spPr>
        <p:txBody>
          <a:bodyPr wrap="square" lIns="0" tIns="0" rIns="0" bIns="0" rtlCol="0" anchor="ctr"/>
          <a:lstStyle/>
          <a:p>
            <a:pPr indent="0" marL="0">
              <a:buNone/>
            </a:pPr>
            <a:r>
              <a:rPr lang="en-US" sz="950" b="1" dirty="0">
                <a:solidFill>
                  <a:srgbClr val="E8EEF4"/>
                </a:solidFill>
                <a:latin typeface="Calibri" pitchFamily="34" charset="0"/>
                <a:ea typeface="Calibri" pitchFamily="34" charset="-122"/>
                <a:cs typeface="Calibri" pitchFamily="34" charset="-120"/>
              </a:rPr>
              <a:t>"A Stealthy False Command Injection Attack on Modbus based SCADA Systems"</a:t>
            </a:r>
            <a:endParaRPr lang="en-US" sz="950" dirty="0"/>
          </a:p>
        </p:txBody>
      </p:sp>
      <p:sp>
        <p:nvSpPr>
          <p:cNvPr id="8" name="Text 6"/>
          <p:cNvSpPr/>
          <p:nvPr/>
        </p:nvSpPr>
        <p:spPr>
          <a:xfrm>
            <a:off x="685800" y="1078992"/>
            <a:ext cx="3840480" cy="18288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IEEE CCNC, Las Vegas, USA, Jan. 2023.</a:t>
            </a:r>
            <a:endParaRPr lang="en-US" sz="800" dirty="0"/>
          </a:p>
        </p:txBody>
      </p:sp>
      <p:sp>
        <p:nvSpPr>
          <p:cNvPr id="9" name="Shape 7"/>
          <p:cNvSpPr/>
          <p:nvPr/>
        </p:nvSpPr>
        <p:spPr>
          <a:xfrm>
            <a:off x="228600" y="1371600"/>
            <a:ext cx="384048" cy="621792"/>
          </a:xfrm>
          <a:prstGeom prst="rect">
            <a:avLst/>
          </a:prstGeom>
          <a:solidFill>
            <a:srgbClr val="1B3A5C"/>
          </a:solidFill>
          <a:ln w="12700">
            <a:solidFill>
              <a:srgbClr val="1B3A5C"/>
            </a:solidFill>
            <a:prstDash val="solid"/>
          </a:ln>
        </p:spPr>
      </p:sp>
      <p:sp>
        <p:nvSpPr>
          <p:cNvPr id="10" name="Text 8"/>
          <p:cNvSpPr/>
          <p:nvPr/>
        </p:nvSpPr>
        <p:spPr>
          <a:xfrm>
            <a:off x="228600" y="1371600"/>
            <a:ext cx="384048" cy="621792"/>
          </a:xfrm>
          <a:prstGeom prst="rect">
            <a:avLst/>
          </a:prstGeom>
          <a:noFill/>
          <a:ln/>
        </p:spPr>
        <p:txBody>
          <a:bodyPr wrap="square" lIns="0" tIns="0" rIns="0" bIns="0" rtlCol="0" anchor="ctr"/>
          <a:lstStyle/>
          <a:p>
            <a:pPr algn="ctr" indent="0" marL="0">
              <a:buNone/>
            </a:pPr>
            <a:r>
              <a:rPr lang="en-US" sz="1000" b="1" dirty="0">
                <a:solidFill>
                  <a:srgbClr val="F4A261"/>
                </a:solidFill>
                <a:latin typeface="Calibri" pitchFamily="34" charset="0"/>
                <a:ea typeface="Calibri" pitchFamily="34" charset="-122"/>
                <a:cs typeface="Calibri" pitchFamily="34" charset="-120"/>
              </a:rPr>
              <a:t>[2]</a:t>
            </a:r>
            <a:endParaRPr lang="en-US" sz="1000" dirty="0"/>
          </a:p>
        </p:txBody>
      </p:sp>
      <p:sp>
        <p:nvSpPr>
          <p:cNvPr id="11" name="Text 9"/>
          <p:cNvSpPr/>
          <p:nvPr/>
        </p:nvSpPr>
        <p:spPr>
          <a:xfrm>
            <a:off x="685800" y="1389888"/>
            <a:ext cx="3840480" cy="182880"/>
          </a:xfrm>
          <a:prstGeom prst="rect">
            <a:avLst/>
          </a:prstGeom>
          <a:noFill/>
          <a:ln/>
        </p:spPr>
        <p:txBody>
          <a:bodyPr wrap="square" lIns="0" tIns="0" rIns="0" bIns="0" rtlCol="0" anchor="ctr"/>
          <a:lstStyle/>
          <a:p>
            <a:pPr indent="0" marL="0">
              <a:buNone/>
            </a:pPr>
            <a:r>
              <a:rPr lang="en-US" sz="850" i="1" dirty="0">
                <a:solidFill>
                  <a:srgbClr val="8FA3B1"/>
                </a:solidFill>
                <a:latin typeface="Calibri" pitchFamily="34" charset="0"/>
                <a:ea typeface="Calibri" pitchFamily="34" charset="-122"/>
                <a:cs typeface="Calibri" pitchFamily="34" charset="-120"/>
              </a:rPr>
              <a:t>J. H. Castellanos, M. Ochoa, A. A. Cardenas, O. Arden, and J. Zhou</a:t>
            </a:r>
            <a:endParaRPr lang="en-US" sz="850" dirty="0"/>
          </a:p>
        </p:txBody>
      </p:sp>
      <p:sp>
        <p:nvSpPr>
          <p:cNvPr id="12" name="Text 10"/>
          <p:cNvSpPr/>
          <p:nvPr/>
        </p:nvSpPr>
        <p:spPr>
          <a:xfrm>
            <a:off x="685800" y="1572768"/>
            <a:ext cx="3840480" cy="237744"/>
          </a:xfrm>
          <a:prstGeom prst="rect">
            <a:avLst/>
          </a:prstGeom>
          <a:noFill/>
          <a:ln/>
        </p:spPr>
        <p:txBody>
          <a:bodyPr wrap="square" lIns="0" tIns="0" rIns="0" bIns="0" rtlCol="0" anchor="ctr"/>
          <a:lstStyle/>
          <a:p>
            <a:pPr indent="0" marL="0">
              <a:buNone/>
            </a:pPr>
            <a:r>
              <a:rPr lang="en-US" sz="950" b="1" dirty="0">
                <a:solidFill>
                  <a:srgbClr val="E8EEF4"/>
                </a:solidFill>
                <a:latin typeface="Calibri" pitchFamily="34" charset="0"/>
                <a:ea typeface="Calibri" pitchFamily="34" charset="-122"/>
                <a:cs typeface="Calibri" pitchFamily="34" charset="-120"/>
              </a:rPr>
              <a:t>"Constrained Concealment Attacks against Reconstruction-based Anomaly Detectors in ICS"</a:t>
            </a:r>
            <a:endParaRPr lang="en-US" sz="950" dirty="0"/>
          </a:p>
        </p:txBody>
      </p:sp>
      <p:sp>
        <p:nvSpPr>
          <p:cNvPr id="13" name="Text 11"/>
          <p:cNvSpPr/>
          <p:nvPr/>
        </p:nvSpPr>
        <p:spPr>
          <a:xfrm>
            <a:off x="685800" y="1828800"/>
            <a:ext cx="3840480" cy="18288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ACM ACSAC, Austin, USA, Dec. 2020.  |  github.com/scy-phy/ICS-Evasion-Attacks</a:t>
            </a:r>
            <a:endParaRPr lang="en-US" sz="800" dirty="0"/>
          </a:p>
        </p:txBody>
      </p:sp>
      <p:sp>
        <p:nvSpPr>
          <p:cNvPr id="14" name="Shape 12"/>
          <p:cNvSpPr/>
          <p:nvPr/>
        </p:nvSpPr>
        <p:spPr>
          <a:xfrm>
            <a:off x="228600" y="2121408"/>
            <a:ext cx="384048" cy="621792"/>
          </a:xfrm>
          <a:prstGeom prst="rect">
            <a:avLst/>
          </a:prstGeom>
          <a:solidFill>
            <a:srgbClr val="1B3A5C"/>
          </a:solidFill>
          <a:ln w="12700">
            <a:solidFill>
              <a:srgbClr val="1B3A5C"/>
            </a:solidFill>
            <a:prstDash val="solid"/>
          </a:ln>
        </p:spPr>
      </p:sp>
      <p:sp>
        <p:nvSpPr>
          <p:cNvPr id="15" name="Text 13"/>
          <p:cNvSpPr/>
          <p:nvPr/>
        </p:nvSpPr>
        <p:spPr>
          <a:xfrm>
            <a:off x="228600" y="2121408"/>
            <a:ext cx="384048" cy="621792"/>
          </a:xfrm>
          <a:prstGeom prst="rect">
            <a:avLst/>
          </a:prstGeom>
          <a:noFill/>
          <a:ln/>
        </p:spPr>
        <p:txBody>
          <a:bodyPr wrap="square" lIns="0" tIns="0" rIns="0" bIns="0" rtlCol="0" anchor="ctr"/>
          <a:lstStyle/>
          <a:p>
            <a:pPr algn="ctr" indent="0" marL="0">
              <a:buNone/>
            </a:pPr>
            <a:r>
              <a:rPr lang="en-US" sz="1000" b="1" dirty="0">
                <a:solidFill>
                  <a:srgbClr val="2196F3"/>
                </a:solidFill>
                <a:latin typeface="Calibri" pitchFamily="34" charset="0"/>
                <a:ea typeface="Calibri" pitchFamily="34" charset="-122"/>
                <a:cs typeface="Calibri" pitchFamily="34" charset="-120"/>
              </a:rPr>
              <a:t>[3]</a:t>
            </a:r>
            <a:endParaRPr lang="en-US" sz="1000" dirty="0"/>
          </a:p>
        </p:txBody>
      </p:sp>
      <p:sp>
        <p:nvSpPr>
          <p:cNvPr id="16" name="Text 14"/>
          <p:cNvSpPr/>
          <p:nvPr/>
        </p:nvSpPr>
        <p:spPr>
          <a:xfrm>
            <a:off x="685800" y="2139696"/>
            <a:ext cx="3840480" cy="182880"/>
          </a:xfrm>
          <a:prstGeom prst="rect">
            <a:avLst/>
          </a:prstGeom>
          <a:noFill/>
          <a:ln/>
        </p:spPr>
        <p:txBody>
          <a:bodyPr wrap="square" lIns="0" tIns="0" rIns="0" bIns="0" rtlCol="0" anchor="ctr"/>
          <a:lstStyle/>
          <a:p>
            <a:pPr indent="0" marL="0">
              <a:buNone/>
            </a:pPr>
            <a:r>
              <a:rPr lang="en-US" sz="850" i="1" dirty="0">
                <a:solidFill>
                  <a:srgbClr val="8FA3B1"/>
                </a:solidFill>
                <a:latin typeface="Calibri" pitchFamily="34" charset="0"/>
                <a:ea typeface="Calibri" pitchFamily="34" charset="-122"/>
                <a:cs typeface="Calibri" pitchFamily="34" charset="-120"/>
              </a:rPr>
              <a:t>S. Adepu and A. Mathur</a:t>
            </a:r>
            <a:endParaRPr lang="en-US" sz="850" dirty="0"/>
          </a:p>
        </p:txBody>
      </p:sp>
      <p:sp>
        <p:nvSpPr>
          <p:cNvPr id="17" name="Text 15"/>
          <p:cNvSpPr/>
          <p:nvPr/>
        </p:nvSpPr>
        <p:spPr>
          <a:xfrm>
            <a:off x="685800" y="2322576"/>
            <a:ext cx="3840480" cy="237744"/>
          </a:xfrm>
          <a:prstGeom prst="rect">
            <a:avLst/>
          </a:prstGeom>
          <a:noFill/>
          <a:ln/>
        </p:spPr>
        <p:txBody>
          <a:bodyPr wrap="square" lIns="0" tIns="0" rIns="0" bIns="0" rtlCol="0" anchor="ctr"/>
          <a:lstStyle/>
          <a:p>
            <a:pPr indent="0" marL="0">
              <a:buNone/>
            </a:pPr>
            <a:r>
              <a:rPr lang="en-US" sz="950" b="1" dirty="0">
                <a:solidFill>
                  <a:srgbClr val="E8EEF4"/>
                </a:solidFill>
                <a:latin typeface="Calibri" pitchFamily="34" charset="0"/>
                <a:ea typeface="Calibri" pitchFamily="34" charset="-122"/>
                <a:cs typeface="Calibri" pitchFamily="34" charset="-120"/>
              </a:rPr>
              <a:t>"Using Process Invariants to Detect Cyber Attacks on a Water Treatment System"</a:t>
            </a:r>
            <a:endParaRPr lang="en-US" sz="950" dirty="0"/>
          </a:p>
        </p:txBody>
      </p:sp>
      <p:sp>
        <p:nvSpPr>
          <p:cNvPr id="18" name="Text 16"/>
          <p:cNvSpPr/>
          <p:nvPr/>
        </p:nvSpPr>
        <p:spPr>
          <a:xfrm>
            <a:off x="685800" y="2578608"/>
            <a:ext cx="3840480" cy="18288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IFIP SEC, Ghent, Belgium, May 2016.</a:t>
            </a:r>
            <a:endParaRPr lang="en-US" sz="800" dirty="0"/>
          </a:p>
        </p:txBody>
      </p:sp>
      <p:sp>
        <p:nvSpPr>
          <p:cNvPr id="19" name="Shape 17"/>
          <p:cNvSpPr/>
          <p:nvPr/>
        </p:nvSpPr>
        <p:spPr>
          <a:xfrm>
            <a:off x="228600" y="2871216"/>
            <a:ext cx="384048" cy="621792"/>
          </a:xfrm>
          <a:prstGeom prst="rect">
            <a:avLst/>
          </a:prstGeom>
          <a:solidFill>
            <a:srgbClr val="1B3A5C"/>
          </a:solidFill>
          <a:ln w="12700">
            <a:solidFill>
              <a:srgbClr val="1B3A5C"/>
            </a:solidFill>
            <a:prstDash val="solid"/>
          </a:ln>
        </p:spPr>
      </p:sp>
      <p:sp>
        <p:nvSpPr>
          <p:cNvPr id="20" name="Text 18"/>
          <p:cNvSpPr/>
          <p:nvPr/>
        </p:nvSpPr>
        <p:spPr>
          <a:xfrm>
            <a:off x="228600" y="2871216"/>
            <a:ext cx="384048" cy="621792"/>
          </a:xfrm>
          <a:prstGeom prst="rect">
            <a:avLst/>
          </a:prstGeom>
          <a:noFill/>
          <a:ln/>
        </p:spPr>
        <p:txBody>
          <a:bodyPr wrap="square" lIns="0" tIns="0" rIns="0" bIns="0" rtlCol="0" anchor="ctr"/>
          <a:lstStyle/>
          <a:p>
            <a:pPr algn="ctr" indent="0" marL="0">
              <a:buNone/>
            </a:pPr>
            <a:r>
              <a:rPr lang="en-US" sz="1000" b="1" dirty="0">
                <a:solidFill>
                  <a:srgbClr val="2196F3"/>
                </a:solidFill>
                <a:latin typeface="Calibri" pitchFamily="34" charset="0"/>
                <a:ea typeface="Calibri" pitchFamily="34" charset="-122"/>
                <a:cs typeface="Calibri" pitchFamily="34" charset="-120"/>
              </a:rPr>
              <a:t>[4]</a:t>
            </a:r>
            <a:endParaRPr lang="en-US" sz="1000" dirty="0"/>
          </a:p>
        </p:txBody>
      </p:sp>
      <p:sp>
        <p:nvSpPr>
          <p:cNvPr id="21" name="Text 19"/>
          <p:cNvSpPr/>
          <p:nvPr/>
        </p:nvSpPr>
        <p:spPr>
          <a:xfrm>
            <a:off x="685800" y="2889504"/>
            <a:ext cx="3840480" cy="182880"/>
          </a:xfrm>
          <a:prstGeom prst="rect">
            <a:avLst/>
          </a:prstGeom>
          <a:noFill/>
          <a:ln/>
        </p:spPr>
        <p:txBody>
          <a:bodyPr wrap="square" lIns="0" tIns="0" rIns="0" bIns="0" rtlCol="0" anchor="ctr"/>
          <a:lstStyle/>
          <a:p>
            <a:pPr indent="0" marL="0">
              <a:buNone/>
            </a:pPr>
            <a:r>
              <a:rPr lang="en-US" sz="850" i="1" dirty="0">
                <a:solidFill>
                  <a:srgbClr val="8FA3B1"/>
                </a:solidFill>
                <a:latin typeface="Calibri" pitchFamily="34" charset="0"/>
                <a:ea typeface="Calibri" pitchFamily="34" charset="-122"/>
                <a:cs typeface="Calibri" pitchFamily="34" charset="-120"/>
              </a:rPr>
              <a:t>S. Adepu and A. Mathur</a:t>
            </a:r>
            <a:endParaRPr lang="en-US" sz="850" dirty="0"/>
          </a:p>
        </p:txBody>
      </p:sp>
      <p:sp>
        <p:nvSpPr>
          <p:cNvPr id="22" name="Text 20"/>
          <p:cNvSpPr/>
          <p:nvPr/>
        </p:nvSpPr>
        <p:spPr>
          <a:xfrm>
            <a:off x="685800" y="3072384"/>
            <a:ext cx="3840480" cy="237744"/>
          </a:xfrm>
          <a:prstGeom prst="rect">
            <a:avLst/>
          </a:prstGeom>
          <a:noFill/>
          <a:ln/>
        </p:spPr>
        <p:txBody>
          <a:bodyPr wrap="square" lIns="0" tIns="0" rIns="0" bIns="0" rtlCol="0" anchor="ctr"/>
          <a:lstStyle/>
          <a:p>
            <a:pPr indent="0" marL="0">
              <a:buNone/>
            </a:pPr>
            <a:r>
              <a:rPr lang="en-US" sz="950" b="1" dirty="0">
                <a:solidFill>
                  <a:srgbClr val="E8EEF4"/>
                </a:solidFill>
                <a:latin typeface="Calibri" pitchFamily="34" charset="0"/>
                <a:ea typeface="Calibri" pitchFamily="34" charset="-122"/>
                <a:cs typeface="Calibri" pitchFamily="34" charset="-120"/>
              </a:rPr>
              <a:t>"Distributed Detection of Single-Stage Multipoint Cyber Attacks in a Water Treatment Plant"</a:t>
            </a:r>
            <a:endParaRPr lang="en-US" sz="950" dirty="0"/>
          </a:p>
        </p:txBody>
      </p:sp>
      <p:sp>
        <p:nvSpPr>
          <p:cNvPr id="23" name="Text 21"/>
          <p:cNvSpPr/>
          <p:nvPr/>
        </p:nvSpPr>
        <p:spPr>
          <a:xfrm>
            <a:off x="685800" y="3328416"/>
            <a:ext cx="3840480" cy="18288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ACM AsiaCCS, Xi'an, China, May 2016.</a:t>
            </a:r>
            <a:endParaRPr lang="en-US" sz="800" dirty="0"/>
          </a:p>
        </p:txBody>
      </p:sp>
      <p:sp>
        <p:nvSpPr>
          <p:cNvPr id="24" name="Shape 22"/>
          <p:cNvSpPr/>
          <p:nvPr/>
        </p:nvSpPr>
        <p:spPr>
          <a:xfrm>
            <a:off x="228600" y="3621024"/>
            <a:ext cx="384048" cy="621792"/>
          </a:xfrm>
          <a:prstGeom prst="rect">
            <a:avLst/>
          </a:prstGeom>
          <a:solidFill>
            <a:srgbClr val="1B3A5C"/>
          </a:solidFill>
          <a:ln w="12700">
            <a:solidFill>
              <a:srgbClr val="1B3A5C"/>
            </a:solidFill>
            <a:prstDash val="solid"/>
          </a:ln>
        </p:spPr>
      </p:sp>
      <p:sp>
        <p:nvSpPr>
          <p:cNvPr id="25" name="Text 23"/>
          <p:cNvSpPr/>
          <p:nvPr/>
        </p:nvSpPr>
        <p:spPr>
          <a:xfrm>
            <a:off x="228600" y="3621024"/>
            <a:ext cx="384048" cy="621792"/>
          </a:xfrm>
          <a:prstGeom prst="rect">
            <a:avLst/>
          </a:prstGeom>
          <a:noFill/>
          <a:ln/>
        </p:spPr>
        <p:txBody>
          <a:bodyPr wrap="square" lIns="0" tIns="0" rIns="0" bIns="0" rtlCol="0" anchor="ctr"/>
          <a:lstStyle/>
          <a:p>
            <a:pPr algn="ctr" indent="0" marL="0">
              <a:buNone/>
            </a:pPr>
            <a:r>
              <a:rPr lang="en-US" sz="1000" b="1" dirty="0">
                <a:solidFill>
                  <a:srgbClr val="8FA3B1"/>
                </a:solidFill>
                <a:latin typeface="Calibri" pitchFamily="34" charset="0"/>
                <a:ea typeface="Calibri" pitchFamily="34" charset="-122"/>
                <a:cs typeface="Calibri" pitchFamily="34" charset="-120"/>
              </a:rPr>
              <a:t>[5]</a:t>
            </a:r>
            <a:endParaRPr lang="en-US" sz="1000" dirty="0"/>
          </a:p>
        </p:txBody>
      </p:sp>
      <p:sp>
        <p:nvSpPr>
          <p:cNvPr id="26" name="Text 24"/>
          <p:cNvSpPr/>
          <p:nvPr/>
        </p:nvSpPr>
        <p:spPr>
          <a:xfrm>
            <a:off x="685800" y="3639312"/>
            <a:ext cx="3840480" cy="182880"/>
          </a:xfrm>
          <a:prstGeom prst="rect">
            <a:avLst/>
          </a:prstGeom>
          <a:noFill/>
          <a:ln/>
        </p:spPr>
        <p:txBody>
          <a:bodyPr wrap="square" lIns="0" tIns="0" rIns="0" bIns="0" rtlCol="0" anchor="ctr"/>
          <a:lstStyle/>
          <a:p>
            <a:pPr indent="0" marL="0">
              <a:buNone/>
            </a:pPr>
            <a:r>
              <a:rPr lang="en-US" sz="850" i="1" dirty="0">
                <a:solidFill>
                  <a:srgbClr val="8FA3B1"/>
                </a:solidFill>
                <a:latin typeface="Calibri" pitchFamily="34" charset="0"/>
                <a:ea typeface="Calibri" pitchFamily="34" charset="-122"/>
                <a:cs typeface="Calibri" pitchFamily="34" charset="-120"/>
              </a:rPr>
              <a:t>C. M. Ahmed, J. Zhou, and A. P. Mathur</a:t>
            </a:r>
            <a:endParaRPr lang="en-US" sz="850" dirty="0"/>
          </a:p>
        </p:txBody>
      </p:sp>
      <p:sp>
        <p:nvSpPr>
          <p:cNvPr id="27" name="Text 25"/>
          <p:cNvSpPr/>
          <p:nvPr/>
        </p:nvSpPr>
        <p:spPr>
          <a:xfrm>
            <a:off x="685800" y="3822192"/>
            <a:ext cx="3840480" cy="237744"/>
          </a:xfrm>
          <a:prstGeom prst="rect">
            <a:avLst/>
          </a:prstGeom>
          <a:noFill/>
          <a:ln/>
        </p:spPr>
        <p:txBody>
          <a:bodyPr wrap="square" lIns="0" tIns="0" rIns="0" bIns="0" rtlCol="0" anchor="ctr"/>
          <a:lstStyle/>
          <a:p>
            <a:pPr indent="0" marL="0">
              <a:buNone/>
            </a:pPr>
            <a:r>
              <a:rPr lang="en-US" sz="950" b="1" dirty="0">
                <a:solidFill>
                  <a:srgbClr val="E8EEF4"/>
                </a:solidFill>
                <a:latin typeface="Calibri" pitchFamily="34" charset="0"/>
                <a:ea typeface="Calibri" pitchFamily="34" charset="-122"/>
                <a:cs typeface="Calibri" pitchFamily="34" charset="-120"/>
              </a:rPr>
              <a:t>"Attacking Fieldbus Communications in ICS: Applications to the SWaT Testbed"</a:t>
            </a:r>
            <a:endParaRPr lang="en-US" sz="950" dirty="0"/>
          </a:p>
        </p:txBody>
      </p:sp>
      <p:sp>
        <p:nvSpPr>
          <p:cNvPr id="28" name="Text 26"/>
          <p:cNvSpPr/>
          <p:nvPr/>
        </p:nvSpPr>
        <p:spPr>
          <a:xfrm>
            <a:off x="685800" y="4078224"/>
            <a:ext cx="3840480" cy="18288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Singapore Cyber Security R&amp;D Conference (SG-CRC), Singapore, 2016.</a:t>
            </a:r>
            <a:endParaRPr lang="en-US" sz="800" dirty="0"/>
          </a:p>
        </p:txBody>
      </p:sp>
      <p:sp>
        <p:nvSpPr>
          <p:cNvPr id="29" name="Shape 27"/>
          <p:cNvSpPr/>
          <p:nvPr/>
        </p:nvSpPr>
        <p:spPr>
          <a:xfrm>
            <a:off x="4846320" y="621792"/>
            <a:ext cx="384048" cy="621792"/>
          </a:xfrm>
          <a:prstGeom prst="rect">
            <a:avLst/>
          </a:prstGeom>
          <a:solidFill>
            <a:srgbClr val="1B3A5C"/>
          </a:solidFill>
          <a:ln w="12700">
            <a:solidFill>
              <a:srgbClr val="1B3A5C"/>
            </a:solidFill>
            <a:prstDash val="solid"/>
          </a:ln>
        </p:spPr>
      </p:sp>
      <p:sp>
        <p:nvSpPr>
          <p:cNvPr id="30" name="Text 28"/>
          <p:cNvSpPr/>
          <p:nvPr/>
        </p:nvSpPr>
        <p:spPr>
          <a:xfrm>
            <a:off x="4846320" y="621792"/>
            <a:ext cx="384048" cy="621792"/>
          </a:xfrm>
          <a:prstGeom prst="rect">
            <a:avLst/>
          </a:prstGeom>
          <a:noFill/>
          <a:ln/>
        </p:spPr>
        <p:txBody>
          <a:bodyPr wrap="square" lIns="0" tIns="0" rIns="0" bIns="0" rtlCol="0" anchor="ctr"/>
          <a:lstStyle/>
          <a:p>
            <a:pPr algn="ctr" indent="0" marL="0">
              <a:buNone/>
            </a:pPr>
            <a:r>
              <a:rPr lang="en-US" sz="1000" b="1" dirty="0">
                <a:solidFill>
                  <a:srgbClr val="2ECC71"/>
                </a:solidFill>
                <a:latin typeface="Calibri" pitchFamily="34" charset="0"/>
                <a:ea typeface="Calibri" pitchFamily="34" charset="-122"/>
                <a:cs typeface="Calibri" pitchFamily="34" charset="-120"/>
              </a:rPr>
              <a:t>[6]</a:t>
            </a:r>
            <a:endParaRPr lang="en-US" sz="1000" dirty="0"/>
          </a:p>
        </p:txBody>
      </p:sp>
      <p:sp>
        <p:nvSpPr>
          <p:cNvPr id="31" name="Text 29"/>
          <p:cNvSpPr/>
          <p:nvPr/>
        </p:nvSpPr>
        <p:spPr>
          <a:xfrm>
            <a:off x="5303520" y="640080"/>
            <a:ext cx="3657600" cy="182880"/>
          </a:xfrm>
          <a:prstGeom prst="rect">
            <a:avLst/>
          </a:prstGeom>
          <a:noFill/>
          <a:ln/>
        </p:spPr>
        <p:txBody>
          <a:bodyPr wrap="square" lIns="0" tIns="0" rIns="0" bIns="0" rtlCol="0" anchor="ctr"/>
          <a:lstStyle/>
          <a:p>
            <a:pPr indent="0" marL="0">
              <a:buNone/>
            </a:pPr>
            <a:r>
              <a:rPr lang="en-US" sz="850" i="1" dirty="0">
                <a:solidFill>
                  <a:srgbClr val="8FA3B1"/>
                </a:solidFill>
                <a:latin typeface="Calibri" pitchFamily="34" charset="0"/>
                <a:ea typeface="Calibri" pitchFamily="34" charset="-122"/>
                <a:cs typeface="Calibri" pitchFamily="34" charset="-120"/>
              </a:rPr>
              <a:t>A. Carcano, A. Coletta, M. Guglielmi, M. Masera, I. N. Fovino, and A. Trombetta</a:t>
            </a:r>
            <a:endParaRPr lang="en-US" sz="850" dirty="0"/>
          </a:p>
        </p:txBody>
      </p:sp>
      <p:sp>
        <p:nvSpPr>
          <p:cNvPr id="32" name="Text 30"/>
          <p:cNvSpPr/>
          <p:nvPr/>
        </p:nvSpPr>
        <p:spPr>
          <a:xfrm>
            <a:off x="5303520" y="822960"/>
            <a:ext cx="3657600" cy="237744"/>
          </a:xfrm>
          <a:prstGeom prst="rect">
            <a:avLst/>
          </a:prstGeom>
          <a:noFill/>
          <a:ln/>
        </p:spPr>
        <p:txBody>
          <a:bodyPr wrap="square" lIns="0" tIns="0" rIns="0" bIns="0" rtlCol="0" anchor="ctr"/>
          <a:lstStyle/>
          <a:p>
            <a:pPr indent="0" marL="0">
              <a:buNone/>
            </a:pPr>
            <a:r>
              <a:rPr lang="en-US" sz="950" b="1" dirty="0">
                <a:solidFill>
                  <a:srgbClr val="E8EEF4"/>
                </a:solidFill>
                <a:latin typeface="Calibri" pitchFamily="34" charset="0"/>
                <a:ea typeface="Calibri" pitchFamily="34" charset="-122"/>
                <a:cs typeface="Calibri" pitchFamily="34" charset="-120"/>
              </a:rPr>
              <a:t>"A Multidimensional Critical State Analysis for Detecting Intrusions in SCADA Systems"</a:t>
            </a:r>
            <a:endParaRPr lang="en-US" sz="950" dirty="0"/>
          </a:p>
        </p:txBody>
      </p:sp>
      <p:sp>
        <p:nvSpPr>
          <p:cNvPr id="33" name="Text 31"/>
          <p:cNvSpPr/>
          <p:nvPr/>
        </p:nvSpPr>
        <p:spPr>
          <a:xfrm>
            <a:off x="5303520" y="1078992"/>
            <a:ext cx="3657600" cy="18288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IEEE Trans. Industrial Informatics, vol. 7, no. 2, pp. 179–186, May 2011.  DOI: 10.1109/TII.2010.2098415</a:t>
            </a:r>
            <a:endParaRPr lang="en-US" sz="800" dirty="0"/>
          </a:p>
        </p:txBody>
      </p:sp>
      <p:sp>
        <p:nvSpPr>
          <p:cNvPr id="34" name="Shape 32"/>
          <p:cNvSpPr/>
          <p:nvPr/>
        </p:nvSpPr>
        <p:spPr>
          <a:xfrm>
            <a:off x="4846320" y="1371600"/>
            <a:ext cx="384048" cy="621792"/>
          </a:xfrm>
          <a:prstGeom prst="rect">
            <a:avLst/>
          </a:prstGeom>
          <a:solidFill>
            <a:srgbClr val="1B3A5C"/>
          </a:solidFill>
          <a:ln w="12700">
            <a:solidFill>
              <a:srgbClr val="1B3A5C"/>
            </a:solidFill>
            <a:prstDash val="solid"/>
          </a:ln>
        </p:spPr>
      </p:sp>
      <p:sp>
        <p:nvSpPr>
          <p:cNvPr id="35" name="Text 33"/>
          <p:cNvSpPr/>
          <p:nvPr/>
        </p:nvSpPr>
        <p:spPr>
          <a:xfrm>
            <a:off x="4846320" y="1371600"/>
            <a:ext cx="384048" cy="621792"/>
          </a:xfrm>
          <a:prstGeom prst="rect">
            <a:avLst/>
          </a:prstGeom>
          <a:noFill/>
          <a:ln/>
        </p:spPr>
        <p:txBody>
          <a:bodyPr wrap="square" lIns="0" tIns="0" rIns="0" bIns="0" rtlCol="0" anchor="ctr"/>
          <a:lstStyle/>
          <a:p>
            <a:pPr algn="ctr" indent="0" marL="0">
              <a:buNone/>
            </a:pPr>
            <a:r>
              <a:rPr lang="en-US" sz="1000" b="1" dirty="0">
                <a:solidFill>
                  <a:srgbClr val="2ECC71"/>
                </a:solidFill>
                <a:latin typeface="Calibri" pitchFamily="34" charset="0"/>
                <a:ea typeface="Calibri" pitchFamily="34" charset="-122"/>
                <a:cs typeface="Calibri" pitchFamily="34" charset="-120"/>
              </a:rPr>
              <a:t>[7]</a:t>
            </a:r>
            <a:endParaRPr lang="en-US" sz="1000" dirty="0"/>
          </a:p>
        </p:txBody>
      </p:sp>
      <p:sp>
        <p:nvSpPr>
          <p:cNvPr id="36" name="Text 34"/>
          <p:cNvSpPr/>
          <p:nvPr/>
        </p:nvSpPr>
        <p:spPr>
          <a:xfrm>
            <a:off x="5303520" y="1389888"/>
            <a:ext cx="3657600" cy="182880"/>
          </a:xfrm>
          <a:prstGeom prst="rect">
            <a:avLst/>
          </a:prstGeom>
          <a:noFill/>
          <a:ln/>
        </p:spPr>
        <p:txBody>
          <a:bodyPr wrap="square" lIns="0" tIns="0" rIns="0" bIns="0" rtlCol="0" anchor="ctr"/>
          <a:lstStyle/>
          <a:p>
            <a:pPr indent="0" marL="0">
              <a:buNone/>
            </a:pPr>
            <a:r>
              <a:rPr lang="en-US" sz="850" i="1" dirty="0">
                <a:solidFill>
                  <a:srgbClr val="8FA3B1"/>
                </a:solidFill>
                <a:latin typeface="Calibri" pitchFamily="34" charset="0"/>
                <a:ea typeface="Calibri" pitchFamily="34" charset="-122"/>
                <a:cs typeface="Calibri" pitchFamily="34" charset="-120"/>
              </a:rPr>
              <a:t>D. I. Buzhinsky and V. Vyatkin</a:t>
            </a:r>
            <a:endParaRPr lang="en-US" sz="850" dirty="0"/>
          </a:p>
        </p:txBody>
      </p:sp>
      <p:sp>
        <p:nvSpPr>
          <p:cNvPr id="37" name="Text 35"/>
          <p:cNvSpPr/>
          <p:nvPr/>
        </p:nvSpPr>
        <p:spPr>
          <a:xfrm>
            <a:off x="5303520" y="1572768"/>
            <a:ext cx="3657600" cy="237744"/>
          </a:xfrm>
          <a:prstGeom prst="rect">
            <a:avLst/>
          </a:prstGeom>
          <a:noFill/>
          <a:ln/>
        </p:spPr>
        <p:txBody>
          <a:bodyPr wrap="square" lIns="0" tIns="0" rIns="0" bIns="0" rtlCol="0" anchor="ctr"/>
          <a:lstStyle/>
          <a:p>
            <a:pPr indent="0" marL="0">
              <a:buNone/>
            </a:pPr>
            <a:r>
              <a:rPr lang="en-US" sz="950" b="1" dirty="0">
                <a:solidFill>
                  <a:srgbClr val="E8EEF4"/>
                </a:solidFill>
                <a:latin typeface="Calibri" pitchFamily="34" charset="0"/>
                <a:ea typeface="Calibri" pitchFamily="34" charset="-122"/>
                <a:cs typeface="Calibri" pitchFamily="34" charset="-120"/>
              </a:rPr>
              <a:t>"Automatic Inference of Finite-State Plant Models from Traces and Temporal Properties"</a:t>
            </a:r>
            <a:endParaRPr lang="en-US" sz="950" dirty="0"/>
          </a:p>
        </p:txBody>
      </p:sp>
      <p:sp>
        <p:nvSpPr>
          <p:cNvPr id="38" name="Text 36"/>
          <p:cNvSpPr/>
          <p:nvPr/>
        </p:nvSpPr>
        <p:spPr>
          <a:xfrm>
            <a:off x="5303520" y="1828800"/>
            <a:ext cx="3657600" cy="18288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IEEE Trans. Industrial Informatics, vol. 13, no. 4, pp. 1521–1530, Aug. 2017.  DOI: 10.1109/TII.2017.2670001</a:t>
            </a:r>
            <a:endParaRPr lang="en-US" sz="800" dirty="0"/>
          </a:p>
        </p:txBody>
      </p:sp>
      <p:sp>
        <p:nvSpPr>
          <p:cNvPr id="39" name="Shape 37"/>
          <p:cNvSpPr/>
          <p:nvPr/>
        </p:nvSpPr>
        <p:spPr>
          <a:xfrm>
            <a:off x="4846320" y="2121408"/>
            <a:ext cx="384048" cy="621792"/>
          </a:xfrm>
          <a:prstGeom prst="rect">
            <a:avLst/>
          </a:prstGeom>
          <a:solidFill>
            <a:srgbClr val="1B3A5C"/>
          </a:solidFill>
          <a:ln w="12700">
            <a:solidFill>
              <a:srgbClr val="1B3A5C"/>
            </a:solidFill>
            <a:prstDash val="solid"/>
          </a:ln>
        </p:spPr>
      </p:sp>
      <p:sp>
        <p:nvSpPr>
          <p:cNvPr id="40" name="Text 38"/>
          <p:cNvSpPr/>
          <p:nvPr/>
        </p:nvSpPr>
        <p:spPr>
          <a:xfrm>
            <a:off x="4846320" y="2121408"/>
            <a:ext cx="384048" cy="621792"/>
          </a:xfrm>
          <a:prstGeom prst="rect">
            <a:avLst/>
          </a:prstGeom>
          <a:noFill/>
          <a:ln/>
        </p:spPr>
        <p:txBody>
          <a:bodyPr wrap="square" lIns="0" tIns="0" rIns="0" bIns="0" rtlCol="0" anchor="ctr"/>
          <a:lstStyle/>
          <a:p>
            <a:pPr algn="ctr" indent="0" marL="0">
              <a:buNone/>
            </a:pPr>
            <a:r>
              <a:rPr lang="en-US" sz="1000" b="1" dirty="0">
                <a:solidFill>
                  <a:srgbClr val="8FA3B1"/>
                </a:solidFill>
                <a:latin typeface="Calibri" pitchFamily="34" charset="0"/>
                <a:ea typeface="Calibri" pitchFamily="34" charset="-122"/>
                <a:cs typeface="Calibri" pitchFamily="34" charset="-120"/>
              </a:rPr>
              <a:t>[8]</a:t>
            </a:r>
            <a:endParaRPr lang="en-US" sz="1000" dirty="0"/>
          </a:p>
        </p:txBody>
      </p:sp>
      <p:sp>
        <p:nvSpPr>
          <p:cNvPr id="41" name="Text 39"/>
          <p:cNvSpPr/>
          <p:nvPr/>
        </p:nvSpPr>
        <p:spPr>
          <a:xfrm>
            <a:off x="5303520" y="2139696"/>
            <a:ext cx="3657600" cy="182880"/>
          </a:xfrm>
          <a:prstGeom prst="rect">
            <a:avLst/>
          </a:prstGeom>
          <a:noFill/>
          <a:ln/>
        </p:spPr>
        <p:txBody>
          <a:bodyPr wrap="square" lIns="0" tIns="0" rIns="0" bIns="0" rtlCol="0" anchor="ctr"/>
          <a:lstStyle/>
          <a:p>
            <a:pPr indent="0" marL="0">
              <a:buNone/>
            </a:pPr>
            <a:r>
              <a:rPr lang="en-US" sz="850" i="1" dirty="0">
                <a:solidFill>
                  <a:srgbClr val="8FA3B1"/>
                </a:solidFill>
                <a:latin typeface="Calibri" pitchFamily="34" charset="0"/>
                <a:ea typeface="Calibri" pitchFamily="34" charset="-122"/>
                <a:cs typeface="Calibri" pitchFamily="34" charset="-120"/>
              </a:rPr>
              <a:t>A. Humayed, J. Lin, F. Li, and B. Luo</a:t>
            </a:r>
            <a:endParaRPr lang="en-US" sz="850" dirty="0"/>
          </a:p>
        </p:txBody>
      </p:sp>
      <p:sp>
        <p:nvSpPr>
          <p:cNvPr id="42" name="Text 40"/>
          <p:cNvSpPr/>
          <p:nvPr/>
        </p:nvSpPr>
        <p:spPr>
          <a:xfrm>
            <a:off x="5303520" y="2322576"/>
            <a:ext cx="3657600" cy="237744"/>
          </a:xfrm>
          <a:prstGeom prst="rect">
            <a:avLst/>
          </a:prstGeom>
          <a:noFill/>
          <a:ln/>
        </p:spPr>
        <p:txBody>
          <a:bodyPr wrap="square" lIns="0" tIns="0" rIns="0" bIns="0" rtlCol="0" anchor="ctr"/>
          <a:lstStyle/>
          <a:p>
            <a:pPr indent="0" marL="0">
              <a:buNone/>
            </a:pPr>
            <a:r>
              <a:rPr lang="en-US" sz="950" b="1" dirty="0">
                <a:solidFill>
                  <a:srgbClr val="E8EEF4"/>
                </a:solidFill>
                <a:latin typeface="Calibri" pitchFamily="34" charset="0"/>
                <a:ea typeface="Calibri" pitchFamily="34" charset="-122"/>
                <a:cs typeface="Calibri" pitchFamily="34" charset="-120"/>
              </a:rPr>
              <a:t>"Cyber-Physical Systems Security: A Survey"</a:t>
            </a:r>
            <a:endParaRPr lang="en-US" sz="950" dirty="0"/>
          </a:p>
        </p:txBody>
      </p:sp>
      <p:sp>
        <p:nvSpPr>
          <p:cNvPr id="43" name="Text 41"/>
          <p:cNvSpPr/>
          <p:nvPr/>
        </p:nvSpPr>
        <p:spPr>
          <a:xfrm>
            <a:off x="5303520" y="2578608"/>
            <a:ext cx="3657600" cy="18288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IEEE Internet of Things Journal, vol. 4, no. 6, pp. 1802–1831, Dec. 2017.  DOI: 10.1109/JIOT.2017.2703172</a:t>
            </a:r>
            <a:endParaRPr lang="en-US" sz="800" dirty="0"/>
          </a:p>
        </p:txBody>
      </p:sp>
      <p:sp>
        <p:nvSpPr>
          <p:cNvPr id="44" name="Shape 42"/>
          <p:cNvSpPr/>
          <p:nvPr/>
        </p:nvSpPr>
        <p:spPr>
          <a:xfrm>
            <a:off x="4846320" y="2871216"/>
            <a:ext cx="384048" cy="621792"/>
          </a:xfrm>
          <a:prstGeom prst="rect">
            <a:avLst/>
          </a:prstGeom>
          <a:solidFill>
            <a:srgbClr val="1B3A5C"/>
          </a:solidFill>
          <a:ln w="12700">
            <a:solidFill>
              <a:srgbClr val="1B3A5C"/>
            </a:solidFill>
            <a:prstDash val="solid"/>
          </a:ln>
        </p:spPr>
      </p:sp>
      <p:sp>
        <p:nvSpPr>
          <p:cNvPr id="45" name="Text 43"/>
          <p:cNvSpPr/>
          <p:nvPr/>
        </p:nvSpPr>
        <p:spPr>
          <a:xfrm>
            <a:off x="4846320" y="2871216"/>
            <a:ext cx="384048" cy="621792"/>
          </a:xfrm>
          <a:prstGeom prst="rect">
            <a:avLst/>
          </a:prstGeom>
          <a:noFill/>
          <a:ln/>
        </p:spPr>
        <p:txBody>
          <a:bodyPr wrap="square" lIns="0" tIns="0" rIns="0" bIns="0" rtlCol="0" anchor="ctr"/>
          <a:lstStyle/>
          <a:p>
            <a:pPr algn="ctr" indent="0" marL="0">
              <a:buNone/>
            </a:pPr>
            <a:r>
              <a:rPr lang="en-US" sz="1000" b="1" dirty="0">
                <a:solidFill>
                  <a:srgbClr val="8FA3B1"/>
                </a:solidFill>
                <a:latin typeface="Calibri" pitchFamily="34" charset="0"/>
                <a:ea typeface="Calibri" pitchFamily="34" charset="-122"/>
                <a:cs typeface="Calibri" pitchFamily="34" charset="-120"/>
              </a:rPr>
              <a:t>[9]</a:t>
            </a:r>
            <a:endParaRPr lang="en-US" sz="1000" dirty="0"/>
          </a:p>
        </p:txBody>
      </p:sp>
      <p:sp>
        <p:nvSpPr>
          <p:cNvPr id="46" name="Text 44"/>
          <p:cNvSpPr/>
          <p:nvPr/>
        </p:nvSpPr>
        <p:spPr>
          <a:xfrm>
            <a:off x="5303520" y="2889504"/>
            <a:ext cx="3657600" cy="182880"/>
          </a:xfrm>
          <a:prstGeom prst="rect">
            <a:avLst/>
          </a:prstGeom>
          <a:noFill/>
          <a:ln/>
        </p:spPr>
        <p:txBody>
          <a:bodyPr wrap="square" lIns="0" tIns="0" rIns="0" bIns="0" rtlCol="0" anchor="ctr"/>
          <a:lstStyle/>
          <a:p>
            <a:pPr indent="0" marL="0">
              <a:buNone/>
            </a:pPr>
            <a:r>
              <a:rPr lang="en-US" sz="850" i="1" dirty="0">
                <a:solidFill>
                  <a:srgbClr val="8FA3B1"/>
                </a:solidFill>
                <a:latin typeface="Calibri" pitchFamily="34" charset="0"/>
                <a:ea typeface="Calibri" pitchFamily="34" charset="-122"/>
                <a:cs typeface="Calibri" pitchFamily="34" charset="-120"/>
              </a:rPr>
              <a:t>iTrust, Centre for Research in Cyber Security, SUTD</a:t>
            </a:r>
            <a:endParaRPr lang="en-US" sz="850" dirty="0"/>
          </a:p>
        </p:txBody>
      </p:sp>
      <p:sp>
        <p:nvSpPr>
          <p:cNvPr id="47" name="Text 45"/>
          <p:cNvSpPr/>
          <p:nvPr/>
        </p:nvSpPr>
        <p:spPr>
          <a:xfrm>
            <a:off x="5303520" y="3072384"/>
            <a:ext cx="3657600" cy="237744"/>
          </a:xfrm>
          <a:prstGeom prst="rect">
            <a:avLst/>
          </a:prstGeom>
          <a:noFill/>
          <a:ln/>
        </p:spPr>
        <p:txBody>
          <a:bodyPr wrap="square" lIns="0" tIns="0" rIns="0" bIns="0" rtlCol="0" anchor="ctr"/>
          <a:lstStyle/>
          <a:p>
            <a:pPr indent="0" marL="0">
              <a:buNone/>
            </a:pPr>
            <a:r>
              <a:rPr lang="en-US" sz="950" b="1" dirty="0">
                <a:solidFill>
                  <a:srgbClr val="E8EEF4"/>
                </a:solidFill>
                <a:latin typeface="Calibri" pitchFamily="34" charset="0"/>
                <a:ea typeface="Calibri" pitchFamily="34" charset="-122"/>
                <a:cs typeface="Calibri" pitchFamily="34" charset="-120"/>
              </a:rPr>
              <a:t>"SWaT: Secure Water Treatment Testbed"</a:t>
            </a:r>
            <a:endParaRPr lang="en-US" sz="950" dirty="0"/>
          </a:p>
        </p:txBody>
      </p:sp>
      <p:sp>
        <p:nvSpPr>
          <p:cNvPr id="48" name="Text 46"/>
          <p:cNvSpPr/>
          <p:nvPr/>
        </p:nvSpPr>
        <p:spPr>
          <a:xfrm>
            <a:off x="5303520" y="3328416"/>
            <a:ext cx="3657600" cy="18288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Singapore University of Technology and Design.  https://itrust.sutd.edu.sg/testbeds/secure-water-treatment-swat/</a:t>
            </a:r>
            <a:endParaRPr lang="en-US" sz="800" dirty="0"/>
          </a:p>
        </p:txBody>
      </p:sp>
      <p:sp>
        <p:nvSpPr>
          <p:cNvPr id="49" name="Shape 47"/>
          <p:cNvSpPr/>
          <p:nvPr/>
        </p:nvSpPr>
        <p:spPr>
          <a:xfrm>
            <a:off x="4663440" y="594360"/>
            <a:ext cx="0" cy="4297680"/>
          </a:xfrm>
          <a:prstGeom prst="line">
            <a:avLst/>
          </a:prstGeom>
          <a:noFill/>
          <a:ln w="12700">
            <a:solidFill>
              <a:srgbClr val="1B3A5C"/>
            </a:solidFill>
            <a:prstDash val="solid"/>
          </a:ln>
        </p:spPr>
      </p:sp>
      <p:sp>
        <p:nvSpPr>
          <p:cNvPr id="50" name="Shape 48"/>
          <p:cNvSpPr/>
          <p:nvPr/>
        </p:nvSpPr>
        <p:spPr>
          <a:xfrm>
            <a:off x="0" y="4809744"/>
            <a:ext cx="9144000" cy="338328"/>
          </a:xfrm>
          <a:prstGeom prst="rect">
            <a:avLst/>
          </a:prstGeom>
          <a:solidFill>
            <a:srgbClr val="1B3A5C"/>
          </a:solidFill>
          <a:ln w="12700">
            <a:solidFill>
              <a:srgbClr val="1B3A5C"/>
            </a:solidFill>
            <a:prstDash val="solid"/>
          </a:ln>
        </p:spPr>
      </p:sp>
      <p:sp>
        <p:nvSpPr>
          <p:cNvPr id="51" name="Text 49"/>
          <p:cNvSpPr/>
          <p:nvPr/>
        </p:nvSpPr>
        <p:spPr>
          <a:xfrm>
            <a:off x="457200" y="4809744"/>
            <a:ext cx="8229600" cy="33832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Cyber Physical Systems  |  References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0392B"/>
          </a:solidFill>
          <a:ln w="12700">
            <a:solidFill>
              <a:srgbClr val="C0392B"/>
            </a:solidFill>
            <a:prstDash val="solid"/>
          </a:ln>
        </p:spPr>
      </p:sp>
      <p:sp>
        <p:nvSpPr>
          <p:cNvPr id="3" name="Text 1"/>
          <p:cNvSpPr/>
          <p:nvPr/>
        </p:nvSpPr>
        <p:spPr>
          <a:xfrm>
            <a:off x="365760" y="640080"/>
            <a:ext cx="8412480" cy="914400"/>
          </a:xfrm>
          <a:prstGeom prst="rect">
            <a:avLst/>
          </a:prstGeom>
          <a:noFill/>
          <a:ln/>
        </p:spPr>
        <p:txBody>
          <a:bodyPr wrap="square" lIns="0" tIns="0" rIns="0" bIns="0"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SWaT P1 Attack</a:t>
            </a:r>
            <a:endParaRPr lang="en-US" sz="5200" dirty="0"/>
          </a:p>
        </p:txBody>
      </p:sp>
      <p:sp>
        <p:nvSpPr>
          <p:cNvPr id="4" name="Text 2"/>
          <p:cNvSpPr/>
          <p:nvPr/>
        </p:nvSpPr>
        <p:spPr>
          <a:xfrm>
            <a:off x="365760" y="1554480"/>
            <a:ext cx="8412480" cy="548640"/>
          </a:xfrm>
          <a:prstGeom prst="rect">
            <a:avLst/>
          </a:prstGeom>
          <a:noFill/>
          <a:ln/>
        </p:spPr>
        <p:txBody>
          <a:bodyPr wrap="square" lIns="0" tIns="0" rIns="0" bIns="0" rtlCol="0" anchor="ctr"/>
          <a:lstStyle/>
          <a:p>
            <a:pPr indent="0" marL="0">
              <a:buNone/>
            </a:pPr>
            <a:r>
              <a:rPr lang="en-US" sz="2600" i="1" dirty="0">
                <a:solidFill>
                  <a:srgbClr val="E74C3C"/>
                </a:solidFill>
                <a:latin typeface="Calibri" pitchFamily="34" charset="0"/>
                <a:ea typeface="Calibri" pitchFamily="34" charset="-122"/>
                <a:cs typeface="Calibri" pitchFamily="34" charset="-120"/>
              </a:rPr>
              <a:t>False Command Injection via Modbus MITM</a:t>
            </a:r>
            <a:endParaRPr lang="en-US" sz="2600" dirty="0"/>
          </a:p>
        </p:txBody>
      </p:sp>
      <p:sp>
        <p:nvSpPr>
          <p:cNvPr id="5" name="Text 3"/>
          <p:cNvSpPr/>
          <p:nvPr/>
        </p:nvSpPr>
        <p:spPr>
          <a:xfrm>
            <a:off x="365760" y="2148840"/>
            <a:ext cx="8412480" cy="320040"/>
          </a:xfrm>
          <a:prstGeom prst="rect">
            <a:avLst/>
          </a:prstGeom>
          <a:noFill/>
          <a:ln/>
        </p:spPr>
        <p:txBody>
          <a:bodyPr wrap="square" lIns="0" tIns="0" rIns="0" bIns="0" rtlCol="0" anchor="ctr"/>
          <a:lstStyle/>
          <a:p>
            <a:pPr indent="0" marL="0">
              <a:buNone/>
            </a:pPr>
            <a:r>
              <a:rPr lang="en-US" sz="1300" dirty="0">
                <a:solidFill>
                  <a:srgbClr val="8FA3B1"/>
                </a:solidFill>
                <a:latin typeface="Calibri" pitchFamily="34" charset="0"/>
                <a:ea typeface="Calibri" pitchFamily="34" charset="-122"/>
                <a:cs typeface="Calibri" pitchFamily="34" charset="-120"/>
              </a:rPr>
              <a:t>Based on Alsabbagh et al., IEEE CCNC 2023  (Paper #9)</a:t>
            </a:r>
            <a:endParaRPr lang="en-US" sz="1300" dirty="0"/>
          </a:p>
        </p:txBody>
      </p:sp>
      <p:sp>
        <p:nvSpPr>
          <p:cNvPr id="6" name="Shape 4"/>
          <p:cNvSpPr/>
          <p:nvPr/>
        </p:nvSpPr>
        <p:spPr>
          <a:xfrm>
            <a:off x="365760" y="2788920"/>
            <a:ext cx="1280160" cy="347472"/>
          </a:xfrm>
          <a:prstGeom prst="rect">
            <a:avLst/>
          </a:prstGeom>
          <a:solidFill>
            <a:srgbClr val="2980B9"/>
          </a:solidFill>
          <a:ln w="12700">
            <a:solidFill>
              <a:srgbClr val="2980B9"/>
            </a:solidFill>
            <a:prstDash val="solid"/>
          </a:ln>
        </p:spPr>
      </p:sp>
      <p:sp>
        <p:nvSpPr>
          <p:cNvPr id="7" name="Text 5"/>
          <p:cNvSpPr/>
          <p:nvPr/>
        </p:nvSpPr>
        <p:spPr>
          <a:xfrm>
            <a:off x="365760" y="2788920"/>
            <a:ext cx="128016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Phase 0: Recon</a:t>
            </a:r>
            <a:endParaRPr lang="en-US" sz="1100" dirty="0"/>
          </a:p>
        </p:txBody>
      </p:sp>
      <p:sp>
        <p:nvSpPr>
          <p:cNvPr id="8" name="Shape 6"/>
          <p:cNvSpPr/>
          <p:nvPr/>
        </p:nvSpPr>
        <p:spPr>
          <a:xfrm>
            <a:off x="1828800" y="2788920"/>
            <a:ext cx="1280160" cy="347472"/>
          </a:xfrm>
          <a:prstGeom prst="rect">
            <a:avLst/>
          </a:prstGeom>
          <a:solidFill>
            <a:srgbClr val="C0392B"/>
          </a:solidFill>
          <a:ln w="12700">
            <a:solidFill>
              <a:srgbClr val="C0392B"/>
            </a:solidFill>
            <a:prstDash val="solid"/>
          </a:ln>
        </p:spPr>
      </p:sp>
      <p:sp>
        <p:nvSpPr>
          <p:cNvPr id="9" name="Text 7"/>
          <p:cNvSpPr/>
          <p:nvPr/>
        </p:nvSpPr>
        <p:spPr>
          <a:xfrm>
            <a:off x="1828800" y="2788920"/>
            <a:ext cx="128016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Phase 1: Inject</a:t>
            </a:r>
            <a:endParaRPr lang="en-US" sz="1100" dirty="0"/>
          </a:p>
        </p:txBody>
      </p:sp>
      <p:sp>
        <p:nvSpPr>
          <p:cNvPr id="10" name="Shape 8"/>
          <p:cNvSpPr/>
          <p:nvPr/>
        </p:nvSpPr>
        <p:spPr>
          <a:xfrm>
            <a:off x="3291840" y="2788920"/>
            <a:ext cx="1280160" cy="347472"/>
          </a:xfrm>
          <a:prstGeom prst="rect">
            <a:avLst/>
          </a:prstGeom>
          <a:solidFill>
            <a:srgbClr val="8E44AD"/>
          </a:solidFill>
          <a:ln w="12700">
            <a:solidFill>
              <a:srgbClr val="8E44AD"/>
            </a:solidFill>
            <a:prstDash val="solid"/>
          </a:ln>
        </p:spPr>
      </p:sp>
      <p:sp>
        <p:nvSpPr>
          <p:cNvPr id="11" name="Text 9"/>
          <p:cNvSpPr/>
          <p:nvPr/>
        </p:nvSpPr>
        <p:spPr>
          <a:xfrm>
            <a:off x="3291840" y="2788920"/>
            <a:ext cx="128016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Phase 2: Conceal</a:t>
            </a:r>
            <a:endParaRPr lang="en-US" sz="1100" dirty="0"/>
          </a:p>
        </p:txBody>
      </p:sp>
      <p:sp>
        <p:nvSpPr>
          <p:cNvPr id="12" name="Shape 10"/>
          <p:cNvSpPr/>
          <p:nvPr/>
        </p:nvSpPr>
        <p:spPr>
          <a:xfrm>
            <a:off x="365760" y="3337560"/>
            <a:ext cx="6217920" cy="822960"/>
          </a:xfrm>
          <a:prstGeom prst="rect">
            <a:avLst/>
          </a:prstGeom>
          <a:solidFill>
            <a:srgbClr val="1B3A5C"/>
          </a:solidFill>
          <a:ln w="12700">
            <a:solidFill>
              <a:srgbClr val="1B3A5C"/>
            </a:solidFill>
            <a:prstDash val="solid"/>
          </a:ln>
        </p:spPr>
      </p:sp>
      <p:sp>
        <p:nvSpPr>
          <p:cNvPr id="13" name="Shape 11"/>
          <p:cNvSpPr/>
          <p:nvPr/>
        </p:nvSpPr>
        <p:spPr>
          <a:xfrm>
            <a:off x="365760" y="3337560"/>
            <a:ext cx="64008" cy="822960"/>
          </a:xfrm>
          <a:prstGeom prst="rect">
            <a:avLst/>
          </a:prstGeom>
          <a:solidFill>
            <a:srgbClr val="F4A261"/>
          </a:solidFill>
          <a:ln w="12700">
            <a:solidFill>
              <a:srgbClr val="F4A261"/>
            </a:solidFill>
            <a:prstDash val="solid"/>
          </a:ln>
        </p:spPr>
      </p:sp>
      <p:sp>
        <p:nvSpPr>
          <p:cNvPr id="14" name="Text 12"/>
          <p:cNvSpPr/>
          <p:nvPr/>
        </p:nvSpPr>
        <p:spPr>
          <a:xfrm>
            <a:off x="548640" y="3337560"/>
            <a:ext cx="5943600" cy="822960"/>
          </a:xfrm>
          <a:prstGeom prst="rect">
            <a:avLst/>
          </a:prstGeom>
          <a:noFill/>
          <a:ln/>
        </p:spPr>
        <p:txBody>
          <a:bodyPr wrap="square" lIns="0" tIns="0" rIns="0" bIns="0" rtlCol="0" anchor="ctr"/>
          <a:lstStyle/>
          <a:p>
            <a:pPr indent="0" marL="0">
              <a:buNone/>
            </a:pPr>
            <a:r>
              <a:rPr lang="en-US" sz="1300" b="1" dirty="0">
                <a:solidFill>
                  <a:srgbClr val="F4A261"/>
                </a:solidFill>
                <a:latin typeface="Calibri" pitchFamily="34" charset="0"/>
                <a:ea typeface="Calibri" pitchFamily="34" charset="-122"/>
                <a:cs typeface="Calibri" pitchFamily="34" charset="-120"/>
              </a:rPr>
              <a:t xml:space="preserve">Target:  </a:t>
            </a:r>
            <a:pPr indent="0" marL="0">
              <a:buNone/>
            </a:pPr>
            <a:r>
              <a:rPr lang="en-US" sz="1300" dirty="0">
                <a:solidFill>
                  <a:srgbClr val="E8EEF4"/>
                </a:solidFill>
                <a:latin typeface="Calibri" pitchFamily="34" charset="0"/>
                <a:ea typeface="Calibri" pitchFamily="34" charset="-122"/>
                <a:cs typeface="Calibri" pitchFamily="34" charset="-120"/>
              </a:rPr>
              <a:t>PLC1 (P1 stage) — Force MV101 CLOSED + P101 OFF via unauthenticated Modbus writes</a:t>
            </a:r>
            <a:endParaRPr lang="en-US" sz="1300" dirty="0"/>
          </a:p>
        </p:txBody>
      </p:sp>
      <p:sp>
        <p:nvSpPr>
          <p:cNvPr id="15" name="Shape 13"/>
          <p:cNvSpPr/>
          <p:nvPr/>
        </p:nvSpPr>
        <p:spPr>
          <a:xfrm>
            <a:off x="6766560" y="1371600"/>
            <a:ext cx="2103120" cy="3108960"/>
          </a:xfrm>
          <a:prstGeom prst="rect">
            <a:avLst/>
          </a:prstGeom>
          <a:solidFill>
            <a:srgbClr val="1E2D3D"/>
          </a:solidFill>
          <a:ln w="12700">
            <a:solidFill>
              <a:srgbClr val="2980B9"/>
            </a:solidFill>
            <a:prstDash val="solid"/>
          </a:ln>
        </p:spPr>
      </p:sp>
      <p:sp>
        <p:nvSpPr>
          <p:cNvPr id="16" name="Text 14"/>
          <p:cNvSpPr/>
          <p:nvPr/>
        </p:nvSpPr>
        <p:spPr>
          <a:xfrm>
            <a:off x="6766560" y="1417320"/>
            <a:ext cx="2103120" cy="320040"/>
          </a:xfrm>
          <a:prstGeom prst="rect">
            <a:avLst/>
          </a:prstGeom>
          <a:noFill/>
          <a:ln/>
        </p:spPr>
        <p:txBody>
          <a:bodyPr wrap="square" lIns="0" tIns="0" rIns="0" bIns="0" rtlCol="0" anchor="ctr"/>
          <a:lstStyle/>
          <a:p>
            <a:pPr algn="ctr" indent="0" marL="0">
              <a:buNone/>
            </a:pPr>
            <a:r>
              <a:rPr lang="en-US" sz="1200" b="1" dirty="0">
                <a:solidFill>
                  <a:srgbClr val="3498DB"/>
                </a:solidFill>
                <a:latin typeface="Calibri" pitchFamily="34" charset="0"/>
                <a:ea typeface="Calibri" pitchFamily="34" charset="-122"/>
                <a:cs typeface="Calibri" pitchFamily="34" charset="-120"/>
              </a:rPr>
              <a:t>Scripts</a:t>
            </a:r>
            <a:endParaRPr lang="en-US" sz="1200" dirty="0"/>
          </a:p>
        </p:txBody>
      </p:sp>
      <p:sp>
        <p:nvSpPr>
          <p:cNvPr id="17" name="Text 15"/>
          <p:cNvSpPr/>
          <p:nvPr/>
        </p:nvSpPr>
        <p:spPr>
          <a:xfrm>
            <a:off x="6858000" y="1874520"/>
            <a:ext cx="1920240" cy="365760"/>
          </a:xfrm>
          <a:prstGeom prst="rect">
            <a:avLst/>
          </a:prstGeom>
          <a:noFill/>
          <a:ln/>
        </p:spPr>
        <p:txBody>
          <a:bodyPr wrap="square" lIns="0" tIns="0" rIns="0" bIns="0" rtlCol="0" anchor="ctr"/>
          <a:lstStyle/>
          <a:p>
            <a:pPr indent="0" marL="0">
              <a:buNone/>
            </a:pPr>
            <a:r>
              <a:rPr lang="en-US" sz="1100" dirty="0">
                <a:solidFill>
                  <a:srgbClr val="2ECC71"/>
                </a:solidFill>
                <a:latin typeface="Consolas" pitchFamily="34" charset="0"/>
                <a:ea typeface="Consolas" pitchFamily="34" charset="-122"/>
                <a:cs typeface="Consolas" pitchFamily="34" charset="-120"/>
              </a:rPr>
              <a:t>phase0_recon.py</a:t>
            </a:r>
            <a:endParaRPr lang="en-US" sz="1100" dirty="0"/>
          </a:p>
        </p:txBody>
      </p:sp>
      <p:sp>
        <p:nvSpPr>
          <p:cNvPr id="18" name="Text 16"/>
          <p:cNvSpPr/>
          <p:nvPr/>
        </p:nvSpPr>
        <p:spPr>
          <a:xfrm>
            <a:off x="6858000" y="2377440"/>
            <a:ext cx="1920240" cy="365760"/>
          </a:xfrm>
          <a:prstGeom prst="rect">
            <a:avLst/>
          </a:prstGeom>
          <a:noFill/>
          <a:ln/>
        </p:spPr>
        <p:txBody>
          <a:bodyPr wrap="square" lIns="0" tIns="0" rIns="0" bIns="0" rtlCol="0" anchor="ctr"/>
          <a:lstStyle/>
          <a:p>
            <a:pPr indent="0" marL="0">
              <a:buNone/>
            </a:pPr>
            <a:r>
              <a:rPr lang="en-US" sz="1100" dirty="0">
                <a:solidFill>
                  <a:srgbClr val="2ECC71"/>
                </a:solidFill>
                <a:latin typeface="Consolas" pitchFamily="34" charset="0"/>
                <a:ea typeface="Consolas" pitchFamily="34" charset="-122"/>
                <a:cs typeface="Consolas" pitchFamily="34" charset="-120"/>
              </a:rPr>
              <a:t>phase1_inject.py</a:t>
            </a:r>
            <a:endParaRPr lang="en-US" sz="1100" dirty="0"/>
          </a:p>
        </p:txBody>
      </p:sp>
      <p:sp>
        <p:nvSpPr>
          <p:cNvPr id="19" name="Text 17"/>
          <p:cNvSpPr/>
          <p:nvPr/>
        </p:nvSpPr>
        <p:spPr>
          <a:xfrm>
            <a:off x="6858000" y="2880360"/>
            <a:ext cx="1920240" cy="365760"/>
          </a:xfrm>
          <a:prstGeom prst="rect">
            <a:avLst/>
          </a:prstGeom>
          <a:noFill/>
          <a:ln/>
        </p:spPr>
        <p:txBody>
          <a:bodyPr wrap="square" lIns="0" tIns="0" rIns="0" bIns="0" rtlCol="0" anchor="ctr"/>
          <a:lstStyle/>
          <a:p>
            <a:pPr indent="0" marL="0">
              <a:buNone/>
            </a:pPr>
            <a:r>
              <a:rPr lang="en-US" sz="1100" dirty="0">
                <a:solidFill>
                  <a:srgbClr val="2ECC71"/>
                </a:solidFill>
                <a:latin typeface="Consolas" pitchFamily="34" charset="0"/>
                <a:ea typeface="Consolas" pitchFamily="34" charset="-122"/>
                <a:cs typeface="Consolas" pitchFamily="34" charset="-120"/>
              </a:rPr>
              <a:t>phase2_spoof.py</a:t>
            </a:r>
            <a:endParaRPr lang="en-US" sz="1100" dirty="0"/>
          </a:p>
        </p:txBody>
      </p:sp>
      <p:sp>
        <p:nvSpPr>
          <p:cNvPr id="20" name="Text 18"/>
          <p:cNvSpPr/>
          <p:nvPr/>
        </p:nvSpPr>
        <p:spPr>
          <a:xfrm>
            <a:off x="6858000" y="3520440"/>
            <a:ext cx="1920240" cy="548640"/>
          </a:xfrm>
          <a:prstGeom prst="rect">
            <a:avLst/>
          </a:prstGeom>
          <a:noFill/>
          <a:ln/>
        </p:spPr>
        <p:txBody>
          <a:bodyPr wrap="square" lIns="0" tIns="0" rIns="0" bIns="0" rtlCol="0" anchor="ctr"/>
          <a:lstStyle/>
          <a:p>
            <a:pPr indent="0" marL="0">
              <a:buNone/>
            </a:pPr>
            <a:r>
              <a:rPr lang="en-US" sz="1000" dirty="0">
                <a:solidFill>
                  <a:srgbClr val="8FA3B1"/>
                </a:solidFill>
                <a:latin typeface="Calibri" pitchFamily="34" charset="0"/>
                <a:ea typeface="Calibri" pitchFamily="34" charset="-122"/>
                <a:cs typeface="Calibri" pitchFamily="34" charset="-120"/>
              </a:rPr>
              <a:t>Python / Scapy</a:t>
            </a:r>
            <a:endParaRPr lang="en-US" sz="1000" dirty="0"/>
          </a:p>
          <a:p>
            <a:pPr indent="0" marL="0">
              <a:buNone/>
            </a:pPr>
            <a:r>
              <a:rPr lang="en-US" sz="1000" dirty="0">
                <a:solidFill>
                  <a:srgbClr val="8FA3B1"/>
                </a:solidFill>
                <a:latin typeface="Calibri" pitchFamily="34" charset="0"/>
                <a:ea typeface="Calibri" pitchFamily="34" charset="-122"/>
                <a:cs typeface="Calibri" pitchFamily="34" charset="-120"/>
              </a:rPr>
              <a:t>pyModbus / PyTorch</a:t>
            </a:r>
            <a:endParaRPr lang="en-US" sz="1000" dirty="0"/>
          </a:p>
        </p:txBody>
      </p:sp>
      <p:sp>
        <p:nvSpPr>
          <p:cNvPr id="21" name="Shape 19"/>
          <p:cNvSpPr/>
          <p:nvPr/>
        </p:nvSpPr>
        <p:spPr>
          <a:xfrm>
            <a:off x="0" y="4754880"/>
            <a:ext cx="9144000" cy="384048"/>
          </a:xfrm>
          <a:prstGeom prst="rect">
            <a:avLst/>
          </a:prstGeom>
          <a:solidFill>
            <a:srgbClr val="1B3A5C"/>
          </a:solidFill>
          <a:ln w="12700">
            <a:solidFill>
              <a:srgbClr val="1B3A5C"/>
            </a:solidFill>
            <a:prstDash val="solid"/>
          </a:ln>
        </p:spPr>
      </p:sp>
      <p:sp>
        <p:nvSpPr>
          <p:cNvPr id="22" name="Text 20"/>
          <p:cNvSpPr/>
          <p:nvPr/>
        </p:nvSpPr>
        <p:spPr>
          <a:xfrm>
            <a:off x="274320" y="4754880"/>
            <a:ext cx="8595360" cy="38404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Attack Implementation  ·  Overview</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SWaT P1 — What We Are Attacking</a:t>
            </a:r>
            <a:endParaRPr lang="en-US" sz="3000" dirty="0"/>
          </a:p>
        </p:txBody>
      </p:sp>
      <p:sp>
        <p:nvSpPr>
          <p:cNvPr id="3" name="Text 1"/>
          <p:cNvSpPr/>
          <p:nvPr/>
        </p:nvSpPr>
        <p:spPr>
          <a:xfrm>
            <a:off x="365760" y="640080"/>
            <a:ext cx="8412480" cy="274320"/>
          </a:xfrm>
          <a:prstGeom prst="rect">
            <a:avLst/>
          </a:prstGeom>
          <a:noFill/>
          <a:ln/>
        </p:spPr>
        <p:txBody>
          <a:bodyPr wrap="square" lIns="0" tIns="0" rIns="0" bIns="0" rtlCol="0" anchor="ctr"/>
          <a:lstStyle/>
          <a:p>
            <a:pPr indent="0" marL="0">
              <a:buNone/>
            </a:pPr>
            <a:r>
              <a:rPr lang="en-US" sz="1300" i="1" dirty="0">
                <a:solidFill>
                  <a:srgbClr val="8FA3B1"/>
                </a:solidFill>
                <a:latin typeface="Calibri" pitchFamily="34" charset="0"/>
                <a:ea typeface="Calibri" pitchFamily="34" charset="-122"/>
                <a:cs typeface="Calibri" pitchFamily="34" charset="-120"/>
              </a:rPr>
              <a:t>Raw Water Intake Stage  ·  PLC1  ·  Modbus TCP port 502</a:t>
            </a:r>
            <a:endParaRPr lang="en-US" sz="1300" dirty="0"/>
          </a:p>
        </p:txBody>
      </p:sp>
      <p:pic>
        <p:nvPicPr>
          <p:cNvPr id="4" name="Image 0" descr="preencoded.png"/>
          <p:cNvPicPr>
            <a:picLocks noChangeAspect="1"/>
          </p:cNvPicPr>
          <p:nvPr/>
        </p:nvPicPr>
        <p:blipFill>
          <a:blip r:embed="rId1"/>
          <a:stretch>
            <a:fillRect/>
          </a:stretch>
        </p:blipFill>
        <p:spPr>
          <a:xfrm>
            <a:off x="182880" y="987552"/>
            <a:ext cx="8778240" cy="3657600"/>
          </a:xfrm>
          <a:prstGeom prst="rect">
            <a:avLst/>
          </a:prstGeom>
        </p:spPr>
      </p:pic>
      <p:sp>
        <p:nvSpPr>
          <p:cNvPr id="5" name="Shape 2"/>
          <p:cNvSpPr/>
          <p:nvPr/>
        </p:nvSpPr>
        <p:spPr>
          <a:xfrm>
            <a:off x="0" y="4754880"/>
            <a:ext cx="9144000" cy="384048"/>
          </a:xfrm>
          <a:prstGeom prst="rect">
            <a:avLst/>
          </a:prstGeom>
          <a:solidFill>
            <a:srgbClr val="1B3A5C"/>
          </a:solidFill>
          <a:ln w="12700">
            <a:solidFill>
              <a:srgbClr val="1B3A5C"/>
            </a:solidFill>
            <a:prstDash val="solid"/>
          </a:ln>
        </p:spPr>
      </p:sp>
      <p:sp>
        <p:nvSpPr>
          <p:cNvPr id="6" name="Text 3"/>
          <p:cNvSpPr/>
          <p:nvPr/>
        </p:nvSpPr>
        <p:spPr>
          <a:xfrm>
            <a:off x="274320" y="4754880"/>
            <a:ext cx="8595360" cy="38404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Attack Implementation  ·  Slide 12/18 — Architecture</a:t>
            </a:r>
            <a:endParaRPr lang="en-US" sz="1000" dirty="0"/>
          </a:p>
        </p:txBody>
      </p:sp>
      <p:pic>
        <p:nvPicPr>
          <p:cNvPr id="7" name="Picture 6" descr="img_attack_surface.png"/>
          <p:cNvPicPr>
            <a:picLocks noChangeAspect="1"/>
          </p:cNvPicPr>
          <p:nvPr/>
        </p:nvPicPr>
        <p:blipFill>
          <a:blip r:embed="rId4"/>
          <a:stretch>
            <a:fillRect/>
          </a:stretch>
        </p:blipFill>
        <p:spPr>
          <a:xfrm>
            <a:off x="137160" y="3840480"/>
            <a:ext cx="8869680" cy="2743200"/>
          </a:xfrm>
          <a:prstGeom prst="rect">
            <a:avLst/>
          </a:prstGeom>
        </p:spPr>
      </p:pic>
      <p:sp>
        <p:nvSpPr>
          <p:cNvPr id="8" name="TextBox 7"/>
          <p:cNvSpPr txBox="1"/>
          <p:nvPr/>
        </p:nvSpPr>
        <p:spPr>
          <a:xfrm>
            <a:off x="137160" y="6537960"/>
            <a:ext cx="8869680" cy="274320"/>
          </a:xfrm>
          <a:prstGeom prst="rect">
            <a:avLst/>
          </a:prstGeom>
          <a:noFill/>
        </p:spPr>
        <p:txBody>
          <a:bodyPr wrap="square">
            <a:spAutoFit/>
          </a:bodyPr>
          <a:lstStyle/>
          <a:p>
            <a:pPr algn="ctr"/>
            <a:r>
              <a:rPr sz="1000" i="1">
                <a:solidFill>
                  <a:srgbClr val="90B4CE"/>
                </a:solidFill>
              </a:rPr>
              <a:t>Attack surface: Attacker on Zone D → ARP poison HMI↔PLC1A → Modbus false command injection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Threat Model &amp; Attack Surface</a:t>
            </a:r>
            <a:endParaRPr lang="en-US" sz="3000" dirty="0"/>
          </a:p>
        </p:txBody>
      </p:sp>
      <p:sp>
        <p:nvSpPr>
          <p:cNvPr id="3" name="Shape 1"/>
          <p:cNvSpPr/>
          <p:nvPr/>
        </p:nvSpPr>
        <p:spPr>
          <a:xfrm>
            <a:off x="274320" y="777240"/>
            <a:ext cx="4160520" cy="3383280"/>
          </a:xfrm>
          <a:prstGeom prst="rect">
            <a:avLst/>
          </a:prstGeom>
          <a:solidFill>
            <a:srgbClr val="1B3A5C"/>
          </a:solidFill>
          <a:ln w="12700">
            <a:solidFill>
              <a:srgbClr val="1B3A5C"/>
            </a:solidFill>
            <a:prstDash val="solid"/>
          </a:ln>
        </p:spPr>
      </p:sp>
      <p:sp>
        <p:nvSpPr>
          <p:cNvPr id="4" name="Shape 2"/>
          <p:cNvSpPr/>
          <p:nvPr/>
        </p:nvSpPr>
        <p:spPr>
          <a:xfrm>
            <a:off x="274320" y="777240"/>
            <a:ext cx="64008" cy="3383280"/>
          </a:xfrm>
          <a:prstGeom prst="rect">
            <a:avLst/>
          </a:prstGeom>
          <a:solidFill>
            <a:srgbClr val="C0392B"/>
          </a:solidFill>
          <a:ln w="12700">
            <a:solidFill>
              <a:srgbClr val="C0392B"/>
            </a:solidFill>
            <a:prstDash val="solid"/>
          </a:ln>
        </p:spPr>
      </p:sp>
      <p:sp>
        <p:nvSpPr>
          <p:cNvPr id="5" name="Text 3"/>
          <p:cNvSpPr/>
          <p:nvPr/>
        </p:nvSpPr>
        <p:spPr>
          <a:xfrm>
            <a:off x="502920" y="850392"/>
            <a:ext cx="3749040" cy="347472"/>
          </a:xfrm>
          <a:prstGeom prst="rect">
            <a:avLst/>
          </a:prstGeom>
          <a:noFill/>
          <a:ln/>
        </p:spPr>
        <p:txBody>
          <a:bodyPr wrap="square" lIns="0" tIns="0" rIns="0" bIns="0" rtlCol="0" anchor="ctr"/>
          <a:lstStyle/>
          <a:p>
            <a:pPr indent="0" marL="0">
              <a:buNone/>
            </a:pPr>
            <a:r>
              <a:rPr lang="en-US" sz="1600" b="1" dirty="0">
                <a:solidFill>
                  <a:srgbClr val="C0392B"/>
                </a:solidFill>
                <a:latin typeface="Calibri" pitchFamily="34" charset="0"/>
                <a:ea typeface="Calibri" pitchFamily="34" charset="-122"/>
                <a:cs typeface="Calibri" pitchFamily="34" charset="-120"/>
              </a:rPr>
              <a:t>Attacker Profile</a:t>
            </a:r>
            <a:endParaRPr lang="en-US" sz="1600" dirty="0"/>
          </a:p>
        </p:txBody>
      </p:sp>
      <p:sp>
        <p:nvSpPr>
          <p:cNvPr id="6" name="Shape 4"/>
          <p:cNvSpPr/>
          <p:nvPr/>
        </p:nvSpPr>
        <p:spPr>
          <a:xfrm>
            <a:off x="502920" y="1325880"/>
            <a:ext cx="914400" cy="347472"/>
          </a:xfrm>
          <a:prstGeom prst="rect">
            <a:avLst/>
          </a:prstGeom>
          <a:solidFill>
            <a:srgbClr val="C0392B"/>
          </a:solidFill>
          <a:ln w="12700">
            <a:solidFill>
              <a:srgbClr val="C0392B"/>
            </a:solidFill>
            <a:prstDash val="solid"/>
          </a:ln>
        </p:spPr>
      </p:sp>
      <p:sp>
        <p:nvSpPr>
          <p:cNvPr id="7" name="Text 5"/>
          <p:cNvSpPr/>
          <p:nvPr/>
        </p:nvSpPr>
        <p:spPr>
          <a:xfrm>
            <a:off x="502920" y="1325880"/>
            <a:ext cx="91440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Access level</a:t>
            </a:r>
            <a:endParaRPr lang="en-US" sz="900" dirty="0"/>
          </a:p>
        </p:txBody>
      </p:sp>
      <p:sp>
        <p:nvSpPr>
          <p:cNvPr id="8" name="Text 6"/>
          <p:cNvSpPr/>
          <p:nvPr/>
        </p:nvSpPr>
        <p:spPr>
          <a:xfrm>
            <a:off x="1508760" y="1325880"/>
            <a:ext cx="2788920" cy="347472"/>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Zone D (IT network) — realistic via USB/phishing (TRITON, BlackEnergy precedent)</a:t>
            </a:r>
            <a:endParaRPr lang="en-US" sz="1000" dirty="0"/>
          </a:p>
        </p:txBody>
      </p:sp>
      <p:sp>
        <p:nvSpPr>
          <p:cNvPr id="9" name="Shape 7"/>
          <p:cNvSpPr/>
          <p:nvPr/>
        </p:nvSpPr>
        <p:spPr>
          <a:xfrm>
            <a:off x="502920" y="1901952"/>
            <a:ext cx="914400" cy="347472"/>
          </a:xfrm>
          <a:prstGeom prst="rect">
            <a:avLst/>
          </a:prstGeom>
          <a:solidFill>
            <a:srgbClr val="C0392B"/>
          </a:solidFill>
          <a:ln w="12700">
            <a:solidFill>
              <a:srgbClr val="C0392B"/>
            </a:solidFill>
            <a:prstDash val="solid"/>
          </a:ln>
        </p:spPr>
      </p:sp>
      <p:sp>
        <p:nvSpPr>
          <p:cNvPr id="10" name="Text 8"/>
          <p:cNvSpPr/>
          <p:nvPr/>
        </p:nvSpPr>
        <p:spPr>
          <a:xfrm>
            <a:off x="502920" y="1901952"/>
            <a:ext cx="91440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Goal</a:t>
            </a:r>
            <a:endParaRPr lang="en-US" sz="900" dirty="0"/>
          </a:p>
        </p:txBody>
      </p:sp>
      <p:sp>
        <p:nvSpPr>
          <p:cNvPr id="11" name="Text 9"/>
          <p:cNvSpPr/>
          <p:nvPr/>
        </p:nvSpPr>
        <p:spPr>
          <a:xfrm>
            <a:off x="1508760" y="1901952"/>
            <a:ext cx="2788920" cy="347472"/>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Disrupt P1 water intake; starve downstream P2–P6 stages</a:t>
            </a:r>
            <a:endParaRPr lang="en-US" sz="1000" dirty="0"/>
          </a:p>
        </p:txBody>
      </p:sp>
      <p:sp>
        <p:nvSpPr>
          <p:cNvPr id="12" name="Shape 10"/>
          <p:cNvSpPr/>
          <p:nvPr/>
        </p:nvSpPr>
        <p:spPr>
          <a:xfrm>
            <a:off x="502920" y="2478024"/>
            <a:ext cx="914400" cy="347472"/>
          </a:xfrm>
          <a:prstGeom prst="rect">
            <a:avLst/>
          </a:prstGeom>
          <a:solidFill>
            <a:srgbClr val="C0392B"/>
          </a:solidFill>
          <a:ln w="12700">
            <a:solidFill>
              <a:srgbClr val="C0392B"/>
            </a:solidFill>
            <a:prstDash val="solid"/>
          </a:ln>
        </p:spPr>
      </p:sp>
      <p:sp>
        <p:nvSpPr>
          <p:cNvPr id="13" name="Text 11"/>
          <p:cNvSpPr/>
          <p:nvPr/>
        </p:nvSpPr>
        <p:spPr>
          <a:xfrm>
            <a:off x="502920" y="2478024"/>
            <a:ext cx="91440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Tools</a:t>
            </a:r>
            <a:endParaRPr lang="en-US" sz="900" dirty="0"/>
          </a:p>
        </p:txBody>
      </p:sp>
      <p:sp>
        <p:nvSpPr>
          <p:cNvPr id="14" name="Text 12"/>
          <p:cNvSpPr/>
          <p:nvPr/>
        </p:nvSpPr>
        <p:spPr>
          <a:xfrm>
            <a:off x="1508760" y="2478024"/>
            <a:ext cx="2788920" cy="347472"/>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Scapy, pyModbus, arpspoof — all standard Python</a:t>
            </a:r>
            <a:endParaRPr lang="en-US" sz="1000" dirty="0"/>
          </a:p>
        </p:txBody>
      </p:sp>
      <p:sp>
        <p:nvSpPr>
          <p:cNvPr id="15" name="Shape 13"/>
          <p:cNvSpPr/>
          <p:nvPr/>
        </p:nvSpPr>
        <p:spPr>
          <a:xfrm>
            <a:off x="502920" y="3054096"/>
            <a:ext cx="914400" cy="347472"/>
          </a:xfrm>
          <a:prstGeom prst="rect">
            <a:avLst/>
          </a:prstGeom>
          <a:solidFill>
            <a:srgbClr val="C0392B"/>
          </a:solidFill>
          <a:ln w="12700">
            <a:solidFill>
              <a:srgbClr val="C0392B"/>
            </a:solidFill>
            <a:prstDash val="solid"/>
          </a:ln>
        </p:spPr>
      </p:sp>
      <p:sp>
        <p:nvSpPr>
          <p:cNvPr id="16" name="Text 14"/>
          <p:cNvSpPr/>
          <p:nvPr/>
        </p:nvSpPr>
        <p:spPr>
          <a:xfrm>
            <a:off x="502920" y="3054096"/>
            <a:ext cx="91440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Knowledge</a:t>
            </a:r>
            <a:endParaRPr lang="en-US" sz="900" dirty="0"/>
          </a:p>
        </p:txBody>
      </p:sp>
      <p:sp>
        <p:nvSpPr>
          <p:cNvPr id="17" name="Text 15"/>
          <p:cNvSpPr/>
          <p:nvPr/>
        </p:nvSpPr>
        <p:spPr>
          <a:xfrm>
            <a:off x="1508760" y="3054096"/>
            <a:ext cx="2788920" cy="347472"/>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Modbus spec is public; no PLC vendor credentials needed</a:t>
            </a:r>
            <a:endParaRPr lang="en-US" sz="1000" dirty="0"/>
          </a:p>
        </p:txBody>
      </p:sp>
      <p:sp>
        <p:nvSpPr>
          <p:cNvPr id="18" name="Shape 16"/>
          <p:cNvSpPr/>
          <p:nvPr/>
        </p:nvSpPr>
        <p:spPr>
          <a:xfrm>
            <a:off x="502920" y="3630168"/>
            <a:ext cx="914400" cy="347472"/>
          </a:xfrm>
          <a:prstGeom prst="rect">
            <a:avLst/>
          </a:prstGeom>
          <a:solidFill>
            <a:srgbClr val="C0392B"/>
          </a:solidFill>
          <a:ln w="12700">
            <a:solidFill>
              <a:srgbClr val="C0392B"/>
            </a:solidFill>
            <a:prstDash val="solid"/>
          </a:ln>
        </p:spPr>
      </p:sp>
      <p:sp>
        <p:nvSpPr>
          <p:cNvPr id="19" name="Text 17"/>
          <p:cNvSpPr/>
          <p:nvPr/>
        </p:nvSpPr>
        <p:spPr>
          <a:xfrm>
            <a:off x="502920" y="3630168"/>
            <a:ext cx="91440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Stealth</a:t>
            </a:r>
            <a:endParaRPr lang="en-US" sz="900" dirty="0"/>
          </a:p>
        </p:txBody>
      </p:sp>
      <p:sp>
        <p:nvSpPr>
          <p:cNvPr id="20" name="Text 18"/>
          <p:cNvSpPr/>
          <p:nvPr/>
        </p:nvSpPr>
        <p:spPr>
          <a:xfrm>
            <a:off x="1508760" y="3630168"/>
            <a:ext cx="2788920" cy="347472"/>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HMI operator sees nothing — fake responses replayed from pre-built DB</a:t>
            </a:r>
            <a:endParaRPr lang="en-US" sz="1000" dirty="0"/>
          </a:p>
        </p:txBody>
      </p:sp>
      <p:sp>
        <p:nvSpPr>
          <p:cNvPr id="21" name="Shape 19"/>
          <p:cNvSpPr/>
          <p:nvPr/>
        </p:nvSpPr>
        <p:spPr>
          <a:xfrm>
            <a:off x="4709160" y="777240"/>
            <a:ext cx="4160520" cy="3383280"/>
          </a:xfrm>
          <a:prstGeom prst="rect">
            <a:avLst/>
          </a:prstGeom>
          <a:solidFill>
            <a:srgbClr val="1B3A5C"/>
          </a:solidFill>
          <a:ln w="12700">
            <a:solidFill>
              <a:srgbClr val="1B3A5C"/>
            </a:solidFill>
            <a:prstDash val="solid"/>
          </a:ln>
        </p:spPr>
      </p:sp>
      <p:sp>
        <p:nvSpPr>
          <p:cNvPr id="22" name="Shape 20"/>
          <p:cNvSpPr/>
          <p:nvPr/>
        </p:nvSpPr>
        <p:spPr>
          <a:xfrm>
            <a:off x="4709160" y="777240"/>
            <a:ext cx="64008" cy="3383280"/>
          </a:xfrm>
          <a:prstGeom prst="rect">
            <a:avLst/>
          </a:prstGeom>
          <a:solidFill>
            <a:srgbClr val="F4A261"/>
          </a:solidFill>
          <a:ln w="12700">
            <a:solidFill>
              <a:srgbClr val="F4A261"/>
            </a:solidFill>
            <a:prstDash val="solid"/>
          </a:ln>
        </p:spPr>
      </p:sp>
      <p:sp>
        <p:nvSpPr>
          <p:cNvPr id="23" name="Text 21"/>
          <p:cNvSpPr/>
          <p:nvPr/>
        </p:nvSpPr>
        <p:spPr>
          <a:xfrm>
            <a:off x="4937760" y="850392"/>
            <a:ext cx="3749040" cy="347472"/>
          </a:xfrm>
          <a:prstGeom prst="rect">
            <a:avLst/>
          </a:prstGeom>
          <a:noFill/>
          <a:ln/>
        </p:spPr>
        <p:txBody>
          <a:bodyPr wrap="square" lIns="0" tIns="0" rIns="0" bIns="0" rtlCol="0" anchor="ctr"/>
          <a:lstStyle/>
          <a:p>
            <a:pPr indent="0" marL="0">
              <a:buNone/>
            </a:pPr>
            <a:r>
              <a:rPr lang="en-US" sz="1600" b="1" dirty="0">
                <a:solidFill>
                  <a:srgbClr val="F4A261"/>
                </a:solidFill>
                <a:latin typeface="Calibri" pitchFamily="34" charset="0"/>
                <a:ea typeface="Calibri" pitchFamily="34" charset="-122"/>
                <a:cs typeface="Calibri" pitchFamily="34" charset="-120"/>
              </a:rPr>
              <a:t>Why Modbus Has No Defence</a:t>
            </a:r>
            <a:endParaRPr lang="en-US" sz="1600" dirty="0"/>
          </a:p>
        </p:txBody>
      </p:sp>
      <p:sp>
        <p:nvSpPr>
          <p:cNvPr id="24" name="Shape 22"/>
          <p:cNvSpPr/>
          <p:nvPr/>
        </p:nvSpPr>
        <p:spPr>
          <a:xfrm>
            <a:off x="4937760" y="1325880"/>
            <a:ext cx="914400" cy="347472"/>
          </a:xfrm>
          <a:prstGeom prst="rect">
            <a:avLst/>
          </a:prstGeom>
          <a:solidFill>
            <a:srgbClr val="E67E22"/>
          </a:solidFill>
          <a:ln w="12700">
            <a:solidFill>
              <a:srgbClr val="E67E22"/>
            </a:solidFill>
            <a:prstDash val="solid"/>
          </a:ln>
        </p:spPr>
      </p:sp>
      <p:sp>
        <p:nvSpPr>
          <p:cNvPr id="25" name="Text 23"/>
          <p:cNvSpPr/>
          <p:nvPr/>
        </p:nvSpPr>
        <p:spPr>
          <a:xfrm>
            <a:off x="4937760" y="1325880"/>
            <a:ext cx="91440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 Auth</a:t>
            </a:r>
            <a:endParaRPr lang="en-US" sz="900" dirty="0"/>
          </a:p>
        </p:txBody>
      </p:sp>
      <p:sp>
        <p:nvSpPr>
          <p:cNvPr id="26" name="Text 24"/>
          <p:cNvSpPr/>
          <p:nvPr/>
        </p:nvSpPr>
        <p:spPr>
          <a:xfrm>
            <a:off x="5943600" y="1325880"/>
            <a:ext cx="2743200" cy="347472"/>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Any device on the network can write coils/registers to any PLC</a:t>
            </a:r>
            <a:endParaRPr lang="en-US" sz="1000" dirty="0"/>
          </a:p>
        </p:txBody>
      </p:sp>
      <p:sp>
        <p:nvSpPr>
          <p:cNvPr id="27" name="Shape 25"/>
          <p:cNvSpPr/>
          <p:nvPr/>
        </p:nvSpPr>
        <p:spPr>
          <a:xfrm>
            <a:off x="4937760" y="1901952"/>
            <a:ext cx="914400" cy="347472"/>
          </a:xfrm>
          <a:prstGeom prst="rect">
            <a:avLst/>
          </a:prstGeom>
          <a:solidFill>
            <a:srgbClr val="E67E22"/>
          </a:solidFill>
          <a:ln w="12700">
            <a:solidFill>
              <a:srgbClr val="E67E22"/>
            </a:solidFill>
            <a:prstDash val="solid"/>
          </a:ln>
        </p:spPr>
      </p:sp>
      <p:sp>
        <p:nvSpPr>
          <p:cNvPr id="28" name="Text 26"/>
          <p:cNvSpPr/>
          <p:nvPr/>
        </p:nvSpPr>
        <p:spPr>
          <a:xfrm>
            <a:off x="4937760" y="1901952"/>
            <a:ext cx="91440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Plaintext</a:t>
            </a:r>
            <a:endParaRPr lang="en-US" sz="900" dirty="0"/>
          </a:p>
        </p:txBody>
      </p:sp>
      <p:sp>
        <p:nvSpPr>
          <p:cNvPr id="29" name="Text 27"/>
          <p:cNvSpPr/>
          <p:nvPr/>
        </p:nvSpPr>
        <p:spPr>
          <a:xfrm>
            <a:off x="5943600" y="1901952"/>
            <a:ext cx="2743200" cy="347472"/>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Frames transferred in clear — Wireshark reveals everything</a:t>
            </a:r>
            <a:endParaRPr lang="en-US" sz="1000" dirty="0"/>
          </a:p>
        </p:txBody>
      </p:sp>
      <p:sp>
        <p:nvSpPr>
          <p:cNvPr id="30" name="Shape 28"/>
          <p:cNvSpPr/>
          <p:nvPr/>
        </p:nvSpPr>
        <p:spPr>
          <a:xfrm>
            <a:off x="4937760" y="2478024"/>
            <a:ext cx="914400" cy="347472"/>
          </a:xfrm>
          <a:prstGeom prst="rect">
            <a:avLst/>
          </a:prstGeom>
          <a:solidFill>
            <a:srgbClr val="E67E22"/>
          </a:solidFill>
          <a:ln w="12700">
            <a:solidFill>
              <a:srgbClr val="E67E22"/>
            </a:solidFill>
            <a:prstDash val="solid"/>
          </a:ln>
        </p:spPr>
      </p:sp>
      <p:sp>
        <p:nvSpPr>
          <p:cNvPr id="31" name="Text 29"/>
          <p:cNvSpPr/>
          <p:nvPr/>
        </p:nvSpPr>
        <p:spPr>
          <a:xfrm>
            <a:off x="4937760" y="2478024"/>
            <a:ext cx="91440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 timestamp</a:t>
            </a:r>
            <a:endParaRPr lang="en-US" sz="900" dirty="0"/>
          </a:p>
        </p:txBody>
      </p:sp>
      <p:sp>
        <p:nvSpPr>
          <p:cNvPr id="32" name="Text 30"/>
          <p:cNvSpPr/>
          <p:nvPr/>
        </p:nvSpPr>
        <p:spPr>
          <a:xfrm>
            <a:off x="5943600" y="2478024"/>
            <a:ext cx="2743200" cy="347472"/>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Devices cannot tell if a response is current or a replay</a:t>
            </a:r>
            <a:endParaRPr lang="en-US" sz="1000" dirty="0"/>
          </a:p>
        </p:txBody>
      </p:sp>
      <p:sp>
        <p:nvSpPr>
          <p:cNvPr id="33" name="Shape 31"/>
          <p:cNvSpPr/>
          <p:nvPr/>
        </p:nvSpPr>
        <p:spPr>
          <a:xfrm>
            <a:off x="4937760" y="3054096"/>
            <a:ext cx="914400" cy="347472"/>
          </a:xfrm>
          <a:prstGeom prst="rect">
            <a:avLst/>
          </a:prstGeom>
          <a:solidFill>
            <a:srgbClr val="E67E22"/>
          </a:solidFill>
          <a:ln w="12700">
            <a:solidFill>
              <a:srgbClr val="E67E22"/>
            </a:solidFill>
            <a:prstDash val="solid"/>
          </a:ln>
        </p:spPr>
      </p:sp>
      <p:sp>
        <p:nvSpPr>
          <p:cNvPr id="34" name="Text 32"/>
          <p:cNvSpPr/>
          <p:nvPr/>
        </p:nvSpPr>
        <p:spPr>
          <a:xfrm>
            <a:off x="4937760" y="3054096"/>
            <a:ext cx="91440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 integrity</a:t>
            </a:r>
            <a:endParaRPr lang="en-US" sz="900" dirty="0"/>
          </a:p>
        </p:txBody>
      </p:sp>
      <p:sp>
        <p:nvSpPr>
          <p:cNvPr id="35" name="Text 33"/>
          <p:cNvSpPr/>
          <p:nvPr/>
        </p:nvSpPr>
        <p:spPr>
          <a:xfrm>
            <a:off x="5943600" y="3054096"/>
            <a:ext cx="2743200" cy="347472"/>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Frame contents can be altered; PLC cannot detect manipulation</a:t>
            </a:r>
            <a:endParaRPr lang="en-US" sz="1000" dirty="0"/>
          </a:p>
        </p:txBody>
      </p:sp>
      <p:sp>
        <p:nvSpPr>
          <p:cNvPr id="36" name="Shape 34"/>
          <p:cNvSpPr/>
          <p:nvPr/>
        </p:nvSpPr>
        <p:spPr>
          <a:xfrm>
            <a:off x="4937760" y="3630168"/>
            <a:ext cx="914400" cy="347472"/>
          </a:xfrm>
          <a:prstGeom prst="rect">
            <a:avLst/>
          </a:prstGeom>
          <a:solidFill>
            <a:srgbClr val="E67E22"/>
          </a:solidFill>
          <a:ln w="12700">
            <a:solidFill>
              <a:srgbClr val="E67E22"/>
            </a:solidFill>
            <a:prstDash val="solid"/>
          </a:ln>
        </p:spPr>
      </p:sp>
      <p:sp>
        <p:nvSpPr>
          <p:cNvPr id="37" name="Text 35"/>
          <p:cNvSpPr/>
          <p:nvPr/>
        </p:nvSpPr>
        <p:spPr>
          <a:xfrm>
            <a:off x="4937760" y="3630168"/>
            <a:ext cx="91440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Open spec</a:t>
            </a:r>
            <a:endParaRPr lang="en-US" sz="900" dirty="0"/>
          </a:p>
        </p:txBody>
      </p:sp>
      <p:sp>
        <p:nvSpPr>
          <p:cNvPr id="38" name="Text 36"/>
          <p:cNvSpPr/>
          <p:nvPr/>
        </p:nvSpPr>
        <p:spPr>
          <a:xfrm>
            <a:off x="5943600" y="3630168"/>
            <a:ext cx="2743200" cy="347472"/>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Modbus protocol reference is freely downloadable — attacker has full spec</a:t>
            </a:r>
            <a:endParaRPr lang="en-US" sz="1000" dirty="0"/>
          </a:p>
        </p:txBody>
      </p:sp>
      <p:sp>
        <p:nvSpPr>
          <p:cNvPr id="39" name="Shape 37"/>
          <p:cNvSpPr/>
          <p:nvPr/>
        </p:nvSpPr>
        <p:spPr>
          <a:xfrm>
            <a:off x="0" y="4754880"/>
            <a:ext cx="9144000" cy="384048"/>
          </a:xfrm>
          <a:prstGeom prst="rect">
            <a:avLst/>
          </a:prstGeom>
          <a:solidFill>
            <a:srgbClr val="1B3A5C"/>
          </a:solidFill>
          <a:ln w="12700">
            <a:solidFill>
              <a:srgbClr val="1B3A5C"/>
            </a:solidFill>
            <a:prstDash val="solid"/>
          </a:ln>
        </p:spPr>
      </p:sp>
      <p:sp>
        <p:nvSpPr>
          <p:cNvPr id="40" name="Text 38"/>
          <p:cNvSpPr/>
          <p:nvPr/>
        </p:nvSpPr>
        <p:spPr>
          <a:xfrm>
            <a:off x="274320" y="4754880"/>
            <a:ext cx="8595360" cy="38404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Attack Implementation  ·  Slide 13/18 — Threat Model</a:t>
            </a:r>
            <a:endParaRPr lang="en-US" sz="1000" dirty="0"/>
          </a:p>
        </p:txBody>
      </p:sp>
      <p:pic>
        <p:nvPicPr>
          <p:cNvPr id="41" name="Picture 40" descr="img_attack_surface.png"/>
          <p:cNvPicPr>
            <a:picLocks noChangeAspect="1"/>
          </p:cNvPicPr>
          <p:nvPr/>
        </p:nvPicPr>
        <p:blipFill>
          <a:blip r:embed="rId3"/>
          <a:stretch>
            <a:fillRect/>
          </a:stretch>
        </p:blipFill>
        <p:spPr>
          <a:xfrm>
            <a:off x="137160" y="822960"/>
            <a:ext cx="5303520" cy="3291840"/>
          </a:xfrm>
          <a:prstGeom prst="rect">
            <a:avLst/>
          </a:prstGeom>
        </p:spPr>
      </p:pic>
      <p:sp>
        <p:nvSpPr>
          <p:cNvPr id="42" name="TextBox 41"/>
          <p:cNvSpPr txBox="1"/>
          <p:nvPr/>
        </p:nvSpPr>
        <p:spPr>
          <a:xfrm>
            <a:off x="137160" y="4114800"/>
            <a:ext cx="5303520" cy="274320"/>
          </a:xfrm>
          <a:prstGeom prst="rect">
            <a:avLst/>
          </a:prstGeom>
          <a:noFill/>
        </p:spPr>
        <p:txBody>
          <a:bodyPr wrap="square">
            <a:spAutoFit/>
          </a:bodyPr>
          <a:lstStyle/>
          <a:p>
            <a:pPr algn="ctr"/>
            <a:r>
              <a:rPr sz="1000" i="1">
                <a:solidFill>
                  <a:srgbClr val="90B4CE"/>
                </a:solidFill>
              </a:rPr>
              <a:t>Network topology showing attacker path from Zone D → Zone B (OT) via Modbus TCP</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137160"/>
            <a:ext cx="1280160" cy="347472"/>
          </a:xfrm>
          <a:prstGeom prst="rect">
            <a:avLst/>
          </a:prstGeom>
          <a:solidFill>
            <a:srgbClr val="2980B9"/>
          </a:solidFill>
          <a:ln w="12700">
            <a:solidFill>
              <a:srgbClr val="2980B9"/>
            </a:solidFill>
            <a:prstDash val="solid"/>
          </a:ln>
        </p:spPr>
      </p:sp>
      <p:sp>
        <p:nvSpPr>
          <p:cNvPr id="3" name="Text 1"/>
          <p:cNvSpPr/>
          <p:nvPr/>
        </p:nvSpPr>
        <p:spPr>
          <a:xfrm>
            <a:off x="365760" y="137160"/>
            <a:ext cx="128016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Phase 0</a:t>
            </a:r>
            <a:endParaRPr lang="en-US" sz="1100" dirty="0"/>
          </a:p>
        </p:txBody>
      </p:sp>
      <p:sp>
        <p:nvSpPr>
          <p:cNvPr id="4" name="Text 2"/>
          <p:cNvSpPr/>
          <p:nvPr/>
        </p:nvSpPr>
        <p:spPr>
          <a:xfrm>
            <a:off x="1828800" y="137160"/>
            <a:ext cx="6949440" cy="4572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Reconnaissance &amp; Database Building</a:t>
            </a:r>
            <a:endParaRPr lang="en-US" sz="2600" dirty="0"/>
          </a:p>
        </p:txBody>
      </p:sp>
      <p:sp>
        <p:nvSpPr>
          <p:cNvPr id="5" name="Text 3"/>
          <p:cNvSpPr/>
          <p:nvPr/>
        </p:nvSpPr>
        <p:spPr>
          <a:xfrm>
            <a:off x="365760" y="621792"/>
            <a:ext cx="8412480" cy="256032"/>
          </a:xfrm>
          <a:prstGeom prst="rect">
            <a:avLst/>
          </a:prstGeom>
          <a:noFill/>
          <a:ln/>
        </p:spPr>
        <p:txBody>
          <a:bodyPr wrap="square" lIns="0" tIns="0" rIns="0" bIns="0" rtlCol="0" anchor="ctr"/>
          <a:lstStyle/>
          <a:p>
            <a:pPr indent="0" marL="0">
              <a:buNone/>
            </a:pPr>
            <a:r>
              <a:rPr lang="en-US" sz="1100" i="1" dirty="0">
                <a:solidFill>
                  <a:srgbClr val="8FA3B1"/>
                </a:solidFill>
                <a:latin typeface="Calibri" pitchFamily="34" charset="0"/>
                <a:ea typeface="Calibri" pitchFamily="34" charset="-122"/>
                <a:cs typeface="Calibri" pitchFamily="34" charset="-120"/>
              </a:rPr>
              <a:t>phase0_recon.py  ·  NMAP SYN scan + Wireshark-style Modbus capture (~30 min)</a:t>
            </a:r>
            <a:endParaRPr lang="en-US" sz="1100" dirty="0"/>
          </a:p>
        </p:txBody>
      </p:sp>
      <p:sp>
        <p:nvSpPr>
          <p:cNvPr id="6" name="Shape 4"/>
          <p:cNvSpPr/>
          <p:nvPr/>
        </p:nvSpPr>
        <p:spPr>
          <a:xfrm>
            <a:off x="274320" y="960120"/>
            <a:ext cx="4160520" cy="1783080"/>
          </a:xfrm>
          <a:prstGeom prst="rect">
            <a:avLst/>
          </a:prstGeom>
          <a:solidFill>
            <a:srgbClr val="1B3A5C"/>
          </a:solidFill>
          <a:ln w="12700">
            <a:solidFill>
              <a:srgbClr val="1B3A5C"/>
            </a:solidFill>
            <a:prstDash val="solid"/>
          </a:ln>
        </p:spPr>
      </p:sp>
      <p:sp>
        <p:nvSpPr>
          <p:cNvPr id="7" name="Shape 5"/>
          <p:cNvSpPr/>
          <p:nvPr/>
        </p:nvSpPr>
        <p:spPr>
          <a:xfrm>
            <a:off x="274320" y="960120"/>
            <a:ext cx="64008" cy="1783080"/>
          </a:xfrm>
          <a:prstGeom prst="rect">
            <a:avLst/>
          </a:prstGeom>
          <a:solidFill>
            <a:srgbClr val="2980B9"/>
          </a:solidFill>
          <a:ln w="12700">
            <a:solidFill>
              <a:srgbClr val="2980B9"/>
            </a:solidFill>
            <a:prstDash val="solid"/>
          </a:ln>
        </p:spPr>
      </p:sp>
      <p:sp>
        <p:nvSpPr>
          <p:cNvPr id="8" name="Text 6"/>
          <p:cNvSpPr/>
          <p:nvPr/>
        </p:nvSpPr>
        <p:spPr>
          <a:xfrm>
            <a:off x="502920" y="1024128"/>
            <a:ext cx="3749040" cy="320040"/>
          </a:xfrm>
          <a:prstGeom prst="rect">
            <a:avLst/>
          </a:prstGeom>
          <a:noFill/>
          <a:ln/>
        </p:spPr>
        <p:txBody>
          <a:bodyPr wrap="square" lIns="0" tIns="0" rIns="0" bIns="0" rtlCol="0" anchor="ctr"/>
          <a:lstStyle/>
          <a:p>
            <a:pPr indent="0" marL="0">
              <a:buNone/>
            </a:pPr>
            <a:r>
              <a:rPr lang="en-US" sz="1400" b="1" dirty="0">
                <a:solidFill>
                  <a:srgbClr val="3498DB"/>
                </a:solidFill>
                <a:latin typeface="Calibri" pitchFamily="34" charset="0"/>
                <a:ea typeface="Calibri" pitchFamily="34" charset="-122"/>
                <a:cs typeface="Calibri" pitchFamily="34" charset="-120"/>
              </a:rPr>
              <a:t>Step 1 — NMAP SYN Scan</a:t>
            </a:r>
            <a:endParaRPr lang="en-US" sz="1400" dirty="0"/>
          </a:p>
        </p:txBody>
      </p:sp>
      <p:sp>
        <p:nvSpPr>
          <p:cNvPr id="9" name="Text 7"/>
          <p:cNvSpPr/>
          <p:nvPr/>
        </p:nvSpPr>
        <p:spPr>
          <a:xfrm>
            <a:off x="502920" y="1417320"/>
            <a:ext cx="3749040" cy="320040"/>
          </a:xfrm>
          <a:prstGeom prst="rect">
            <a:avLst/>
          </a:prstGeom>
          <a:noFill/>
          <a:ln/>
        </p:spPr>
        <p:txBody>
          <a:bodyPr wrap="square" lIns="0" tIns="0" rIns="0" bIns="0" rtlCol="0" anchor="ctr"/>
          <a:lstStyle/>
          <a:p>
            <a:pPr indent="0" marL="0">
              <a:buNone/>
            </a:pPr>
            <a:r>
              <a:rPr lang="en-US" sz="1200" dirty="0">
                <a:solidFill>
                  <a:srgbClr val="2ECC71"/>
                </a:solidFill>
                <a:latin typeface="Consolas" pitchFamily="34" charset="0"/>
                <a:ea typeface="Consolas" pitchFamily="34" charset="-122"/>
                <a:cs typeface="Consolas" pitchFamily="34" charset="-120"/>
              </a:rPr>
              <a:t>nmap -sS -p 502 192.168.1.0/24</a:t>
            </a:r>
            <a:endParaRPr lang="en-US" sz="1200" dirty="0"/>
          </a:p>
        </p:txBody>
      </p:sp>
      <p:sp>
        <p:nvSpPr>
          <p:cNvPr id="10" name="Text 8"/>
          <p:cNvSpPr/>
          <p:nvPr/>
        </p:nvSpPr>
        <p:spPr>
          <a:xfrm>
            <a:off x="502920" y="1783080"/>
            <a:ext cx="3749040" cy="822960"/>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SYN (half-open) scan — does not complete TCP handshake.</a:t>
            </a:r>
            <a:endParaRPr lang="en-US" sz="1100" dirty="0"/>
          </a:p>
          <a:p>
            <a:pPr indent="0" marL="0">
              <a:buNone/>
            </a:pPr>
            <a:r>
              <a:rPr lang="en-US" sz="1100" dirty="0">
                <a:solidFill>
                  <a:srgbClr val="E8EEF4"/>
                </a:solidFill>
                <a:latin typeface="Calibri" pitchFamily="34" charset="0"/>
                <a:ea typeface="Calibri" pitchFamily="34" charset="-122"/>
                <a:cs typeface="Calibri" pitchFamily="34" charset="-120"/>
              </a:rPr>
              <a:t>Harder to detect by default firewall rules.</a:t>
            </a:r>
            <a:endParaRPr lang="en-US" sz="1100" dirty="0"/>
          </a:p>
          <a:p>
            <a:pPr indent="0" marL="0">
              <a:buNone/>
            </a:pPr>
            <a:r>
              <a:rPr lang="en-US" sz="1100" dirty="0">
                <a:solidFill>
                  <a:srgbClr val="E8EEF4"/>
                </a:solidFill>
                <a:latin typeface="Calibri" pitchFamily="34" charset="0"/>
                <a:ea typeface="Calibri" pitchFamily="34" charset="-122"/>
                <a:cs typeface="Calibri" pitchFamily="34" charset="-120"/>
              </a:rPr>
              <a:t>Finds all PLCs with port 502 open.</a:t>
            </a:r>
            <a:endParaRPr lang="en-US" sz="1100" dirty="0"/>
          </a:p>
        </p:txBody>
      </p:sp>
      <p:sp>
        <p:nvSpPr>
          <p:cNvPr id="11" name="Shape 9"/>
          <p:cNvSpPr/>
          <p:nvPr/>
        </p:nvSpPr>
        <p:spPr>
          <a:xfrm>
            <a:off x="4709160" y="960120"/>
            <a:ext cx="4160520" cy="1783080"/>
          </a:xfrm>
          <a:prstGeom prst="rect">
            <a:avLst/>
          </a:prstGeom>
          <a:solidFill>
            <a:srgbClr val="1B3A5C"/>
          </a:solidFill>
          <a:ln w="12700">
            <a:solidFill>
              <a:srgbClr val="1B3A5C"/>
            </a:solidFill>
            <a:prstDash val="solid"/>
          </a:ln>
        </p:spPr>
      </p:sp>
      <p:sp>
        <p:nvSpPr>
          <p:cNvPr id="12" name="Shape 10"/>
          <p:cNvSpPr/>
          <p:nvPr/>
        </p:nvSpPr>
        <p:spPr>
          <a:xfrm>
            <a:off x="4709160" y="960120"/>
            <a:ext cx="64008" cy="1783080"/>
          </a:xfrm>
          <a:prstGeom prst="rect">
            <a:avLst/>
          </a:prstGeom>
          <a:solidFill>
            <a:srgbClr val="2980B9"/>
          </a:solidFill>
          <a:ln w="12700">
            <a:solidFill>
              <a:srgbClr val="2980B9"/>
            </a:solidFill>
            <a:prstDash val="solid"/>
          </a:ln>
        </p:spPr>
      </p:sp>
      <p:sp>
        <p:nvSpPr>
          <p:cNvPr id="13" name="Text 11"/>
          <p:cNvSpPr/>
          <p:nvPr/>
        </p:nvSpPr>
        <p:spPr>
          <a:xfrm>
            <a:off x="4937760" y="1024128"/>
            <a:ext cx="3749040" cy="320040"/>
          </a:xfrm>
          <a:prstGeom prst="rect">
            <a:avLst/>
          </a:prstGeom>
          <a:noFill/>
          <a:ln/>
        </p:spPr>
        <p:txBody>
          <a:bodyPr wrap="square" lIns="0" tIns="0" rIns="0" bIns="0" rtlCol="0" anchor="ctr"/>
          <a:lstStyle/>
          <a:p>
            <a:pPr indent="0" marL="0">
              <a:buNone/>
            </a:pPr>
            <a:r>
              <a:rPr lang="en-US" sz="1400" b="1" dirty="0">
                <a:solidFill>
                  <a:srgbClr val="3498DB"/>
                </a:solidFill>
                <a:latin typeface="Calibri" pitchFamily="34" charset="0"/>
                <a:ea typeface="Calibri" pitchFamily="34" charset="-122"/>
                <a:cs typeface="Calibri" pitchFamily="34" charset="-120"/>
              </a:rPr>
              <a:t>Step 2 — Capture &amp; Pair Modbus Frames</a:t>
            </a:r>
            <a:endParaRPr lang="en-US" sz="1400" dirty="0"/>
          </a:p>
        </p:txBody>
      </p:sp>
      <p:sp>
        <p:nvSpPr>
          <p:cNvPr id="14" name="Text 12"/>
          <p:cNvSpPr/>
          <p:nvPr/>
        </p:nvSpPr>
        <p:spPr>
          <a:xfrm>
            <a:off x="4937760" y="1417320"/>
            <a:ext cx="3749040" cy="320040"/>
          </a:xfrm>
          <a:prstGeom prst="rect">
            <a:avLst/>
          </a:prstGeom>
          <a:noFill/>
          <a:ln/>
        </p:spPr>
        <p:txBody>
          <a:bodyPr wrap="square" lIns="0" tIns="0" rIns="0" bIns="0" rtlCol="0" anchor="ctr"/>
          <a:lstStyle/>
          <a:p>
            <a:pPr indent="0" marL="0">
              <a:buNone/>
            </a:pPr>
            <a:r>
              <a:rPr lang="en-US" sz="1200" dirty="0">
                <a:solidFill>
                  <a:srgbClr val="2ECC71"/>
                </a:solidFill>
                <a:latin typeface="Consolas" pitchFamily="34" charset="0"/>
                <a:ea typeface="Consolas" pitchFamily="34" charset="-122"/>
                <a:cs typeface="Consolas" pitchFamily="34" charset="-120"/>
              </a:rPr>
              <a:t>Match by: TID  +  Unit ID  +  Func Code</a:t>
            </a:r>
            <a:endParaRPr lang="en-US" sz="1200" dirty="0"/>
          </a:p>
        </p:txBody>
      </p:sp>
      <p:sp>
        <p:nvSpPr>
          <p:cNvPr id="15" name="Text 13"/>
          <p:cNvSpPr/>
          <p:nvPr/>
        </p:nvSpPr>
        <p:spPr>
          <a:xfrm>
            <a:off x="4937760" y="1783080"/>
            <a:ext cx="3749040" cy="822960"/>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Sniff for ~30 min. Each HMI→PLC request is paired with its PLC→HMI response using 3 shared fields (Paper #9 Fig.5). Duplicates removed. Result: dict of request-response pairs.</a:t>
            </a:r>
            <a:endParaRPr lang="en-US" sz="1100" dirty="0"/>
          </a:p>
        </p:txBody>
      </p:sp>
      <p:sp>
        <p:nvSpPr>
          <p:cNvPr id="16" name="Shape 14"/>
          <p:cNvSpPr/>
          <p:nvPr/>
        </p:nvSpPr>
        <p:spPr>
          <a:xfrm>
            <a:off x="274320" y="2834640"/>
            <a:ext cx="8595360" cy="1463040"/>
          </a:xfrm>
          <a:prstGeom prst="rect">
            <a:avLst/>
          </a:prstGeom>
          <a:solidFill>
            <a:srgbClr val="1E2D3D"/>
          </a:solidFill>
          <a:ln w="12700">
            <a:solidFill>
              <a:srgbClr val="1E2D3D"/>
            </a:solidFill>
            <a:prstDash val="solid"/>
          </a:ln>
        </p:spPr>
      </p:sp>
      <p:sp>
        <p:nvSpPr>
          <p:cNvPr id="17" name="Text 15"/>
          <p:cNvSpPr/>
          <p:nvPr/>
        </p:nvSpPr>
        <p:spPr>
          <a:xfrm>
            <a:off x="457200" y="2898648"/>
            <a:ext cx="8229600" cy="274320"/>
          </a:xfrm>
          <a:prstGeom prst="rect">
            <a:avLst/>
          </a:prstGeom>
          <a:noFill/>
          <a:ln/>
        </p:spPr>
        <p:txBody>
          <a:bodyPr wrap="square" lIns="0" tIns="0" rIns="0" bIns="0" rtlCol="0" anchor="ctr"/>
          <a:lstStyle/>
          <a:p>
            <a:pPr indent="0" marL="0">
              <a:buNone/>
            </a:pPr>
            <a:r>
              <a:rPr lang="en-US" sz="1200" b="1" dirty="0">
                <a:solidFill>
                  <a:srgbClr val="F4A261"/>
                </a:solidFill>
                <a:latin typeface="Calibri" pitchFamily="34" charset="0"/>
                <a:ea typeface="Calibri" pitchFamily="34" charset="-122"/>
                <a:cs typeface="Calibri" pitchFamily="34" charset="-120"/>
              </a:rPr>
              <a:t>Modbus TCP Frame  (Paper #9 Fig. 2)</a:t>
            </a:r>
            <a:endParaRPr lang="en-US" sz="1200" dirty="0"/>
          </a:p>
        </p:txBody>
      </p:sp>
      <p:sp>
        <p:nvSpPr>
          <p:cNvPr id="18" name="Shape 16"/>
          <p:cNvSpPr/>
          <p:nvPr/>
        </p:nvSpPr>
        <p:spPr>
          <a:xfrm>
            <a:off x="457200" y="3227832"/>
            <a:ext cx="1188720" cy="502920"/>
          </a:xfrm>
          <a:prstGeom prst="rect">
            <a:avLst/>
          </a:prstGeom>
          <a:solidFill>
            <a:srgbClr val="1B3A5C"/>
          </a:solidFill>
          <a:ln w="12700">
            <a:solidFill>
              <a:srgbClr val="3498DB"/>
            </a:solidFill>
            <a:prstDash val="solid"/>
          </a:ln>
        </p:spPr>
      </p:sp>
      <p:sp>
        <p:nvSpPr>
          <p:cNvPr id="19" name="Text 17"/>
          <p:cNvSpPr/>
          <p:nvPr/>
        </p:nvSpPr>
        <p:spPr>
          <a:xfrm>
            <a:off x="457200" y="3246120"/>
            <a:ext cx="1188720" cy="228600"/>
          </a:xfrm>
          <a:prstGeom prst="rect">
            <a:avLst/>
          </a:prstGeom>
          <a:noFill/>
          <a:ln/>
        </p:spPr>
        <p:txBody>
          <a:bodyPr wrap="square" lIns="0" tIns="0" rIns="0" bIns="0" rtlCol="0" anchor="ctr"/>
          <a:lstStyle/>
          <a:p>
            <a:pPr algn="ctr" indent="0" marL="0">
              <a:buNone/>
            </a:pPr>
            <a:r>
              <a:rPr lang="en-US" sz="900" b="1" dirty="0">
                <a:solidFill>
                  <a:srgbClr val="3498DB"/>
                </a:solidFill>
                <a:latin typeface="Calibri" pitchFamily="34" charset="0"/>
                <a:ea typeface="Calibri" pitchFamily="34" charset="-122"/>
                <a:cs typeface="Calibri" pitchFamily="34" charset="-120"/>
              </a:rPr>
              <a:t>Trans ID</a:t>
            </a:r>
            <a:endParaRPr lang="en-US" sz="900" dirty="0"/>
          </a:p>
        </p:txBody>
      </p:sp>
      <p:sp>
        <p:nvSpPr>
          <p:cNvPr id="20" name="Text 18"/>
          <p:cNvSpPr/>
          <p:nvPr/>
        </p:nvSpPr>
        <p:spPr>
          <a:xfrm>
            <a:off x="457200" y="3474720"/>
            <a:ext cx="1188720" cy="182880"/>
          </a:xfrm>
          <a:prstGeom prst="rect">
            <a:avLst/>
          </a:prstGeom>
          <a:noFill/>
          <a:ln/>
        </p:spPr>
        <p:txBody>
          <a:bodyPr wrap="square" lIns="0" tIns="0" rIns="0" bIns="0" rtlCol="0" anchor="ctr"/>
          <a:lstStyle/>
          <a:p>
            <a:pPr algn="ctr" indent="0" marL="0">
              <a:buNone/>
            </a:pPr>
            <a:r>
              <a:rPr lang="en-US" sz="900" dirty="0">
                <a:solidFill>
                  <a:srgbClr val="8FA3B1"/>
                </a:solidFill>
                <a:latin typeface="Calibri" pitchFamily="34" charset="0"/>
                <a:ea typeface="Calibri" pitchFamily="34" charset="-122"/>
                <a:cs typeface="Calibri" pitchFamily="34" charset="-120"/>
              </a:rPr>
              <a:t>2B</a:t>
            </a:r>
            <a:endParaRPr lang="en-US" sz="900" dirty="0"/>
          </a:p>
        </p:txBody>
      </p:sp>
      <p:sp>
        <p:nvSpPr>
          <p:cNvPr id="21" name="Shape 19"/>
          <p:cNvSpPr/>
          <p:nvPr/>
        </p:nvSpPr>
        <p:spPr>
          <a:xfrm>
            <a:off x="1691640" y="3227832"/>
            <a:ext cx="960120" cy="502920"/>
          </a:xfrm>
          <a:prstGeom prst="rect">
            <a:avLst/>
          </a:prstGeom>
          <a:solidFill>
            <a:srgbClr val="1B3A5C"/>
          </a:solidFill>
          <a:ln w="12700">
            <a:solidFill>
              <a:srgbClr val="8FA3B1"/>
            </a:solidFill>
            <a:prstDash val="solid"/>
          </a:ln>
        </p:spPr>
      </p:sp>
      <p:sp>
        <p:nvSpPr>
          <p:cNvPr id="22" name="Text 20"/>
          <p:cNvSpPr/>
          <p:nvPr/>
        </p:nvSpPr>
        <p:spPr>
          <a:xfrm>
            <a:off x="1691640" y="3246120"/>
            <a:ext cx="960120" cy="228600"/>
          </a:xfrm>
          <a:prstGeom prst="rect">
            <a:avLst/>
          </a:prstGeom>
          <a:noFill/>
          <a:ln/>
        </p:spPr>
        <p:txBody>
          <a:bodyPr wrap="square" lIns="0" tIns="0" rIns="0" bIns="0" rtlCol="0" anchor="ctr"/>
          <a:lstStyle/>
          <a:p>
            <a:pPr algn="ctr" indent="0" marL="0">
              <a:buNone/>
            </a:pPr>
            <a:r>
              <a:rPr lang="en-US" sz="900" b="1" dirty="0">
                <a:solidFill>
                  <a:srgbClr val="8FA3B1"/>
                </a:solidFill>
                <a:latin typeface="Calibri" pitchFamily="34" charset="0"/>
                <a:ea typeface="Calibri" pitchFamily="34" charset="-122"/>
                <a:cs typeface="Calibri" pitchFamily="34" charset="-120"/>
              </a:rPr>
              <a:t>Proto ID</a:t>
            </a:r>
            <a:endParaRPr lang="en-US" sz="900" dirty="0"/>
          </a:p>
        </p:txBody>
      </p:sp>
      <p:sp>
        <p:nvSpPr>
          <p:cNvPr id="23" name="Text 21"/>
          <p:cNvSpPr/>
          <p:nvPr/>
        </p:nvSpPr>
        <p:spPr>
          <a:xfrm>
            <a:off x="1691640" y="3474720"/>
            <a:ext cx="960120" cy="182880"/>
          </a:xfrm>
          <a:prstGeom prst="rect">
            <a:avLst/>
          </a:prstGeom>
          <a:noFill/>
          <a:ln/>
        </p:spPr>
        <p:txBody>
          <a:bodyPr wrap="square" lIns="0" tIns="0" rIns="0" bIns="0" rtlCol="0" anchor="ctr"/>
          <a:lstStyle/>
          <a:p>
            <a:pPr algn="ctr" indent="0" marL="0">
              <a:buNone/>
            </a:pPr>
            <a:r>
              <a:rPr lang="en-US" sz="900" dirty="0">
                <a:solidFill>
                  <a:srgbClr val="8FA3B1"/>
                </a:solidFill>
                <a:latin typeface="Calibri" pitchFamily="34" charset="0"/>
                <a:ea typeface="Calibri" pitchFamily="34" charset="-122"/>
                <a:cs typeface="Calibri" pitchFamily="34" charset="-120"/>
              </a:rPr>
              <a:t>2B</a:t>
            </a:r>
            <a:endParaRPr lang="en-US" sz="900" dirty="0"/>
          </a:p>
        </p:txBody>
      </p:sp>
      <p:sp>
        <p:nvSpPr>
          <p:cNvPr id="24" name="Shape 22"/>
          <p:cNvSpPr/>
          <p:nvPr/>
        </p:nvSpPr>
        <p:spPr>
          <a:xfrm>
            <a:off x="2697480" y="3227832"/>
            <a:ext cx="960120" cy="502920"/>
          </a:xfrm>
          <a:prstGeom prst="rect">
            <a:avLst/>
          </a:prstGeom>
          <a:solidFill>
            <a:srgbClr val="1B3A5C"/>
          </a:solidFill>
          <a:ln w="12700">
            <a:solidFill>
              <a:srgbClr val="8FA3B1"/>
            </a:solidFill>
            <a:prstDash val="solid"/>
          </a:ln>
        </p:spPr>
      </p:sp>
      <p:sp>
        <p:nvSpPr>
          <p:cNvPr id="25" name="Text 23"/>
          <p:cNvSpPr/>
          <p:nvPr/>
        </p:nvSpPr>
        <p:spPr>
          <a:xfrm>
            <a:off x="2697480" y="3246120"/>
            <a:ext cx="960120" cy="228600"/>
          </a:xfrm>
          <a:prstGeom prst="rect">
            <a:avLst/>
          </a:prstGeom>
          <a:noFill/>
          <a:ln/>
        </p:spPr>
        <p:txBody>
          <a:bodyPr wrap="square" lIns="0" tIns="0" rIns="0" bIns="0" rtlCol="0" anchor="ctr"/>
          <a:lstStyle/>
          <a:p>
            <a:pPr algn="ctr" indent="0" marL="0">
              <a:buNone/>
            </a:pPr>
            <a:r>
              <a:rPr lang="en-US" sz="900" b="1" dirty="0">
                <a:solidFill>
                  <a:srgbClr val="8FA3B1"/>
                </a:solidFill>
                <a:latin typeface="Calibri" pitchFamily="34" charset="0"/>
                <a:ea typeface="Calibri" pitchFamily="34" charset="-122"/>
                <a:cs typeface="Calibri" pitchFamily="34" charset="-120"/>
              </a:rPr>
              <a:t>Length</a:t>
            </a:r>
            <a:endParaRPr lang="en-US" sz="900" dirty="0"/>
          </a:p>
        </p:txBody>
      </p:sp>
      <p:sp>
        <p:nvSpPr>
          <p:cNvPr id="26" name="Text 24"/>
          <p:cNvSpPr/>
          <p:nvPr/>
        </p:nvSpPr>
        <p:spPr>
          <a:xfrm>
            <a:off x="2697480" y="3474720"/>
            <a:ext cx="960120" cy="182880"/>
          </a:xfrm>
          <a:prstGeom prst="rect">
            <a:avLst/>
          </a:prstGeom>
          <a:noFill/>
          <a:ln/>
        </p:spPr>
        <p:txBody>
          <a:bodyPr wrap="square" lIns="0" tIns="0" rIns="0" bIns="0" rtlCol="0" anchor="ctr"/>
          <a:lstStyle/>
          <a:p>
            <a:pPr algn="ctr" indent="0" marL="0">
              <a:buNone/>
            </a:pPr>
            <a:r>
              <a:rPr lang="en-US" sz="900" dirty="0">
                <a:solidFill>
                  <a:srgbClr val="8FA3B1"/>
                </a:solidFill>
                <a:latin typeface="Calibri" pitchFamily="34" charset="0"/>
                <a:ea typeface="Calibri" pitchFamily="34" charset="-122"/>
                <a:cs typeface="Calibri" pitchFamily="34" charset="-120"/>
              </a:rPr>
              <a:t>2B</a:t>
            </a:r>
            <a:endParaRPr lang="en-US" sz="900" dirty="0"/>
          </a:p>
        </p:txBody>
      </p:sp>
      <p:sp>
        <p:nvSpPr>
          <p:cNvPr id="27" name="Shape 25"/>
          <p:cNvSpPr/>
          <p:nvPr/>
        </p:nvSpPr>
        <p:spPr>
          <a:xfrm>
            <a:off x="3703320" y="3227832"/>
            <a:ext cx="777240" cy="502920"/>
          </a:xfrm>
          <a:prstGeom prst="rect">
            <a:avLst/>
          </a:prstGeom>
          <a:solidFill>
            <a:srgbClr val="1B3A5C"/>
          </a:solidFill>
          <a:ln w="12700">
            <a:solidFill>
              <a:srgbClr val="F4A261"/>
            </a:solidFill>
            <a:prstDash val="solid"/>
          </a:ln>
        </p:spPr>
      </p:sp>
      <p:sp>
        <p:nvSpPr>
          <p:cNvPr id="28" name="Text 26"/>
          <p:cNvSpPr/>
          <p:nvPr/>
        </p:nvSpPr>
        <p:spPr>
          <a:xfrm>
            <a:off x="3703320" y="3246120"/>
            <a:ext cx="777240" cy="228600"/>
          </a:xfrm>
          <a:prstGeom prst="rect">
            <a:avLst/>
          </a:prstGeom>
          <a:noFill/>
          <a:ln/>
        </p:spPr>
        <p:txBody>
          <a:bodyPr wrap="square" lIns="0" tIns="0" rIns="0" bIns="0" rtlCol="0" anchor="ctr"/>
          <a:lstStyle/>
          <a:p>
            <a:pPr algn="ctr" indent="0" marL="0">
              <a:buNone/>
            </a:pPr>
            <a:r>
              <a:rPr lang="en-US" sz="900" b="1" dirty="0">
                <a:solidFill>
                  <a:srgbClr val="F4A261"/>
                </a:solidFill>
                <a:latin typeface="Calibri" pitchFamily="34" charset="0"/>
                <a:ea typeface="Calibri" pitchFamily="34" charset="-122"/>
                <a:cs typeface="Calibri" pitchFamily="34" charset="-120"/>
              </a:rPr>
              <a:t>Unit ID</a:t>
            </a:r>
            <a:endParaRPr lang="en-US" sz="900" dirty="0"/>
          </a:p>
        </p:txBody>
      </p:sp>
      <p:sp>
        <p:nvSpPr>
          <p:cNvPr id="29" name="Text 27"/>
          <p:cNvSpPr/>
          <p:nvPr/>
        </p:nvSpPr>
        <p:spPr>
          <a:xfrm>
            <a:off x="3703320" y="3474720"/>
            <a:ext cx="777240" cy="182880"/>
          </a:xfrm>
          <a:prstGeom prst="rect">
            <a:avLst/>
          </a:prstGeom>
          <a:noFill/>
          <a:ln/>
        </p:spPr>
        <p:txBody>
          <a:bodyPr wrap="square" lIns="0" tIns="0" rIns="0" bIns="0" rtlCol="0" anchor="ctr"/>
          <a:lstStyle/>
          <a:p>
            <a:pPr algn="ctr" indent="0" marL="0">
              <a:buNone/>
            </a:pPr>
            <a:r>
              <a:rPr lang="en-US" sz="900" dirty="0">
                <a:solidFill>
                  <a:srgbClr val="8FA3B1"/>
                </a:solidFill>
                <a:latin typeface="Calibri" pitchFamily="34" charset="0"/>
                <a:ea typeface="Calibri" pitchFamily="34" charset="-122"/>
                <a:cs typeface="Calibri" pitchFamily="34" charset="-120"/>
              </a:rPr>
              <a:t>1B</a:t>
            </a:r>
            <a:endParaRPr lang="en-US" sz="900" dirty="0"/>
          </a:p>
        </p:txBody>
      </p:sp>
      <p:sp>
        <p:nvSpPr>
          <p:cNvPr id="30" name="Shape 28"/>
          <p:cNvSpPr/>
          <p:nvPr/>
        </p:nvSpPr>
        <p:spPr>
          <a:xfrm>
            <a:off x="4526280" y="3227832"/>
            <a:ext cx="960120" cy="502920"/>
          </a:xfrm>
          <a:prstGeom prst="rect">
            <a:avLst/>
          </a:prstGeom>
          <a:solidFill>
            <a:srgbClr val="1B3A5C"/>
          </a:solidFill>
          <a:ln w="12700">
            <a:solidFill>
              <a:srgbClr val="C0392B"/>
            </a:solidFill>
            <a:prstDash val="solid"/>
          </a:ln>
        </p:spPr>
      </p:sp>
      <p:sp>
        <p:nvSpPr>
          <p:cNvPr id="31" name="Text 29"/>
          <p:cNvSpPr/>
          <p:nvPr/>
        </p:nvSpPr>
        <p:spPr>
          <a:xfrm>
            <a:off x="4526280" y="3246120"/>
            <a:ext cx="960120" cy="228600"/>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Func Code</a:t>
            </a:r>
            <a:endParaRPr lang="en-US" sz="900" dirty="0"/>
          </a:p>
        </p:txBody>
      </p:sp>
      <p:sp>
        <p:nvSpPr>
          <p:cNvPr id="32" name="Text 30"/>
          <p:cNvSpPr/>
          <p:nvPr/>
        </p:nvSpPr>
        <p:spPr>
          <a:xfrm>
            <a:off x="4526280" y="3474720"/>
            <a:ext cx="960120" cy="182880"/>
          </a:xfrm>
          <a:prstGeom prst="rect">
            <a:avLst/>
          </a:prstGeom>
          <a:noFill/>
          <a:ln/>
        </p:spPr>
        <p:txBody>
          <a:bodyPr wrap="square" lIns="0" tIns="0" rIns="0" bIns="0" rtlCol="0" anchor="ctr"/>
          <a:lstStyle/>
          <a:p>
            <a:pPr algn="ctr" indent="0" marL="0">
              <a:buNone/>
            </a:pPr>
            <a:r>
              <a:rPr lang="en-US" sz="900" dirty="0">
                <a:solidFill>
                  <a:srgbClr val="8FA3B1"/>
                </a:solidFill>
                <a:latin typeface="Calibri" pitchFamily="34" charset="0"/>
                <a:ea typeface="Calibri" pitchFamily="34" charset="-122"/>
                <a:cs typeface="Calibri" pitchFamily="34" charset="-120"/>
              </a:rPr>
              <a:t>1B</a:t>
            </a:r>
            <a:endParaRPr lang="en-US" sz="900" dirty="0"/>
          </a:p>
        </p:txBody>
      </p:sp>
      <p:sp>
        <p:nvSpPr>
          <p:cNvPr id="33" name="Shape 31"/>
          <p:cNvSpPr/>
          <p:nvPr/>
        </p:nvSpPr>
        <p:spPr>
          <a:xfrm>
            <a:off x="5532120" y="3227832"/>
            <a:ext cx="1874520" cy="502920"/>
          </a:xfrm>
          <a:prstGeom prst="rect">
            <a:avLst/>
          </a:prstGeom>
          <a:solidFill>
            <a:srgbClr val="1B3A5C"/>
          </a:solidFill>
          <a:ln w="12700">
            <a:solidFill>
              <a:srgbClr val="E8EEF4"/>
            </a:solidFill>
            <a:prstDash val="solid"/>
          </a:ln>
        </p:spPr>
      </p:sp>
      <p:sp>
        <p:nvSpPr>
          <p:cNvPr id="34" name="Text 32"/>
          <p:cNvSpPr/>
          <p:nvPr/>
        </p:nvSpPr>
        <p:spPr>
          <a:xfrm>
            <a:off x="5532120" y="3246120"/>
            <a:ext cx="1874520" cy="228600"/>
          </a:xfrm>
          <a:prstGeom prst="rect">
            <a:avLst/>
          </a:prstGeom>
          <a:noFill/>
          <a:ln/>
        </p:spPr>
        <p:txBody>
          <a:bodyPr wrap="square" lIns="0" tIns="0" rIns="0" bIns="0" rtlCol="0" anchor="ctr"/>
          <a:lstStyle/>
          <a:p>
            <a:pPr algn="ctr" indent="0" marL="0">
              <a:buNone/>
            </a:pPr>
            <a:r>
              <a:rPr lang="en-US" sz="900" b="1" dirty="0">
                <a:solidFill>
                  <a:srgbClr val="E8EEF4"/>
                </a:solidFill>
                <a:latin typeface="Calibri" pitchFamily="34" charset="0"/>
                <a:ea typeface="Calibri" pitchFamily="34" charset="-122"/>
                <a:cs typeface="Calibri" pitchFamily="34" charset="-120"/>
              </a:rPr>
              <a:t>Data</a:t>
            </a:r>
            <a:endParaRPr lang="en-US" sz="900" dirty="0"/>
          </a:p>
        </p:txBody>
      </p:sp>
      <p:sp>
        <p:nvSpPr>
          <p:cNvPr id="35" name="Text 33"/>
          <p:cNvSpPr/>
          <p:nvPr/>
        </p:nvSpPr>
        <p:spPr>
          <a:xfrm>
            <a:off x="5532120" y="3474720"/>
            <a:ext cx="1874520" cy="182880"/>
          </a:xfrm>
          <a:prstGeom prst="rect">
            <a:avLst/>
          </a:prstGeom>
          <a:noFill/>
          <a:ln/>
        </p:spPr>
        <p:txBody>
          <a:bodyPr wrap="square" lIns="0" tIns="0" rIns="0" bIns="0" rtlCol="0" anchor="ctr"/>
          <a:lstStyle/>
          <a:p>
            <a:pPr algn="ctr" indent="0" marL="0">
              <a:buNone/>
            </a:pPr>
            <a:r>
              <a:rPr lang="en-US" sz="900" dirty="0">
                <a:solidFill>
                  <a:srgbClr val="8FA3B1"/>
                </a:solidFill>
                <a:latin typeface="Calibri" pitchFamily="34" charset="0"/>
                <a:ea typeface="Calibri" pitchFamily="34" charset="-122"/>
                <a:cs typeface="Calibri" pitchFamily="34" charset="-120"/>
              </a:rPr>
              <a:t>≤248B</a:t>
            </a:r>
            <a:endParaRPr lang="en-US" sz="900" dirty="0"/>
          </a:p>
        </p:txBody>
      </p:sp>
      <p:sp>
        <p:nvSpPr>
          <p:cNvPr id="36" name="Text 34"/>
          <p:cNvSpPr/>
          <p:nvPr/>
        </p:nvSpPr>
        <p:spPr>
          <a:xfrm>
            <a:off x="457200" y="3749040"/>
            <a:ext cx="3291840" cy="228600"/>
          </a:xfrm>
          <a:prstGeom prst="rect">
            <a:avLst/>
          </a:prstGeom>
          <a:noFill/>
          <a:ln/>
        </p:spPr>
        <p:txBody>
          <a:bodyPr wrap="square" lIns="0" tIns="0" rIns="0" bIns="0" rtlCol="0" anchor="ctr"/>
          <a:lstStyle/>
          <a:p>
            <a:pPr indent="0" marL="0">
              <a:buNone/>
            </a:pPr>
            <a:r>
              <a:rPr lang="en-US" sz="900" i="1" dirty="0">
                <a:solidFill>
                  <a:srgbClr val="3498DB"/>
                </a:solidFill>
                <a:latin typeface="Calibri" pitchFamily="34" charset="0"/>
                <a:ea typeface="Calibri" pitchFamily="34" charset="-122"/>
                <a:cs typeface="Calibri" pitchFamily="34" charset="-120"/>
              </a:rPr>
              <a:t>← Matching key for DB pairing →</a:t>
            </a:r>
            <a:endParaRPr lang="en-US" sz="900" dirty="0"/>
          </a:p>
        </p:txBody>
      </p:sp>
      <p:sp>
        <p:nvSpPr>
          <p:cNvPr id="37" name="Shape 35"/>
          <p:cNvSpPr/>
          <p:nvPr/>
        </p:nvSpPr>
        <p:spPr>
          <a:xfrm>
            <a:off x="457200" y="3730752"/>
            <a:ext cx="3200400" cy="0"/>
          </a:xfrm>
          <a:prstGeom prst="line">
            <a:avLst/>
          </a:prstGeom>
          <a:noFill/>
          <a:ln w="12700">
            <a:solidFill>
              <a:srgbClr val="3498DB"/>
            </a:solidFill>
            <a:prstDash val="dash"/>
          </a:ln>
        </p:spPr>
      </p:sp>
      <p:sp>
        <p:nvSpPr>
          <p:cNvPr id="38" name="Shape 36"/>
          <p:cNvSpPr/>
          <p:nvPr/>
        </p:nvSpPr>
        <p:spPr>
          <a:xfrm>
            <a:off x="0" y="4754880"/>
            <a:ext cx="9144000" cy="384048"/>
          </a:xfrm>
          <a:prstGeom prst="rect">
            <a:avLst/>
          </a:prstGeom>
          <a:solidFill>
            <a:srgbClr val="1B3A5C"/>
          </a:solidFill>
          <a:ln w="12700">
            <a:solidFill>
              <a:srgbClr val="1B3A5C"/>
            </a:solidFill>
            <a:prstDash val="solid"/>
          </a:ln>
        </p:spPr>
      </p:sp>
      <p:sp>
        <p:nvSpPr>
          <p:cNvPr id="39" name="Text 37"/>
          <p:cNvSpPr/>
          <p:nvPr/>
        </p:nvSpPr>
        <p:spPr>
          <a:xfrm>
            <a:off x="274320" y="4754880"/>
            <a:ext cx="8595360" cy="38404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Attack Implementation  ·  Slide 14/18 — Phase 0: Recon</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137160"/>
            <a:ext cx="1280160" cy="347472"/>
          </a:xfrm>
          <a:prstGeom prst="rect">
            <a:avLst/>
          </a:prstGeom>
          <a:solidFill>
            <a:srgbClr val="C0392B"/>
          </a:solidFill>
          <a:ln w="12700">
            <a:solidFill>
              <a:srgbClr val="C0392B"/>
            </a:solidFill>
            <a:prstDash val="solid"/>
          </a:ln>
        </p:spPr>
      </p:sp>
      <p:sp>
        <p:nvSpPr>
          <p:cNvPr id="3" name="Text 1"/>
          <p:cNvSpPr/>
          <p:nvPr/>
        </p:nvSpPr>
        <p:spPr>
          <a:xfrm>
            <a:off x="365760" y="137160"/>
            <a:ext cx="128016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Phase 1</a:t>
            </a:r>
            <a:endParaRPr lang="en-US" sz="1100" dirty="0"/>
          </a:p>
        </p:txBody>
      </p:sp>
      <p:sp>
        <p:nvSpPr>
          <p:cNvPr id="4" name="Text 2"/>
          <p:cNvSpPr/>
          <p:nvPr/>
        </p:nvSpPr>
        <p:spPr>
          <a:xfrm>
            <a:off x="1828800" y="137160"/>
            <a:ext cx="6949440" cy="4572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ARP Poisoning + False Command Injection</a:t>
            </a:r>
            <a:endParaRPr lang="en-US" sz="2600" dirty="0"/>
          </a:p>
        </p:txBody>
      </p:sp>
      <p:sp>
        <p:nvSpPr>
          <p:cNvPr id="5" name="Text 3"/>
          <p:cNvSpPr/>
          <p:nvPr/>
        </p:nvSpPr>
        <p:spPr>
          <a:xfrm>
            <a:off x="365760" y="621792"/>
            <a:ext cx="8412480" cy="256032"/>
          </a:xfrm>
          <a:prstGeom prst="rect">
            <a:avLst/>
          </a:prstGeom>
          <a:noFill/>
          <a:ln/>
        </p:spPr>
        <p:txBody>
          <a:bodyPr wrap="square" lIns="0" tIns="0" rIns="0" bIns="0" rtlCol="0" anchor="ctr"/>
          <a:lstStyle/>
          <a:p>
            <a:pPr indent="0" marL="0">
              <a:buNone/>
            </a:pPr>
            <a:r>
              <a:rPr lang="en-US" sz="1100" i="1" dirty="0">
                <a:solidFill>
                  <a:srgbClr val="8FA3B1"/>
                </a:solidFill>
                <a:latin typeface="Calibri" pitchFamily="34" charset="0"/>
                <a:ea typeface="Calibri" pitchFamily="34" charset="-122"/>
                <a:cs typeface="Calibri" pitchFamily="34" charset="-120"/>
              </a:rPr>
              <a:t>phase1_inject.py  ·  Scapy ARP spoof + pyModbus write to PLC1:502</a:t>
            </a:r>
            <a:endParaRPr lang="en-US" sz="1100" dirty="0"/>
          </a:p>
        </p:txBody>
      </p:sp>
      <p:sp>
        <p:nvSpPr>
          <p:cNvPr id="6" name="Shape 4"/>
          <p:cNvSpPr/>
          <p:nvPr/>
        </p:nvSpPr>
        <p:spPr>
          <a:xfrm>
            <a:off x="274320" y="914400"/>
            <a:ext cx="4023360" cy="1828800"/>
          </a:xfrm>
          <a:prstGeom prst="rect">
            <a:avLst/>
          </a:prstGeom>
          <a:solidFill>
            <a:srgbClr val="1B3A5C"/>
          </a:solidFill>
          <a:ln w="12700">
            <a:solidFill>
              <a:srgbClr val="1B3A5C"/>
            </a:solidFill>
            <a:prstDash val="solid"/>
          </a:ln>
        </p:spPr>
      </p:sp>
      <p:sp>
        <p:nvSpPr>
          <p:cNvPr id="7" name="Shape 5"/>
          <p:cNvSpPr/>
          <p:nvPr/>
        </p:nvSpPr>
        <p:spPr>
          <a:xfrm>
            <a:off x="274320" y="914400"/>
            <a:ext cx="64008" cy="1828800"/>
          </a:xfrm>
          <a:prstGeom prst="rect">
            <a:avLst/>
          </a:prstGeom>
          <a:solidFill>
            <a:srgbClr val="E67E22"/>
          </a:solidFill>
          <a:ln w="12700">
            <a:solidFill>
              <a:srgbClr val="E67E22"/>
            </a:solidFill>
            <a:prstDash val="solid"/>
          </a:ln>
        </p:spPr>
      </p:sp>
      <p:sp>
        <p:nvSpPr>
          <p:cNvPr id="8" name="Text 6"/>
          <p:cNvSpPr/>
          <p:nvPr/>
        </p:nvSpPr>
        <p:spPr>
          <a:xfrm>
            <a:off x="502920" y="987552"/>
            <a:ext cx="3657600" cy="320040"/>
          </a:xfrm>
          <a:prstGeom prst="rect">
            <a:avLst/>
          </a:prstGeom>
          <a:noFill/>
          <a:ln/>
        </p:spPr>
        <p:txBody>
          <a:bodyPr wrap="square" lIns="0" tIns="0" rIns="0" bIns="0" rtlCol="0" anchor="ctr"/>
          <a:lstStyle/>
          <a:p>
            <a:pPr indent="0" marL="0">
              <a:buNone/>
            </a:pPr>
            <a:r>
              <a:rPr lang="en-US" sz="1400" b="1" dirty="0">
                <a:solidFill>
                  <a:srgbClr val="E67E22"/>
                </a:solidFill>
                <a:latin typeface="Calibri" pitchFamily="34" charset="0"/>
                <a:ea typeface="Calibri" pitchFamily="34" charset="-122"/>
                <a:cs typeface="Calibri" pitchFamily="34" charset="-120"/>
              </a:rPr>
              <a:t>ARP Poisoning — MITM Setup</a:t>
            </a:r>
            <a:endParaRPr lang="en-US" sz="1400" dirty="0"/>
          </a:p>
        </p:txBody>
      </p:sp>
      <p:sp>
        <p:nvSpPr>
          <p:cNvPr id="9" name="Text 7"/>
          <p:cNvSpPr/>
          <p:nvPr/>
        </p:nvSpPr>
        <p:spPr>
          <a:xfrm>
            <a:off x="502920" y="1371600"/>
            <a:ext cx="3657600" cy="502920"/>
          </a:xfrm>
          <a:prstGeom prst="rect">
            <a:avLst/>
          </a:prstGeom>
          <a:noFill/>
          <a:ln/>
        </p:spPr>
        <p:txBody>
          <a:bodyPr wrap="square" lIns="0" tIns="0" rIns="0" bIns="0" rtlCol="0" anchor="ctr"/>
          <a:lstStyle/>
          <a:p>
            <a:pPr indent="0" marL="0">
              <a:buNone/>
            </a:pPr>
            <a:r>
              <a:rPr lang="en-US" sz="1100" b="1" dirty="0">
                <a:solidFill>
                  <a:srgbClr val="F4A261"/>
                </a:solidFill>
                <a:latin typeface="Consolas" pitchFamily="34" charset="0"/>
                <a:ea typeface="Consolas" pitchFamily="34" charset="-122"/>
                <a:cs typeface="Consolas" pitchFamily="34" charset="-120"/>
              </a:rPr>
              <a:t xml:space="preserve">Tell HMI: </a:t>
            </a:r>
            <a:pPr indent="0" marL="0">
              <a:buNone/>
            </a:pPr>
            <a:r>
              <a:rPr lang="en-US" sz="1100" dirty="0">
                <a:solidFill>
                  <a:srgbClr val="2ECC71"/>
                </a:solidFill>
                <a:latin typeface="Consolas" pitchFamily="34" charset="0"/>
                <a:ea typeface="Consolas" pitchFamily="34" charset="-122"/>
                <a:cs typeface="Consolas" pitchFamily="34" charset="-120"/>
              </a:rPr>
              <a:t>"PLC1's IP → my MAC"</a:t>
            </a:r>
            <a:pPr indent="0" marL="0">
              <a:buNone/>
            </a:pPr>
            <a:endParaRPr lang="en-US" sz="1100" dirty="0"/>
          </a:p>
          <a:p>
            <a:pPr indent="0" marL="0">
              <a:buNone/>
            </a:pPr>
            <a:r>
              <a:rPr lang="en-US" sz="1100" b="1" dirty="0">
                <a:solidFill>
                  <a:srgbClr val="F4A261"/>
                </a:solidFill>
                <a:latin typeface="Consolas" pitchFamily="34" charset="0"/>
                <a:ea typeface="Consolas" pitchFamily="34" charset="-122"/>
                <a:cs typeface="Consolas" pitchFamily="34" charset="-120"/>
              </a:rPr>
              <a:t xml:space="preserve">Tell PLC: </a:t>
            </a:r>
            <a:endParaRPr lang="en-US" sz="1100" dirty="0"/>
          </a:p>
          <a:p>
            <a:pPr indent="0" marL="0">
              <a:buNone/>
            </a:pPr>
            <a:r>
              <a:rPr lang="en-US" sz="1100" dirty="0">
                <a:solidFill>
                  <a:srgbClr val="2ECC71"/>
                </a:solidFill>
                <a:latin typeface="Consolas" pitchFamily="34" charset="0"/>
                <a:ea typeface="Consolas" pitchFamily="34" charset="-122"/>
                <a:cs typeface="Consolas" pitchFamily="34" charset="-120"/>
              </a:rPr>
              <a:t>"HMI's IP  → my MAC"</a:t>
            </a:r>
            <a:endParaRPr lang="en-US" sz="1100" dirty="0"/>
          </a:p>
        </p:txBody>
      </p:sp>
      <p:sp>
        <p:nvSpPr>
          <p:cNvPr id="10" name="Text 8"/>
          <p:cNvSpPr/>
          <p:nvPr/>
        </p:nvSpPr>
        <p:spPr>
          <a:xfrm>
            <a:off x="502920" y="1920240"/>
            <a:ext cx="3657600" cy="685800"/>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All traffic now routes through attacker.</a:t>
            </a:r>
            <a:endParaRPr lang="en-US" sz="1100" dirty="0"/>
          </a:p>
          <a:p>
            <a:pPr indent="0" marL="0">
              <a:buNone/>
            </a:pPr>
            <a:r>
              <a:rPr lang="en-US" sz="1100" dirty="0">
                <a:solidFill>
                  <a:srgbClr val="E8EEF4"/>
                </a:solidFill>
                <a:latin typeface="Calibri" pitchFamily="34" charset="0"/>
                <a:ea typeface="Calibri" pitchFamily="34" charset="-122"/>
                <a:cs typeface="Calibri" pitchFamily="34" charset="-120"/>
              </a:rPr>
              <a:t>Re-broadcast every 1.5s to maintain MITM.</a:t>
            </a:r>
            <a:endParaRPr lang="en-US" sz="1100" dirty="0"/>
          </a:p>
          <a:p>
            <a:pPr indent="0" marL="0">
              <a:buNone/>
            </a:pPr>
            <a:r>
              <a:rPr lang="en-US" sz="1100" dirty="0">
                <a:solidFill>
                  <a:srgbClr val="E8EEF4"/>
                </a:solidFill>
                <a:latin typeface="Calibri" pitchFamily="34" charset="0"/>
                <a:ea typeface="Calibri" pitchFamily="34" charset="-122"/>
                <a:cs typeface="Calibri" pitchFamily="34" charset="-120"/>
              </a:rPr>
              <a:t>IP forwarding enabled on attacker machine.</a:t>
            </a:r>
            <a:endParaRPr lang="en-US" sz="1100" dirty="0"/>
          </a:p>
        </p:txBody>
      </p:sp>
      <p:sp>
        <p:nvSpPr>
          <p:cNvPr id="11" name="Shape 9"/>
          <p:cNvSpPr/>
          <p:nvPr/>
        </p:nvSpPr>
        <p:spPr>
          <a:xfrm>
            <a:off x="4572000" y="914400"/>
            <a:ext cx="4297680" cy="1828800"/>
          </a:xfrm>
          <a:prstGeom prst="rect">
            <a:avLst/>
          </a:prstGeom>
          <a:solidFill>
            <a:srgbClr val="1B3A5C"/>
          </a:solidFill>
          <a:ln w="12700">
            <a:solidFill>
              <a:srgbClr val="1B3A5C"/>
            </a:solidFill>
            <a:prstDash val="solid"/>
          </a:ln>
        </p:spPr>
      </p:sp>
      <p:sp>
        <p:nvSpPr>
          <p:cNvPr id="12" name="Shape 10"/>
          <p:cNvSpPr/>
          <p:nvPr/>
        </p:nvSpPr>
        <p:spPr>
          <a:xfrm>
            <a:off x="4572000" y="914400"/>
            <a:ext cx="64008" cy="1828800"/>
          </a:xfrm>
          <a:prstGeom prst="rect">
            <a:avLst/>
          </a:prstGeom>
          <a:solidFill>
            <a:srgbClr val="C0392B"/>
          </a:solidFill>
          <a:ln w="12700">
            <a:solidFill>
              <a:srgbClr val="C0392B"/>
            </a:solidFill>
            <a:prstDash val="solid"/>
          </a:ln>
        </p:spPr>
      </p:sp>
      <p:sp>
        <p:nvSpPr>
          <p:cNvPr id="13" name="Text 11"/>
          <p:cNvSpPr/>
          <p:nvPr/>
        </p:nvSpPr>
        <p:spPr>
          <a:xfrm>
            <a:off x="4800600" y="987552"/>
            <a:ext cx="3840480" cy="320040"/>
          </a:xfrm>
          <a:prstGeom prst="rect">
            <a:avLst/>
          </a:prstGeom>
          <a:noFill/>
          <a:ln/>
        </p:spPr>
        <p:txBody>
          <a:bodyPr wrap="square" lIns="0" tIns="0" rIns="0" bIns="0" rtlCol="0" anchor="ctr"/>
          <a:lstStyle/>
          <a:p>
            <a:pPr indent="0" marL="0">
              <a:buNone/>
            </a:pPr>
            <a:r>
              <a:rPr lang="en-US" sz="1400" b="1" dirty="0">
                <a:solidFill>
                  <a:srgbClr val="C0392B"/>
                </a:solidFill>
                <a:latin typeface="Calibri" pitchFamily="34" charset="0"/>
                <a:ea typeface="Calibri" pitchFamily="34" charset="-122"/>
                <a:cs typeface="Calibri" pitchFamily="34" charset="-120"/>
              </a:rPr>
              <a:t>False Command Injection</a:t>
            </a:r>
            <a:endParaRPr lang="en-US" sz="1400" dirty="0"/>
          </a:p>
        </p:txBody>
      </p:sp>
      <p:sp>
        <p:nvSpPr>
          <p:cNvPr id="14" name="Text 12"/>
          <p:cNvSpPr/>
          <p:nvPr/>
        </p:nvSpPr>
        <p:spPr>
          <a:xfrm>
            <a:off x="4800600" y="1371600"/>
            <a:ext cx="3840480" cy="502920"/>
          </a:xfrm>
          <a:prstGeom prst="rect">
            <a:avLst/>
          </a:prstGeom>
          <a:noFill/>
          <a:ln/>
        </p:spPr>
        <p:txBody>
          <a:bodyPr wrap="square" lIns="0" tIns="0" rIns="0" bIns="0" rtlCol="0" anchor="ctr"/>
          <a:lstStyle/>
          <a:p>
            <a:pPr indent="0" marL="0">
              <a:buNone/>
            </a:pPr>
            <a:r>
              <a:rPr lang="en-US" sz="1100" dirty="0">
                <a:solidFill>
                  <a:srgbClr val="2ECC71"/>
                </a:solidFill>
                <a:latin typeface="Consolas" pitchFamily="34" charset="0"/>
                <a:ea typeface="Consolas" pitchFamily="34" charset="-122"/>
                <a:cs typeface="Consolas" pitchFamily="34" charset="-120"/>
              </a:rPr>
              <a:t>client.write_coil(MV101_CLOSE, True)</a:t>
            </a:r>
            <a:endParaRPr lang="en-US" sz="1100" dirty="0"/>
          </a:p>
          <a:p>
            <a:pPr indent="0" marL="0">
              <a:buNone/>
            </a:pPr>
            <a:r>
              <a:rPr lang="en-US" sz="1100" dirty="0">
                <a:solidFill>
                  <a:srgbClr val="2ECC71"/>
                </a:solidFill>
                <a:latin typeface="Consolas" pitchFamily="34" charset="0"/>
                <a:ea typeface="Consolas" pitchFamily="34" charset="-122"/>
                <a:cs typeface="Consolas" pitchFamily="34" charset="-120"/>
              </a:rPr>
              <a:t>client.write_coil(P101_STOP,   True)</a:t>
            </a:r>
            <a:endParaRPr lang="en-US" sz="1100" dirty="0"/>
          </a:p>
        </p:txBody>
      </p:sp>
      <p:sp>
        <p:nvSpPr>
          <p:cNvPr id="15" name="Text 13"/>
          <p:cNvSpPr/>
          <p:nvPr/>
        </p:nvSpPr>
        <p:spPr>
          <a:xfrm>
            <a:off x="4800600" y="1920240"/>
            <a:ext cx="3840480" cy="685800"/>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Python pyModbus sends crafted Modbus frames to PLC1:502. No authentication required — PLC accepts any write from any device on the network.</a:t>
            </a:r>
            <a:endParaRPr lang="en-US" sz="1100" dirty="0"/>
          </a:p>
        </p:txBody>
      </p:sp>
      <p:sp>
        <p:nvSpPr>
          <p:cNvPr id="16" name="Shape 14"/>
          <p:cNvSpPr/>
          <p:nvPr/>
        </p:nvSpPr>
        <p:spPr>
          <a:xfrm>
            <a:off x="274320" y="2834640"/>
            <a:ext cx="8595360" cy="1508760"/>
          </a:xfrm>
          <a:prstGeom prst="rect">
            <a:avLst/>
          </a:prstGeom>
          <a:solidFill>
            <a:srgbClr val="1E2D3D"/>
          </a:solidFill>
          <a:ln w="12700">
            <a:solidFill>
              <a:srgbClr val="1E2D3D"/>
            </a:solidFill>
            <a:prstDash val="solid"/>
          </a:ln>
        </p:spPr>
      </p:sp>
      <p:sp>
        <p:nvSpPr>
          <p:cNvPr id="17" name="Shape 15"/>
          <p:cNvSpPr/>
          <p:nvPr/>
        </p:nvSpPr>
        <p:spPr>
          <a:xfrm>
            <a:off x="274320" y="2834640"/>
            <a:ext cx="64008" cy="1508760"/>
          </a:xfrm>
          <a:prstGeom prst="rect">
            <a:avLst/>
          </a:prstGeom>
          <a:solidFill>
            <a:srgbClr val="8E44AD"/>
          </a:solidFill>
          <a:ln w="12700">
            <a:solidFill>
              <a:srgbClr val="8E44AD"/>
            </a:solidFill>
            <a:prstDash val="solid"/>
          </a:ln>
        </p:spPr>
      </p:sp>
      <p:sp>
        <p:nvSpPr>
          <p:cNvPr id="18" name="Text 16"/>
          <p:cNvSpPr/>
          <p:nvPr/>
        </p:nvSpPr>
        <p:spPr>
          <a:xfrm>
            <a:off x="502920" y="2898648"/>
            <a:ext cx="8229600" cy="274320"/>
          </a:xfrm>
          <a:prstGeom prst="rect">
            <a:avLst/>
          </a:prstGeom>
          <a:noFill/>
          <a:ln/>
        </p:spPr>
        <p:txBody>
          <a:bodyPr wrap="square" lIns="0" tIns="0" rIns="0" bIns="0" rtlCol="0" anchor="ctr"/>
          <a:lstStyle/>
          <a:p>
            <a:pPr indent="0" marL="0">
              <a:buNone/>
            </a:pPr>
            <a:r>
              <a:rPr lang="en-US" sz="1200" b="1" dirty="0">
                <a:solidFill>
                  <a:srgbClr val="8E44AD"/>
                </a:solidFill>
                <a:latin typeface="Calibri" pitchFamily="34" charset="0"/>
                <a:ea typeface="Calibri" pitchFamily="34" charset="-122"/>
                <a:cs typeface="Calibri" pitchFamily="34" charset="-120"/>
              </a:rPr>
              <a:t>Algorithm 1  —  Concealment (Paper #9)  ·  Replay DB responses to HMI while injecting PLC</a:t>
            </a:r>
            <a:endParaRPr lang="en-US" sz="1200" dirty="0"/>
          </a:p>
        </p:txBody>
      </p:sp>
      <p:sp>
        <p:nvSpPr>
          <p:cNvPr id="19" name="Text 17"/>
          <p:cNvSpPr/>
          <p:nvPr/>
        </p:nvSpPr>
        <p:spPr>
          <a:xfrm>
            <a:off x="502920" y="3218688"/>
            <a:ext cx="8229600" cy="182880"/>
          </a:xfrm>
          <a:prstGeom prst="rect">
            <a:avLst/>
          </a:prstGeom>
          <a:noFill/>
          <a:ln/>
        </p:spPr>
        <p:txBody>
          <a:bodyPr wrap="square" lIns="0" tIns="0" rIns="0" bIns="0" rtlCol="0" anchor="ctr"/>
          <a:lstStyle/>
          <a:p>
            <a:pPr indent="0" marL="0">
              <a:buNone/>
            </a:pPr>
            <a:r>
              <a:rPr lang="en-US" sz="1000" dirty="0">
                <a:solidFill>
                  <a:srgbClr val="F4A261"/>
                </a:solidFill>
                <a:latin typeface="Consolas" pitchFamily="34" charset="0"/>
                <a:ea typeface="Consolas" pitchFamily="34" charset="-122"/>
                <a:cs typeface="Consolas" pitchFamily="34" charset="-120"/>
              </a:rPr>
              <a:t>for each packet sniffed from network:</a:t>
            </a:r>
            <a:endParaRPr lang="en-US" sz="1000" dirty="0"/>
          </a:p>
        </p:txBody>
      </p:sp>
      <p:sp>
        <p:nvSpPr>
          <p:cNvPr id="20" name="Text 18"/>
          <p:cNvSpPr/>
          <p:nvPr/>
        </p:nvSpPr>
        <p:spPr>
          <a:xfrm>
            <a:off x="502920" y="3401568"/>
            <a:ext cx="8229600" cy="182880"/>
          </a:xfrm>
          <a:prstGeom prst="rect">
            <a:avLst/>
          </a:prstGeom>
          <a:noFill/>
          <a:ln/>
        </p:spPr>
        <p:txBody>
          <a:bodyPr wrap="square" lIns="0" tIns="0" rIns="0" bIns="0" rtlCol="0" anchor="ctr"/>
          <a:lstStyle/>
          <a:p>
            <a:pPr indent="0" marL="0">
              <a:buNone/>
            </a:pPr>
            <a:r>
              <a:rPr lang="en-US" sz="1000" dirty="0">
                <a:solidFill>
                  <a:srgbClr val="E8EEF4"/>
                </a:solidFill>
                <a:latin typeface="Consolas" pitchFamily="34" charset="0"/>
                <a:ea typeface="Consolas" pitchFamily="34" charset="-122"/>
                <a:cs typeface="Consolas" pitchFamily="34" charset="-120"/>
              </a:rPr>
              <a:t xml:space="preserve">    if src==HMI and dst==PLC and port==502:</a:t>
            </a:r>
            <a:endParaRPr lang="en-US" sz="1000" dirty="0"/>
          </a:p>
        </p:txBody>
      </p:sp>
      <p:sp>
        <p:nvSpPr>
          <p:cNvPr id="21" name="Text 19"/>
          <p:cNvSpPr/>
          <p:nvPr/>
        </p:nvSpPr>
        <p:spPr>
          <a:xfrm>
            <a:off x="502920" y="3584448"/>
            <a:ext cx="8229600" cy="182880"/>
          </a:xfrm>
          <a:prstGeom prst="rect">
            <a:avLst/>
          </a:prstGeom>
          <a:noFill/>
          <a:ln/>
        </p:spPr>
        <p:txBody>
          <a:bodyPr wrap="square" lIns="0" tIns="0" rIns="0" bIns="0" rtlCol="0" anchor="ctr"/>
          <a:lstStyle/>
          <a:p>
            <a:pPr indent="0" marL="0">
              <a:buNone/>
            </a:pPr>
            <a:r>
              <a:rPr lang="en-US" sz="1000" dirty="0">
                <a:solidFill>
                  <a:srgbClr val="8FA3B1"/>
                </a:solidFill>
                <a:latin typeface="Consolas" pitchFamily="34" charset="0"/>
                <a:ea typeface="Consolas" pitchFamily="34" charset="-122"/>
                <a:cs typeface="Consolas" pitchFamily="34" charset="-120"/>
              </a:rPr>
              <a:t xml:space="preserve">        drop original request   # do not forward to PLC</a:t>
            </a:r>
            <a:endParaRPr lang="en-US" sz="1000" dirty="0"/>
          </a:p>
        </p:txBody>
      </p:sp>
      <p:sp>
        <p:nvSpPr>
          <p:cNvPr id="22" name="Text 20"/>
          <p:cNvSpPr/>
          <p:nvPr/>
        </p:nvSpPr>
        <p:spPr>
          <a:xfrm>
            <a:off x="502920" y="3767328"/>
            <a:ext cx="8229600" cy="182880"/>
          </a:xfrm>
          <a:prstGeom prst="rect">
            <a:avLst/>
          </a:prstGeom>
          <a:noFill/>
          <a:ln/>
        </p:spPr>
        <p:txBody>
          <a:bodyPr wrap="square" lIns="0" tIns="0" rIns="0" bIns="0" rtlCol="0" anchor="ctr"/>
          <a:lstStyle/>
          <a:p>
            <a:pPr indent="0" marL="0">
              <a:buNone/>
            </a:pPr>
            <a:r>
              <a:rPr lang="en-US" sz="1000" dirty="0">
                <a:solidFill>
                  <a:srgbClr val="E8EEF4"/>
                </a:solidFill>
                <a:latin typeface="Consolas" pitchFamily="34" charset="0"/>
                <a:ea typeface="Consolas" pitchFamily="34" charset="-122"/>
                <a:cs typeface="Consolas" pitchFamily="34" charset="-120"/>
              </a:rPr>
              <a:t xml:space="preserve">        response = db.lookup(unit_id, func_code)   # O(1) hash lookup</a:t>
            </a:r>
            <a:endParaRPr lang="en-US" sz="1000" dirty="0"/>
          </a:p>
        </p:txBody>
      </p:sp>
      <p:sp>
        <p:nvSpPr>
          <p:cNvPr id="23" name="Text 21"/>
          <p:cNvSpPr/>
          <p:nvPr/>
        </p:nvSpPr>
        <p:spPr>
          <a:xfrm>
            <a:off x="502920" y="3950208"/>
            <a:ext cx="8229600" cy="182880"/>
          </a:xfrm>
          <a:prstGeom prst="rect">
            <a:avLst/>
          </a:prstGeom>
          <a:noFill/>
          <a:ln/>
        </p:spPr>
        <p:txBody>
          <a:bodyPr wrap="square" lIns="0" tIns="0" rIns="0" bIns="0" rtlCol="0" anchor="ctr"/>
          <a:lstStyle/>
          <a:p>
            <a:pPr indent="0" marL="0">
              <a:buNone/>
            </a:pPr>
            <a:r>
              <a:rPr lang="en-US" sz="1000" dirty="0">
                <a:solidFill>
                  <a:srgbClr val="2ECC71"/>
                </a:solidFill>
                <a:latin typeface="Consolas" pitchFamily="34" charset="0"/>
                <a:ea typeface="Consolas" pitchFamily="34" charset="-122"/>
                <a:cs typeface="Consolas" pitchFamily="34" charset="-120"/>
              </a:rPr>
              <a:t xml:space="preserve">        send forged_response  →  HMI   # operator sees nothing</a:t>
            </a:r>
            <a:endParaRPr lang="en-US" sz="1000" dirty="0"/>
          </a:p>
        </p:txBody>
      </p:sp>
      <p:sp>
        <p:nvSpPr>
          <p:cNvPr id="24" name="Text 22"/>
          <p:cNvSpPr/>
          <p:nvPr/>
        </p:nvSpPr>
        <p:spPr>
          <a:xfrm>
            <a:off x="502920" y="4133088"/>
            <a:ext cx="8229600" cy="182880"/>
          </a:xfrm>
          <a:prstGeom prst="rect">
            <a:avLst/>
          </a:prstGeom>
          <a:noFill/>
          <a:ln/>
        </p:spPr>
        <p:txBody>
          <a:bodyPr wrap="square" lIns="0" tIns="0" rIns="0" bIns="0" rtlCol="0" anchor="ctr"/>
          <a:lstStyle/>
          <a:p>
            <a:pPr indent="0" marL="0">
              <a:buNone/>
            </a:pPr>
            <a:r>
              <a:rPr lang="en-US" sz="1000" dirty="0">
                <a:solidFill>
                  <a:srgbClr val="C0392B"/>
                </a:solidFill>
                <a:latin typeface="Consolas" pitchFamily="34" charset="0"/>
                <a:ea typeface="Consolas" pitchFamily="34" charset="-122"/>
                <a:cs typeface="Consolas" pitchFamily="34" charset="-120"/>
              </a:rPr>
              <a:t xml:space="preserve">        send false_command    →  PLC   # PLC obeys attacker</a:t>
            </a:r>
            <a:endParaRPr lang="en-US" sz="1000" dirty="0"/>
          </a:p>
        </p:txBody>
      </p:sp>
      <p:sp>
        <p:nvSpPr>
          <p:cNvPr id="25" name="Shape 23"/>
          <p:cNvSpPr/>
          <p:nvPr/>
        </p:nvSpPr>
        <p:spPr>
          <a:xfrm>
            <a:off x="0" y="4754880"/>
            <a:ext cx="9144000" cy="384048"/>
          </a:xfrm>
          <a:prstGeom prst="rect">
            <a:avLst/>
          </a:prstGeom>
          <a:solidFill>
            <a:srgbClr val="1B3A5C"/>
          </a:solidFill>
          <a:ln w="12700">
            <a:solidFill>
              <a:srgbClr val="1B3A5C"/>
            </a:solidFill>
            <a:prstDash val="solid"/>
          </a:ln>
        </p:spPr>
      </p:sp>
      <p:sp>
        <p:nvSpPr>
          <p:cNvPr id="26" name="Text 24"/>
          <p:cNvSpPr/>
          <p:nvPr/>
        </p:nvSpPr>
        <p:spPr>
          <a:xfrm>
            <a:off x="274320" y="4754880"/>
            <a:ext cx="8595360" cy="38404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Attack Implementation  ·  Slide 15/18 — Phase 1: Inject</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137160"/>
            <a:ext cx="1280160" cy="347472"/>
          </a:xfrm>
          <a:prstGeom prst="rect">
            <a:avLst/>
          </a:prstGeom>
          <a:solidFill>
            <a:srgbClr val="8E44AD"/>
          </a:solidFill>
          <a:ln w="12700">
            <a:solidFill>
              <a:srgbClr val="8E44AD"/>
            </a:solidFill>
            <a:prstDash val="solid"/>
          </a:ln>
        </p:spPr>
      </p:sp>
      <p:sp>
        <p:nvSpPr>
          <p:cNvPr id="3" name="Text 1"/>
          <p:cNvSpPr/>
          <p:nvPr/>
        </p:nvSpPr>
        <p:spPr>
          <a:xfrm>
            <a:off x="365760" y="137160"/>
            <a:ext cx="128016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Phase 2</a:t>
            </a:r>
            <a:endParaRPr lang="en-US" sz="1100" dirty="0"/>
          </a:p>
        </p:txBody>
      </p:sp>
      <p:sp>
        <p:nvSpPr>
          <p:cNvPr id="4" name="Text 2"/>
          <p:cNvSpPr/>
          <p:nvPr/>
        </p:nvSpPr>
        <p:spPr>
          <a:xfrm>
            <a:off x="1828800" y="137160"/>
            <a:ext cx="6949440" cy="4572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Adversarial Sensor Spoofing — Evading ML Detectors</a:t>
            </a:r>
            <a:endParaRPr lang="en-US" sz="2400" dirty="0"/>
          </a:p>
        </p:txBody>
      </p:sp>
      <p:sp>
        <p:nvSpPr>
          <p:cNvPr id="5" name="Text 3"/>
          <p:cNvSpPr/>
          <p:nvPr/>
        </p:nvSpPr>
        <p:spPr>
          <a:xfrm>
            <a:off x="365760" y="621792"/>
            <a:ext cx="8412480" cy="256032"/>
          </a:xfrm>
          <a:prstGeom prst="rect">
            <a:avLst/>
          </a:prstGeom>
          <a:noFill/>
          <a:ln/>
        </p:spPr>
        <p:txBody>
          <a:bodyPr wrap="square" lIns="0" tIns="0" rIns="0" bIns="0" rtlCol="0" anchor="ctr"/>
          <a:lstStyle/>
          <a:p>
            <a:pPr indent="0" marL="0">
              <a:buNone/>
            </a:pPr>
            <a:r>
              <a:rPr lang="en-US" sz="1100" i="1" dirty="0">
                <a:solidFill>
                  <a:srgbClr val="8FA3B1"/>
                </a:solidFill>
                <a:latin typeface="Calibri" pitchFamily="34" charset="0"/>
                <a:ea typeface="Calibri" pitchFamily="34" charset="-122"/>
                <a:cs typeface="Calibri" pitchFamily="34" charset="-120"/>
              </a:rPr>
              <a:t>phase2_spoof.py  ·  Castellanos et al., ACSAC 2020 (Paper #31)  ·  github.com/scy-phy/ICS-Evasion-Attacks</a:t>
            </a:r>
            <a:endParaRPr lang="en-US" sz="1100" dirty="0"/>
          </a:p>
        </p:txBody>
      </p:sp>
      <p:sp>
        <p:nvSpPr>
          <p:cNvPr id="6" name="Shape 4"/>
          <p:cNvSpPr/>
          <p:nvPr/>
        </p:nvSpPr>
        <p:spPr>
          <a:xfrm>
            <a:off x="274320" y="914400"/>
            <a:ext cx="2651760" cy="3383280"/>
          </a:xfrm>
          <a:prstGeom prst="rect">
            <a:avLst/>
          </a:prstGeom>
          <a:solidFill>
            <a:srgbClr val="1B3A5C"/>
          </a:solidFill>
          <a:ln w="12700">
            <a:solidFill>
              <a:srgbClr val="1B3A5C"/>
            </a:solidFill>
            <a:prstDash val="solid"/>
          </a:ln>
        </p:spPr>
      </p:sp>
      <p:sp>
        <p:nvSpPr>
          <p:cNvPr id="7" name="Shape 5"/>
          <p:cNvSpPr/>
          <p:nvPr/>
        </p:nvSpPr>
        <p:spPr>
          <a:xfrm>
            <a:off x="274320" y="914400"/>
            <a:ext cx="64008" cy="3383280"/>
          </a:xfrm>
          <a:prstGeom prst="rect">
            <a:avLst/>
          </a:prstGeom>
          <a:solidFill>
            <a:srgbClr val="C0392B"/>
          </a:solidFill>
          <a:ln w="12700">
            <a:solidFill>
              <a:srgbClr val="C0392B"/>
            </a:solidFill>
            <a:prstDash val="solid"/>
          </a:ln>
        </p:spPr>
      </p:sp>
      <p:sp>
        <p:nvSpPr>
          <p:cNvPr id="8" name="Text 6"/>
          <p:cNvSpPr/>
          <p:nvPr/>
        </p:nvSpPr>
        <p:spPr>
          <a:xfrm>
            <a:off x="502920" y="987552"/>
            <a:ext cx="2331720" cy="320040"/>
          </a:xfrm>
          <a:prstGeom prst="rect">
            <a:avLst/>
          </a:prstGeom>
          <a:noFill/>
          <a:ln/>
        </p:spPr>
        <p:txBody>
          <a:bodyPr wrap="square" lIns="0" tIns="0" rIns="0" bIns="0"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Problem: Naive Replay</a:t>
            </a:r>
            <a:endParaRPr lang="en-US" sz="1300" dirty="0"/>
          </a:p>
        </p:txBody>
      </p:sp>
      <p:sp>
        <p:nvSpPr>
          <p:cNvPr id="9" name="Text 7"/>
          <p:cNvSpPr/>
          <p:nvPr/>
        </p:nvSpPr>
        <p:spPr>
          <a:xfrm>
            <a:off x="502920" y="1417320"/>
            <a:ext cx="2331720" cy="566928"/>
          </a:xfrm>
          <a:prstGeom prst="rect">
            <a:avLst/>
          </a:prstGeom>
          <a:noFill/>
          <a:ln/>
        </p:spPr>
        <p:txBody>
          <a:bodyPr wrap="square" lIns="0" tIns="0" rIns="0" bIns="0" rtlCol="0" anchor="ctr"/>
          <a:lstStyle/>
          <a:p>
            <a:pPr indent="0" marL="0">
              <a:buNone/>
            </a:pPr>
            <a:r>
              <a:rPr lang="en-US" sz="1050" dirty="0">
                <a:solidFill>
                  <a:srgbClr val="E8EEF4"/>
                </a:solidFill>
                <a:latin typeface="Calibri" pitchFamily="34" charset="0"/>
                <a:ea typeface="Calibri" pitchFamily="34" charset="-122"/>
                <a:cs typeface="Calibri" pitchFamily="34" charset="-120"/>
              </a:rPr>
              <a:t>✗  Phase 1 replays static stored values</a:t>
            </a:r>
            <a:endParaRPr lang="en-US" sz="1050" dirty="0"/>
          </a:p>
        </p:txBody>
      </p:sp>
      <p:sp>
        <p:nvSpPr>
          <p:cNvPr id="10" name="Text 8"/>
          <p:cNvSpPr/>
          <p:nvPr/>
        </p:nvSpPr>
        <p:spPr>
          <a:xfrm>
            <a:off x="502920" y="2075688"/>
            <a:ext cx="2331720" cy="566928"/>
          </a:xfrm>
          <a:prstGeom prst="rect">
            <a:avLst/>
          </a:prstGeom>
          <a:noFill/>
          <a:ln/>
        </p:spPr>
        <p:txBody>
          <a:bodyPr wrap="square" lIns="0" tIns="0" rIns="0" bIns="0" rtlCol="0" anchor="ctr"/>
          <a:lstStyle/>
          <a:p>
            <a:pPr indent="0" marL="0">
              <a:buNone/>
            </a:pPr>
            <a:r>
              <a:rPr lang="en-US" sz="1050" dirty="0">
                <a:solidFill>
                  <a:srgbClr val="E8EEF4"/>
                </a:solidFill>
                <a:latin typeface="Calibri" pitchFamily="34" charset="0"/>
                <a:ea typeface="Calibri" pitchFamily="34" charset="-122"/>
                <a:cs typeface="Calibri" pitchFamily="34" charset="-120"/>
              </a:rPr>
              <a:t>✗  Physical correlations break: LIT101 stays flat while P101 is OFF</a:t>
            </a:r>
            <a:endParaRPr lang="en-US" sz="1050" dirty="0"/>
          </a:p>
        </p:txBody>
      </p:sp>
      <p:sp>
        <p:nvSpPr>
          <p:cNvPr id="11" name="Text 9"/>
          <p:cNvSpPr/>
          <p:nvPr/>
        </p:nvSpPr>
        <p:spPr>
          <a:xfrm>
            <a:off x="502920" y="2734056"/>
            <a:ext cx="2331720" cy="566928"/>
          </a:xfrm>
          <a:prstGeom prst="rect">
            <a:avLst/>
          </a:prstGeom>
          <a:noFill/>
          <a:ln/>
        </p:spPr>
        <p:txBody>
          <a:bodyPr wrap="square" lIns="0" tIns="0" rIns="0" bIns="0" rtlCol="0" anchor="ctr"/>
          <a:lstStyle/>
          <a:p>
            <a:pPr indent="0" marL="0">
              <a:buNone/>
            </a:pPr>
            <a:r>
              <a:rPr lang="en-US" sz="1050" dirty="0">
                <a:solidFill>
                  <a:srgbClr val="E8EEF4"/>
                </a:solidFill>
                <a:latin typeface="Calibri" pitchFamily="34" charset="0"/>
                <a:ea typeface="Calibri" pitchFamily="34" charset="-122"/>
                <a:cs typeface="Calibri" pitchFamily="34" charset="-120"/>
              </a:rPr>
              <a:t>✗  Reconstruction AE detects increasing MSE error over time</a:t>
            </a:r>
            <a:endParaRPr lang="en-US" sz="1050" dirty="0"/>
          </a:p>
        </p:txBody>
      </p:sp>
      <p:sp>
        <p:nvSpPr>
          <p:cNvPr id="12" name="Text 10"/>
          <p:cNvSpPr/>
          <p:nvPr/>
        </p:nvSpPr>
        <p:spPr>
          <a:xfrm>
            <a:off x="502920" y="3392424"/>
            <a:ext cx="2331720" cy="566928"/>
          </a:xfrm>
          <a:prstGeom prst="rect">
            <a:avLst/>
          </a:prstGeom>
          <a:noFill/>
          <a:ln/>
        </p:spPr>
        <p:txBody>
          <a:bodyPr wrap="square" lIns="0" tIns="0" rIns="0" bIns="0" rtlCol="0" anchor="ctr"/>
          <a:lstStyle/>
          <a:p>
            <a:pPr indent="0" marL="0">
              <a:buNone/>
            </a:pPr>
            <a:r>
              <a:rPr lang="en-US" sz="1050" dirty="0">
                <a:solidFill>
                  <a:srgbClr val="E8EEF4"/>
                </a:solidFill>
                <a:latin typeface="Calibri" pitchFamily="34" charset="0"/>
                <a:ea typeface="Calibri" pitchFamily="34" charset="-122"/>
                <a:cs typeface="Calibri" pitchFamily="34" charset="-120"/>
              </a:rPr>
              <a:t>✗  Paper #31: triggers alarms when &lt;95% sensors are manipulated</a:t>
            </a:r>
            <a:endParaRPr lang="en-US" sz="1050" dirty="0"/>
          </a:p>
        </p:txBody>
      </p:sp>
      <p:sp>
        <p:nvSpPr>
          <p:cNvPr id="13" name="Shape 11"/>
          <p:cNvSpPr/>
          <p:nvPr/>
        </p:nvSpPr>
        <p:spPr>
          <a:xfrm>
            <a:off x="3108960" y="914400"/>
            <a:ext cx="2834640" cy="3383280"/>
          </a:xfrm>
          <a:prstGeom prst="rect">
            <a:avLst/>
          </a:prstGeom>
          <a:solidFill>
            <a:srgbClr val="1B3A5C"/>
          </a:solidFill>
          <a:ln w="12700">
            <a:solidFill>
              <a:srgbClr val="1B3A5C"/>
            </a:solidFill>
            <a:prstDash val="solid"/>
          </a:ln>
        </p:spPr>
      </p:sp>
      <p:sp>
        <p:nvSpPr>
          <p:cNvPr id="14" name="Shape 12"/>
          <p:cNvSpPr/>
          <p:nvPr/>
        </p:nvSpPr>
        <p:spPr>
          <a:xfrm>
            <a:off x="3108960" y="914400"/>
            <a:ext cx="64008" cy="3383280"/>
          </a:xfrm>
          <a:prstGeom prst="rect">
            <a:avLst/>
          </a:prstGeom>
          <a:solidFill>
            <a:srgbClr val="8E44AD"/>
          </a:solidFill>
          <a:ln w="12700">
            <a:solidFill>
              <a:srgbClr val="8E44AD"/>
            </a:solidFill>
            <a:prstDash val="solid"/>
          </a:ln>
        </p:spPr>
      </p:sp>
      <p:sp>
        <p:nvSpPr>
          <p:cNvPr id="15" name="Text 13"/>
          <p:cNvSpPr/>
          <p:nvPr/>
        </p:nvSpPr>
        <p:spPr>
          <a:xfrm>
            <a:off x="3337560" y="987552"/>
            <a:ext cx="2468880" cy="320040"/>
          </a:xfrm>
          <a:prstGeom prst="rect">
            <a:avLst/>
          </a:prstGeom>
          <a:noFill/>
          <a:ln/>
        </p:spPr>
        <p:txBody>
          <a:bodyPr wrap="square" lIns="0" tIns="0" rIns="0" bIns="0" rtlCol="0" anchor="ctr"/>
          <a:lstStyle/>
          <a:p>
            <a:pPr indent="0" marL="0">
              <a:buNone/>
            </a:pPr>
            <a:r>
              <a:rPr lang="en-US" sz="1300" b="1" dirty="0">
                <a:solidFill>
                  <a:srgbClr val="8E44AD"/>
                </a:solidFill>
                <a:latin typeface="Calibri" pitchFamily="34" charset="0"/>
                <a:ea typeface="Calibri" pitchFamily="34" charset="-122"/>
                <a:cs typeface="Calibri" pitchFamily="34" charset="-120"/>
              </a:rPr>
              <a:t>Solution: Adv. Autoencoder</a:t>
            </a:r>
            <a:endParaRPr lang="en-US" sz="1300" dirty="0"/>
          </a:p>
        </p:txBody>
      </p:sp>
      <p:sp>
        <p:nvSpPr>
          <p:cNvPr id="16" name="Text 14"/>
          <p:cNvSpPr/>
          <p:nvPr/>
        </p:nvSpPr>
        <p:spPr>
          <a:xfrm>
            <a:off x="3337560" y="1371600"/>
            <a:ext cx="2468880" cy="256032"/>
          </a:xfrm>
          <a:prstGeom prst="rect">
            <a:avLst/>
          </a:prstGeom>
          <a:noFill/>
          <a:ln/>
        </p:spPr>
        <p:txBody>
          <a:bodyPr wrap="square" lIns="0" tIns="0" rIns="0" bIns="0" rtlCol="0" anchor="ctr"/>
          <a:lstStyle/>
          <a:p>
            <a:pPr indent="0" marL="0">
              <a:buNone/>
            </a:pPr>
            <a:r>
              <a:rPr lang="en-US" sz="1100" b="1" dirty="0">
                <a:solidFill>
                  <a:srgbClr val="F4A261"/>
                </a:solidFill>
                <a:latin typeface="Calibri" pitchFamily="34" charset="0"/>
                <a:ea typeface="Calibri" pitchFamily="34" charset="-122"/>
                <a:cs typeface="Calibri" pitchFamily="34" charset="-120"/>
              </a:rPr>
              <a:t>Learning-based (black-box):</a:t>
            </a:r>
            <a:endParaRPr lang="en-US" sz="1100" dirty="0"/>
          </a:p>
        </p:txBody>
      </p:sp>
      <p:sp>
        <p:nvSpPr>
          <p:cNvPr id="17" name="Text 15"/>
          <p:cNvSpPr/>
          <p:nvPr/>
        </p:nvSpPr>
        <p:spPr>
          <a:xfrm>
            <a:off x="3337560" y="1645920"/>
            <a:ext cx="2468880" cy="1097280"/>
          </a:xfrm>
          <a:prstGeom prst="rect">
            <a:avLst/>
          </a:prstGeom>
          <a:noFill/>
          <a:ln/>
        </p:spPr>
        <p:txBody>
          <a:bodyPr wrap="square" lIns="0" tIns="0" rIns="0" bIns="0" rtlCol="0" anchor="ctr"/>
          <a:lstStyle/>
          <a:p>
            <a:pPr indent="0" marL="0">
              <a:buNone/>
            </a:pPr>
            <a:r>
              <a:rPr lang="en-US" sz="1050" dirty="0">
                <a:solidFill>
                  <a:srgbClr val="E8EEF4"/>
                </a:solidFill>
                <a:latin typeface="Calibri" pitchFamily="34" charset="0"/>
                <a:ea typeface="Calibri" pitchFamily="34" charset="-122"/>
                <a:cs typeface="Calibri" pitchFamily="34" charset="-120"/>
              </a:rPr>
              <a:t>Train adversarial net to output perturbation δ such that:</a:t>
            </a:r>
            <a:endParaRPr lang="en-US" sz="1050" dirty="0"/>
          </a:p>
          <a:p>
            <a:pPr indent="0" marL="0">
              <a:buNone/>
            </a:pPr>
            <a:endParaRPr lang="en-US" sz="1050" dirty="0"/>
          </a:p>
          <a:p>
            <a:pPr indent="0" marL="0">
              <a:buNone/>
            </a:pPr>
            <a:r>
              <a:rPr lang="en-US" sz="1050" dirty="0">
                <a:solidFill>
                  <a:srgbClr val="E8EEF4"/>
                </a:solidFill>
                <a:latin typeface="Calibri" pitchFamily="34" charset="0"/>
                <a:ea typeface="Calibri" pitchFamily="34" charset="-122"/>
                <a:cs typeface="Calibri" pitchFamily="34" charset="-120"/>
              </a:rPr>
              <a:t xml:space="preserve">  AE_detector(x + δ)</a:t>
            </a:r>
            <a:endParaRPr lang="en-US" sz="1050" dirty="0"/>
          </a:p>
          <a:p>
            <a:pPr indent="0" marL="0">
              <a:buNone/>
            </a:pPr>
            <a:r>
              <a:rPr lang="en-US" sz="1050" dirty="0">
                <a:solidFill>
                  <a:srgbClr val="E8EEF4"/>
                </a:solidFill>
                <a:latin typeface="Calibri" pitchFamily="34" charset="0"/>
                <a:ea typeface="Calibri" pitchFamily="34" charset="-122"/>
                <a:cs typeface="Calibri" pitchFamily="34" charset="-120"/>
              </a:rPr>
              <a:t xml:space="preserve">  has low reconstruction error</a:t>
            </a:r>
            <a:endParaRPr lang="en-US" sz="1050" dirty="0"/>
          </a:p>
          <a:p>
            <a:pPr indent="0" marL="0">
              <a:buNone/>
            </a:pPr>
            <a:r>
              <a:rPr lang="en-US" sz="1050" dirty="0">
                <a:solidFill>
                  <a:srgbClr val="E8EEF4"/>
                </a:solidFill>
                <a:latin typeface="Calibri" pitchFamily="34" charset="0"/>
                <a:ea typeface="Calibri" pitchFamily="34" charset="-122"/>
                <a:cs typeface="Calibri" pitchFamily="34" charset="-120"/>
              </a:rPr>
              <a:t xml:space="preserve">  → looks normal to detector</a:t>
            </a:r>
            <a:endParaRPr lang="en-US" sz="1050" dirty="0"/>
          </a:p>
        </p:txBody>
      </p:sp>
      <p:sp>
        <p:nvSpPr>
          <p:cNvPr id="18" name="Text 16"/>
          <p:cNvSpPr/>
          <p:nvPr/>
        </p:nvSpPr>
        <p:spPr>
          <a:xfrm>
            <a:off x="3337560" y="2788920"/>
            <a:ext cx="2468880" cy="256032"/>
          </a:xfrm>
          <a:prstGeom prst="rect">
            <a:avLst/>
          </a:prstGeom>
          <a:noFill/>
          <a:ln/>
        </p:spPr>
        <p:txBody>
          <a:bodyPr wrap="square" lIns="0" tIns="0" rIns="0" bIns="0" rtlCol="0" anchor="ctr"/>
          <a:lstStyle/>
          <a:p>
            <a:pPr indent="0" marL="0">
              <a:buNone/>
            </a:pPr>
            <a:r>
              <a:rPr lang="en-US" sz="1100" dirty="0">
                <a:solidFill>
                  <a:srgbClr val="2ECC71"/>
                </a:solidFill>
                <a:latin typeface="Consolas" pitchFamily="34" charset="0"/>
                <a:ea typeface="Consolas" pitchFamily="34" charset="-122"/>
                <a:cs typeface="Consolas" pitchFamily="34" charset="-120"/>
              </a:rPr>
              <a:t>Constraint:  ||δ||∞ ≤ ε</a:t>
            </a:r>
            <a:endParaRPr lang="en-US" sz="1100" dirty="0"/>
          </a:p>
        </p:txBody>
      </p:sp>
      <p:sp>
        <p:nvSpPr>
          <p:cNvPr id="19" name="Text 17"/>
          <p:cNvSpPr/>
          <p:nvPr/>
        </p:nvSpPr>
        <p:spPr>
          <a:xfrm>
            <a:off x="3337560" y="3108960"/>
            <a:ext cx="2468880" cy="502920"/>
          </a:xfrm>
          <a:prstGeom prst="rect">
            <a:avLst/>
          </a:prstGeom>
          <a:noFill/>
          <a:ln/>
        </p:spPr>
        <p:txBody>
          <a:bodyPr wrap="square" lIns="0" tIns="0" rIns="0" bIns="0" rtlCol="0" anchor="ctr"/>
          <a:lstStyle/>
          <a:p>
            <a:pPr indent="0" marL="0">
              <a:buNone/>
            </a:pPr>
            <a:r>
              <a:rPr lang="en-US" sz="1000" dirty="0">
                <a:solidFill>
                  <a:srgbClr val="8FA3B1"/>
                </a:solidFill>
                <a:latin typeface="Calibri" pitchFamily="34" charset="0"/>
                <a:ea typeface="Calibri" pitchFamily="34" charset="-122"/>
                <a:cs typeface="Calibri" pitchFamily="34" charset="-120"/>
              </a:rPr>
              <a:t>Runs in milliseconds</a:t>
            </a:r>
            <a:endParaRPr lang="en-US" sz="1000" dirty="0"/>
          </a:p>
          <a:p>
            <a:pPr indent="0" marL="0">
              <a:buNone/>
            </a:pPr>
            <a:r>
              <a:rPr lang="en-US" sz="1000" dirty="0">
                <a:solidFill>
                  <a:srgbClr val="8FA3B1"/>
                </a:solidFill>
                <a:latin typeface="Calibri" pitchFamily="34" charset="0"/>
                <a:ea typeface="Calibri" pitchFamily="34" charset="-122"/>
                <a:cs typeface="Calibri" pitchFamily="34" charset="-120"/>
              </a:rPr>
              <a:t>— meets Modbus timing window</a:t>
            </a:r>
            <a:endParaRPr lang="en-US" sz="1000" dirty="0"/>
          </a:p>
        </p:txBody>
      </p:sp>
      <p:sp>
        <p:nvSpPr>
          <p:cNvPr id="20" name="Shape 18"/>
          <p:cNvSpPr/>
          <p:nvPr/>
        </p:nvSpPr>
        <p:spPr>
          <a:xfrm>
            <a:off x="6126480" y="914400"/>
            <a:ext cx="2743200" cy="3383280"/>
          </a:xfrm>
          <a:prstGeom prst="rect">
            <a:avLst/>
          </a:prstGeom>
          <a:solidFill>
            <a:srgbClr val="1E2D3D"/>
          </a:solidFill>
          <a:ln w="12700">
            <a:solidFill>
              <a:srgbClr val="1E2D3D"/>
            </a:solidFill>
            <a:prstDash val="solid"/>
          </a:ln>
        </p:spPr>
      </p:sp>
      <p:sp>
        <p:nvSpPr>
          <p:cNvPr id="21" name="Shape 19"/>
          <p:cNvSpPr/>
          <p:nvPr/>
        </p:nvSpPr>
        <p:spPr>
          <a:xfrm>
            <a:off x="6126480" y="914400"/>
            <a:ext cx="64008" cy="3383280"/>
          </a:xfrm>
          <a:prstGeom prst="rect">
            <a:avLst/>
          </a:prstGeom>
          <a:solidFill>
            <a:srgbClr val="F4A261"/>
          </a:solidFill>
          <a:ln w="12700">
            <a:solidFill>
              <a:srgbClr val="F4A261"/>
            </a:solidFill>
            <a:prstDash val="solid"/>
          </a:ln>
        </p:spPr>
      </p:sp>
      <p:sp>
        <p:nvSpPr>
          <p:cNvPr id="22" name="Text 20"/>
          <p:cNvSpPr/>
          <p:nvPr/>
        </p:nvSpPr>
        <p:spPr>
          <a:xfrm>
            <a:off x="6355080" y="987552"/>
            <a:ext cx="2377440" cy="320040"/>
          </a:xfrm>
          <a:prstGeom prst="rect">
            <a:avLst/>
          </a:prstGeom>
          <a:noFill/>
          <a:ln/>
        </p:spPr>
        <p:txBody>
          <a:bodyPr wrap="square" lIns="0" tIns="0" rIns="0" bIns="0" rtlCol="0" anchor="ctr"/>
          <a:lstStyle/>
          <a:p>
            <a:pPr indent="0" marL="0">
              <a:buNone/>
            </a:pPr>
            <a:r>
              <a:rPr lang="en-US" sz="1300" b="1" dirty="0">
                <a:solidFill>
                  <a:srgbClr val="F4A261"/>
                </a:solidFill>
                <a:latin typeface="Calibri" pitchFamily="34" charset="0"/>
                <a:ea typeface="Calibri" pitchFamily="34" charset="-122"/>
                <a:cs typeface="Calibri" pitchFamily="34" charset="-120"/>
              </a:rPr>
              <a:t>Training Loss</a:t>
            </a:r>
            <a:endParaRPr lang="en-US" sz="1300" dirty="0"/>
          </a:p>
        </p:txBody>
      </p:sp>
      <p:sp>
        <p:nvSpPr>
          <p:cNvPr id="23" name="Text 21"/>
          <p:cNvSpPr/>
          <p:nvPr/>
        </p:nvSpPr>
        <p:spPr>
          <a:xfrm>
            <a:off x="6355080" y="1371600"/>
            <a:ext cx="2377440" cy="594360"/>
          </a:xfrm>
          <a:prstGeom prst="rect">
            <a:avLst/>
          </a:prstGeom>
          <a:noFill/>
          <a:ln/>
        </p:spPr>
        <p:txBody>
          <a:bodyPr wrap="square" lIns="0" tIns="0" rIns="0" bIns="0" rtlCol="0" anchor="ctr"/>
          <a:lstStyle/>
          <a:p>
            <a:pPr indent="0" marL="0">
              <a:buNone/>
            </a:pPr>
            <a:r>
              <a:rPr lang="en-US" sz="1200" dirty="0">
                <a:solidFill>
                  <a:srgbClr val="2ECC71"/>
                </a:solidFill>
                <a:latin typeface="Consolas" pitchFamily="34" charset="0"/>
                <a:ea typeface="Consolas" pitchFamily="34" charset="-122"/>
                <a:cs typeface="Consolas" pitchFamily="34" charset="-120"/>
              </a:rPr>
              <a:t>L = α · MSE_detector(x+δ)</a:t>
            </a:r>
            <a:endParaRPr lang="en-US" sz="1200" dirty="0"/>
          </a:p>
          <a:p>
            <a:pPr indent="0" marL="0">
              <a:buNone/>
            </a:pPr>
            <a:r>
              <a:rPr lang="en-US" sz="1200" dirty="0">
                <a:solidFill>
                  <a:srgbClr val="2ECC71"/>
                </a:solidFill>
                <a:latin typeface="Consolas" pitchFamily="34" charset="0"/>
                <a:ea typeface="Consolas" pitchFamily="34" charset="-122"/>
                <a:cs typeface="Consolas" pitchFamily="34" charset="-120"/>
              </a:rPr>
              <a:t xml:space="preserve">  + β · ||δ||₂</a:t>
            </a:r>
            <a:endParaRPr lang="en-US" sz="1200" dirty="0"/>
          </a:p>
        </p:txBody>
      </p:sp>
      <p:sp>
        <p:nvSpPr>
          <p:cNvPr id="24" name="Text 22"/>
          <p:cNvSpPr/>
          <p:nvPr/>
        </p:nvSpPr>
        <p:spPr>
          <a:xfrm>
            <a:off x="6355080" y="2057400"/>
            <a:ext cx="2377440" cy="2011680"/>
          </a:xfrm>
          <a:prstGeom prst="rect">
            <a:avLst/>
          </a:prstGeom>
          <a:noFill/>
          <a:ln/>
        </p:spPr>
        <p:txBody>
          <a:bodyPr wrap="square" lIns="0" tIns="0" rIns="0" bIns="0" rtlCol="0" anchor="ctr"/>
          <a:lstStyle/>
          <a:p>
            <a:pPr indent="0" marL="0">
              <a:buNone/>
            </a:pPr>
            <a:r>
              <a:rPr lang="en-US" sz="1050" b="1" dirty="0">
                <a:solidFill>
                  <a:srgbClr val="F4A261"/>
                </a:solidFill>
                <a:latin typeface="Calibri" pitchFamily="34" charset="0"/>
                <a:ea typeface="Calibri" pitchFamily="34" charset="-122"/>
                <a:cs typeface="Calibri" pitchFamily="34" charset="-120"/>
              </a:rPr>
              <a:t xml:space="preserve">α·MSE  </a:t>
            </a:r>
            <a:pPr indent="0" marL="0">
              <a:buNone/>
            </a:pPr>
            <a:r>
              <a:rPr lang="en-US" sz="1050" dirty="0">
                <a:solidFill>
                  <a:srgbClr val="E8EEF4"/>
                </a:solidFill>
                <a:latin typeface="Calibri" pitchFamily="34" charset="0"/>
                <a:ea typeface="Calibri" pitchFamily="34" charset="-122"/>
                <a:cs typeface="Calibri" pitchFamily="34" charset="-120"/>
              </a:rPr>
              <a:t>→ fool detector
</a:t>
            </a:r>
            <a:pPr indent="0" marL="0">
              <a:buNone/>
            </a:pPr>
            <a:r>
              <a:rPr lang="en-US" sz="1050" b="1" dirty="0">
                <a:solidFill>
                  <a:srgbClr val="F4A261"/>
                </a:solidFill>
                <a:latin typeface="Calibri" pitchFamily="34" charset="0"/>
                <a:ea typeface="Calibri" pitchFamily="34" charset="-122"/>
                <a:cs typeface="Calibri" pitchFamily="34" charset="-120"/>
              </a:rPr>
              <a:t xml:space="preserve">β·||δ||  </a:t>
            </a:r>
            <a:pPr indent="0" marL="0">
              <a:buNone/>
            </a:pPr>
            <a:r>
              <a:rPr lang="en-US" sz="1050" dirty="0">
                <a:solidFill>
                  <a:srgbClr val="E8EEF4"/>
                </a:solidFill>
                <a:latin typeface="Calibri" pitchFamily="34" charset="0"/>
                <a:ea typeface="Calibri" pitchFamily="34" charset="-122"/>
                <a:cs typeface="Calibri" pitchFamily="34" charset="-120"/>
              </a:rPr>
              <a:t>→ keep perturbation small
</a:t>
            </a:r>
            <a:pPr indent="0" marL="0">
              <a:buNone/>
            </a:pPr>
            <a:r>
              <a:rPr lang="en-US" sz="1050" b="1" dirty="0">
                <a:solidFill>
                  <a:srgbClr val="F4A261"/>
                </a:solidFill>
                <a:latin typeface="Calibri" pitchFamily="34" charset="0"/>
                <a:ea typeface="Calibri" pitchFamily="34" charset="-122"/>
                <a:cs typeface="Calibri" pitchFamily="34" charset="-120"/>
              </a:rPr>
              <a:t xml:space="preserve">Result: </a:t>
            </a:r>
            <a:pPr indent="0" marL="0">
              <a:buNone/>
            </a:pPr>
            <a:r>
              <a:rPr lang="en-US" sz="1050" dirty="0">
                <a:solidFill>
                  <a:srgbClr val="E8EEF4"/>
                </a:solidFill>
                <a:latin typeface="Calibri" pitchFamily="34" charset="0"/>
                <a:ea typeface="Calibri" pitchFamily="34" charset="-122"/>
                <a:cs typeface="Calibri" pitchFamily="34" charset="-120"/>
              </a:rPr>
              <a:t>spoofed sensor values that reconstruct normally through any AE detector</a:t>
            </a:r>
            <a:endParaRPr lang="en-US" sz="1050" dirty="0"/>
          </a:p>
        </p:txBody>
      </p:sp>
      <p:sp>
        <p:nvSpPr>
          <p:cNvPr id="25" name="Shape 23"/>
          <p:cNvSpPr/>
          <p:nvPr/>
        </p:nvSpPr>
        <p:spPr>
          <a:xfrm>
            <a:off x="0" y="4754880"/>
            <a:ext cx="9144000" cy="384048"/>
          </a:xfrm>
          <a:prstGeom prst="rect">
            <a:avLst/>
          </a:prstGeom>
          <a:solidFill>
            <a:srgbClr val="1B3A5C"/>
          </a:solidFill>
          <a:ln w="12700">
            <a:solidFill>
              <a:srgbClr val="1B3A5C"/>
            </a:solidFill>
            <a:prstDash val="solid"/>
          </a:ln>
        </p:spPr>
      </p:sp>
      <p:sp>
        <p:nvSpPr>
          <p:cNvPr id="26" name="Text 24"/>
          <p:cNvSpPr/>
          <p:nvPr/>
        </p:nvSpPr>
        <p:spPr>
          <a:xfrm>
            <a:off x="274320" y="4754880"/>
            <a:ext cx="8595360" cy="38404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Attack Implementation  ·  Slide 16/18 — Phase 2: Evade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F1A"/>
        </a:solidFill>
      </p:bgPr>
    </p:bg>
    <p:spTree>
      <p:nvGrpSpPr>
        <p:cNvPr id="1" name=""/>
        <p:cNvGrpSpPr/>
        <p:nvPr/>
      </p:nvGrpSpPr>
      <p:grpSpPr>
        <a:xfrm>
          <a:off x="0" y="0"/>
          <a:ext cx="0" cy="0"/>
          <a:chOff x="0" y="0"/>
          <a:chExt cx="0" cy="0"/>
        </a:xfrm>
      </p:grpSpPr>
      <p:sp>
        <p:nvSpPr>
          <p:cNvPr id="2" name="Text 0"/>
          <p:cNvSpPr/>
          <p:nvPr/>
        </p:nvSpPr>
        <p:spPr>
          <a:xfrm>
            <a:off x="365760" y="137160"/>
            <a:ext cx="8412480" cy="4572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Implementation Scripts — Usage Reference</a:t>
            </a:r>
            <a:endParaRPr lang="en-US" sz="2800" dirty="0"/>
          </a:p>
        </p:txBody>
      </p:sp>
      <p:sp>
        <p:nvSpPr>
          <p:cNvPr id="3" name="Shape 1"/>
          <p:cNvSpPr/>
          <p:nvPr/>
        </p:nvSpPr>
        <p:spPr>
          <a:xfrm>
            <a:off x="274320" y="777240"/>
            <a:ext cx="8595360" cy="1325880"/>
          </a:xfrm>
          <a:prstGeom prst="rect">
            <a:avLst/>
          </a:prstGeom>
          <a:solidFill>
            <a:srgbClr val="1E2D3D"/>
          </a:solidFill>
          <a:ln w="12700">
            <a:solidFill>
              <a:srgbClr val="1E2D3D"/>
            </a:solidFill>
            <a:prstDash val="solid"/>
          </a:ln>
        </p:spPr>
      </p:sp>
      <p:sp>
        <p:nvSpPr>
          <p:cNvPr id="4" name="Shape 2"/>
          <p:cNvSpPr/>
          <p:nvPr/>
        </p:nvSpPr>
        <p:spPr>
          <a:xfrm>
            <a:off x="274320" y="777240"/>
            <a:ext cx="64008" cy="1325880"/>
          </a:xfrm>
          <a:prstGeom prst="rect">
            <a:avLst/>
          </a:prstGeom>
          <a:solidFill>
            <a:srgbClr val="2980B9"/>
          </a:solidFill>
          <a:ln w="12700">
            <a:solidFill>
              <a:srgbClr val="2980B9"/>
            </a:solidFill>
            <a:prstDash val="solid"/>
          </a:ln>
        </p:spPr>
      </p:sp>
      <p:sp>
        <p:nvSpPr>
          <p:cNvPr id="5" name="Text 3"/>
          <p:cNvSpPr/>
          <p:nvPr/>
        </p:nvSpPr>
        <p:spPr>
          <a:xfrm>
            <a:off x="502920" y="850392"/>
            <a:ext cx="2103120" cy="320040"/>
          </a:xfrm>
          <a:prstGeom prst="rect">
            <a:avLst/>
          </a:prstGeom>
          <a:noFill/>
          <a:ln/>
        </p:spPr>
        <p:txBody>
          <a:bodyPr wrap="square" lIns="0" tIns="0" rIns="0" bIns="0" rtlCol="0" anchor="ctr"/>
          <a:lstStyle/>
          <a:p>
            <a:pPr indent="0" marL="0">
              <a:buNone/>
            </a:pPr>
            <a:r>
              <a:rPr lang="en-US" sz="1400" b="1" dirty="0">
                <a:solidFill>
                  <a:srgbClr val="2980B9"/>
                </a:solidFill>
                <a:latin typeface="Consolas" pitchFamily="34" charset="0"/>
                <a:ea typeface="Consolas" pitchFamily="34" charset="-122"/>
                <a:cs typeface="Consolas" pitchFamily="34" charset="-120"/>
              </a:rPr>
              <a:t>phase0_recon.py</a:t>
            </a:r>
            <a:endParaRPr lang="en-US" sz="1400" dirty="0"/>
          </a:p>
        </p:txBody>
      </p:sp>
      <p:sp>
        <p:nvSpPr>
          <p:cNvPr id="6" name="Text 4"/>
          <p:cNvSpPr/>
          <p:nvPr/>
        </p:nvSpPr>
        <p:spPr>
          <a:xfrm>
            <a:off x="2697480" y="850392"/>
            <a:ext cx="6035040" cy="320040"/>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NMAP SYN scan + Modbus packet sniffer + request-response DB builder</a:t>
            </a:r>
            <a:endParaRPr lang="en-US" sz="1100" dirty="0"/>
          </a:p>
        </p:txBody>
      </p:sp>
      <p:sp>
        <p:nvSpPr>
          <p:cNvPr id="7" name="Text 5"/>
          <p:cNvSpPr/>
          <p:nvPr/>
        </p:nvSpPr>
        <p:spPr>
          <a:xfrm>
            <a:off x="502920" y="1234440"/>
            <a:ext cx="5029200" cy="749808"/>
          </a:xfrm>
          <a:prstGeom prst="rect">
            <a:avLst/>
          </a:prstGeom>
          <a:noFill/>
          <a:ln/>
        </p:spPr>
        <p:txBody>
          <a:bodyPr wrap="square" lIns="0" tIns="0" rIns="0" bIns="0" rtlCol="0" anchor="ctr"/>
          <a:lstStyle/>
          <a:p>
            <a:pPr indent="0" marL="0">
              <a:buNone/>
            </a:pPr>
            <a:r>
              <a:rPr lang="en-US" sz="950" dirty="0">
                <a:solidFill>
                  <a:srgbClr val="2ECC71"/>
                </a:solidFill>
                <a:latin typeface="Consolas" pitchFamily="34" charset="0"/>
                <a:ea typeface="Consolas" pitchFamily="34" charset="-122"/>
                <a:cs typeface="Consolas" pitchFamily="34" charset="-120"/>
              </a:rPr>
              <a:t>sudo python3 phase0_recon.py \</a:t>
            </a:r>
            <a:endParaRPr lang="en-US" sz="950" dirty="0"/>
          </a:p>
          <a:p>
            <a:pPr indent="0" marL="0">
              <a:buNone/>
            </a:pPr>
            <a:r>
              <a:rPr lang="en-US" sz="950" dirty="0">
                <a:solidFill>
                  <a:srgbClr val="2ECC71"/>
                </a:solidFill>
                <a:latin typeface="Consolas" pitchFamily="34" charset="0"/>
                <a:ea typeface="Consolas" pitchFamily="34" charset="-122"/>
                <a:cs typeface="Consolas" pitchFamily="34" charset="-120"/>
              </a:rPr>
              <a:t xml:space="preserve">  --subnet 192.168.1.0/24 \</a:t>
            </a:r>
            <a:endParaRPr lang="en-US" sz="950" dirty="0"/>
          </a:p>
          <a:p>
            <a:pPr indent="0" marL="0">
              <a:buNone/>
            </a:pPr>
            <a:r>
              <a:rPr lang="en-US" sz="950" dirty="0">
                <a:solidFill>
                  <a:srgbClr val="2ECC71"/>
                </a:solidFill>
                <a:latin typeface="Consolas" pitchFamily="34" charset="0"/>
                <a:ea typeface="Consolas" pitchFamily="34" charset="-122"/>
                <a:cs typeface="Consolas" pitchFamily="34" charset="-120"/>
              </a:rPr>
              <a:t xml:space="preserve">  --iface eth0  --duration 1800 \</a:t>
            </a:r>
            <a:endParaRPr lang="en-US" sz="950" dirty="0"/>
          </a:p>
          <a:p>
            <a:pPr indent="0" marL="0">
              <a:buNone/>
            </a:pPr>
            <a:r>
              <a:rPr lang="en-US" sz="950" dirty="0">
                <a:solidFill>
                  <a:srgbClr val="2ECC71"/>
                </a:solidFill>
                <a:latin typeface="Consolas" pitchFamily="34" charset="0"/>
                <a:ea typeface="Consolas" pitchFamily="34" charset="-122"/>
                <a:cs typeface="Consolas" pitchFamily="34" charset="-120"/>
              </a:rPr>
              <a:t xml:space="preserve">  --db modbus_db.pkl</a:t>
            </a:r>
            <a:endParaRPr lang="en-US" sz="950" dirty="0"/>
          </a:p>
        </p:txBody>
      </p:sp>
      <p:sp>
        <p:nvSpPr>
          <p:cNvPr id="8" name="Shape 6"/>
          <p:cNvSpPr/>
          <p:nvPr/>
        </p:nvSpPr>
        <p:spPr>
          <a:xfrm>
            <a:off x="5669280" y="1234440"/>
            <a:ext cx="3017520" cy="365760"/>
          </a:xfrm>
          <a:prstGeom prst="rect">
            <a:avLst/>
          </a:prstGeom>
          <a:solidFill>
            <a:srgbClr val="1B3A5C"/>
          </a:solidFill>
          <a:ln w="12700">
            <a:solidFill>
              <a:srgbClr val="1B3A5C"/>
            </a:solidFill>
            <a:prstDash val="solid"/>
          </a:ln>
        </p:spPr>
      </p:sp>
      <p:sp>
        <p:nvSpPr>
          <p:cNvPr id="9" name="Text 7"/>
          <p:cNvSpPr/>
          <p:nvPr/>
        </p:nvSpPr>
        <p:spPr>
          <a:xfrm>
            <a:off x="5760720" y="1234440"/>
            <a:ext cx="2834640" cy="365760"/>
          </a:xfrm>
          <a:prstGeom prst="rect">
            <a:avLst/>
          </a:prstGeom>
          <a:noFill/>
          <a:ln/>
        </p:spPr>
        <p:txBody>
          <a:bodyPr wrap="square" lIns="0" tIns="0" rIns="0" bIns="0" rtlCol="0" anchor="ctr"/>
          <a:lstStyle/>
          <a:p>
            <a:pPr indent="0" marL="0">
              <a:buNone/>
            </a:pPr>
            <a:r>
              <a:rPr lang="en-US" sz="900" dirty="0">
                <a:solidFill>
                  <a:srgbClr val="8FA3B1"/>
                </a:solidFill>
                <a:latin typeface="Consolas" pitchFamily="34" charset="0"/>
                <a:ea typeface="Consolas" pitchFamily="34" charset="-122"/>
                <a:cs typeface="Consolas" pitchFamily="34" charset="-120"/>
              </a:rPr>
              <a:t>deps: scapy  python-nmap</a:t>
            </a:r>
            <a:endParaRPr lang="en-US" sz="900" dirty="0"/>
          </a:p>
        </p:txBody>
      </p:sp>
      <p:sp>
        <p:nvSpPr>
          <p:cNvPr id="10" name="Shape 8"/>
          <p:cNvSpPr/>
          <p:nvPr/>
        </p:nvSpPr>
        <p:spPr>
          <a:xfrm>
            <a:off x="5669280" y="1645920"/>
            <a:ext cx="3017520" cy="365760"/>
          </a:xfrm>
          <a:prstGeom prst="rect">
            <a:avLst/>
          </a:prstGeom>
          <a:solidFill>
            <a:srgbClr val="1B3A5C"/>
          </a:solidFill>
          <a:ln w="12700">
            <a:solidFill>
              <a:srgbClr val="1B3A5C"/>
            </a:solidFill>
            <a:prstDash val="solid"/>
          </a:ln>
        </p:spPr>
      </p:sp>
      <p:sp>
        <p:nvSpPr>
          <p:cNvPr id="11" name="Text 9"/>
          <p:cNvSpPr/>
          <p:nvPr/>
        </p:nvSpPr>
        <p:spPr>
          <a:xfrm>
            <a:off x="5760720" y="1645920"/>
            <a:ext cx="2834640" cy="365760"/>
          </a:xfrm>
          <a:prstGeom prst="rect">
            <a:avLst/>
          </a:prstGeom>
          <a:noFill/>
          <a:ln/>
        </p:spPr>
        <p:txBody>
          <a:bodyPr wrap="square" lIns="0" tIns="0" rIns="0" bIns="0" rtlCol="0" anchor="ctr"/>
          <a:lstStyle/>
          <a:p>
            <a:pPr indent="0" marL="0">
              <a:buNone/>
            </a:pPr>
            <a:r>
              <a:rPr lang="en-US" sz="900" dirty="0">
                <a:solidFill>
                  <a:srgbClr val="F4A261"/>
                </a:solidFill>
                <a:latin typeface="Consolas" pitchFamily="34" charset="0"/>
                <a:ea typeface="Consolas" pitchFamily="34" charset="-122"/>
                <a:cs typeface="Consolas" pitchFamily="34" charset="-120"/>
              </a:rPr>
              <a:t>out:  modbus_db.pkl  swat_capture.pcap  recon_results.json</a:t>
            </a:r>
            <a:endParaRPr lang="en-US" sz="900" dirty="0"/>
          </a:p>
        </p:txBody>
      </p:sp>
      <p:sp>
        <p:nvSpPr>
          <p:cNvPr id="12" name="Shape 10"/>
          <p:cNvSpPr/>
          <p:nvPr/>
        </p:nvSpPr>
        <p:spPr>
          <a:xfrm>
            <a:off x="274320" y="2194560"/>
            <a:ext cx="8595360" cy="1325880"/>
          </a:xfrm>
          <a:prstGeom prst="rect">
            <a:avLst/>
          </a:prstGeom>
          <a:solidFill>
            <a:srgbClr val="1E2D3D"/>
          </a:solidFill>
          <a:ln w="12700">
            <a:solidFill>
              <a:srgbClr val="1E2D3D"/>
            </a:solidFill>
            <a:prstDash val="solid"/>
          </a:ln>
        </p:spPr>
      </p:sp>
      <p:sp>
        <p:nvSpPr>
          <p:cNvPr id="13" name="Shape 11"/>
          <p:cNvSpPr/>
          <p:nvPr/>
        </p:nvSpPr>
        <p:spPr>
          <a:xfrm>
            <a:off x="274320" y="2194560"/>
            <a:ext cx="64008" cy="1325880"/>
          </a:xfrm>
          <a:prstGeom prst="rect">
            <a:avLst/>
          </a:prstGeom>
          <a:solidFill>
            <a:srgbClr val="C0392B"/>
          </a:solidFill>
          <a:ln w="12700">
            <a:solidFill>
              <a:srgbClr val="C0392B"/>
            </a:solidFill>
            <a:prstDash val="solid"/>
          </a:ln>
        </p:spPr>
      </p:sp>
      <p:sp>
        <p:nvSpPr>
          <p:cNvPr id="14" name="Text 12"/>
          <p:cNvSpPr/>
          <p:nvPr/>
        </p:nvSpPr>
        <p:spPr>
          <a:xfrm>
            <a:off x="502920" y="2267712"/>
            <a:ext cx="2103120" cy="320040"/>
          </a:xfrm>
          <a:prstGeom prst="rect">
            <a:avLst/>
          </a:prstGeom>
          <a:noFill/>
          <a:ln/>
        </p:spPr>
        <p:txBody>
          <a:bodyPr wrap="square" lIns="0" tIns="0" rIns="0" bIns="0" rtlCol="0" anchor="ctr"/>
          <a:lstStyle/>
          <a:p>
            <a:pPr indent="0" marL="0">
              <a:buNone/>
            </a:pPr>
            <a:r>
              <a:rPr lang="en-US" sz="1400" b="1" dirty="0">
                <a:solidFill>
                  <a:srgbClr val="C0392B"/>
                </a:solidFill>
                <a:latin typeface="Consolas" pitchFamily="34" charset="0"/>
                <a:ea typeface="Consolas" pitchFamily="34" charset="-122"/>
                <a:cs typeface="Consolas" pitchFamily="34" charset="-120"/>
              </a:rPr>
              <a:t>phase1_inject.py</a:t>
            </a:r>
            <a:endParaRPr lang="en-US" sz="1400" dirty="0"/>
          </a:p>
        </p:txBody>
      </p:sp>
      <p:sp>
        <p:nvSpPr>
          <p:cNvPr id="15" name="Text 13"/>
          <p:cNvSpPr/>
          <p:nvPr/>
        </p:nvSpPr>
        <p:spPr>
          <a:xfrm>
            <a:off x="2697480" y="2267712"/>
            <a:ext cx="6035040" cy="320040"/>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ARP poisoning MITM + false Modbus coil writes + Algorithm 1 concealment replay</a:t>
            </a:r>
            <a:endParaRPr lang="en-US" sz="1100" dirty="0"/>
          </a:p>
        </p:txBody>
      </p:sp>
      <p:sp>
        <p:nvSpPr>
          <p:cNvPr id="16" name="Text 14"/>
          <p:cNvSpPr/>
          <p:nvPr/>
        </p:nvSpPr>
        <p:spPr>
          <a:xfrm>
            <a:off x="502920" y="2651760"/>
            <a:ext cx="5029200" cy="749808"/>
          </a:xfrm>
          <a:prstGeom prst="rect">
            <a:avLst/>
          </a:prstGeom>
          <a:noFill/>
          <a:ln/>
        </p:spPr>
        <p:txBody>
          <a:bodyPr wrap="square" lIns="0" tIns="0" rIns="0" bIns="0" rtlCol="0" anchor="ctr"/>
          <a:lstStyle/>
          <a:p>
            <a:pPr indent="0" marL="0">
              <a:buNone/>
            </a:pPr>
            <a:r>
              <a:rPr lang="en-US" sz="950" dirty="0">
                <a:solidFill>
                  <a:srgbClr val="2ECC71"/>
                </a:solidFill>
                <a:latin typeface="Consolas" pitchFamily="34" charset="0"/>
                <a:ea typeface="Consolas" pitchFamily="34" charset="-122"/>
                <a:cs typeface="Consolas" pitchFamily="34" charset="-120"/>
              </a:rPr>
              <a:t>sudo python3 phase1_inject.py \</a:t>
            </a:r>
            <a:endParaRPr lang="en-US" sz="950" dirty="0"/>
          </a:p>
          <a:p>
            <a:pPr indent="0" marL="0">
              <a:buNone/>
            </a:pPr>
            <a:r>
              <a:rPr lang="en-US" sz="950" dirty="0">
                <a:solidFill>
                  <a:srgbClr val="2ECC71"/>
                </a:solidFill>
                <a:latin typeface="Consolas" pitchFamily="34" charset="0"/>
                <a:ea typeface="Consolas" pitchFamily="34" charset="-122"/>
                <a:cs typeface="Consolas" pitchFamily="34" charset="-120"/>
              </a:rPr>
              <a:t xml:space="preserve">  --plc-ip 192.168.1.10 \</a:t>
            </a:r>
            <a:endParaRPr lang="en-US" sz="950" dirty="0"/>
          </a:p>
          <a:p>
            <a:pPr indent="0" marL="0">
              <a:buNone/>
            </a:pPr>
            <a:r>
              <a:rPr lang="en-US" sz="950" dirty="0">
                <a:solidFill>
                  <a:srgbClr val="2ECC71"/>
                </a:solidFill>
                <a:latin typeface="Consolas" pitchFamily="34" charset="0"/>
                <a:ea typeface="Consolas" pitchFamily="34" charset="-122"/>
                <a:cs typeface="Consolas" pitchFamily="34" charset="-120"/>
              </a:rPr>
              <a:t xml:space="preserve">  --hmi-ip 192.168.1.20 \</a:t>
            </a:r>
            <a:endParaRPr lang="en-US" sz="950" dirty="0"/>
          </a:p>
          <a:p>
            <a:pPr indent="0" marL="0">
              <a:buNone/>
            </a:pPr>
            <a:r>
              <a:rPr lang="en-US" sz="950" dirty="0">
                <a:solidFill>
                  <a:srgbClr val="2ECC71"/>
                </a:solidFill>
                <a:latin typeface="Consolas" pitchFamily="34" charset="0"/>
                <a:ea typeface="Consolas" pitchFamily="34" charset="-122"/>
                <a:cs typeface="Consolas" pitchFamily="34" charset="-120"/>
              </a:rPr>
              <a:t xml:space="preserve">  --db modbus_db.pkl  --duration 120</a:t>
            </a:r>
            <a:endParaRPr lang="en-US" sz="950" dirty="0"/>
          </a:p>
        </p:txBody>
      </p:sp>
      <p:sp>
        <p:nvSpPr>
          <p:cNvPr id="17" name="Shape 15"/>
          <p:cNvSpPr/>
          <p:nvPr/>
        </p:nvSpPr>
        <p:spPr>
          <a:xfrm>
            <a:off x="5669280" y="2651760"/>
            <a:ext cx="3017520" cy="365760"/>
          </a:xfrm>
          <a:prstGeom prst="rect">
            <a:avLst/>
          </a:prstGeom>
          <a:solidFill>
            <a:srgbClr val="1B3A5C"/>
          </a:solidFill>
          <a:ln w="12700">
            <a:solidFill>
              <a:srgbClr val="1B3A5C"/>
            </a:solidFill>
            <a:prstDash val="solid"/>
          </a:ln>
        </p:spPr>
      </p:sp>
      <p:sp>
        <p:nvSpPr>
          <p:cNvPr id="18" name="Text 16"/>
          <p:cNvSpPr/>
          <p:nvPr/>
        </p:nvSpPr>
        <p:spPr>
          <a:xfrm>
            <a:off x="5760720" y="2651760"/>
            <a:ext cx="2834640" cy="365760"/>
          </a:xfrm>
          <a:prstGeom prst="rect">
            <a:avLst/>
          </a:prstGeom>
          <a:noFill/>
          <a:ln/>
        </p:spPr>
        <p:txBody>
          <a:bodyPr wrap="square" lIns="0" tIns="0" rIns="0" bIns="0" rtlCol="0" anchor="ctr"/>
          <a:lstStyle/>
          <a:p>
            <a:pPr indent="0" marL="0">
              <a:buNone/>
            </a:pPr>
            <a:r>
              <a:rPr lang="en-US" sz="900" dirty="0">
                <a:solidFill>
                  <a:srgbClr val="8FA3B1"/>
                </a:solidFill>
                <a:latin typeface="Consolas" pitchFamily="34" charset="0"/>
                <a:ea typeface="Consolas" pitchFamily="34" charset="-122"/>
                <a:cs typeface="Consolas" pitchFamily="34" charset="-120"/>
              </a:rPr>
              <a:t>deps: scapy  pymodbus</a:t>
            </a:r>
            <a:endParaRPr lang="en-US" sz="900" dirty="0"/>
          </a:p>
        </p:txBody>
      </p:sp>
      <p:sp>
        <p:nvSpPr>
          <p:cNvPr id="19" name="Shape 17"/>
          <p:cNvSpPr/>
          <p:nvPr/>
        </p:nvSpPr>
        <p:spPr>
          <a:xfrm>
            <a:off x="5669280" y="3063240"/>
            <a:ext cx="3017520" cy="365760"/>
          </a:xfrm>
          <a:prstGeom prst="rect">
            <a:avLst/>
          </a:prstGeom>
          <a:solidFill>
            <a:srgbClr val="1B3A5C"/>
          </a:solidFill>
          <a:ln w="12700">
            <a:solidFill>
              <a:srgbClr val="1B3A5C"/>
            </a:solidFill>
            <a:prstDash val="solid"/>
          </a:ln>
        </p:spPr>
      </p:sp>
      <p:sp>
        <p:nvSpPr>
          <p:cNvPr id="20" name="Text 18"/>
          <p:cNvSpPr/>
          <p:nvPr/>
        </p:nvSpPr>
        <p:spPr>
          <a:xfrm>
            <a:off x="5760720" y="3063240"/>
            <a:ext cx="2834640" cy="365760"/>
          </a:xfrm>
          <a:prstGeom prst="rect">
            <a:avLst/>
          </a:prstGeom>
          <a:noFill/>
          <a:ln/>
        </p:spPr>
        <p:txBody>
          <a:bodyPr wrap="square" lIns="0" tIns="0" rIns="0" bIns="0" rtlCol="0" anchor="ctr"/>
          <a:lstStyle/>
          <a:p>
            <a:pPr indent="0" marL="0">
              <a:buNone/>
            </a:pPr>
            <a:r>
              <a:rPr lang="en-US" sz="900" dirty="0">
                <a:solidFill>
                  <a:srgbClr val="F4A261"/>
                </a:solidFill>
                <a:latin typeface="Consolas" pitchFamily="34" charset="0"/>
                <a:ea typeface="Consolas" pitchFamily="34" charset="-122"/>
                <a:cs typeface="Consolas" pitchFamily="34" charset="-120"/>
              </a:rPr>
              <a:t>out:  Console: injection count + concealment events</a:t>
            </a:r>
            <a:endParaRPr lang="en-US" sz="900" dirty="0"/>
          </a:p>
        </p:txBody>
      </p:sp>
      <p:sp>
        <p:nvSpPr>
          <p:cNvPr id="21" name="Shape 19"/>
          <p:cNvSpPr/>
          <p:nvPr/>
        </p:nvSpPr>
        <p:spPr>
          <a:xfrm>
            <a:off x="274320" y="3611880"/>
            <a:ext cx="8595360" cy="1325880"/>
          </a:xfrm>
          <a:prstGeom prst="rect">
            <a:avLst/>
          </a:prstGeom>
          <a:solidFill>
            <a:srgbClr val="1E2D3D"/>
          </a:solidFill>
          <a:ln w="12700">
            <a:solidFill>
              <a:srgbClr val="1E2D3D"/>
            </a:solidFill>
            <a:prstDash val="solid"/>
          </a:ln>
        </p:spPr>
      </p:sp>
      <p:sp>
        <p:nvSpPr>
          <p:cNvPr id="22" name="Shape 20"/>
          <p:cNvSpPr/>
          <p:nvPr/>
        </p:nvSpPr>
        <p:spPr>
          <a:xfrm>
            <a:off x="274320" y="3611880"/>
            <a:ext cx="64008" cy="1325880"/>
          </a:xfrm>
          <a:prstGeom prst="rect">
            <a:avLst/>
          </a:prstGeom>
          <a:solidFill>
            <a:srgbClr val="8E44AD"/>
          </a:solidFill>
          <a:ln w="12700">
            <a:solidFill>
              <a:srgbClr val="8E44AD"/>
            </a:solidFill>
            <a:prstDash val="solid"/>
          </a:ln>
        </p:spPr>
      </p:sp>
      <p:sp>
        <p:nvSpPr>
          <p:cNvPr id="23" name="Text 21"/>
          <p:cNvSpPr/>
          <p:nvPr/>
        </p:nvSpPr>
        <p:spPr>
          <a:xfrm>
            <a:off x="502920" y="3685032"/>
            <a:ext cx="2103120" cy="320040"/>
          </a:xfrm>
          <a:prstGeom prst="rect">
            <a:avLst/>
          </a:prstGeom>
          <a:noFill/>
          <a:ln/>
        </p:spPr>
        <p:txBody>
          <a:bodyPr wrap="square" lIns="0" tIns="0" rIns="0" bIns="0" rtlCol="0" anchor="ctr"/>
          <a:lstStyle/>
          <a:p>
            <a:pPr indent="0" marL="0">
              <a:buNone/>
            </a:pPr>
            <a:r>
              <a:rPr lang="en-US" sz="1400" b="1" dirty="0">
                <a:solidFill>
                  <a:srgbClr val="8E44AD"/>
                </a:solidFill>
                <a:latin typeface="Consolas" pitchFamily="34" charset="0"/>
                <a:ea typeface="Consolas" pitchFamily="34" charset="-122"/>
                <a:cs typeface="Consolas" pitchFamily="34" charset="-120"/>
              </a:rPr>
              <a:t>phase2_spoof.py</a:t>
            </a:r>
            <a:endParaRPr lang="en-US" sz="1400" dirty="0"/>
          </a:p>
        </p:txBody>
      </p:sp>
      <p:sp>
        <p:nvSpPr>
          <p:cNvPr id="24" name="Text 22"/>
          <p:cNvSpPr/>
          <p:nvPr/>
        </p:nvSpPr>
        <p:spPr>
          <a:xfrm>
            <a:off x="2697480" y="3685032"/>
            <a:ext cx="6035040" cy="320040"/>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Adversarial autoencoder: train detector + adv model, then spoof sensor readings at attack time</a:t>
            </a:r>
            <a:endParaRPr lang="en-US" sz="1100" dirty="0"/>
          </a:p>
        </p:txBody>
      </p:sp>
      <p:sp>
        <p:nvSpPr>
          <p:cNvPr id="25" name="Text 23"/>
          <p:cNvSpPr/>
          <p:nvPr/>
        </p:nvSpPr>
        <p:spPr>
          <a:xfrm>
            <a:off x="502920" y="4069080"/>
            <a:ext cx="5029200" cy="749808"/>
          </a:xfrm>
          <a:prstGeom prst="rect">
            <a:avLst/>
          </a:prstGeom>
          <a:noFill/>
          <a:ln/>
        </p:spPr>
        <p:txBody>
          <a:bodyPr wrap="square" lIns="0" tIns="0" rIns="0" bIns="0" rtlCol="0" anchor="ctr"/>
          <a:lstStyle/>
          <a:p>
            <a:pPr indent="0" marL="0">
              <a:buNone/>
            </a:pPr>
            <a:r>
              <a:rPr lang="en-US" sz="950" dirty="0">
                <a:solidFill>
                  <a:srgbClr val="2ECC71"/>
                </a:solidFill>
                <a:latin typeface="Consolas" pitchFamily="34" charset="0"/>
                <a:ea typeface="Consolas" pitchFamily="34" charset="-122"/>
                <a:cs typeface="Consolas" pitchFamily="34" charset="-120"/>
              </a:rPr>
              <a:t>python3 phase2_spoof.py train \</a:t>
            </a:r>
            <a:endParaRPr lang="en-US" sz="950" dirty="0"/>
          </a:p>
          <a:p>
            <a:pPr indent="0" marL="0">
              <a:buNone/>
            </a:pPr>
            <a:r>
              <a:rPr lang="en-US" sz="950" dirty="0">
                <a:solidFill>
                  <a:srgbClr val="2ECC71"/>
                </a:solidFill>
                <a:latin typeface="Consolas" pitchFamily="34" charset="0"/>
                <a:ea typeface="Consolas" pitchFamily="34" charset="-122"/>
                <a:cs typeface="Consolas" pitchFamily="34" charset="-120"/>
              </a:rPr>
              <a:t xml:space="preserve">  --data swat_normal.csv  --epochs 100</a:t>
            </a:r>
            <a:endParaRPr lang="en-US" sz="950" dirty="0"/>
          </a:p>
          <a:p>
            <a:pPr indent="0" marL="0">
              <a:buNone/>
            </a:pPr>
            <a:r>
              <a:rPr lang="en-US" sz="950" dirty="0">
                <a:solidFill>
                  <a:srgbClr val="2ECC71"/>
                </a:solidFill>
                <a:latin typeface="Consolas" pitchFamily="34" charset="0"/>
                <a:ea typeface="Consolas" pitchFamily="34" charset="-122"/>
                <a:cs typeface="Consolas" pitchFamily="34" charset="-120"/>
              </a:rPr>
              <a:t>python3 phase2_spoof.py attack \</a:t>
            </a:r>
            <a:endParaRPr lang="en-US" sz="950" dirty="0"/>
          </a:p>
          <a:p>
            <a:pPr indent="0" marL="0">
              <a:buNone/>
            </a:pPr>
            <a:r>
              <a:rPr lang="en-US" sz="950" dirty="0">
                <a:solidFill>
                  <a:srgbClr val="2ECC71"/>
                </a:solidFill>
                <a:latin typeface="Consolas" pitchFamily="34" charset="0"/>
                <a:ea typeface="Consolas" pitchFamily="34" charset="-122"/>
                <a:cs typeface="Consolas" pitchFamily="34" charset="-120"/>
              </a:rPr>
              <a:t xml:space="preserve">  --plc-ip 192.168.1.10  --adv-model adv_model.pt</a:t>
            </a:r>
            <a:endParaRPr lang="en-US" sz="950" dirty="0"/>
          </a:p>
        </p:txBody>
      </p:sp>
      <p:sp>
        <p:nvSpPr>
          <p:cNvPr id="26" name="Shape 24"/>
          <p:cNvSpPr/>
          <p:nvPr/>
        </p:nvSpPr>
        <p:spPr>
          <a:xfrm>
            <a:off x="5669280" y="4069080"/>
            <a:ext cx="3017520" cy="365760"/>
          </a:xfrm>
          <a:prstGeom prst="rect">
            <a:avLst/>
          </a:prstGeom>
          <a:solidFill>
            <a:srgbClr val="1B3A5C"/>
          </a:solidFill>
          <a:ln w="12700">
            <a:solidFill>
              <a:srgbClr val="1B3A5C"/>
            </a:solidFill>
            <a:prstDash val="solid"/>
          </a:ln>
        </p:spPr>
      </p:sp>
      <p:sp>
        <p:nvSpPr>
          <p:cNvPr id="27" name="Text 25"/>
          <p:cNvSpPr/>
          <p:nvPr/>
        </p:nvSpPr>
        <p:spPr>
          <a:xfrm>
            <a:off x="5760720" y="4069080"/>
            <a:ext cx="2834640" cy="365760"/>
          </a:xfrm>
          <a:prstGeom prst="rect">
            <a:avLst/>
          </a:prstGeom>
          <a:noFill/>
          <a:ln/>
        </p:spPr>
        <p:txBody>
          <a:bodyPr wrap="square" lIns="0" tIns="0" rIns="0" bIns="0" rtlCol="0" anchor="ctr"/>
          <a:lstStyle/>
          <a:p>
            <a:pPr indent="0" marL="0">
              <a:buNone/>
            </a:pPr>
            <a:r>
              <a:rPr lang="en-US" sz="900" dirty="0">
                <a:solidFill>
                  <a:srgbClr val="8FA3B1"/>
                </a:solidFill>
                <a:latin typeface="Consolas" pitchFamily="34" charset="0"/>
                <a:ea typeface="Consolas" pitchFamily="34" charset="-122"/>
                <a:cs typeface="Consolas" pitchFamily="34" charset="-120"/>
              </a:rPr>
              <a:t>deps: torch  numpy  pandas  scapy  pymodbus  scikit-learn</a:t>
            </a:r>
            <a:endParaRPr lang="en-US" sz="900" dirty="0"/>
          </a:p>
        </p:txBody>
      </p:sp>
      <p:sp>
        <p:nvSpPr>
          <p:cNvPr id="28" name="Shape 26"/>
          <p:cNvSpPr/>
          <p:nvPr/>
        </p:nvSpPr>
        <p:spPr>
          <a:xfrm>
            <a:off x="5669280" y="4480560"/>
            <a:ext cx="3017520" cy="365760"/>
          </a:xfrm>
          <a:prstGeom prst="rect">
            <a:avLst/>
          </a:prstGeom>
          <a:solidFill>
            <a:srgbClr val="1B3A5C"/>
          </a:solidFill>
          <a:ln w="12700">
            <a:solidFill>
              <a:srgbClr val="1B3A5C"/>
            </a:solidFill>
            <a:prstDash val="solid"/>
          </a:ln>
        </p:spPr>
      </p:sp>
      <p:sp>
        <p:nvSpPr>
          <p:cNvPr id="29" name="Text 27"/>
          <p:cNvSpPr/>
          <p:nvPr/>
        </p:nvSpPr>
        <p:spPr>
          <a:xfrm>
            <a:off x="5760720" y="4480560"/>
            <a:ext cx="2834640" cy="365760"/>
          </a:xfrm>
          <a:prstGeom prst="rect">
            <a:avLst/>
          </a:prstGeom>
          <a:noFill/>
          <a:ln/>
        </p:spPr>
        <p:txBody>
          <a:bodyPr wrap="square" lIns="0" tIns="0" rIns="0" bIns="0" rtlCol="0" anchor="ctr"/>
          <a:lstStyle/>
          <a:p>
            <a:pPr indent="0" marL="0">
              <a:buNone/>
            </a:pPr>
            <a:r>
              <a:rPr lang="en-US" sz="900" dirty="0">
                <a:solidFill>
                  <a:srgbClr val="F4A261"/>
                </a:solidFill>
                <a:latin typeface="Consolas" pitchFamily="34" charset="0"/>
                <a:ea typeface="Consolas" pitchFamily="34" charset="-122"/>
                <a:cs typeface="Consolas" pitchFamily="34" charset="-120"/>
              </a:rPr>
              <a:t>out:  detector.pt  adv_model.pt</a:t>
            </a:r>
            <a:endParaRPr lang="en-US" sz="900" dirty="0"/>
          </a:p>
        </p:txBody>
      </p:sp>
      <p:sp>
        <p:nvSpPr>
          <p:cNvPr id="30" name="Shape 28"/>
          <p:cNvSpPr/>
          <p:nvPr/>
        </p:nvSpPr>
        <p:spPr>
          <a:xfrm>
            <a:off x="0" y="4754880"/>
            <a:ext cx="9144000" cy="384048"/>
          </a:xfrm>
          <a:prstGeom prst="rect">
            <a:avLst/>
          </a:prstGeom>
          <a:solidFill>
            <a:srgbClr val="1B3A5C"/>
          </a:solidFill>
          <a:ln w="12700">
            <a:solidFill>
              <a:srgbClr val="1B3A5C"/>
            </a:solidFill>
            <a:prstDash val="solid"/>
          </a:ln>
        </p:spPr>
      </p:sp>
      <p:sp>
        <p:nvSpPr>
          <p:cNvPr id="31" name="Text 29"/>
          <p:cNvSpPr/>
          <p:nvPr/>
        </p:nvSpPr>
        <p:spPr>
          <a:xfrm>
            <a:off x="274320" y="4754880"/>
            <a:ext cx="8595360" cy="38404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Attack Implementation  ·  Slide 17/18 — Scripts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365760" y="137160"/>
            <a:ext cx="8412480" cy="4572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Before You Run — Practical Notes for SWaT</a:t>
            </a:r>
            <a:endParaRPr lang="en-US" sz="2800" dirty="0"/>
          </a:p>
        </p:txBody>
      </p:sp>
      <p:sp>
        <p:nvSpPr>
          <p:cNvPr id="3" name="Shape 1"/>
          <p:cNvSpPr/>
          <p:nvPr/>
        </p:nvSpPr>
        <p:spPr>
          <a:xfrm>
            <a:off x="274320" y="749808"/>
            <a:ext cx="4114800" cy="3611880"/>
          </a:xfrm>
          <a:prstGeom prst="rect">
            <a:avLst/>
          </a:prstGeom>
          <a:solidFill>
            <a:srgbClr val="1B3A5C"/>
          </a:solidFill>
          <a:ln w="12700">
            <a:solidFill>
              <a:srgbClr val="1B3A5C"/>
            </a:solidFill>
            <a:prstDash val="solid"/>
          </a:ln>
        </p:spPr>
      </p:sp>
      <p:sp>
        <p:nvSpPr>
          <p:cNvPr id="4" name="Shape 2"/>
          <p:cNvSpPr/>
          <p:nvPr/>
        </p:nvSpPr>
        <p:spPr>
          <a:xfrm>
            <a:off x="274320" y="749808"/>
            <a:ext cx="64008" cy="3611880"/>
          </a:xfrm>
          <a:prstGeom prst="rect">
            <a:avLst/>
          </a:prstGeom>
          <a:solidFill>
            <a:srgbClr val="2ECC71"/>
          </a:solidFill>
          <a:ln w="12700">
            <a:solidFill>
              <a:srgbClr val="2ECC71"/>
            </a:solidFill>
            <a:prstDash val="solid"/>
          </a:ln>
        </p:spPr>
      </p:sp>
      <p:sp>
        <p:nvSpPr>
          <p:cNvPr id="5" name="Text 3"/>
          <p:cNvSpPr/>
          <p:nvPr/>
        </p:nvSpPr>
        <p:spPr>
          <a:xfrm>
            <a:off x="502920" y="822960"/>
            <a:ext cx="3657600" cy="320040"/>
          </a:xfrm>
          <a:prstGeom prst="rect">
            <a:avLst/>
          </a:prstGeom>
          <a:noFill/>
          <a:ln/>
        </p:spPr>
        <p:txBody>
          <a:bodyPr wrap="square" lIns="0" tIns="0" rIns="0" bIns="0" rtlCol="0" anchor="ctr"/>
          <a:lstStyle/>
          <a:p>
            <a:pPr indent="0" marL="0">
              <a:buNone/>
            </a:pPr>
            <a:r>
              <a:rPr lang="en-US" sz="1500" b="1" dirty="0">
                <a:solidFill>
                  <a:srgbClr val="2ECC71"/>
                </a:solidFill>
                <a:latin typeface="Calibri" pitchFamily="34" charset="0"/>
                <a:ea typeface="Calibri" pitchFamily="34" charset="-122"/>
                <a:cs typeface="Calibri" pitchFamily="34" charset="-120"/>
              </a:rPr>
              <a:t>Pre-Run Checklist</a:t>
            </a:r>
            <a:endParaRPr lang="en-US" sz="1500" dirty="0"/>
          </a:p>
        </p:txBody>
      </p:sp>
      <p:sp>
        <p:nvSpPr>
          <p:cNvPr id="6" name="Shape 4"/>
          <p:cNvSpPr/>
          <p:nvPr/>
        </p:nvSpPr>
        <p:spPr>
          <a:xfrm>
            <a:off x="502920" y="1261872"/>
            <a:ext cx="274320" cy="274320"/>
          </a:xfrm>
          <a:prstGeom prst="rect">
            <a:avLst/>
          </a:prstGeom>
          <a:solidFill>
            <a:srgbClr val="1E2D3D"/>
          </a:solidFill>
          <a:ln w="12700">
            <a:solidFill>
              <a:srgbClr val="2ECC71"/>
            </a:solidFill>
            <a:prstDash val="solid"/>
          </a:ln>
        </p:spPr>
      </p:sp>
      <p:sp>
        <p:nvSpPr>
          <p:cNvPr id="7" name="Text 5"/>
          <p:cNvSpPr/>
          <p:nvPr/>
        </p:nvSpPr>
        <p:spPr>
          <a:xfrm>
            <a:off x="914400" y="1261872"/>
            <a:ext cx="3291840" cy="384048"/>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Confirm Modbus TCP is enabled on SWaT PLC1 (ask lab engineer)</a:t>
            </a:r>
            <a:endParaRPr lang="en-US" sz="1000" dirty="0"/>
          </a:p>
        </p:txBody>
      </p:sp>
      <p:sp>
        <p:nvSpPr>
          <p:cNvPr id="8" name="Shape 6"/>
          <p:cNvSpPr/>
          <p:nvPr/>
        </p:nvSpPr>
        <p:spPr>
          <a:xfrm>
            <a:off x="502920" y="1700784"/>
            <a:ext cx="274320" cy="274320"/>
          </a:xfrm>
          <a:prstGeom prst="rect">
            <a:avLst/>
          </a:prstGeom>
          <a:solidFill>
            <a:srgbClr val="1E2D3D"/>
          </a:solidFill>
          <a:ln w="12700">
            <a:solidFill>
              <a:srgbClr val="2ECC71"/>
            </a:solidFill>
            <a:prstDash val="solid"/>
          </a:ln>
        </p:spPr>
      </p:sp>
      <p:sp>
        <p:nvSpPr>
          <p:cNvPr id="9" name="Text 7"/>
          <p:cNvSpPr/>
          <p:nvPr/>
        </p:nvSpPr>
        <p:spPr>
          <a:xfrm>
            <a:off x="914400" y="1700784"/>
            <a:ext cx="3291840" cy="384048"/>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Get register addresses for MV101 + P101 from Phase 0 sniff — do NOT guess</a:t>
            </a:r>
            <a:endParaRPr lang="en-US" sz="1000" dirty="0"/>
          </a:p>
        </p:txBody>
      </p:sp>
      <p:sp>
        <p:nvSpPr>
          <p:cNvPr id="10" name="Shape 8"/>
          <p:cNvSpPr/>
          <p:nvPr/>
        </p:nvSpPr>
        <p:spPr>
          <a:xfrm>
            <a:off x="502920" y="2139696"/>
            <a:ext cx="274320" cy="274320"/>
          </a:xfrm>
          <a:prstGeom prst="rect">
            <a:avLst/>
          </a:prstGeom>
          <a:solidFill>
            <a:srgbClr val="1E2D3D"/>
          </a:solidFill>
          <a:ln w="12700">
            <a:solidFill>
              <a:srgbClr val="2ECC71"/>
            </a:solidFill>
            <a:prstDash val="solid"/>
          </a:ln>
        </p:spPr>
      </p:sp>
      <p:sp>
        <p:nvSpPr>
          <p:cNvPr id="11" name="Text 9"/>
          <p:cNvSpPr/>
          <p:nvPr/>
        </p:nvSpPr>
        <p:spPr>
          <a:xfrm>
            <a:off x="914400" y="2139696"/>
            <a:ext cx="3291840" cy="384048"/>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Get iTrust lab engineer sign-off before running ARP poisoning</a:t>
            </a:r>
            <a:endParaRPr lang="en-US" sz="1000" dirty="0"/>
          </a:p>
        </p:txBody>
      </p:sp>
      <p:sp>
        <p:nvSpPr>
          <p:cNvPr id="12" name="Shape 10"/>
          <p:cNvSpPr/>
          <p:nvPr/>
        </p:nvSpPr>
        <p:spPr>
          <a:xfrm>
            <a:off x="502920" y="2578608"/>
            <a:ext cx="274320" cy="274320"/>
          </a:xfrm>
          <a:prstGeom prst="rect">
            <a:avLst/>
          </a:prstGeom>
          <a:solidFill>
            <a:srgbClr val="1E2D3D"/>
          </a:solidFill>
          <a:ln w="12700">
            <a:solidFill>
              <a:srgbClr val="2ECC71"/>
            </a:solidFill>
            <a:prstDash val="solid"/>
          </a:ln>
        </p:spPr>
      </p:sp>
      <p:sp>
        <p:nvSpPr>
          <p:cNvPr id="13" name="Text 11"/>
          <p:cNvSpPr/>
          <p:nvPr/>
        </p:nvSpPr>
        <p:spPr>
          <a:xfrm>
            <a:off x="914400" y="2578608"/>
            <a:ext cx="3291840" cy="384048"/>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TA must be physically present during all experiments</a:t>
            </a:r>
            <a:endParaRPr lang="en-US" sz="1000" dirty="0"/>
          </a:p>
        </p:txBody>
      </p:sp>
      <p:sp>
        <p:nvSpPr>
          <p:cNvPr id="14" name="Shape 12"/>
          <p:cNvSpPr/>
          <p:nvPr/>
        </p:nvSpPr>
        <p:spPr>
          <a:xfrm>
            <a:off x="502920" y="3017520"/>
            <a:ext cx="274320" cy="274320"/>
          </a:xfrm>
          <a:prstGeom prst="rect">
            <a:avLst/>
          </a:prstGeom>
          <a:solidFill>
            <a:srgbClr val="1E2D3D"/>
          </a:solidFill>
          <a:ln w="12700">
            <a:solidFill>
              <a:srgbClr val="2ECC71"/>
            </a:solidFill>
            <a:prstDash val="solid"/>
          </a:ln>
        </p:spPr>
      </p:sp>
      <p:sp>
        <p:nvSpPr>
          <p:cNvPr id="15" name="Text 13"/>
          <p:cNvSpPr/>
          <p:nvPr/>
        </p:nvSpPr>
        <p:spPr>
          <a:xfrm>
            <a:off x="914400" y="3017520"/>
            <a:ext cx="3291840" cy="384048"/>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Run Phase 0 first — never inject without the pre-built DB</a:t>
            </a:r>
            <a:endParaRPr lang="en-US" sz="1000" dirty="0"/>
          </a:p>
        </p:txBody>
      </p:sp>
      <p:sp>
        <p:nvSpPr>
          <p:cNvPr id="16" name="Shape 14"/>
          <p:cNvSpPr/>
          <p:nvPr/>
        </p:nvSpPr>
        <p:spPr>
          <a:xfrm>
            <a:off x="502920" y="3456432"/>
            <a:ext cx="274320" cy="274320"/>
          </a:xfrm>
          <a:prstGeom prst="rect">
            <a:avLst/>
          </a:prstGeom>
          <a:solidFill>
            <a:srgbClr val="1E2D3D"/>
          </a:solidFill>
          <a:ln w="12700">
            <a:solidFill>
              <a:srgbClr val="2ECC71"/>
            </a:solidFill>
            <a:prstDash val="solid"/>
          </a:ln>
        </p:spPr>
      </p:sp>
      <p:sp>
        <p:nvSpPr>
          <p:cNvPr id="17" name="Text 15"/>
          <p:cNvSpPr/>
          <p:nvPr/>
        </p:nvSpPr>
        <p:spPr>
          <a:xfrm>
            <a:off x="914400" y="3456432"/>
            <a:ext cx="3291840" cy="384048"/>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Test injection on digital twin before live SWaT</a:t>
            </a:r>
            <a:endParaRPr lang="en-US" sz="1000" dirty="0"/>
          </a:p>
        </p:txBody>
      </p:sp>
      <p:sp>
        <p:nvSpPr>
          <p:cNvPr id="18" name="Shape 16"/>
          <p:cNvSpPr/>
          <p:nvPr/>
        </p:nvSpPr>
        <p:spPr>
          <a:xfrm>
            <a:off x="502920" y="3895344"/>
            <a:ext cx="274320" cy="274320"/>
          </a:xfrm>
          <a:prstGeom prst="rect">
            <a:avLst/>
          </a:prstGeom>
          <a:solidFill>
            <a:srgbClr val="1E2D3D"/>
          </a:solidFill>
          <a:ln w="12700">
            <a:solidFill>
              <a:srgbClr val="2ECC71"/>
            </a:solidFill>
            <a:prstDash val="solid"/>
          </a:ln>
        </p:spPr>
      </p:sp>
      <p:sp>
        <p:nvSpPr>
          <p:cNvPr id="19" name="Text 17"/>
          <p:cNvSpPr/>
          <p:nvPr/>
        </p:nvSpPr>
        <p:spPr>
          <a:xfrm>
            <a:off x="914400" y="3895344"/>
            <a:ext cx="3291840" cy="384048"/>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Document clean-exit: restore_plc_state() runs automatically on stop</a:t>
            </a:r>
            <a:endParaRPr lang="en-US" sz="1000" dirty="0"/>
          </a:p>
        </p:txBody>
      </p:sp>
      <p:sp>
        <p:nvSpPr>
          <p:cNvPr id="20" name="Shape 18"/>
          <p:cNvSpPr/>
          <p:nvPr/>
        </p:nvSpPr>
        <p:spPr>
          <a:xfrm>
            <a:off x="4617720" y="749808"/>
            <a:ext cx="4251960" cy="1691640"/>
          </a:xfrm>
          <a:prstGeom prst="rect">
            <a:avLst/>
          </a:prstGeom>
          <a:solidFill>
            <a:srgbClr val="1E2D3D"/>
          </a:solidFill>
          <a:ln w="12700">
            <a:solidFill>
              <a:srgbClr val="1E2D3D"/>
            </a:solidFill>
            <a:prstDash val="solid"/>
          </a:ln>
        </p:spPr>
      </p:sp>
      <p:sp>
        <p:nvSpPr>
          <p:cNvPr id="21" name="Shape 19"/>
          <p:cNvSpPr/>
          <p:nvPr/>
        </p:nvSpPr>
        <p:spPr>
          <a:xfrm>
            <a:off x="4617720" y="749808"/>
            <a:ext cx="64008" cy="1691640"/>
          </a:xfrm>
          <a:prstGeom prst="rect">
            <a:avLst/>
          </a:prstGeom>
          <a:solidFill>
            <a:srgbClr val="F4A261"/>
          </a:solidFill>
          <a:ln w="12700">
            <a:solidFill>
              <a:srgbClr val="F4A261"/>
            </a:solidFill>
            <a:prstDash val="solid"/>
          </a:ln>
        </p:spPr>
      </p:sp>
      <p:sp>
        <p:nvSpPr>
          <p:cNvPr id="22" name="Text 20"/>
          <p:cNvSpPr/>
          <p:nvPr/>
        </p:nvSpPr>
        <p:spPr>
          <a:xfrm>
            <a:off x="4846320" y="822960"/>
            <a:ext cx="3749040" cy="320040"/>
          </a:xfrm>
          <a:prstGeom prst="rect">
            <a:avLst/>
          </a:prstGeom>
          <a:noFill/>
          <a:ln/>
        </p:spPr>
        <p:txBody>
          <a:bodyPr wrap="square" lIns="0" tIns="0" rIns="0" bIns="0" rtlCol="0" anchor="ctr"/>
          <a:lstStyle/>
          <a:p>
            <a:pPr indent="0" marL="0">
              <a:buNone/>
            </a:pPr>
            <a:r>
              <a:rPr lang="en-US" sz="1300" b="1" dirty="0">
                <a:solidFill>
                  <a:srgbClr val="F4A261"/>
                </a:solidFill>
                <a:latin typeface="Calibri" pitchFamily="34" charset="0"/>
                <a:ea typeface="Calibri" pitchFamily="34" charset="-122"/>
                <a:cs typeface="Calibri" pitchFamily="34" charset="-120"/>
              </a:rPr>
              <a:t>P1 Register Map (fill from Phase 0)</a:t>
            </a:r>
            <a:endParaRPr lang="en-US" sz="1300" dirty="0"/>
          </a:p>
        </p:txBody>
      </p:sp>
      <p:sp>
        <p:nvSpPr>
          <p:cNvPr id="23" name="Text 21"/>
          <p:cNvSpPr/>
          <p:nvPr/>
        </p:nvSpPr>
        <p:spPr>
          <a:xfrm>
            <a:off x="4846320" y="1234440"/>
            <a:ext cx="1188720" cy="256032"/>
          </a:xfrm>
          <a:prstGeom prst="rect">
            <a:avLst/>
          </a:prstGeom>
          <a:noFill/>
          <a:ln/>
        </p:spPr>
        <p:txBody>
          <a:bodyPr wrap="square" lIns="0" tIns="0" rIns="0" bIns="0" rtlCol="0" anchor="ctr"/>
          <a:lstStyle/>
          <a:p>
            <a:pPr indent="0" marL="0">
              <a:buNone/>
            </a:pPr>
            <a:r>
              <a:rPr lang="en-US" sz="950" dirty="0">
                <a:solidFill>
                  <a:srgbClr val="2ECC71"/>
                </a:solidFill>
                <a:latin typeface="Consolas" pitchFamily="34" charset="0"/>
                <a:ea typeface="Consolas" pitchFamily="34" charset="-122"/>
                <a:cs typeface="Consolas" pitchFamily="34" charset="-120"/>
              </a:rPr>
              <a:t>MV101_CLOSE</a:t>
            </a:r>
            <a:endParaRPr lang="en-US" sz="950" dirty="0"/>
          </a:p>
        </p:txBody>
      </p:sp>
      <p:sp>
        <p:nvSpPr>
          <p:cNvPr id="24" name="Text 22"/>
          <p:cNvSpPr/>
          <p:nvPr/>
        </p:nvSpPr>
        <p:spPr>
          <a:xfrm>
            <a:off x="6080760" y="1234440"/>
            <a:ext cx="731520" cy="256032"/>
          </a:xfrm>
          <a:prstGeom prst="rect">
            <a:avLst/>
          </a:prstGeom>
          <a:noFill/>
          <a:ln/>
        </p:spPr>
        <p:txBody>
          <a:bodyPr wrap="square" lIns="0" tIns="0" rIns="0" bIns="0" rtlCol="0" anchor="ctr"/>
          <a:lstStyle/>
          <a:p>
            <a:pPr indent="0" marL="0">
              <a:buNone/>
            </a:pPr>
            <a:r>
              <a:rPr lang="en-US" sz="950" dirty="0">
                <a:solidFill>
                  <a:srgbClr val="F4A261"/>
                </a:solidFill>
                <a:latin typeface="Consolas" pitchFamily="34" charset="0"/>
                <a:ea typeface="Consolas" pitchFamily="34" charset="-122"/>
                <a:cs typeface="Consolas" pitchFamily="34" charset="-120"/>
              </a:rPr>
              <a:t>0x????</a:t>
            </a:r>
            <a:endParaRPr lang="en-US" sz="950" dirty="0"/>
          </a:p>
        </p:txBody>
      </p:sp>
      <p:sp>
        <p:nvSpPr>
          <p:cNvPr id="25" name="Text 23"/>
          <p:cNvSpPr/>
          <p:nvPr/>
        </p:nvSpPr>
        <p:spPr>
          <a:xfrm>
            <a:off x="6858000" y="1234440"/>
            <a:ext cx="1920240" cy="256032"/>
          </a:xfrm>
          <a:prstGeom prst="rect">
            <a:avLst/>
          </a:prstGeom>
          <a:noFill/>
          <a:ln/>
        </p:spPr>
        <p:txBody>
          <a:bodyPr wrap="square" lIns="0" tIns="0" rIns="0" bIns="0" rtlCol="0" anchor="ctr"/>
          <a:lstStyle/>
          <a:p>
            <a:pPr indent="0" marL="0">
              <a:buNone/>
            </a:pPr>
            <a:r>
              <a:rPr lang="en-US" sz="900" dirty="0">
                <a:solidFill>
                  <a:srgbClr val="8FA3B1"/>
                </a:solidFill>
                <a:latin typeface="Calibri" pitchFamily="34" charset="0"/>
                <a:ea typeface="Calibri" pitchFamily="34" charset="-122"/>
                <a:cs typeface="Calibri" pitchFamily="34" charset="-120"/>
              </a:rPr>
              <a:t>Coil — close motorised valve</a:t>
            </a:r>
            <a:endParaRPr lang="en-US" sz="900" dirty="0"/>
          </a:p>
        </p:txBody>
      </p:sp>
      <p:sp>
        <p:nvSpPr>
          <p:cNvPr id="26" name="Text 24"/>
          <p:cNvSpPr/>
          <p:nvPr/>
        </p:nvSpPr>
        <p:spPr>
          <a:xfrm>
            <a:off x="4846320" y="1508760"/>
            <a:ext cx="1188720" cy="256032"/>
          </a:xfrm>
          <a:prstGeom prst="rect">
            <a:avLst/>
          </a:prstGeom>
          <a:noFill/>
          <a:ln/>
        </p:spPr>
        <p:txBody>
          <a:bodyPr wrap="square" lIns="0" tIns="0" rIns="0" bIns="0" rtlCol="0" anchor="ctr"/>
          <a:lstStyle/>
          <a:p>
            <a:pPr indent="0" marL="0">
              <a:buNone/>
            </a:pPr>
            <a:r>
              <a:rPr lang="en-US" sz="950" dirty="0">
                <a:solidFill>
                  <a:srgbClr val="2ECC71"/>
                </a:solidFill>
                <a:latin typeface="Consolas" pitchFamily="34" charset="0"/>
                <a:ea typeface="Consolas" pitchFamily="34" charset="-122"/>
                <a:cs typeface="Consolas" pitchFamily="34" charset="-120"/>
              </a:rPr>
              <a:t>P101_STOP</a:t>
            </a:r>
            <a:endParaRPr lang="en-US" sz="950" dirty="0"/>
          </a:p>
        </p:txBody>
      </p:sp>
      <p:sp>
        <p:nvSpPr>
          <p:cNvPr id="27" name="Text 25"/>
          <p:cNvSpPr/>
          <p:nvPr/>
        </p:nvSpPr>
        <p:spPr>
          <a:xfrm>
            <a:off x="6080760" y="1508760"/>
            <a:ext cx="731520" cy="256032"/>
          </a:xfrm>
          <a:prstGeom prst="rect">
            <a:avLst/>
          </a:prstGeom>
          <a:noFill/>
          <a:ln/>
        </p:spPr>
        <p:txBody>
          <a:bodyPr wrap="square" lIns="0" tIns="0" rIns="0" bIns="0" rtlCol="0" anchor="ctr"/>
          <a:lstStyle/>
          <a:p>
            <a:pPr indent="0" marL="0">
              <a:buNone/>
            </a:pPr>
            <a:r>
              <a:rPr lang="en-US" sz="950" dirty="0">
                <a:solidFill>
                  <a:srgbClr val="F4A261"/>
                </a:solidFill>
                <a:latin typeface="Consolas" pitchFamily="34" charset="0"/>
                <a:ea typeface="Consolas" pitchFamily="34" charset="-122"/>
                <a:cs typeface="Consolas" pitchFamily="34" charset="-120"/>
              </a:rPr>
              <a:t>0x????</a:t>
            </a:r>
            <a:endParaRPr lang="en-US" sz="950" dirty="0"/>
          </a:p>
        </p:txBody>
      </p:sp>
      <p:sp>
        <p:nvSpPr>
          <p:cNvPr id="28" name="Text 26"/>
          <p:cNvSpPr/>
          <p:nvPr/>
        </p:nvSpPr>
        <p:spPr>
          <a:xfrm>
            <a:off x="6858000" y="1508760"/>
            <a:ext cx="1920240" cy="256032"/>
          </a:xfrm>
          <a:prstGeom prst="rect">
            <a:avLst/>
          </a:prstGeom>
          <a:noFill/>
          <a:ln/>
        </p:spPr>
        <p:txBody>
          <a:bodyPr wrap="square" lIns="0" tIns="0" rIns="0" bIns="0" rtlCol="0" anchor="ctr"/>
          <a:lstStyle/>
          <a:p>
            <a:pPr indent="0" marL="0">
              <a:buNone/>
            </a:pPr>
            <a:r>
              <a:rPr lang="en-US" sz="900" dirty="0">
                <a:solidFill>
                  <a:srgbClr val="8FA3B1"/>
                </a:solidFill>
                <a:latin typeface="Calibri" pitchFamily="34" charset="0"/>
                <a:ea typeface="Calibri" pitchFamily="34" charset="-122"/>
                <a:cs typeface="Calibri" pitchFamily="34" charset="-120"/>
              </a:rPr>
              <a:t>Coil — stop pump P101</a:t>
            </a:r>
            <a:endParaRPr lang="en-US" sz="900" dirty="0"/>
          </a:p>
        </p:txBody>
      </p:sp>
      <p:sp>
        <p:nvSpPr>
          <p:cNvPr id="29" name="Text 27"/>
          <p:cNvSpPr/>
          <p:nvPr/>
        </p:nvSpPr>
        <p:spPr>
          <a:xfrm>
            <a:off x="4846320" y="1783080"/>
            <a:ext cx="1188720" cy="256032"/>
          </a:xfrm>
          <a:prstGeom prst="rect">
            <a:avLst/>
          </a:prstGeom>
          <a:noFill/>
          <a:ln/>
        </p:spPr>
        <p:txBody>
          <a:bodyPr wrap="square" lIns="0" tIns="0" rIns="0" bIns="0" rtlCol="0" anchor="ctr"/>
          <a:lstStyle/>
          <a:p>
            <a:pPr indent="0" marL="0">
              <a:buNone/>
            </a:pPr>
            <a:r>
              <a:rPr lang="en-US" sz="950" dirty="0">
                <a:solidFill>
                  <a:srgbClr val="2ECC71"/>
                </a:solidFill>
                <a:latin typeface="Consolas" pitchFamily="34" charset="0"/>
                <a:ea typeface="Consolas" pitchFamily="34" charset="-122"/>
                <a:cs typeface="Consolas" pitchFamily="34" charset="-120"/>
              </a:rPr>
              <a:t>LIT101</a:t>
            </a:r>
            <a:endParaRPr lang="en-US" sz="950" dirty="0"/>
          </a:p>
        </p:txBody>
      </p:sp>
      <p:sp>
        <p:nvSpPr>
          <p:cNvPr id="30" name="Text 28"/>
          <p:cNvSpPr/>
          <p:nvPr/>
        </p:nvSpPr>
        <p:spPr>
          <a:xfrm>
            <a:off x="6080760" y="1783080"/>
            <a:ext cx="731520" cy="256032"/>
          </a:xfrm>
          <a:prstGeom prst="rect">
            <a:avLst/>
          </a:prstGeom>
          <a:noFill/>
          <a:ln/>
        </p:spPr>
        <p:txBody>
          <a:bodyPr wrap="square" lIns="0" tIns="0" rIns="0" bIns="0" rtlCol="0" anchor="ctr"/>
          <a:lstStyle/>
          <a:p>
            <a:pPr indent="0" marL="0">
              <a:buNone/>
            </a:pPr>
            <a:r>
              <a:rPr lang="en-US" sz="950" dirty="0">
                <a:solidFill>
                  <a:srgbClr val="F4A261"/>
                </a:solidFill>
                <a:latin typeface="Consolas" pitchFamily="34" charset="0"/>
                <a:ea typeface="Consolas" pitchFamily="34" charset="-122"/>
                <a:cs typeface="Consolas" pitchFamily="34" charset="-120"/>
              </a:rPr>
              <a:t>0x????</a:t>
            </a:r>
            <a:endParaRPr lang="en-US" sz="950" dirty="0"/>
          </a:p>
        </p:txBody>
      </p:sp>
      <p:sp>
        <p:nvSpPr>
          <p:cNvPr id="31" name="Text 29"/>
          <p:cNvSpPr/>
          <p:nvPr/>
        </p:nvSpPr>
        <p:spPr>
          <a:xfrm>
            <a:off x="6858000" y="1783080"/>
            <a:ext cx="1920240" cy="256032"/>
          </a:xfrm>
          <a:prstGeom prst="rect">
            <a:avLst/>
          </a:prstGeom>
          <a:noFill/>
          <a:ln/>
        </p:spPr>
        <p:txBody>
          <a:bodyPr wrap="square" lIns="0" tIns="0" rIns="0" bIns="0" rtlCol="0" anchor="ctr"/>
          <a:lstStyle/>
          <a:p>
            <a:pPr indent="0" marL="0">
              <a:buNone/>
            </a:pPr>
            <a:r>
              <a:rPr lang="en-US" sz="900" dirty="0">
                <a:solidFill>
                  <a:srgbClr val="8FA3B1"/>
                </a:solidFill>
                <a:latin typeface="Calibri" pitchFamily="34" charset="0"/>
                <a:ea typeface="Calibri" pitchFamily="34" charset="-122"/>
                <a:cs typeface="Calibri" pitchFamily="34" charset="-120"/>
              </a:rPr>
              <a:t>Holding reg — tank level</a:t>
            </a:r>
            <a:endParaRPr lang="en-US" sz="900" dirty="0"/>
          </a:p>
        </p:txBody>
      </p:sp>
      <p:sp>
        <p:nvSpPr>
          <p:cNvPr id="32" name="Text 30"/>
          <p:cNvSpPr/>
          <p:nvPr/>
        </p:nvSpPr>
        <p:spPr>
          <a:xfrm>
            <a:off x="4846320" y="2057400"/>
            <a:ext cx="1188720" cy="256032"/>
          </a:xfrm>
          <a:prstGeom prst="rect">
            <a:avLst/>
          </a:prstGeom>
          <a:noFill/>
          <a:ln/>
        </p:spPr>
        <p:txBody>
          <a:bodyPr wrap="square" lIns="0" tIns="0" rIns="0" bIns="0" rtlCol="0" anchor="ctr"/>
          <a:lstStyle/>
          <a:p>
            <a:pPr indent="0" marL="0">
              <a:buNone/>
            </a:pPr>
            <a:r>
              <a:rPr lang="en-US" sz="950" dirty="0">
                <a:solidFill>
                  <a:srgbClr val="2ECC71"/>
                </a:solidFill>
                <a:latin typeface="Consolas" pitchFamily="34" charset="0"/>
                <a:ea typeface="Consolas" pitchFamily="34" charset="-122"/>
                <a:cs typeface="Consolas" pitchFamily="34" charset="-120"/>
              </a:rPr>
              <a:t>FIT101</a:t>
            </a:r>
            <a:endParaRPr lang="en-US" sz="950" dirty="0"/>
          </a:p>
        </p:txBody>
      </p:sp>
      <p:sp>
        <p:nvSpPr>
          <p:cNvPr id="33" name="Text 31"/>
          <p:cNvSpPr/>
          <p:nvPr/>
        </p:nvSpPr>
        <p:spPr>
          <a:xfrm>
            <a:off x="6080760" y="2057400"/>
            <a:ext cx="731520" cy="256032"/>
          </a:xfrm>
          <a:prstGeom prst="rect">
            <a:avLst/>
          </a:prstGeom>
          <a:noFill/>
          <a:ln/>
        </p:spPr>
        <p:txBody>
          <a:bodyPr wrap="square" lIns="0" tIns="0" rIns="0" bIns="0" rtlCol="0" anchor="ctr"/>
          <a:lstStyle/>
          <a:p>
            <a:pPr indent="0" marL="0">
              <a:buNone/>
            </a:pPr>
            <a:r>
              <a:rPr lang="en-US" sz="950" dirty="0">
                <a:solidFill>
                  <a:srgbClr val="F4A261"/>
                </a:solidFill>
                <a:latin typeface="Consolas" pitchFamily="34" charset="0"/>
                <a:ea typeface="Consolas" pitchFamily="34" charset="-122"/>
                <a:cs typeface="Consolas" pitchFamily="34" charset="-120"/>
              </a:rPr>
              <a:t>0x????</a:t>
            </a:r>
            <a:endParaRPr lang="en-US" sz="950" dirty="0"/>
          </a:p>
        </p:txBody>
      </p:sp>
      <p:sp>
        <p:nvSpPr>
          <p:cNvPr id="34" name="Text 32"/>
          <p:cNvSpPr/>
          <p:nvPr/>
        </p:nvSpPr>
        <p:spPr>
          <a:xfrm>
            <a:off x="6858000" y="2057400"/>
            <a:ext cx="1920240" cy="256032"/>
          </a:xfrm>
          <a:prstGeom prst="rect">
            <a:avLst/>
          </a:prstGeom>
          <a:noFill/>
          <a:ln/>
        </p:spPr>
        <p:txBody>
          <a:bodyPr wrap="square" lIns="0" tIns="0" rIns="0" bIns="0" rtlCol="0" anchor="ctr"/>
          <a:lstStyle/>
          <a:p>
            <a:pPr indent="0" marL="0">
              <a:buNone/>
            </a:pPr>
            <a:r>
              <a:rPr lang="en-US" sz="900" dirty="0">
                <a:solidFill>
                  <a:srgbClr val="8FA3B1"/>
                </a:solidFill>
                <a:latin typeface="Calibri" pitchFamily="34" charset="0"/>
                <a:ea typeface="Calibri" pitchFamily="34" charset="-122"/>
                <a:cs typeface="Calibri" pitchFamily="34" charset="-120"/>
              </a:rPr>
              <a:t>Holding reg — flow sensor</a:t>
            </a:r>
            <a:endParaRPr lang="en-US" sz="900" dirty="0"/>
          </a:p>
        </p:txBody>
      </p:sp>
      <p:sp>
        <p:nvSpPr>
          <p:cNvPr id="35" name="Shape 33"/>
          <p:cNvSpPr/>
          <p:nvPr/>
        </p:nvSpPr>
        <p:spPr>
          <a:xfrm>
            <a:off x="4617720" y="2542032"/>
            <a:ext cx="4251960" cy="914400"/>
          </a:xfrm>
          <a:prstGeom prst="rect">
            <a:avLst/>
          </a:prstGeom>
          <a:solidFill>
            <a:srgbClr val="1E2D3D"/>
          </a:solidFill>
          <a:ln w="12700">
            <a:solidFill>
              <a:srgbClr val="1E2D3D"/>
            </a:solidFill>
            <a:prstDash val="solid"/>
          </a:ln>
        </p:spPr>
      </p:sp>
      <p:sp>
        <p:nvSpPr>
          <p:cNvPr id="36" name="Shape 34"/>
          <p:cNvSpPr/>
          <p:nvPr/>
        </p:nvSpPr>
        <p:spPr>
          <a:xfrm>
            <a:off x="4617720" y="2542032"/>
            <a:ext cx="64008" cy="914400"/>
          </a:xfrm>
          <a:prstGeom prst="rect">
            <a:avLst/>
          </a:prstGeom>
          <a:solidFill>
            <a:srgbClr val="E67E22"/>
          </a:solidFill>
          <a:ln w="12700">
            <a:solidFill>
              <a:srgbClr val="E67E22"/>
            </a:solidFill>
            <a:prstDash val="solid"/>
          </a:ln>
        </p:spPr>
      </p:sp>
      <p:sp>
        <p:nvSpPr>
          <p:cNvPr id="37" name="Text 35"/>
          <p:cNvSpPr/>
          <p:nvPr/>
        </p:nvSpPr>
        <p:spPr>
          <a:xfrm>
            <a:off x="4846320" y="2615184"/>
            <a:ext cx="3749040" cy="274320"/>
          </a:xfrm>
          <a:prstGeom prst="rect">
            <a:avLst/>
          </a:prstGeom>
          <a:noFill/>
          <a:ln/>
        </p:spPr>
        <p:txBody>
          <a:bodyPr wrap="square" lIns="0" tIns="0" rIns="0" bIns="0" rtlCol="0" anchor="ctr"/>
          <a:lstStyle/>
          <a:p>
            <a:pPr indent="0" marL="0">
              <a:buNone/>
            </a:pPr>
            <a:r>
              <a:rPr lang="en-US" sz="1200" b="1" dirty="0">
                <a:solidFill>
                  <a:srgbClr val="E67E22"/>
                </a:solidFill>
                <a:latin typeface="Calibri" pitchFamily="34" charset="0"/>
                <a:ea typeface="Calibri" pitchFamily="34" charset="-122"/>
                <a:cs typeface="Calibri" pitchFamily="34" charset="-120"/>
              </a:rPr>
              <a:t>Race Condition (Paper #9 §IV-B)</a:t>
            </a:r>
            <a:endParaRPr lang="en-US" sz="1200" dirty="0"/>
          </a:p>
        </p:txBody>
      </p:sp>
      <p:sp>
        <p:nvSpPr>
          <p:cNvPr id="38" name="Text 36"/>
          <p:cNvSpPr/>
          <p:nvPr/>
        </p:nvSpPr>
        <p:spPr>
          <a:xfrm>
            <a:off x="4846320" y="2907792"/>
            <a:ext cx="3749040" cy="45720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Your forged HMI response must arrive before the real PLC response. Pre-key the database as dict keyed on (unit_id, func_code) for O(1) lookup. SWaT polling cycle ≈ 1–2s — you have margin.</a:t>
            </a:r>
            <a:endParaRPr lang="en-US" sz="1000" dirty="0"/>
          </a:p>
        </p:txBody>
      </p:sp>
      <p:sp>
        <p:nvSpPr>
          <p:cNvPr id="39" name="Shape 37"/>
          <p:cNvSpPr/>
          <p:nvPr/>
        </p:nvSpPr>
        <p:spPr>
          <a:xfrm>
            <a:off x="4617720" y="3547872"/>
            <a:ext cx="4251960" cy="713232"/>
          </a:xfrm>
          <a:prstGeom prst="rect">
            <a:avLst/>
          </a:prstGeom>
          <a:solidFill>
            <a:srgbClr val="1E2D3D"/>
          </a:solidFill>
          <a:ln w="12700">
            <a:solidFill>
              <a:srgbClr val="1E2D3D"/>
            </a:solidFill>
            <a:prstDash val="solid"/>
          </a:ln>
        </p:spPr>
      </p:sp>
      <p:sp>
        <p:nvSpPr>
          <p:cNvPr id="40" name="Shape 38"/>
          <p:cNvSpPr/>
          <p:nvPr/>
        </p:nvSpPr>
        <p:spPr>
          <a:xfrm>
            <a:off x="4617720" y="3547872"/>
            <a:ext cx="64008" cy="713232"/>
          </a:xfrm>
          <a:prstGeom prst="rect">
            <a:avLst/>
          </a:prstGeom>
          <a:solidFill>
            <a:srgbClr val="C0392B"/>
          </a:solidFill>
          <a:ln w="12700">
            <a:solidFill>
              <a:srgbClr val="C0392B"/>
            </a:solidFill>
            <a:prstDash val="solid"/>
          </a:ln>
        </p:spPr>
      </p:sp>
      <p:sp>
        <p:nvSpPr>
          <p:cNvPr id="41" name="Text 39"/>
          <p:cNvSpPr/>
          <p:nvPr/>
        </p:nvSpPr>
        <p:spPr>
          <a:xfrm>
            <a:off x="4846320" y="3621024"/>
            <a:ext cx="1828800" cy="256032"/>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Dual PLC Note</a:t>
            </a:r>
            <a:endParaRPr lang="en-US" sz="1200" dirty="0"/>
          </a:p>
        </p:txBody>
      </p:sp>
      <p:sp>
        <p:nvSpPr>
          <p:cNvPr id="42" name="Text 40"/>
          <p:cNvSpPr/>
          <p:nvPr/>
        </p:nvSpPr>
        <p:spPr>
          <a:xfrm>
            <a:off x="4846320" y="3877056"/>
            <a:ext cx="3749040" cy="32004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SWaT has primary + hot-standby PLCs per stage. Target primary; standby takeover is your recovery trigger.</a:t>
            </a:r>
            <a:endParaRPr lang="en-US" sz="1000" dirty="0"/>
          </a:p>
        </p:txBody>
      </p:sp>
      <p:sp>
        <p:nvSpPr>
          <p:cNvPr id="43" name="Shape 41"/>
          <p:cNvSpPr/>
          <p:nvPr/>
        </p:nvSpPr>
        <p:spPr>
          <a:xfrm>
            <a:off x="0" y="4754880"/>
            <a:ext cx="9144000" cy="384048"/>
          </a:xfrm>
          <a:prstGeom prst="rect">
            <a:avLst/>
          </a:prstGeom>
          <a:solidFill>
            <a:srgbClr val="1B3A5C"/>
          </a:solidFill>
          <a:ln w="12700">
            <a:solidFill>
              <a:srgbClr val="1B3A5C"/>
            </a:solidFill>
            <a:prstDash val="solid"/>
          </a:ln>
        </p:spPr>
      </p:sp>
      <p:sp>
        <p:nvSpPr>
          <p:cNvPr id="44" name="Text 42"/>
          <p:cNvSpPr/>
          <p:nvPr/>
        </p:nvSpPr>
        <p:spPr>
          <a:xfrm>
            <a:off x="274320" y="4754880"/>
            <a:ext cx="8595360" cy="38404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Attack Implementation  ·  Slide 18/18 — Notes</a:t>
            </a:r>
            <a:endParaRPr lang="en-US" sz="1000"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8072"/>
          </a:xfrm>
          <a:prstGeom prst="rect">
            <a:avLst/>
          </a:prstGeom>
          <a:solidFill>
            <a:srgbClr val="0A7E8C"/>
          </a:solidFill>
          <a:ln w="12700">
            <a:solidFill>
              <a:srgbClr val="0A7E8C"/>
            </a:solidFill>
            <a:prstDash val="solid"/>
          </a:ln>
        </p:spPr>
      </p:sp>
      <p:sp>
        <p:nvSpPr>
          <p:cNvPr id="3" name="Text 1"/>
          <p:cNvSpPr/>
          <p:nvPr/>
        </p:nvSpPr>
        <p:spPr>
          <a:xfrm>
            <a:off x="320040" y="502920"/>
            <a:ext cx="8503920" cy="77724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Defending SWaT</a:t>
            </a:r>
            <a:endParaRPr lang="en-US" sz="4800" dirty="0"/>
          </a:p>
        </p:txBody>
      </p:sp>
      <p:sp>
        <p:nvSpPr>
          <p:cNvPr id="4" name="Text 2"/>
          <p:cNvSpPr/>
          <p:nvPr/>
        </p:nvSpPr>
        <p:spPr>
          <a:xfrm>
            <a:off x="320040" y="1298448"/>
            <a:ext cx="8503920" cy="502920"/>
          </a:xfrm>
          <a:prstGeom prst="rect">
            <a:avLst/>
          </a:prstGeom>
          <a:noFill/>
          <a:ln/>
        </p:spPr>
        <p:txBody>
          <a:bodyPr wrap="square" lIns="0" tIns="0" rIns="0" bIns="0" rtlCol="0" anchor="ctr"/>
          <a:lstStyle/>
          <a:p>
            <a:pPr indent="0" marL="0">
              <a:buNone/>
            </a:pPr>
            <a:r>
              <a:rPr lang="en-US" sz="2400" i="1" dirty="0">
                <a:solidFill>
                  <a:srgbClr val="0FB3C5"/>
                </a:solidFill>
                <a:latin typeface="Calibri" pitchFamily="34" charset="0"/>
                <a:ea typeface="Calibri" pitchFamily="34" charset="-122"/>
                <a:cs typeface="Calibri" pitchFamily="34" charset="-120"/>
              </a:rPr>
              <a:t>Against Stealthy Modbus False Command Injection</a:t>
            </a:r>
            <a:endParaRPr lang="en-US" sz="2400" dirty="0"/>
          </a:p>
        </p:txBody>
      </p:sp>
      <p:sp>
        <p:nvSpPr>
          <p:cNvPr id="5" name="Shape 3"/>
          <p:cNvSpPr/>
          <p:nvPr/>
        </p:nvSpPr>
        <p:spPr>
          <a:xfrm>
            <a:off x="320040" y="2103120"/>
            <a:ext cx="2743200" cy="658368"/>
          </a:xfrm>
          <a:prstGeom prst="rect">
            <a:avLst/>
          </a:prstGeom>
          <a:solidFill>
            <a:srgbClr val="2ECC71"/>
          </a:solidFill>
          <a:ln w="12700">
            <a:solidFill>
              <a:srgbClr val="2ECC71"/>
            </a:solidFill>
            <a:prstDash val="solid"/>
          </a:ln>
        </p:spPr>
      </p:sp>
      <p:sp>
        <p:nvSpPr>
          <p:cNvPr id="6" name="Text 4"/>
          <p:cNvSpPr/>
          <p:nvPr/>
        </p:nvSpPr>
        <p:spPr>
          <a:xfrm>
            <a:off x="320040" y="2121408"/>
            <a:ext cx="274320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Layer 1</a:t>
            </a:r>
            <a:endParaRPr lang="en-US" sz="1300" dirty="0"/>
          </a:p>
        </p:txBody>
      </p:sp>
      <p:sp>
        <p:nvSpPr>
          <p:cNvPr id="7" name="Text 5"/>
          <p:cNvSpPr/>
          <p:nvPr/>
        </p:nvSpPr>
        <p:spPr>
          <a:xfrm>
            <a:off x="320040" y="2395728"/>
            <a:ext cx="2743200" cy="34747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Process Invariant Checker</a:t>
            </a:r>
            <a:endParaRPr lang="en-US" sz="1050" dirty="0"/>
          </a:p>
        </p:txBody>
      </p:sp>
      <p:sp>
        <p:nvSpPr>
          <p:cNvPr id="8" name="Shape 6"/>
          <p:cNvSpPr/>
          <p:nvPr/>
        </p:nvSpPr>
        <p:spPr>
          <a:xfrm>
            <a:off x="3246120" y="2103120"/>
            <a:ext cx="2743200" cy="658368"/>
          </a:xfrm>
          <a:prstGeom prst="rect">
            <a:avLst/>
          </a:prstGeom>
          <a:solidFill>
            <a:srgbClr val="2196F3"/>
          </a:solidFill>
          <a:ln w="12700">
            <a:solidFill>
              <a:srgbClr val="2196F3"/>
            </a:solidFill>
            <a:prstDash val="solid"/>
          </a:ln>
        </p:spPr>
      </p:sp>
      <p:sp>
        <p:nvSpPr>
          <p:cNvPr id="9" name="Text 7"/>
          <p:cNvSpPr/>
          <p:nvPr/>
        </p:nvSpPr>
        <p:spPr>
          <a:xfrm>
            <a:off x="3246120" y="2121408"/>
            <a:ext cx="274320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Layer 2</a:t>
            </a:r>
            <a:endParaRPr lang="en-US" sz="1300" dirty="0"/>
          </a:p>
        </p:txBody>
      </p:sp>
      <p:sp>
        <p:nvSpPr>
          <p:cNvPr id="10" name="Text 8"/>
          <p:cNvSpPr/>
          <p:nvPr/>
        </p:nvSpPr>
        <p:spPr>
          <a:xfrm>
            <a:off x="3246120" y="2395728"/>
            <a:ext cx="2743200" cy="34747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Reconstruction Autoencoder</a:t>
            </a:r>
            <a:endParaRPr lang="en-US" sz="1050" dirty="0"/>
          </a:p>
        </p:txBody>
      </p:sp>
      <p:sp>
        <p:nvSpPr>
          <p:cNvPr id="11" name="Shape 9"/>
          <p:cNvSpPr/>
          <p:nvPr/>
        </p:nvSpPr>
        <p:spPr>
          <a:xfrm>
            <a:off x="6172200" y="2103120"/>
            <a:ext cx="2743200" cy="658368"/>
          </a:xfrm>
          <a:prstGeom prst="rect">
            <a:avLst/>
          </a:prstGeom>
          <a:solidFill>
            <a:srgbClr val="F39C12"/>
          </a:solidFill>
          <a:ln w="12700">
            <a:solidFill>
              <a:srgbClr val="F39C12"/>
            </a:solidFill>
            <a:prstDash val="solid"/>
          </a:ln>
        </p:spPr>
      </p:sp>
      <p:sp>
        <p:nvSpPr>
          <p:cNvPr id="12" name="Text 10"/>
          <p:cNvSpPr/>
          <p:nvPr/>
        </p:nvSpPr>
        <p:spPr>
          <a:xfrm>
            <a:off x="6172200" y="2121408"/>
            <a:ext cx="274320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Layer 3</a:t>
            </a:r>
            <a:endParaRPr lang="en-US" sz="1300" dirty="0"/>
          </a:p>
        </p:txBody>
      </p:sp>
      <p:sp>
        <p:nvSpPr>
          <p:cNvPr id="13" name="Text 11"/>
          <p:cNvSpPr/>
          <p:nvPr/>
        </p:nvSpPr>
        <p:spPr>
          <a:xfrm>
            <a:off x="6172200" y="2395728"/>
            <a:ext cx="2743200" cy="34747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Decision Fusion + Alert</a:t>
            </a:r>
            <a:endParaRPr lang="en-US" sz="1050" dirty="0"/>
          </a:p>
        </p:txBody>
      </p:sp>
      <p:sp>
        <p:nvSpPr>
          <p:cNvPr id="14" name="Shape 12"/>
          <p:cNvSpPr/>
          <p:nvPr/>
        </p:nvSpPr>
        <p:spPr>
          <a:xfrm>
            <a:off x="320040" y="2944368"/>
            <a:ext cx="8778240" cy="512064"/>
          </a:xfrm>
          <a:prstGeom prst="rect">
            <a:avLst/>
          </a:prstGeom>
          <a:solidFill>
            <a:srgbClr val="1B3A5C"/>
          </a:solidFill>
          <a:ln w="12700">
            <a:solidFill>
              <a:srgbClr val="1B3A5C"/>
            </a:solidFill>
            <a:prstDash val="solid"/>
          </a:ln>
        </p:spPr>
      </p:sp>
      <p:sp>
        <p:nvSpPr>
          <p:cNvPr id="15" name="Shape 13"/>
          <p:cNvSpPr/>
          <p:nvPr/>
        </p:nvSpPr>
        <p:spPr>
          <a:xfrm>
            <a:off x="320040" y="2944368"/>
            <a:ext cx="64008" cy="512064"/>
          </a:xfrm>
          <a:prstGeom prst="rect">
            <a:avLst/>
          </a:prstGeom>
          <a:solidFill>
            <a:srgbClr val="F39C12"/>
          </a:solidFill>
          <a:ln w="12700">
            <a:solidFill>
              <a:srgbClr val="F39C12"/>
            </a:solidFill>
            <a:prstDash val="solid"/>
          </a:ln>
        </p:spPr>
      </p:sp>
      <p:sp>
        <p:nvSpPr>
          <p:cNvPr id="16" name="Text 14"/>
          <p:cNvSpPr/>
          <p:nvPr/>
        </p:nvSpPr>
        <p:spPr>
          <a:xfrm>
            <a:off x="548640" y="2944368"/>
            <a:ext cx="8321040" cy="512064"/>
          </a:xfrm>
          <a:prstGeom prst="rect">
            <a:avLst/>
          </a:prstGeom>
          <a:noFill/>
          <a:ln/>
        </p:spPr>
        <p:txBody>
          <a:bodyPr wrap="square" lIns="0" tIns="0" rIns="0" bIns="0" rtlCol="0" anchor="ctr"/>
          <a:lstStyle/>
          <a:p>
            <a:pPr indent="0" marL="0">
              <a:buNone/>
            </a:pPr>
            <a:r>
              <a:rPr lang="en-US" sz="1200" dirty="0">
                <a:solidFill>
                  <a:srgbClr val="E8EEF4"/>
                </a:solidFill>
                <a:latin typeface="Calibri" pitchFamily="34" charset="0"/>
                <a:ea typeface="Calibri" pitchFamily="34" charset="-122"/>
                <a:cs typeface="Calibri" pitchFamily="34" charset="-120"/>
              </a:rPr>
              <a:t>Recovery:  Detect → Contain → Safe State → PLC Failover → Invariant-Verified Resume</a:t>
            </a:r>
            <a:endParaRPr lang="en-US" sz="1200" dirty="0"/>
          </a:p>
        </p:txBody>
      </p:sp>
      <p:sp>
        <p:nvSpPr>
          <p:cNvPr id="17" name="Text 15"/>
          <p:cNvSpPr/>
          <p:nvPr/>
        </p:nvSpPr>
        <p:spPr>
          <a:xfrm>
            <a:off x="320040" y="3840480"/>
            <a:ext cx="8503920" cy="274320"/>
          </a:xfrm>
          <a:prstGeom prst="rect">
            <a:avLst/>
          </a:prstGeom>
          <a:noFill/>
          <a:ln/>
        </p:spPr>
        <p:txBody>
          <a:bodyPr wrap="square" lIns="0" tIns="0" rIns="0" bIns="0" rtlCol="0" anchor="ctr"/>
          <a:lstStyle/>
          <a:p>
            <a:pPr indent="0" marL="0">
              <a:buNone/>
            </a:pPr>
            <a:r>
              <a:rPr lang="en-US" sz="1100" dirty="0">
                <a:solidFill>
                  <a:srgbClr val="8FA3B1"/>
                </a:solidFill>
                <a:latin typeface="Calibri" pitchFamily="34" charset="0"/>
                <a:ea typeface="Calibri" pitchFamily="34" charset="-122"/>
                <a:cs typeface="Calibri" pitchFamily="34" charset="-120"/>
              </a:rPr>
              <a:t>51.508 Secure Cyber Physical Systems  |  iTrust Lab, SUTD  |  AY2025/26 Term 2</a:t>
            </a:r>
            <a:endParaRPr lang="en-US" sz="1100" dirty="0"/>
          </a:p>
        </p:txBody>
      </p:sp>
      <p:sp>
        <p:nvSpPr>
          <p:cNvPr id="18" name="Shape 16"/>
          <p:cNvSpPr/>
          <p:nvPr/>
        </p:nvSpPr>
        <p:spPr>
          <a:xfrm>
            <a:off x="0" y="4809744"/>
            <a:ext cx="9144000" cy="338328"/>
          </a:xfrm>
          <a:prstGeom prst="rect">
            <a:avLst/>
          </a:prstGeom>
          <a:solidFill>
            <a:srgbClr val="1B3A5C"/>
          </a:solidFill>
          <a:ln w="12700">
            <a:solidFill>
              <a:srgbClr val="1B3A5C"/>
            </a:solidFill>
            <a:prstDash val="solid"/>
          </a:ln>
        </p:spPr>
      </p:sp>
      <p:sp>
        <p:nvSpPr>
          <p:cNvPr id="19" name="Text 17"/>
          <p:cNvSpPr/>
          <p:nvPr/>
        </p:nvSpPr>
        <p:spPr>
          <a:xfrm>
            <a:off x="457200" y="4809744"/>
            <a:ext cx="8229600" cy="33832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Defense Architecture</a:t>
            </a:r>
            <a:endParaRPr lang="en-US" sz="1000" dirty="0"/>
          </a:p>
        </p:txBody>
      </p:sp>
      <p:pic>
        <p:nvPicPr>
          <p:cNvPr id="20" name="Picture 19" descr="img_defense_recovery.png"/>
          <p:cNvPicPr>
            <a:picLocks noChangeAspect="1"/>
          </p:cNvPicPr>
          <p:nvPr/>
        </p:nvPicPr>
        <p:blipFill>
          <a:blip r:embed="rId2"/>
          <a:stretch>
            <a:fillRect/>
          </a:stretch>
        </p:blipFill>
        <p:spPr>
          <a:xfrm>
            <a:off x="182880" y="3200400"/>
            <a:ext cx="8778240" cy="3474720"/>
          </a:xfrm>
          <a:prstGeom prst="rect">
            <a:avLst/>
          </a:prstGeom>
        </p:spPr>
      </p:pic>
      <p:sp>
        <p:nvSpPr>
          <p:cNvPr id="21" name="TextBox 20"/>
          <p:cNvSpPr txBox="1"/>
          <p:nvPr/>
        </p:nvSpPr>
        <p:spPr>
          <a:xfrm>
            <a:off x="182880" y="6629400"/>
            <a:ext cx="8778240" cy="274320"/>
          </a:xfrm>
          <a:prstGeom prst="rect">
            <a:avLst/>
          </a:prstGeom>
          <a:noFill/>
        </p:spPr>
        <p:txBody>
          <a:bodyPr wrap="square">
            <a:spAutoFit/>
          </a:bodyPr>
          <a:lstStyle/>
          <a:p>
            <a:pPr algn="ctr"/>
            <a:r>
              <a:rPr sz="1000" i="1">
                <a:solidFill>
                  <a:srgbClr val="90B4CE"/>
                </a:solidFill>
              </a:rPr>
              <a:t>Hybrid defense pipeline: invariant checker + autoencoder → fusion → 5-step automated recovery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74C3C"/>
          </a:solidFill>
          <a:ln w="12700">
            <a:solidFill>
              <a:srgbClr val="E74C3C"/>
            </a:solidFill>
            <a:prstDash val="solid"/>
          </a:ln>
        </p:spPr>
      </p:sp>
      <p:sp>
        <p:nvSpPr>
          <p:cNvPr id="3" name="Text 1"/>
          <p:cNvSpPr/>
          <p:nvPr/>
        </p:nvSpPr>
        <p:spPr>
          <a:xfrm>
            <a:off x="365760" y="164592"/>
            <a:ext cx="8229600" cy="475488"/>
          </a:xfrm>
          <a:prstGeom prst="rect">
            <a:avLst/>
          </a:prstGeom>
          <a:noFill/>
          <a:ln/>
        </p:spPr>
        <p:txBody>
          <a:bodyPr wrap="square" lIns="0" tIns="0" rIns="0" bIns="0"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Why Single-Layer Defenses Fail</a:t>
            </a:r>
            <a:endParaRPr lang="en-US" sz="2800" dirty="0"/>
          </a:p>
        </p:txBody>
      </p:sp>
      <p:sp>
        <p:nvSpPr>
          <p:cNvPr id="4" name="Text 2"/>
          <p:cNvSpPr/>
          <p:nvPr/>
        </p:nvSpPr>
        <p:spPr>
          <a:xfrm>
            <a:off x="365760" y="640080"/>
            <a:ext cx="8229600" cy="256032"/>
          </a:xfrm>
          <a:prstGeom prst="rect">
            <a:avLst/>
          </a:prstGeom>
          <a:noFill/>
          <a:ln/>
        </p:spPr>
        <p:txBody>
          <a:bodyPr wrap="square" lIns="0" tIns="0" rIns="0" bIns="0" rtlCol="0" anchor="ctr"/>
          <a:lstStyle/>
          <a:p>
            <a:pPr indent="0" marL="0">
              <a:buNone/>
            </a:pPr>
            <a:r>
              <a:rPr lang="en-US" sz="1200" i="1" dirty="0">
                <a:solidFill>
                  <a:srgbClr val="8FA3B1"/>
                </a:solidFill>
                <a:latin typeface="Calibri" pitchFamily="34" charset="0"/>
                <a:ea typeface="Calibri" pitchFamily="34" charset="-122"/>
                <a:cs typeface="Calibri" pitchFamily="34" charset="-120"/>
              </a:rPr>
              <a:t>Each defense alone is evaded by our attack — which is exactly why the hybrid exists</a:t>
            </a:r>
            <a:endParaRPr lang="en-US" sz="1200" dirty="0"/>
          </a:p>
        </p:txBody>
      </p:sp>
      <p:sp>
        <p:nvSpPr>
          <p:cNvPr id="5" name="Shape 3"/>
          <p:cNvSpPr/>
          <p:nvPr/>
        </p:nvSpPr>
        <p:spPr>
          <a:xfrm>
            <a:off x="274320" y="987552"/>
            <a:ext cx="4069080" cy="3657600"/>
          </a:xfrm>
          <a:prstGeom prst="rect">
            <a:avLst/>
          </a:prstGeom>
          <a:solidFill>
            <a:srgbClr val="FFFFFF"/>
          </a:solidFill>
          <a:ln w="12700">
            <a:solidFill>
              <a:srgbClr val="FFFFFF"/>
            </a:solidFill>
            <a:prstDash val="solid"/>
          </a:ln>
        </p:spPr>
      </p:sp>
      <p:sp>
        <p:nvSpPr>
          <p:cNvPr id="6" name="Shape 4"/>
          <p:cNvSpPr/>
          <p:nvPr/>
        </p:nvSpPr>
        <p:spPr>
          <a:xfrm>
            <a:off x="274320" y="987552"/>
            <a:ext cx="64008" cy="3657600"/>
          </a:xfrm>
          <a:prstGeom prst="rect">
            <a:avLst/>
          </a:prstGeom>
          <a:solidFill>
            <a:srgbClr val="E74C3C"/>
          </a:solidFill>
          <a:ln w="12700">
            <a:solidFill>
              <a:srgbClr val="E74C3C"/>
            </a:solidFill>
            <a:prstDash val="solid"/>
          </a:ln>
        </p:spPr>
      </p:sp>
      <p:sp>
        <p:nvSpPr>
          <p:cNvPr id="7" name="Text 5"/>
          <p:cNvSpPr/>
          <p:nvPr/>
        </p:nvSpPr>
        <p:spPr>
          <a:xfrm>
            <a:off x="502920" y="1060704"/>
            <a:ext cx="3703320" cy="347472"/>
          </a:xfrm>
          <a:prstGeom prst="rect">
            <a:avLst/>
          </a:prstGeom>
          <a:noFill/>
          <a:ln/>
        </p:spPr>
        <p:txBody>
          <a:bodyPr wrap="square" lIns="0" tIns="0" rIns="0" bIns="0" rtlCol="0" anchor="ctr"/>
          <a:lstStyle/>
          <a:p>
            <a:pPr indent="0" marL="0">
              <a:buNone/>
            </a:pPr>
            <a:r>
              <a:rPr lang="en-US" sz="1500" b="1" dirty="0">
                <a:solidFill>
                  <a:srgbClr val="E74C3C"/>
                </a:solidFill>
                <a:latin typeface="Calibri" pitchFamily="34" charset="0"/>
                <a:ea typeface="Calibri" pitchFamily="34" charset="-122"/>
                <a:cs typeface="Calibri" pitchFamily="34" charset="-120"/>
              </a:rPr>
              <a:t>ML-Only Anomaly Detector</a:t>
            </a:r>
            <a:endParaRPr lang="en-US" sz="1500" dirty="0"/>
          </a:p>
        </p:txBody>
      </p:sp>
      <p:sp>
        <p:nvSpPr>
          <p:cNvPr id="8" name="Text 6"/>
          <p:cNvSpPr/>
          <p:nvPr/>
        </p:nvSpPr>
        <p:spPr>
          <a:xfrm>
            <a:off x="502920" y="1389888"/>
            <a:ext cx="3703320" cy="237744"/>
          </a:xfrm>
          <a:prstGeom prst="rect">
            <a:avLst/>
          </a:prstGeom>
          <a:noFill/>
          <a:ln/>
        </p:spPr>
        <p:txBody>
          <a:bodyPr wrap="square" lIns="0" tIns="0" rIns="0" bIns="0" rtlCol="0" anchor="ctr"/>
          <a:lstStyle/>
          <a:p>
            <a:pPr indent="0" marL="0">
              <a:buNone/>
            </a:pPr>
            <a:r>
              <a:rPr lang="en-US" sz="1000" i="1" dirty="0">
                <a:solidFill>
                  <a:srgbClr val="8FA3B1"/>
                </a:solidFill>
                <a:latin typeface="Calibri" pitchFamily="34" charset="0"/>
                <a:ea typeface="Calibri" pitchFamily="34" charset="-122"/>
                <a:cs typeface="Calibri" pitchFamily="34" charset="-120"/>
              </a:rPr>
              <a:t>e.g. Reconstruction Autoencoder (BATADAL baseline)</a:t>
            </a:r>
            <a:endParaRPr lang="en-US" sz="1000" dirty="0"/>
          </a:p>
        </p:txBody>
      </p:sp>
      <p:sp>
        <p:nvSpPr>
          <p:cNvPr id="9" name="Shape 7"/>
          <p:cNvSpPr/>
          <p:nvPr/>
        </p:nvSpPr>
        <p:spPr>
          <a:xfrm>
            <a:off x="475488" y="1755648"/>
            <a:ext cx="201168" cy="201168"/>
          </a:xfrm>
          <a:prstGeom prst="rect">
            <a:avLst/>
          </a:prstGeom>
          <a:solidFill>
            <a:srgbClr val="E74C3C"/>
          </a:solidFill>
          <a:ln w="12700">
            <a:solidFill>
              <a:srgbClr val="E74C3C"/>
            </a:solidFill>
            <a:prstDash val="solid"/>
          </a:ln>
        </p:spPr>
      </p:sp>
      <p:sp>
        <p:nvSpPr>
          <p:cNvPr id="10" name="Text 8"/>
          <p:cNvSpPr/>
          <p:nvPr/>
        </p:nvSpPr>
        <p:spPr>
          <a:xfrm>
            <a:off x="475488" y="175564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1" name="Text 9"/>
          <p:cNvSpPr/>
          <p:nvPr/>
        </p:nvSpPr>
        <p:spPr>
          <a:xfrm>
            <a:off x="749808" y="1773936"/>
            <a:ext cx="3429000" cy="347472"/>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 xml:space="preserve">Learns normal correlations  </a:t>
            </a:r>
            <a:pPr indent="0" marL="0">
              <a:buNone/>
            </a:pPr>
            <a:r>
              <a:rPr lang="en-US" sz="1050" dirty="0">
                <a:solidFill>
                  <a:srgbClr val="555555"/>
                </a:solidFill>
                <a:latin typeface="Calibri" pitchFamily="34" charset="0"/>
                <a:ea typeface="Calibri" pitchFamily="34" charset="-122"/>
                <a:cs typeface="Calibri" pitchFamily="34" charset="-120"/>
              </a:rPr>
              <a:t>from training data only</a:t>
            </a:r>
            <a:endParaRPr lang="en-US" sz="1050" dirty="0"/>
          </a:p>
        </p:txBody>
      </p:sp>
      <p:sp>
        <p:nvSpPr>
          <p:cNvPr id="12" name="Shape 10"/>
          <p:cNvSpPr/>
          <p:nvPr/>
        </p:nvSpPr>
        <p:spPr>
          <a:xfrm>
            <a:off x="475488" y="2148840"/>
            <a:ext cx="201168" cy="201168"/>
          </a:xfrm>
          <a:prstGeom prst="rect">
            <a:avLst/>
          </a:prstGeom>
          <a:solidFill>
            <a:srgbClr val="E74C3C"/>
          </a:solidFill>
          <a:ln w="12700">
            <a:solidFill>
              <a:srgbClr val="E74C3C"/>
            </a:solidFill>
            <a:prstDash val="solid"/>
          </a:ln>
        </p:spPr>
      </p:sp>
      <p:sp>
        <p:nvSpPr>
          <p:cNvPr id="13" name="Text 11"/>
          <p:cNvSpPr/>
          <p:nvPr/>
        </p:nvSpPr>
        <p:spPr>
          <a:xfrm>
            <a:off x="475488" y="2148840"/>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4" name="Text 12"/>
          <p:cNvSpPr/>
          <p:nvPr/>
        </p:nvSpPr>
        <p:spPr>
          <a:xfrm>
            <a:off x="749808" y="2167128"/>
            <a:ext cx="3429000" cy="347472"/>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 xml:space="preserve">Paper #31 adversarial AE  </a:t>
            </a:r>
            <a:pPr indent="0" marL="0">
              <a:buNone/>
            </a:pPr>
            <a:r>
              <a:rPr lang="en-US" sz="1050" dirty="0">
                <a:solidFill>
                  <a:srgbClr val="555555"/>
                </a:solidFill>
                <a:latin typeface="Calibri" pitchFamily="34" charset="0"/>
                <a:ea typeface="Calibri" pitchFamily="34" charset="-122"/>
                <a:cs typeface="Calibri" pitchFamily="34" charset="-120"/>
              </a:rPr>
              <a:t>crafts δ minimising MSE recon error</a:t>
            </a:r>
            <a:endParaRPr lang="en-US" sz="1050" dirty="0"/>
          </a:p>
        </p:txBody>
      </p:sp>
      <p:sp>
        <p:nvSpPr>
          <p:cNvPr id="15" name="Shape 13"/>
          <p:cNvSpPr/>
          <p:nvPr/>
        </p:nvSpPr>
        <p:spPr>
          <a:xfrm>
            <a:off x="475488" y="2542032"/>
            <a:ext cx="201168" cy="201168"/>
          </a:xfrm>
          <a:prstGeom prst="rect">
            <a:avLst/>
          </a:prstGeom>
          <a:solidFill>
            <a:srgbClr val="E74C3C"/>
          </a:solidFill>
          <a:ln w="12700">
            <a:solidFill>
              <a:srgbClr val="E74C3C"/>
            </a:solidFill>
            <a:prstDash val="solid"/>
          </a:ln>
        </p:spPr>
      </p:sp>
      <p:sp>
        <p:nvSpPr>
          <p:cNvPr id="16" name="Text 14"/>
          <p:cNvSpPr/>
          <p:nvPr/>
        </p:nvSpPr>
        <p:spPr>
          <a:xfrm>
            <a:off x="475488" y="2542032"/>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7" name="Text 15"/>
          <p:cNvSpPr/>
          <p:nvPr/>
        </p:nvSpPr>
        <p:spPr>
          <a:xfrm>
            <a:off x="749808" y="2560320"/>
            <a:ext cx="3429000" cy="347472"/>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 xml:space="preserve">With |δ|∞ ≤ ε = 0.1,  </a:t>
            </a:r>
            <a:pPr indent="0" marL="0">
              <a:buNone/>
            </a:pPr>
            <a:r>
              <a:rPr lang="en-US" sz="1050" dirty="0">
                <a:solidFill>
                  <a:srgbClr val="555555"/>
                </a:solidFill>
                <a:latin typeface="Calibri" pitchFamily="34" charset="0"/>
                <a:ea typeface="Calibri" pitchFamily="34" charset="-122"/>
                <a:cs typeface="Calibri" pitchFamily="34" charset="-120"/>
              </a:rPr>
              <a:t>evasion rate ~94% on SWaT</a:t>
            </a:r>
            <a:endParaRPr lang="en-US" sz="1050" dirty="0"/>
          </a:p>
        </p:txBody>
      </p:sp>
      <p:sp>
        <p:nvSpPr>
          <p:cNvPr id="18" name="Shape 16"/>
          <p:cNvSpPr/>
          <p:nvPr/>
        </p:nvSpPr>
        <p:spPr>
          <a:xfrm>
            <a:off x="475488" y="2935224"/>
            <a:ext cx="201168" cy="201168"/>
          </a:xfrm>
          <a:prstGeom prst="rect">
            <a:avLst/>
          </a:prstGeom>
          <a:solidFill>
            <a:srgbClr val="E74C3C"/>
          </a:solidFill>
          <a:ln w="12700">
            <a:solidFill>
              <a:srgbClr val="E74C3C"/>
            </a:solidFill>
            <a:prstDash val="solid"/>
          </a:ln>
        </p:spPr>
      </p:sp>
      <p:sp>
        <p:nvSpPr>
          <p:cNvPr id="19" name="Text 17"/>
          <p:cNvSpPr/>
          <p:nvPr/>
        </p:nvSpPr>
        <p:spPr>
          <a:xfrm>
            <a:off x="475488" y="2935224"/>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20" name="Text 18"/>
          <p:cNvSpPr/>
          <p:nvPr/>
        </p:nvSpPr>
        <p:spPr>
          <a:xfrm>
            <a:off x="749808" y="2953512"/>
            <a:ext cx="3429000" cy="347472"/>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 xml:space="preserve">Sensor spoof looks normal  </a:t>
            </a:r>
            <a:pPr indent="0" marL="0">
              <a:buNone/>
            </a:pPr>
            <a:r>
              <a:rPr lang="en-US" sz="1050" dirty="0">
                <a:solidFill>
                  <a:srgbClr val="555555"/>
                </a:solidFill>
                <a:latin typeface="Calibri" pitchFamily="34" charset="0"/>
                <a:ea typeface="Calibri" pitchFamily="34" charset="-122"/>
                <a:cs typeface="Calibri" pitchFamily="34" charset="-120"/>
              </a:rPr>
              <a:t>to the ML model's latent space</a:t>
            </a:r>
            <a:endParaRPr lang="en-US" sz="1050" dirty="0"/>
          </a:p>
        </p:txBody>
      </p:sp>
      <p:sp>
        <p:nvSpPr>
          <p:cNvPr id="21" name="Shape 19"/>
          <p:cNvSpPr/>
          <p:nvPr/>
        </p:nvSpPr>
        <p:spPr>
          <a:xfrm>
            <a:off x="475488" y="3328416"/>
            <a:ext cx="201168" cy="201168"/>
          </a:xfrm>
          <a:prstGeom prst="rect">
            <a:avLst/>
          </a:prstGeom>
          <a:solidFill>
            <a:srgbClr val="E74C3C"/>
          </a:solidFill>
          <a:ln w="12700">
            <a:solidFill>
              <a:srgbClr val="E74C3C"/>
            </a:solidFill>
            <a:prstDash val="solid"/>
          </a:ln>
        </p:spPr>
      </p:sp>
      <p:sp>
        <p:nvSpPr>
          <p:cNvPr id="22" name="Text 20"/>
          <p:cNvSpPr/>
          <p:nvPr/>
        </p:nvSpPr>
        <p:spPr>
          <a:xfrm>
            <a:off x="475488" y="3328416"/>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23" name="Text 21"/>
          <p:cNvSpPr/>
          <p:nvPr/>
        </p:nvSpPr>
        <p:spPr>
          <a:xfrm>
            <a:off x="749808" y="3346704"/>
            <a:ext cx="3429000" cy="347472"/>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 xml:space="preserve">Blind to actuator state —  </a:t>
            </a:r>
            <a:pPr indent="0" marL="0">
              <a:buNone/>
            </a:pPr>
            <a:r>
              <a:rPr lang="en-US" sz="1050" dirty="0">
                <a:solidFill>
                  <a:srgbClr val="555555"/>
                </a:solidFill>
                <a:latin typeface="Calibri" pitchFamily="34" charset="0"/>
                <a:ea typeface="Calibri" pitchFamily="34" charset="-122"/>
                <a:cs typeface="Calibri" pitchFamily="34" charset="-120"/>
              </a:rPr>
              <a:t>only sees sensor timeseries</a:t>
            </a:r>
            <a:endParaRPr lang="en-US" sz="1050" dirty="0"/>
          </a:p>
        </p:txBody>
      </p:sp>
      <p:sp>
        <p:nvSpPr>
          <p:cNvPr id="24" name="Shape 22"/>
          <p:cNvSpPr/>
          <p:nvPr/>
        </p:nvSpPr>
        <p:spPr>
          <a:xfrm>
            <a:off x="4663440" y="987552"/>
            <a:ext cx="4206240" cy="3657600"/>
          </a:xfrm>
          <a:prstGeom prst="rect">
            <a:avLst/>
          </a:prstGeom>
          <a:solidFill>
            <a:srgbClr val="FFFFFF"/>
          </a:solidFill>
          <a:ln w="12700">
            <a:solidFill>
              <a:srgbClr val="FFFFFF"/>
            </a:solidFill>
            <a:prstDash val="solid"/>
          </a:ln>
        </p:spPr>
      </p:sp>
      <p:sp>
        <p:nvSpPr>
          <p:cNvPr id="25" name="Shape 23"/>
          <p:cNvSpPr/>
          <p:nvPr/>
        </p:nvSpPr>
        <p:spPr>
          <a:xfrm>
            <a:off x="4663440" y="987552"/>
            <a:ext cx="64008" cy="3657600"/>
          </a:xfrm>
          <a:prstGeom prst="rect">
            <a:avLst/>
          </a:prstGeom>
          <a:solidFill>
            <a:srgbClr val="F39C12"/>
          </a:solidFill>
          <a:ln w="12700">
            <a:solidFill>
              <a:srgbClr val="F39C12"/>
            </a:solidFill>
            <a:prstDash val="solid"/>
          </a:ln>
        </p:spPr>
      </p:sp>
      <p:sp>
        <p:nvSpPr>
          <p:cNvPr id="26" name="Text 24"/>
          <p:cNvSpPr/>
          <p:nvPr/>
        </p:nvSpPr>
        <p:spPr>
          <a:xfrm>
            <a:off x="4892040" y="1060704"/>
            <a:ext cx="3840480" cy="347472"/>
          </a:xfrm>
          <a:prstGeom prst="rect">
            <a:avLst/>
          </a:prstGeom>
          <a:noFill/>
          <a:ln/>
        </p:spPr>
        <p:txBody>
          <a:bodyPr wrap="square" lIns="0" tIns="0" rIns="0" bIns="0" rtlCol="0" anchor="ctr"/>
          <a:lstStyle/>
          <a:p>
            <a:pPr indent="0" marL="0">
              <a:buNone/>
            </a:pPr>
            <a:r>
              <a:rPr lang="en-US" sz="1500" b="1" dirty="0">
                <a:solidFill>
                  <a:srgbClr val="F39C12"/>
                </a:solidFill>
                <a:latin typeface="Calibri" pitchFamily="34" charset="0"/>
                <a:ea typeface="Calibri" pitchFamily="34" charset="-122"/>
                <a:cs typeface="Calibri" pitchFamily="34" charset="-120"/>
              </a:rPr>
              <a:t>Invariant-Only Detector</a:t>
            </a:r>
            <a:endParaRPr lang="en-US" sz="1500" dirty="0"/>
          </a:p>
        </p:txBody>
      </p:sp>
      <p:sp>
        <p:nvSpPr>
          <p:cNvPr id="27" name="Text 25"/>
          <p:cNvSpPr/>
          <p:nvPr/>
        </p:nvSpPr>
        <p:spPr>
          <a:xfrm>
            <a:off x="4892040" y="1389888"/>
            <a:ext cx="3840480" cy="237744"/>
          </a:xfrm>
          <a:prstGeom prst="rect">
            <a:avLst/>
          </a:prstGeom>
          <a:noFill/>
          <a:ln/>
        </p:spPr>
        <p:txBody>
          <a:bodyPr wrap="square" lIns="0" tIns="0" rIns="0" bIns="0" rtlCol="0" anchor="ctr"/>
          <a:lstStyle/>
          <a:p>
            <a:pPr indent="0" marL="0">
              <a:buNone/>
            </a:pPr>
            <a:r>
              <a:rPr lang="en-US" sz="1000" i="1" dirty="0">
                <a:solidFill>
                  <a:srgbClr val="8FA3B1"/>
                </a:solidFill>
                <a:latin typeface="Calibri" pitchFamily="34" charset="0"/>
                <a:ea typeface="Calibri" pitchFamily="34" charset="-122"/>
                <a:cs typeface="Calibri" pitchFamily="34" charset="-120"/>
              </a:rPr>
              <a:t>e.g. Adepu &amp; Mathur, IFIP SEC 2016 (Papers #88)</a:t>
            </a:r>
            <a:endParaRPr lang="en-US" sz="1000" dirty="0"/>
          </a:p>
        </p:txBody>
      </p:sp>
      <p:sp>
        <p:nvSpPr>
          <p:cNvPr id="28" name="Shape 26"/>
          <p:cNvSpPr/>
          <p:nvPr/>
        </p:nvSpPr>
        <p:spPr>
          <a:xfrm>
            <a:off x="4864608" y="1755648"/>
            <a:ext cx="201168" cy="201168"/>
          </a:xfrm>
          <a:prstGeom prst="rect">
            <a:avLst/>
          </a:prstGeom>
          <a:solidFill>
            <a:srgbClr val="F39C12"/>
          </a:solidFill>
          <a:ln w="12700">
            <a:solidFill>
              <a:srgbClr val="F39C12"/>
            </a:solidFill>
            <a:prstDash val="solid"/>
          </a:ln>
        </p:spPr>
      </p:sp>
      <p:sp>
        <p:nvSpPr>
          <p:cNvPr id="29" name="Text 27"/>
          <p:cNvSpPr/>
          <p:nvPr/>
        </p:nvSpPr>
        <p:spPr>
          <a:xfrm>
            <a:off x="4864608" y="175564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30" name="Text 28"/>
          <p:cNvSpPr/>
          <p:nvPr/>
        </p:nvSpPr>
        <p:spPr>
          <a:xfrm>
            <a:off x="5138928" y="1773936"/>
            <a:ext cx="3611880" cy="347472"/>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 xml:space="preserve">Physics rules encode  </a:t>
            </a:r>
            <a:pPr indent="0" marL="0">
              <a:buNone/>
            </a:pPr>
            <a:r>
              <a:rPr lang="en-US" sz="1050" dirty="0">
                <a:solidFill>
                  <a:srgbClr val="555555"/>
                </a:solidFill>
                <a:latin typeface="Calibri" pitchFamily="34" charset="0"/>
                <a:ea typeface="Calibri" pitchFamily="34" charset="-122"/>
                <a:cs typeface="Calibri" pitchFamily="34" charset="-120"/>
              </a:rPr>
              <a:t>P&amp;ID constraints (e.g. MV101 open → FIT101 &gt; 0)</a:t>
            </a:r>
            <a:endParaRPr lang="en-US" sz="1050" dirty="0"/>
          </a:p>
        </p:txBody>
      </p:sp>
      <p:sp>
        <p:nvSpPr>
          <p:cNvPr id="31" name="Shape 29"/>
          <p:cNvSpPr/>
          <p:nvPr/>
        </p:nvSpPr>
        <p:spPr>
          <a:xfrm>
            <a:off x="4864608" y="2148840"/>
            <a:ext cx="201168" cy="201168"/>
          </a:xfrm>
          <a:prstGeom prst="rect">
            <a:avLst/>
          </a:prstGeom>
          <a:solidFill>
            <a:srgbClr val="F39C12"/>
          </a:solidFill>
          <a:ln w="12700">
            <a:solidFill>
              <a:srgbClr val="F39C12"/>
            </a:solidFill>
            <a:prstDash val="solid"/>
          </a:ln>
        </p:spPr>
      </p:sp>
      <p:sp>
        <p:nvSpPr>
          <p:cNvPr id="32" name="Text 30"/>
          <p:cNvSpPr/>
          <p:nvPr/>
        </p:nvSpPr>
        <p:spPr>
          <a:xfrm>
            <a:off x="4864608" y="2148840"/>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33" name="Text 31"/>
          <p:cNvSpPr/>
          <p:nvPr/>
        </p:nvSpPr>
        <p:spPr>
          <a:xfrm>
            <a:off x="5138928" y="2167128"/>
            <a:ext cx="3611880" cy="347472"/>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 xml:space="preserve">Paper #9 Phase 2 replay  </a:t>
            </a:r>
            <a:pPr indent="0" marL="0">
              <a:buNone/>
            </a:pPr>
            <a:r>
              <a:rPr lang="en-US" sz="1050" dirty="0">
                <a:solidFill>
                  <a:srgbClr val="555555"/>
                </a:solidFill>
                <a:latin typeface="Calibri" pitchFamily="34" charset="0"/>
                <a:ea typeface="Calibri" pitchFamily="34" charset="-122"/>
                <a:cs typeface="Calibri" pitchFamily="34" charset="-120"/>
              </a:rPr>
              <a:t>sends stale-but-valid sensor readings</a:t>
            </a:r>
            <a:endParaRPr lang="en-US" sz="1050" dirty="0"/>
          </a:p>
        </p:txBody>
      </p:sp>
      <p:sp>
        <p:nvSpPr>
          <p:cNvPr id="34" name="Shape 32"/>
          <p:cNvSpPr/>
          <p:nvPr/>
        </p:nvSpPr>
        <p:spPr>
          <a:xfrm>
            <a:off x="4864608" y="2542032"/>
            <a:ext cx="201168" cy="201168"/>
          </a:xfrm>
          <a:prstGeom prst="rect">
            <a:avLst/>
          </a:prstGeom>
          <a:solidFill>
            <a:srgbClr val="F39C12"/>
          </a:solidFill>
          <a:ln w="12700">
            <a:solidFill>
              <a:srgbClr val="F39C12"/>
            </a:solidFill>
            <a:prstDash val="solid"/>
          </a:ln>
        </p:spPr>
      </p:sp>
      <p:sp>
        <p:nvSpPr>
          <p:cNvPr id="35" name="Text 33"/>
          <p:cNvSpPr/>
          <p:nvPr/>
        </p:nvSpPr>
        <p:spPr>
          <a:xfrm>
            <a:off x="4864608" y="2542032"/>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36" name="Text 34"/>
          <p:cNvSpPr/>
          <p:nvPr/>
        </p:nvSpPr>
        <p:spPr>
          <a:xfrm>
            <a:off x="5138928" y="2560320"/>
            <a:ext cx="3611880" cy="347472"/>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 xml:space="preserve">Only 24 of 36 SWaT attacks  </a:t>
            </a:r>
            <a:pPr indent="0" marL="0">
              <a:buNone/>
            </a:pPr>
            <a:r>
              <a:rPr lang="en-US" sz="1050" dirty="0">
                <a:solidFill>
                  <a:srgbClr val="555555"/>
                </a:solidFill>
                <a:latin typeface="Calibri" pitchFamily="34" charset="0"/>
                <a:ea typeface="Calibri" pitchFamily="34" charset="-122"/>
                <a:cs typeface="Calibri" pitchFamily="34" charset="-120"/>
              </a:rPr>
              <a:t>detected by invariant alone [Adepu 2016]</a:t>
            </a:r>
            <a:endParaRPr lang="en-US" sz="1050" dirty="0"/>
          </a:p>
        </p:txBody>
      </p:sp>
      <p:sp>
        <p:nvSpPr>
          <p:cNvPr id="37" name="Shape 35"/>
          <p:cNvSpPr/>
          <p:nvPr/>
        </p:nvSpPr>
        <p:spPr>
          <a:xfrm>
            <a:off x="4864608" y="2935224"/>
            <a:ext cx="201168" cy="201168"/>
          </a:xfrm>
          <a:prstGeom prst="rect">
            <a:avLst/>
          </a:prstGeom>
          <a:solidFill>
            <a:srgbClr val="F39C12"/>
          </a:solidFill>
          <a:ln w="12700">
            <a:solidFill>
              <a:srgbClr val="F39C12"/>
            </a:solidFill>
            <a:prstDash val="solid"/>
          </a:ln>
        </p:spPr>
      </p:sp>
      <p:sp>
        <p:nvSpPr>
          <p:cNvPr id="38" name="Text 36"/>
          <p:cNvSpPr/>
          <p:nvPr/>
        </p:nvSpPr>
        <p:spPr>
          <a:xfrm>
            <a:off x="4864608" y="2935224"/>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39" name="Text 37"/>
          <p:cNvSpPr/>
          <p:nvPr/>
        </p:nvSpPr>
        <p:spPr>
          <a:xfrm>
            <a:off x="5138928" y="2953512"/>
            <a:ext cx="3611880" cy="347472"/>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 xml:space="preserve">No timing anomaly flagged  </a:t>
            </a:r>
            <a:pPr indent="0" marL="0">
              <a:buNone/>
            </a:pPr>
            <a:r>
              <a:rPr lang="en-US" sz="1050" dirty="0">
                <a:solidFill>
                  <a:srgbClr val="555555"/>
                </a:solidFill>
                <a:latin typeface="Calibri" pitchFamily="34" charset="0"/>
                <a:ea typeface="Calibri" pitchFamily="34" charset="-122"/>
                <a:cs typeface="Calibri" pitchFamily="34" charset="-120"/>
              </a:rPr>
              <a:t>if replay matches polling frequency</a:t>
            </a:r>
            <a:endParaRPr lang="en-US" sz="1050" dirty="0"/>
          </a:p>
        </p:txBody>
      </p:sp>
      <p:sp>
        <p:nvSpPr>
          <p:cNvPr id="40" name="Shape 38"/>
          <p:cNvSpPr/>
          <p:nvPr/>
        </p:nvSpPr>
        <p:spPr>
          <a:xfrm>
            <a:off x="4864608" y="3328416"/>
            <a:ext cx="201168" cy="201168"/>
          </a:xfrm>
          <a:prstGeom prst="rect">
            <a:avLst/>
          </a:prstGeom>
          <a:solidFill>
            <a:srgbClr val="F39C12"/>
          </a:solidFill>
          <a:ln w="12700">
            <a:solidFill>
              <a:srgbClr val="F39C12"/>
            </a:solidFill>
            <a:prstDash val="solid"/>
          </a:ln>
        </p:spPr>
      </p:sp>
      <p:sp>
        <p:nvSpPr>
          <p:cNvPr id="41" name="Text 39"/>
          <p:cNvSpPr/>
          <p:nvPr/>
        </p:nvSpPr>
        <p:spPr>
          <a:xfrm>
            <a:off x="4864608" y="3328416"/>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42" name="Text 40"/>
          <p:cNvSpPr/>
          <p:nvPr/>
        </p:nvSpPr>
        <p:spPr>
          <a:xfrm>
            <a:off x="5138928" y="3346704"/>
            <a:ext cx="3611880" cy="347472"/>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 xml:space="preserve">Cannot detect gradual drift  </a:t>
            </a:r>
            <a:pPr indent="0" marL="0">
              <a:buNone/>
            </a:pPr>
            <a:r>
              <a:rPr lang="en-US" sz="1050" dirty="0">
                <a:solidFill>
                  <a:srgbClr val="555555"/>
                </a:solidFill>
                <a:latin typeface="Calibri" pitchFamily="34" charset="0"/>
                <a:ea typeface="Calibri" pitchFamily="34" charset="-122"/>
                <a:cs typeface="Calibri" pitchFamily="34" charset="-120"/>
              </a:rPr>
              <a:t>if attacker moves slowly within bounds</a:t>
            </a:r>
            <a:endParaRPr lang="en-US" sz="1050" dirty="0"/>
          </a:p>
        </p:txBody>
      </p:sp>
      <p:sp>
        <p:nvSpPr>
          <p:cNvPr id="43" name="Shape 41"/>
          <p:cNvSpPr/>
          <p:nvPr/>
        </p:nvSpPr>
        <p:spPr>
          <a:xfrm>
            <a:off x="274320" y="4709160"/>
            <a:ext cx="8595360" cy="365760"/>
          </a:xfrm>
          <a:prstGeom prst="rect">
            <a:avLst/>
          </a:prstGeom>
          <a:solidFill>
            <a:srgbClr val="0D1B2A"/>
          </a:solidFill>
          <a:ln w="12700">
            <a:solidFill>
              <a:srgbClr val="0D1B2A"/>
            </a:solidFill>
            <a:prstDash val="solid"/>
          </a:ln>
        </p:spPr>
      </p:sp>
      <p:sp>
        <p:nvSpPr>
          <p:cNvPr id="44" name="Text 42"/>
          <p:cNvSpPr/>
          <p:nvPr/>
        </p:nvSpPr>
        <p:spPr>
          <a:xfrm>
            <a:off x="457200" y="4709160"/>
            <a:ext cx="8321040" cy="365760"/>
          </a:xfrm>
          <a:prstGeom prst="rect">
            <a:avLst/>
          </a:prstGeom>
          <a:noFill/>
          <a:ln/>
        </p:spPr>
        <p:txBody>
          <a:bodyPr wrap="square" lIns="0" tIns="0" rIns="0" bIns="0" rtlCol="0" anchor="ctr"/>
          <a:lstStyle/>
          <a:p>
            <a:pPr indent="0" marL="0">
              <a:buNone/>
            </a:pPr>
            <a:r>
              <a:rPr lang="en-US" sz="1050" b="1" dirty="0">
                <a:solidFill>
                  <a:srgbClr val="0FB3C5"/>
                </a:solidFill>
                <a:latin typeface="Calibri" pitchFamily="34" charset="0"/>
                <a:ea typeface="Calibri" pitchFamily="34" charset="-122"/>
                <a:cs typeface="Calibri" pitchFamily="34" charset="-120"/>
              </a:rPr>
              <a:t xml:space="preserve">Conclusion:  </a:t>
            </a:r>
            <a:pPr indent="0" marL="0">
              <a:buNone/>
            </a:pPr>
            <a:r>
              <a:rPr lang="en-US" sz="1050" dirty="0">
                <a:solidFill>
                  <a:srgbClr val="E8EEF4"/>
                </a:solidFill>
                <a:latin typeface="Calibri" pitchFamily="34" charset="0"/>
                <a:ea typeface="Calibri" pitchFamily="34" charset="-122"/>
                <a:cs typeface="Calibri" pitchFamily="34" charset="-120"/>
              </a:rPr>
              <a:t>Neither layer alone is sufficient. The hybrid forces the attacker to simultaneously satisfy physics constraints AND fool the ML detector — a much harder constraint.</a:t>
            </a:r>
            <a:endParaRPr lang="en-US" sz="105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A7E8C"/>
          </a:solidFill>
          <a:ln w="12700">
            <a:solidFill>
              <a:srgbClr val="0A7E8C"/>
            </a:solidFill>
            <a:prstDash val="solid"/>
          </a:ln>
        </p:spPr>
      </p:sp>
      <p:sp>
        <p:nvSpPr>
          <p:cNvPr id="3" name="Text 1"/>
          <p:cNvSpPr/>
          <p:nvPr/>
        </p:nvSpPr>
        <p:spPr>
          <a:xfrm>
            <a:off x="365760" y="164592"/>
            <a:ext cx="8229600" cy="4572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Hybrid Defense Architecture</a:t>
            </a:r>
            <a:endParaRPr lang="en-US" sz="2800" dirty="0"/>
          </a:p>
        </p:txBody>
      </p:sp>
      <p:sp>
        <p:nvSpPr>
          <p:cNvPr id="4" name="Text 2"/>
          <p:cNvSpPr/>
          <p:nvPr/>
        </p:nvSpPr>
        <p:spPr>
          <a:xfrm>
            <a:off x="365760" y="621792"/>
            <a:ext cx="8229600" cy="256032"/>
          </a:xfrm>
          <a:prstGeom prst="rect">
            <a:avLst/>
          </a:prstGeom>
          <a:noFill/>
          <a:ln/>
        </p:spPr>
        <p:txBody>
          <a:bodyPr wrap="square" lIns="0" tIns="0" rIns="0" bIns="0" rtlCol="0" anchor="ctr"/>
          <a:lstStyle/>
          <a:p>
            <a:pPr indent="0" marL="0">
              <a:buNone/>
            </a:pPr>
            <a:r>
              <a:rPr lang="en-US" sz="1200" i="1" dirty="0">
                <a:solidFill>
                  <a:srgbClr val="8FA3B1"/>
                </a:solidFill>
                <a:latin typeface="Calibri" pitchFamily="34" charset="0"/>
                <a:ea typeface="Calibri" pitchFamily="34" charset="-122"/>
                <a:cs typeface="Calibri" pitchFamily="34" charset="-120"/>
              </a:rPr>
              <a:t>Three cooperative layers — each compensates for the other's blind spots</a:t>
            </a:r>
            <a:endParaRPr lang="en-US" sz="1200" dirty="0"/>
          </a:p>
        </p:txBody>
      </p:sp>
      <p:sp>
        <p:nvSpPr>
          <p:cNvPr id="5" name="Shape 3"/>
          <p:cNvSpPr/>
          <p:nvPr/>
        </p:nvSpPr>
        <p:spPr>
          <a:xfrm>
            <a:off x="228600" y="1024128"/>
            <a:ext cx="1691640" cy="960120"/>
          </a:xfrm>
          <a:prstGeom prst="rect">
            <a:avLst/>
          </a:prstGeom>
          <a:solidFill>
            <a:srgbClr val="1B3A5C"/>
          </a:solidFill>
          <a:ln w="12700">
            <a:solidFill>
              <a:srgbClr val="1B3A5C"/>
            </a:solidFill>
            <a:prstDash val="solid"/>
          </a:ln>
        </p:spPr>
      </p:sp>
      <p:sp>
        <p:nvSpPr>
          <p:cNvPr id="6" name="Shape 4"/>
          <p:cNvSpPr/>
          <p:nvPr/>
        </p:nvSpPr>
        <p:spPr>
          <a:xfrm>
            <a:off x="228600" y="1024128"/>
            <a:ext cx="64008" cy="960120"/>
          </a:xfrm>
          <a:prstGeom prst="rect">
            <a:avLst/>
          </a:prstGeom>
          <a:solidFill>
            <a:srgbClr val="0A7E8C"/>
          </a:solidFill>
          <a:ln w="12700">
            <a:solidFill>
              <a:srgbClr val="0A7E8C"/>
            </a:solidFill>
            <a:prstDash val="solid"/>
          </a:ln>
        </p:spPr>
      </p:sp>
      <p:sp>
        <p:nvSpPr>
          <p:cNvPr id="7" name="Text 5"/>
          <p:cNvSpPr/>
          <p:nvPr/>
        </p:nvSpPr>
        <p:spPr>
          <a:xfrm>
            <a:off x="347472" y="1051560"/>
            <a:ext cx="1508760" cy="914400"/>
          </a:xfrm>
          <a:prstGeom prst="rect">
            <a:avLst/>
          </a:prstGeom>
          <a:noFill/>
          <a:ln/>
        </p:spPr>
        <p:txBody>
          <a:bodyPr wrap="square" lIns="0" tIns="0" rIns="0" bIns="0" rtlCol="0" anchor="ctr"/>
          <a:lstStyle/>
          <a:p>
            <a:pPr indent="0" marL="0">
              <a:buNone/>
            </a:pPr>
            <a:r>
              <a:rPr lang="en-US" sz="1050" dirty="0">
                <a:solidFill>
                  <a:srgbClr val="E8EEF4"/>
                </a:solidFill>
                <a:latin typeface="Calibri" pitchFamily="34" charset="0"/>
                <a:ea typeface="Calibri" pitchFamily="34" charset="-122"/>
                <a:cs typeface="Calibri" pitchFamily="34" charset="-120"/>
              </a:rPr>
              <a:t>SWaT</a:t>
            </a:r>
            <a:endParaRPr lang="en-US" sz="1050" dirty="0"/>
          </a:p>
          <a:p>
            <a:pPr indent="0" marL="0">
              <a:buNone/>
            </a:pPr>
            <a:r>
              <a:rPr lang="en-US" sz="1050" dirty="0">
                <a:solidFill>
                  <a:srgbClr val="E8EEF4"/>
                </a:solidFill>
                <a:latin typeface="Calibri" pitchFamily="34" charset="0"/>
                <a:ea typeface="Calibri" pitchFamily="34" charset="-122"/>
                <a:cs typeface="Calibri" pitchFamily="34" charset="-120"/>
              </a:rPr>
              <a:t>Sensor &amp;</a:t>
            </a:r>
            <a:endParaRPr lang="en-US" sz="1050" dirty="0"/>
          </a:p>
          <a:p>
            <a:pPr indent="0" marL="0">
              <a:buNone/>
            </a:pPr>
            <a:r>
              <a:rPr lang="en-US" sz="1050" dirty="0">
                <a:solidFill>
                  <a:srgbClr val="E8EEF4"/>
                </a:solidFill>
                <a:latin typeface="Calibri" pitchFamily="34" charset="0"/>
                <a:ea typeface="Calibri" pitchFamily="34" charset="-122"/>
                <a:cs typeface="Calibri" pitchFamily="34" charset="-120"/>
              </a:rPr>
              <a:t>Actuator</a:t>
            </a:r>
            <a:endParaRPr lang="en-US" sz="1050" dirty="0"/>
          </a:p>
          <a:p>
            <a:pPr indent="0" marL="0">
              <a:buNone/>
            </a:pPr>
            <a:r>
              <a:rPr lang="en-US" sz="1050" dirty="0">
                <a:solidFill>
                  <a:srgbClr val="E8EEF4"/>
                </a:solidFill>
                <a:latin typeface="Calibri" pitchFamily="34" charset="0"/>
                <a:ea typeface="Calibri" pitchFamily="34" charset="-122"/>
                <a:cs typeface="Calibri" pitchFamily="34" charset="-120"/>
              </a:rPr>
              <a:t>Readings</a:t>
            </a:r>
            <a:endParaRPr lang="en-US" sz="1050" dirty="0"/>
          </a:p>
        </p:txBody>
      </p:sp>
      <p:sp>
        <p:nvSpPr>
          <p:cNvPr id="8" name="Text 6"/>
          <p:cNvSpPr/>
          <p:nvPr/>
        </p:nvSpPr>
        <p:spPr>
          <a:xfrm>
            <a:off x="1965960" y="1344168"/>
            <a:ext cx="365760" cy="365760"/>
          </a:xfrm>
          <a:prstGeom prst="rect">
            <a:avLst/>
          </a:prstGeom>
          <a:noFill/>
          <a:ln/>
        </p:spPr>
        <p:txBody>
          <a:bodyPr wrap="square" lIns="0" tIns="0" rIns="0" bIns="0" rtlCol="0" anchor="ctr"/>
          <a:lstStyle/>
          <a:p>
            <a:pPr algn="ctr" indent="0" marL="0">
              <a:buNone/>
            </a:pPr>
            <a:r>
              <a:rPr lang="en-US" sz="2000" b="1" dirty="0">
                <a:solidFill>
                  <a:srgbClr val="0A7E8C"/>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2377440" y="896112"/>
            <a:ext cx="1874520" cy="1234440"/>
          </a:xfrm>
          <a:prstGeom prst="rect">
            <a:avLst/>
          </a:prstGeom>
          <a:solidFill>
            <a:srgbClr val="1A8A47"/>
          </a:solidFill>
          <a:ln w="12700">
            <a:solidFill>
              <a:srgbClr val="1A8A47"/>
            </a:solidFill>
            <a:prstDash val="solid"/>
          </a:ln>
        </p:spPr>
      </p:sp>
      <p:sp>
        <p:nvSpPr>
          <p:cNvPr id="10" name="Text 8"/>
          <p:cNvSpPr/>
          <p:nvPr/>
        </p:nvSpPr>
        <p:spPr>
          <a:xfrm>
            <a:off x="2423160" y="932688"/>
            <a:ext cx="178308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Layer 1</a:t>
            </a:r>
            <a:endParaRPr lang="en-US" sz="1100" dirty="0"/>
          </a:p>
        </p:txBody>
      </p:sp>
      <p:sp>
        <p:nvSpPr>
          <p:cNvPr id="11" name="Text 9"/>
          <p:cNvSpPr/>
          <p:nvPr/>
        </p:nvSpPr>
        <p:spPr>
          <a:xfrm>
            <a:off x="2423160" y="1188720"/>
            <a:ext cx="1783080" cy="347472"/>
          </a:xfrm>
          <a:prstGeom prst="rect">
            <a:avLst/>
          </a:prstGeom>
          <a:noFill/>
          <a:ln/>
        </p:spPr>
        <p:txBody>
          <a:bodyPr wrap="square" lIns="0" tIns="0" rIns="0" bIns="0" rtlCol="0" anchor="ctr"/>
          <a:lstStyle/>
          <a:p>
            <a:pPr algn="ctr" indent="0" marL="0">
              <a:buNone/>
            </a:pPr>
            <a:r>
              <a:rPr lang="en-US" sz="1300" b="1" dirty="0">
                <a:solidFill>
                  <a:srgbClr val="C8F5D8"/>
                </a:solidFill>
                <a:latin typeface="Calibri" pitchFamily="34" charset="0"/>
                <a:ea typeface="Calibri" pitchFamily="34" charset="-122"/>
                <a:cs typeface="Calibri" pitchFamily="34" charset="-120"/>
              </a:rPr>
              <a:t>Process Invariant</a:t>
            </a:r>
            <a:endParaRPr lang="en-US" sz="1300" dirty="0"/>
          </a:p>
          <a:p>
            <a:pPr algn="ctr" indent="0" marL="0">
              <a:buNone/>
            </a:pPr>
            <a:r>
              <a:rPr lang="en-US" sz="1300" b="1" dirty="0">
                <a:solidFill>
                  <a:srgbClr val="C8F5D8"/>
                </a:solidFill>
                <a:latin typeface="Calibri" pitchFamily="34" charset="0"/>
                <a:ea typeface="Calibri" pitchFamily="34" charset="-122"/>
                <a:cs typeface="Calibri" pitchFamily="34" charset="-120"/>
              </a:rPr>
              <a:t>Checker</a:t>
            </a:r>
            <a:endParaRPr lang="en-US" sz="1300" dirty="0"/>
          </a:p>
        </p:txBody>
      </p:sp>
      <p:sp>
        <p:nvSpPr>
          <p:cNvPr id="12" name="Text 10"/>
          <p:cNvSpPr/>
          <p:nvPr/>
        </p:nvSpPr>
        <p:spPr>
          <a:xfrm>
            <a:off x="2423160" y="1536192"/>
            <a:ext cx="1783080" cy="530352"/>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Physics-based rules</a:t>
            </a:r>
            <a:endParaRPr lang="en-US" sz="950" dirty="0"/>
          </a:p>
          <a:p>
            <a:pPr algn="ctr" indent="0" marL="0">
              <a:buNone/>
            </a:pPr>
            <a:r>
              <a:rPr lang="en-US" sz="950" i="1" dirty="0">
                <a:solidFill>
                  <a:srgbClr val="FFFFFF"/>
                </a:solidFill>
                <a:latin typeface="Calibri" pitchFamily="34" charset="0"/>
                <a:ea typeface="Calibri" pitchFamily="34" charset="-122"/>
                <a:cs typeface="Calibri" pitchFamily="34" charset="-120"/>
              </a:rPr>
              <a:t>from SWaT P&amp;ID</a:t>
            </a:r>
            <a:endParaRPr lang="en-US" sz="950" dirty="0"/>
          </a:p>
          <a:p>
            <a:pPr algn="ctr" indent="0" marL="0">
              <a:buNone/>
            </a:pPr>
            <a:r>
              <a:rPr lang="en-US" sz="950" i="1" dirty="0">
                <a:solidFill>
                  <a:srgbClr val="FFFFFF"/>
                </a:solidFill>
                <a:latin typeface="Calibri" pitchFamily="34" charset="0"/>
                <a:ea typeface="Calibri" pitchFamily="34" charset="-122"/>
                <a:cs typeface="Calibri" pitchFamily="34" charset="-120"/>
              </a:rPr>
              <a:t>(Adepu &amp; Mathur 2016)</a:t>
            </a:r>
            <a:endParaRPr lang="en-US" sz="950" dirty="0"/>
          </a:p>
        </p:txBody>
      </p:sp>
      <p:sp>
        <p:nvSpPr>
          <p:cNvPr id="13" name="Text 11"/>
          <p:cNvSpPr/>
          <p:nvPr/>
        </p:nvSpPr>
        <p:spPr>
          <a:xfrm>
            <a:off x="4297680" y="1344168"/>
            <a:ext cx="365760" cy="365760"/>
          </a:xfrm>
          <a:prstGeom prst="rect">
            <a:avLst/>
          </a:prstGeom>
          <a:noFill/>
          <a:ln/>
        </p:spPr>
        <p:txBody>
          <a:bodyPr wrap="square" lIns="0" tIns="0" rIns="0" bIns="0" rtlCol="0" anchor="ctr"/>
          <a:lstStyle/>
          <a:p>
            <a:pPr algn="ctr" indent="0" marL="0">
              <a:buNone/>
            </a:pPr>
            <a:r>
              <a:rPr lang="en-US" sz="2000" b="1" dirty="0">
                <a:solidFill>
                  <a:srgbClr val="2196F3"/>
                </a:solidFill>
                <a:latin typeface="Calibri" pitchFamily="34" charset="0"/>
                <a:ea typeface="Calibri" pitchFamily="34" charset="-122"/>
                <a:cs typeface="Calibri" pitchFamily="34" charset="-120"/>
              </a:rPr>
              <a:t>→</a:t>
            </a:r>
            <a:endParaRPr lang="en-US" sz="2000" dirty="0"/>
          </a:p>
        </p:txBody>
      </p:sp>
      <p:sp>
        <p:nvSpPr>
          <p:cNvPr id="14" name="Shape 12"/>
          <p:cNvSpPr/>
          <p:nvPr/>
        </p:nvSpPr>
        <p:spPr>
          <a:xfrm>
            <a:off x="4709160" y="896112"/>
            <a:ext cx="1874520" cy="1234440"/>
          </a:xfrm>
          <a:prstGeom prst="rect">
            <a:avLst/>
          </a:prstGeom>
          <a:solidFill>
            <a:srgbClr val="1A3A6E"/>
          </a:solidFill>
          <a:ln w="12700">
            <a:solidFill>
              <a:srgbClr val="1A3A6E"/>
            </a:solidFill>
            <a:prstDash val="solid"/>
          </a:ln>
        </p:spPr>
      </p:sp>
      <p:sp>
        <p:nvSpPr>
          <p:cNvPr id="15" name="Text 13"/>
          <p:cNvSpPr/>
          <p:nvPr/>
        </p:nvSpPr>
        <p:spPr>
          <a:xfrm>
            <a:off x="4754880" y="932688"/>
            <a:ext cx="178308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Layer 2</a:t>
            </a:r>
            <a:endParaRPr lang="en-US" sz="1100" dirty="0"/>
          </a:p>
        </p:txBody>
      </p:sp>
      <p:sp>
        <p:nvSpPr>
          <p:cNvPr id="16" name="Text 14"/>
          <p:cNvSpPr/>
          <p:nvPr/>
        </p:nvSpPr>
        <p:spPr>
          <a:xfrm>
            <a:off x="4754880" y="1188720"/>
            <a:ext cx="1783080" cy="347472"/>
          </a:xfrm>
          <a:prstGeom prst="rect">
            <a:avLst/>
          </a:prstGeom>
          <a:noFill/>
          <a:ln/>
        </p:spPr>
        <p:txBody>
          <a:bodyPr wrap="square" lIns="0" tIns="0" rIns="0" bIns="0" rtlCol="0" anchor="ctr"/>
          <a:lstStyle/>
          <a:p>
            <a:pPr algn="ctr" indent="0" marL="0">
              <a:buNone/>
            </a:pPr>
            <a:r>
              <a:rPr lang="en-US" sz="1300" b="1" dirty="0">
                <a:solidFill>
                  <a:srgbClr val="64B5F6"/>
                </a:solidFill>
                <a:latin typeface="Calibri" pitchFamily="34" charset="0"/>
                <a:ea typeface="Calibri" pitchFamily="34" charset="-122"/>
                <a:cs typeface="Calibri" pitchFamily="34" charset="-120"/>
              </a:rPr>
              <a:t>Reconstruction</a:t>
            </a:r>
            <a:endParaRPr lang="en-US" sz="1300" dirty="0"/>
          </a:p>
          <a:p>
            <a:pPr algn="ctr" indent="0" marL="0">
              <a:buNone/>
            </a:pPr>
            <a:r>
              <a:rPr lang="en-US" sz="1300" b="1" dirty="0">
                <a:solidFill>
                  <a:srgbClr val="64B5F6"/>
                </a:solidFill>
                <a:latin typeface="Calibri" pitchFamily="34" charset="0"/>
                <a:ea typeface="Calibri" pitchFamily="34" charset="-122"/>
                <a:cs typeface="Calibri" pitchFamily="34" charset="-120"/>
              </a:rPr>
              <a:t>Autoencoder</a:t>
            </a:r>
            <a:endParaRPr lang="en-US" sz="1300" dirty="0"/>
          </a:p>
        </p:txBody>
      </p:sp>
      <p:sp>
        <p:nvSpPr>
          <p:cNvPr id="17" name="Text 15"/>
          <p:cNvSpPr/>
          <p:nvPr/>
        </p:nvSpPr>
        <p:spPr>
          <a:xfrm>
            <a:off x="4754880" y="1536192"/>
            <a:ext cx="1783080" cy="530352"/>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ML anomaly score</a:t>
            </a:r>
            <a:endParaRPr lang="en-US" sz="950" dirty="0"/>
          </a:p>
          <a:p>
            <a:pPr algn="ctr" indent="0" marL="0">
              <a:buNone/>
            </a:pPr>
            <a:r>
              <a:rPr lang="en-US" sz="950" i="1" dirty="0">
                <a:solidFill>
                  <a:srgbClr val="FFFFFF"/>
                </a:solidFill>
                <a:latin typeface="Calibri" pitchFamily="34" charset="0"/>
                <a:ea typeface="Calibri" pitchFamily="34" charset="-122"/>
                <a:cs typeface="Calibri" pitchFamily="34" charset="-120"/>
              </a:rPr>
              <a:t>vs learned normal</a:t>
            </a:r>
            <a:endParaRPr lang="en-US" sz="950" dirty="0"/>
          </a:p>
          <a:p>
            <a:pPr algn="ctr" indent="0" marL="0">
              <a:buNone/>
            </a:pPr>
            <a:r>
              <a:rPr lang="en-US" sz="950" i="1" dirty="0">
                <a:solidFill>
                  <a:srgbClr val="FFFFFF"/>
                </a:solidFill>
                <a:latin typeface="Calibri" pitchFamily="34" charset="0"/>
                <a:ea typeface="Calibri" pitchFamily="34" charset="-122"/>
                <a:cs typeface="Calibri" pitchFamily="34" charset="-120"/>
              </a:rPr>
              <a:t>distribution</a:t>
            </a:r>
            <a:endParaRPr lang="en-US" sz="950" dirty="0"/>
          </a:p>
        </p:txBody>
      </p:sp>
      <p:sp>
        <p:nvSpPr>
          <p:cNvPr id="18" name="Text 16"/>
          <p:cNvSpPr/>
          <p:nvPr/>
        </p:nvSpPr>
        <p:spPr>
          <a:xfrm>
            <a:off x="6629400" y="1344168"/>
            <a:ext cx="365760" cy="365760"/>
          </a:xfrm>
          <a:prstGeom prst="rect">
            <a:avLst/>
          </a:prstGeom>
          <a:noFill/>
          <a:ln/>
        </p:spPr>
        <p:txBody>
          <a:bodyPr wrap="square" lIns="0" tIns="0" rIns="0" bIns="0" rtlCol="0" anchor="ctr"/>
          <a:lstStyle/>
          <a:p>
            <a:pPr algn="ctr" indent="0" marL="0">
              <a:buNone/>
            </a:pPr>
            <a:r>
              <a:rPr lang="en-US" sz="2000" b="1" dirty="0">
                <a:solidFill>
                  <a:srgbClr val="F39C12"/>
                </a:solidFill>
                <a:latin typeface="Calibri" pitchFamily="34" charset="0"/>
                <a:ea typeface="Calibri" pitchFamily="34" charset="-122"/>
                <a:cs typeface="Calibri" pitchFamily="34" charset="-120"/>
              </a:rPr>
              <a:t>→</a:t>
            </a:r>
            <a:endParaRPr lang="en-US" sz="2000" dirty="0"/>
          </a:p>
        </p:txBody>
      </p:sp>
      <p:sp>
        <p:nvSpPr>
          <p:cNvPr id="19" name="Shape 17"/>
          <p:cNvSpPr/>
          <p:nvPr/>
        </p:nvSpPr>
        <p:spPr>
          <a:xfrm>
            <a:off x="7040880" y="896112"/>
            <a:ext cx="1828800" cy="1234440"/>
          </a:xfrm>
          <a:prstGeom prst="rect">
            <a:avLst/>
          </a:prstGeom>
          <a:solidFill>
            <a:srgbClr val="5A3800"/>
          </a:solidFill>
          <a:ln w="12700">
            <a:solidFill>
              <a:srgbClr val="5A3800"/>
            </a:solidFill>
            <a:prstDash val="solid"/>
          </a:ln>
        </p:spPr>
      </p:sp>
      <p:sp>
        <p:nvSpPr>
          <p:cNvPr id="20" name="Text 18"/>
          <p:cNvSpPr/>
          <p:nvPr/>
        </p:nvSpPr>
        <p:spPr>
          <a:xfrm>
            <a:off x="7086600" y="932688"/>
            <a:ext cx="173736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Layer 3</a:t>
            </a:r>
            <a:endParaRPr lang="en-US" sz="1100" dirty="0"/>
          </a:p>
        </p:txBody>
      </p:sp>
      <p:sp>
        <p:nvSpPr>
          <p:cNvPr id="21" name="Text 19"/>
          <p:cNvSpPr/>
          <p:nvPr/>
        </p:nvSpPr>
        <p:spPr>
          <a:xfrm>
            <a:off x="7086600" y="1188720"/>
            <a:ext cx="1737360" cy="347472"/>
          </a:xfrm>
          <a:prstGeom prst="rect">
            <a:avLst/>
          </a:prstGeom>
          <a:noFill/>
          <a:ln/>
        </p:spPr>
        <p:txBody>
          <a:bodyPr wrap="square" lIns="0" tIns="0" rIns="0" bIns="0" rtlCol="0" anchor="ctr"/>
          <a:lstStyle/>
          <a:p>
            <a:pPr algn="ctr" indent="0" marL="0">
              <a:buNone/>
            </a:pPr>
            <a:r>
              <a:rPr lang="en-US" sz="1300" b="1" dirty="0">
                <a:solidFill>
                  <a:srgbClr val="F39C12"/>
                </a:solidFill>
                <a:latin typeface="Calibri" pitchFamily="34" charset="0"/>
                <a:ea typeface="Calibri" pitchFamily="34" charset="-122"/>
                <a:cs typeface="Calibri" pitchFamily="34" charset="-120"/>
              </a:rPr>
              <a:t>Decision</a:t>
            </a:r>
            <a:endParaRPr lang="en-US" sz="1300" dirty="0"/>
          </a:p>
          <a:p>
            <a:pPr algn="ctr" indent="0" marL="0">
              <a:buNone/>
            </a:pPr>
            <a:r>
              <a:rPr lang="en-US" sz="1300" b="1" dirty="0">
                <a:solidFill>
                  <a:srgbClr val="F39C12"/>
                </a:solidFill>
                <a:latin typeface="Calibri" pitchFamily="34" charset="0"/>
                <a:ea typeface="Calibri" pitchFamily="34" charset="-122"/>
                <a:cs typeface="Calibri" pitchFamily="34" charset="-120"/>
              </a:rPr>
              <a:t>Fusion</a:t>
            </a:r>
            <a:endParaRPr lang="en-US" sz="1300" dirty="0"/>
          </a:p>
        </p:txBody>
      </p:sp>
      <p:sp>
        <p:nvSpPr>
          <p:cNvPr id="22" name="Text 20"/>
          <p:cNvSpPr/>
          <p:nvPr/>
        </p:nvSpPr>
        <p:spPr>
          <a:xfrm>
            <a:off x="7086600" y="1536192"/>
            <a:ext cx="1737360" cy="530352"/>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Weighted vote +</a:t>
            </a:r>
            <a:endParaRPr lang="en-US" sz="950" dirty="0"/>
          </a:p>
          <a:p>
            <a:pPr algn="ctr" indent="0" marL="0">
              <a:buNone/>
            </a:pPr>
            <a:r>
              <a:rPr lang="en-US" sz="950" i="1" dirty="0">
                <a:solidFill>
                  <a:srgbClr val="FFFFFF"/>
                </a:solidFill>
                <a:latin typeface="Calibri" pitchFamily="34" charset="0"/>
                <a:ea typeface="Calibri" pitchFamily="34" charset="-122"/>
                <a:cs typeface="Calibri" pitchFamily="34" charset="-120"/>
              </a:rPr>
              <a:t>alert + trigger</a:t>
            </a:r>
            <a:endParaRPr lang="en-US" sz="950" dirty="0"/>
          </a:p>
          <a:p>
            <a:pPr algn="ctr" indent="0" marL="0">
              <a:buNone/>
            </a:pPr>
            <a:r>
              <a:rPr lang="en-US" sz="950" i="1" dirty="0">
                <a:solidFill>
                  <a:srgbClr val="FFFFFF"/>
                </a:solidFill>
                <a:latin typeface="Calibri" pitchFamily="34" charset="0"/>
                <a:ea typeface="Calibri" pitchFamily="34" charset="-122"/>
                <a:cs typeface="Calibri" pitchFamily="34" charset="-120"/>
              </a:rPr>
              <a:t>recovery pipeline</a:t>
            </a:r>
            <a:endParaRPr lang="en-US" sz="950" dirty="0"/>
          </a:p>
        </p:txBody>
      </p:sp>
      <p:sp>
        <p:nvSpPr>
          <p:cNvPr id="23" name="Text 21"/>
          <p:cNvSpPr/>
          <p:nvPr/>
        </p:nvSpPr>
        <p:spPr>
          <a:xfrm>
            <a:off x="6400800" y="2176272"/>
            <a:ext cx="2560320" cy="274320"/>
          </a:xfrm>
          <a:prstGeom prst="rect">
            <a:avLst/>
          </a:prstGeom>
          <a:noFill/>
          <a:ln/>
        </p:spPr>
        <p:txBody>
          <a:bodyPr wrap="square" lIns="0" tIns="0" rIns="0" bIns="0" rtlCol="0" anchor="ctr"/>
          <a:lstStyle/>
          <a:p>
            <a:pPr algn="ctr" indent="0" marL="0">
              <a:buNone/>
            </a:pPr>
            <a:r>
              <a:rPr lang="en-US" sz="1000" b="1" dirty="0">
                <a:solidFill>
                  <a:srgbClr val="E74C3C"/>
                </a:solidFill>
                <a:latin typeface="Calibri" pitchFamily="34" charset="0"/>
                <a:ea typeface="Calibri" pitchFamily="34" charset="-122"/>
                <a:cs typeface="Calibri" pitchFamily="34" charset="-120"/>
              </a:rPr>
              <a:t>↓  ALERT + RECOVERY TRIGGER</a:t>
            </a:r>
            <a:endParaRPr lang="en-US" sz="1000" dirty="0"/>
          </a:p>
        </p:txBody>
      </p:sp>
      <p:sp>
        <p:nvSpPr>
          <p:cNvPr id="24" name="Shape 22"/>
          <p:cNvSpPr/>
          <p:nvPr/>
        </p:nvSpPr>
        <p:spPr>
          <a:xfrm>
            <a:off x="228600" y="2514600"/>
            <a:ext cx="2834640" cy="2148840"/>
          </a:xfrm>
          <a:prstGeom prst="rect">
            <a:avLst/>
          </a:prstGeom>
          <a:solidFill>
            <a:srgbClr val="1A8A47"/>
          </a:solidFill>
          <a:ln w="12700">
            <a:solidFill>
              <a:srgbClr val="1A8A47"/>
            </a:solidFill>
            <a:prstDash val="solid"/>
          </a:ln>
        </p:spPr>
      </p:sp>
      <p:sp>
        <p:nvSpPr>
          <p:cNvPr id="25" name="Text 23"/>
          <p:cNvSpPr/>
          <p:nvPr/>
        </p:nvSpPr>
        <p:spPr>
          <a:xfrm>
            <a:off x="338328" y="2578608"/>
            <a:ext cx="2633472"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Layer 1 — What it checks</a:t>
            </a:r>
            <a:endParaRPr lang="en-US" sz="1150" dirty="0"/>
          </a:p>
        </p:txBody>
      </p:sp>
      <p:sp>
        <p:nvSpPr>
          <p:cNvPr id="26" name="Text 24"/>
          <p:cNvSpPr/>
          <p:nvPr/>
        </p:nvSpPr>
        <p:spPr>
          <a:xfrm>
            <a:off x="365760" y="2898648"/>
            <a:ext cx="2578608" cy="310896"/>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MV101 OPEN  →  FIT101 &gt; 0.5 m³/h</a:t>
            </a:r>
            <a:endParaRPr lang="en-US" sz="1000" dirty="0"/>
          </a:p>
        </p:txBody>
      </p:sp>
      <p:sp>
        <p:nvSpPr>
          <p:cNvPr id="27" name="Text 25"/>
          <p:cNvSpPr/>
          <p:nvPr/>
        </p:nvSpPr>
        <p:spPr>
          <a:xfrm>
            <a:off x="365760" y="3236976"/>
            <a:ext cx="2578608" cy="310896"/>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P101 ON  →  LIT101 rising or stable</a:t>
            </a:r>
            <a:endParaRPr lang="en-US" sz="1000" dirty="0"/>
          </a:p>
        </p:txBody>
      </p:sp>
      <p:sp>
        <p:nvSpPr>
          <p:cNvPr id="28" name="Text 26"/>
          <p:cNvSpPr/>
          <p:nvPr/>
        </p:nvSpPr>
        <p:spPr>
          <a:xfrm>
            <a:off x="365760" y="3575304"/>
            <a:ext cx="2578608" cy="310896"/>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LIT101 &lt; HIGH_LIMIT  →  P101 ON</a:t>
            </a:r>
            <a:endParaRPr lang="en-US" sz="1000" dirty="0"/>
          </a:p>
        </p:txBody>
      </p:sp>
      <p:sp>
        <p:nvSpPr>
          <p:cNvPr id="29" name="Text 27"/>
          <p:cNvSpPr/>
          <p:nvPr/>
        </p:nvSpPr>
        <p:spPr>
          <a:xfrm>
            <a:off x="365760" y="3913632"/>
            <a:ext cx="2578608" cy="310896"/>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P101 OFF  →  LIT101 falling (drain only)</a:t>
            </a:r>
            <a:endParaRPr lang="en-US" sz="1000" dirty="0"/>
          </a:p>
        </p:txBody>
      </p:sp>
      <p:sp>
        <p:nvSpPr>
          <p:cNvPr id="30" name="Text 28"/>
          <p:cNvSpPr/>
          <p:nvPr/>
        </p:nvSpPr>
        <p:spPr>
          <a:xfrm>
            <a:off x="365760" y="4251960"/>
            <a:ext cx="2578608" cy="310896"/>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MV101 CLOSED + P101 ON  = invariant violation</a:t>
            </a:r>
            <a:endParaRPr lang="en-US" sz="1000" dirty="0"/>
          </a:p>
        </p:txBody>
      </p:sp>
      <p:sp>
        <p:nvSpPr>
          <p:cNvPr id="31" name="Shape 29"/>
          <p:cNvSpPr/>
          <p:nvPr/>
        </p:nvSpPr>
        <p:spPr>
          <a:xfrm>
            <a:off x="3127248" y="2514600"/>
            <a:ext cx="2834640" cy="2148840"/>
          </a:xfrm>
          <a:prstGeom prst="rect">
            <a:avLst/>
          </a:prstGeom>
          <a:solidFill>
            <a:srgbClr val="1A3A6E"/>
          </a:solidFill>
          <a:ln w="12700">
            <a:solidFill>
              <a:srgbClr val="1A3A6E"/>
            </a:solidFill>
            <a:prstDash val="solid"/>
          </a:ln>
        </p:spPr>
      </p:sp>
      <p:sp>
        <p:nvSpPr>
          <p:cNvPr id="32" name="Text 30"/>
          <p:cNvSpPr/>
          <p:nvPr/>
        </p:nvSpPr>
        <p:spPr>
          <a:xfrm>
            <a:off x="3236976" y="2578608"/>
            <a:ext cx="2633472"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Layer 2 — Autoencoder</a:t>
            </a:r>
            <a:endParaRPr lang="en-US" sz="1150" dirty="0"/>
          </a:p>
        </p:txBody>
      </p:sp>
      <p:sp>
        <p:nvSpPr>
          <p:cNvPr id="33" name="Text 31"/>
          <p:cNvSpPr/>
          <p:nvPr/>
        </p:nvSpPr>
        <p:spPr>
          <a:xfrm>
            <a:off x="3264408" y="2898648"/>
            <a:ext cx="2578608" cy="310896"/>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Trained on 7 days normal SWaT data</a:t>
            </a:r>
            <a:endParaRPr lang="en-US" sz="1000" dirty="0"/>
          </a:p>
        </p:txBody>
      </p:sp>
      <p:sp>
        <p:nvSpPr>
          <p:cNvPr id="34" name="Text 32"/>
          <p:cNvSpPr/>
          <p:nvPr/>
        </p:nvSpPr>
        <p:spPr>
          <a:xfrm>
            <a:off x="3264408" y="3236976"/>
            <a:ext cx="2578608" cy="310896"/>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Encoder: 50→32→16→8 (latent dim)</a:t>
            </a:r>
            <a:endParaRPr lang="en-US" sz="1000" dirty="0"/>
          </a:p>
        </p:txBody>
      </p:sp>
      <p:sp>
        <p:nvSpPr>
          <p:cNvPr id="35" name="Text 33"/>
          <p:cNvSpPr/>
          <p:nvPr/>
        </p:nvSpPr>
        <p:spPr>
          <a:xfrm>
            <a:off x="3264408" y="3575304"/>
            <a:ext cx="2578608" cy="310896"/>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Anomaly score = MSE(x, x̂)</a:t>
            </a:r>
            <a:endParaRPr lang="en-US" sz="1000" dirty="0"/>
          </a:p>
        </p:txBody>
      </p:sp>
      <p:sp>
        <p:nvSpPr>
          <p:cNvPr id="36" name="Text 34"/>
          <p:cNvSpPr/>
          <p:nvPr/>
        </p:nvSpPr>
        <p:spPr>
          <a:xfrm>
            <a:off x="3264408" y="3913632"/>
            <a:ext cx="2578608" cy="310896"/>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Threshold = 95th pctile of train errors</a:t>
            </a:r>
            <a:endParaRPr lang="en-US" sz="1000" dirty="0"/>
          </a:p>
        </p:txBody>
      </p:sp>
      <p:sp>
        <p:nvSpPr>
          <p:cNvPr id="37" name="Text 35"/>
          <p:cNvSpPr/>
          <p:nvPr/>
        </p:nvSpPr>
        <p:spPr>
          <a:xfrm>
            <a:off x="3264408" y="4251960"/>
            <a:ext cx="2578608" cy="310896"/>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Raises flag if score &gt; threshold</a:t>
            </a:r>
            <a:endParaRPr lang="en-US" sz="1000" dirty="0"/>
          </a:p>
        </p:txBody>
      </p:sp>
      <p:sp>
        <p:nvSpPr>
          <p:cNvPr id="38" name="Shape 36"/>
          <p:cNvSpPr/>
          <p:nvPr/>
        </p:nvSpPr>
        <p:spPr>
          <a:xfrm>
            <a:off x="6016752" y="2514600"/>
            <a:ext cx="2834640" cy="2148840"/>
          </a:xfrm>
          <a:prstGeom prst="rect">
            <a:avLst/>
          </a:prstGeom>
          <a:solidFill>
            <a:srgbClr val="5A3800"/>
          </a:solidFill>
          <a:ln w="12700">
            <a:solidFill>
              <a:srgbClr val="5A3800"/>
            </a:solidFill>
            <a:prstDash val="solid"/>
          </a:ln>
        </p:spPr>
      </p:sp>
      <p:sp>
        <p:nvSpPr>
          <p:cNvPr id="39" name="Text 37"/>
          <p:cNvSpPr/>
          <p:nvPr/>
        </p:nvSpPr>
        <p:spPr>
          <a:xfrm>
            <a:off x="6126480" y="2578608"/>
            <a:ext cx="2633472"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Layer 3 — Fusion logic</a:t>
            </a:r>
            <a:endParaRPr lang="en-US" sz="1150" dirty="0"/>
          </a:p>
        </p:txBody>
      </p:sp>
      <p:sp>
        <p:nvSpPr>
          <p:cNvPr id="40" name="Text 38"/>
          <p:cNvSpPr/>
          <p:nvPr/>
        </p:nvSpPr>
        <p:spPr>
          <a:xfrm>
            <a:off x="6153912" y="2898648"/>
            <a:ext cx="2578608" cy="310896"/>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ALERT if inv_flag fires (score ≥1.5) or both fire together</a:t>
            </a:r>
            <a:endParaRPr lang="en-US" sz="1000" dirty="0"/>
          </a:p>
        </p:txBody>
      </p:sp>
      <p:sp>
        <p:nvSpPr>
          <p:cNvPr id="41" name="Text 39"/>
          <p:cNvSpPr/>
          <p:nvPr/>
        </p:nvSpPr>
        <p:spPr>
          <a:xfrm>
            <a:off x="6153912" y="3236976"/>
            <a:ext cx="2578608" cy="310896"/>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WARN if AE alone fires (score=1.0 &lt; threshold) — investigate</a:t>
            </a:r>
            <a:endParaRPr lang="en-US" sz="1000" dirty="0"/>
          </a:p>
        </p:txBody>
      </p:sp>
      <p:sp>
        <p:nvSpPr>
          <p:cNvPr id="42" name="Text 40"/>
          <p:cNvSpPr/>
          <p:nvPr/>
        </p:nvSpPr>
        <p:spPr>
          <a:xfrm>
            <a:off x="6153912" y="3575304"/>
            <a:ext cx="2578608" cy="310896"/>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Invariant flag weighted ×1.5 (physics &gt; stats)</a:t>
            </a:r>
            <a:endParaRPr lang="en-US" sz="1000" dirty="0"/>
          </a:p>
        </p:txBody>
      </p:sp>
      <p:sp>
        <p:nvSpPr>
          <p:cNvPr id="43" name="Text 41"/>
          <p:cNvSpPr/>
          <p:nvPr/>
        </p:nvSpPr>
        <p:spPr>
          <a:xfrm>
            <a:off x="6153912" y="3913632"/>
            <a:ext cx="2578608" cy="310896"/>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3-cycle confirmation window (anti-flap)</a:t>
            </a:r>
            <a:endParaRPr lang="en-US" sz="1000" dirty="0"/>
          </a:p>
        </p:txBody>
      </p:sp>
      <p:sp>
        <p:nvSpPr>
          <p:cNvPr id="44" name="Text 42"/>
          <p:cNvSpPr/>
          <p:nvPr/>
        </p:nvSpPr>
        <p:spPr>
          <a:xfrm>
            <a:off x="6153912" y="4251960"/>
            <a:ext cx="2578608" cy="310896"/>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Trigger recovery if ALERT confirmed</a:t>
            </a:r>
            <a:endParaRPr lang="en-US" sz="1000" dirty="0"/>
          </a:p>
        </p:txBody>
      </p:sp>
      <p:sp>
        <p:nvSpPr>
          <p:cNvPr id="45" name="Shape 43"/>
          <p:cNvSpPr/>
          <p:nvPr/>
        </p:nvSpPr>
        <p:spPr>
          <a:xfrm>
            <a:off x="0" y="4754880"/>
            <a:ext cx="9144000" cy="384048"/>
          </a:xfrm>
          <a:prstGeom prst="rect">
            <a:avLst/>
          </a:prstGeom>
          <a:solidFill>
            <a:srgbClr val="1B3A5C"/>
          </a:solidFill>
          <a:ln w="12700">
            <a:solidFill>
              <a:srgbClr val="1B3A5C"/>
            </a:solidFill>
            <a:prstDash val="solid"/>
          </a:ln>
        </p:spPr>
      </p:sp>
      <p:sp>
        <p:nvSpPr>
          <p:cNvPr id="46" name="Text 44"/>
          <p:cNvSpPr/>
          <p:nvPr/>
        </p:nvSpPr>
        <p:spPr>
          <a:xfrm>
            <a:off x="274320" y="4754880"/>
            <a:ext cx="8595360" cy="38404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Defense  ·  Architecture</a:t>
            </a:r>
            <a:endParaRPr lang="en-US" sz="1000" dirty="0"/>
          </a:p>
        </p:txBody>
      </p:sp>
      <p:pic>
        <p:nvPicPr>
          <p:cNvPr id="47" name="Picture 46" descr="img_defense_recovery.png"/>
          <p:cNvPicPr>
            <a:picLocks noChangeAspect="1"/>
          </p:cNvPicPr>
          <p:nvPr/>
        </p:nvPicPr>
        <p:blipFill>
          <a:blip r:embed="rId2"/>
          <a:stretch>
            <a:fillRect/>
          </a:stretch>
        </p:blipFill>
        <p:spPr>
          <a:xfrm>
            <a:off x="4572000" y="822960"/>
            <a:ext cx="4572000" cy="2834640"/>
          </a:xfrm>
          <a:prstGeom prst="rect">
            <a:avLst/>
          </a:prstGeom>
        </p:spPr>
      </p:pic>
      <p:sp>
        <p:nvSpPr>
          <p:cNvPr id="48" name="TextBox 47"/>
          <p:cNvSpPr txBox="1"/>
          <p:nvPr/>
        </p:nvSpPr>
        <p:spPr>
          <a:xfrm>
            <a:off x="4572000" y="3611880"/>
            <a:ext cx="4572000" cy="228600"/>
          </a:xfrm>
          <a:prstGeom prst="rect">
            <a:avLst/>
          </a:prstGeom>
          <a:noFill/>
        </p:spPr>
        <p:txBody>
          <a:bodyPr wrap="square">
            <a:spAutoFit/>
          </a:bodyPr>
          <a:lstStyle/>
          <a:p>
            <a:pPr algn="ctr"/>
            <a:r>
              <a:rPr sz="1000" i="1">
                <a:solidFill>
                  <a:srgbClr val="90B4CE"/>
                </a:solidFill>
              </a:rPr>
              <a:t>Full hybrid pipeline with recovery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ECC71"/>
          </a:solidFill>
          <a:ln w="12700">
            <a:solidFill>
              <a:srgbClr val="2ECC71"/>
            </a:solidFill>
            <a:prstDash val="solid"/>
          </a:ln>
        </p:spPr>
      </p:sp>
      <p:sp>
        <p:nvSpPr>
          <p:cNvPr id="3" name="Text 1"/>
          <p:cNvSpPr/>
          <p:nvPr/>
        </p:nvSpPr>
        <p:spPr>
          <a:xfrm>
            <a:off x="365760" y="164592"/>
            <a:ext cx="8229600" cy="475488"/>
          </a:xfrm>
          <a:prstGeom prst="rect">
            <a:avLst/>
          </a:prstGeom>
          <a:noFill/>
          <a:ln/>
        </p:spPr>
        <p:txBody>
          <a:bodyPr wrap="square" lIns="0" tIns="0" rIns="0" bIns="0"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Layer 1 — Process Invariant Checker</a:t>
            </a:r>
            <a:endParaRPr lang="en-US" sz="2800" dirty="0"/>
          </a:p>
        </p:txBody>
      </p:sp>
      <p:sp>
        <p:nvSpPr>
          <p:cNvPr id="4" name="Text 2"/>
          <p:cNvSpPr/>
          <p:nvPr/>
        </p:nvSpPr>
        <p:spPr>
          <a:xfrm>
            <a:off x="365760" y="640080"/>
            <a:ext cx="8229600" cy="256032"/>
          </a:xfrm>
          <a:prstGeom prst="rect">
            <a:avLst/>
          </a:prstGeom>
          <a:noFill/>
          <a:ln/>
        </p:spPr>
        <p:txBody>
          <a:bodyPr wrap="square" lIns="0" tIns="0" rIns="0" bIns="0" rtlCol="0" anchor="ctr"/>
          <a:lstStyle/>
          <a:p>
            <a:pPr indent="0" marL="0">
              <a:buNone/>
            </a:pPr>
            <a:r>
              <a:rPr lang="en-US" sz="1200" i="1" dirty="0">
                <a:solidFill>
                  <a:srgbClr val="8FA3B1"/>
                </a:solidFill>
                <a:latin typeface="Calibri" pitchFamily="34" charset="0"/>
                <a:ea typeface="Calibri" pitchFamily="34" charset="-122"/>
                <a:cs typeface="Calibri" pitchFamily="34" charset="-120"/>
              </a:rPr>
              <a:t>Physics-based rules derived from the SWaT P&amp;ID — cannot be fooled by ML evasion</a:t>
            </a:r>
            <a:endParaRPr lang="en-US" sz="1200" dirty="0"/>
          </a:p>
        </p:txBody>
      </p:sp>
      <p:sp>
        <p:nvSpPr>
          <p:cNvPr id="5" name="Shape 3"/>
          <p:cNvSpPr/>
          <p:nvPr/>
        </p:nvSpPr>
        <p:spPr>
          <a:xfrm>
            <a:off x="274320" y="987552"/>
            <a:ext cx="8595360" cy="347472"/>
          </a:xfrm>
          <a:prstGeom prst="rect">
            <a:avLst/>
          </a:prstGeom>
          <a:solidFill>
            <a:srgbClr val="1A8A47"/>
          </a:solidFill>
          <a:ln w="12700">
            <a:solidFill>
              <a:srgbClr val="1A8A47"/>
            </a:solidFill>
            <a:prstDash val="solid"/>
          </a:ln>
        </p:spPr>
      </p:sp>
      <p:sp>
        <p:nvSpPr>
          <p:cNvPr id="6" name="Text 4"/>
          <p:cNvSpPr/>
          <p:nvPr/>
        </p:nvSpPr>
        <p:spPr>
          <a:xfrm>
            <a:off x="274320" y="1005840"/>
            <a:ext cx="65836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7" name="Text 5"/>
          <p:cNvSpPr/>
          <p:nvPr/>
        </p:nvSpPr>
        <p:spPr>
          <a:xfrm>
            <a:off x="960120" y="1005840"/>
            <a:ext cx="2788920"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Condition</a:t>
            </a:r>
            <a:endParaRPr lang="en-US" sz="1100" dirty="0"/>
          </a:p>
        </p:txBody>
      </p:sp>
      <p:sp>
        <p:nvSpPr>
          <p:cNvPr id="8" name="Text 6"/>
          <p:cNvSpPr/>
          <p:nvPr/>
        </p:nvSpPr>
        <p:spPr>
          <a:xfrm>
            <a:off x="3794760" y="1005840"/>
            <a:ext cx="2697480"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Invariant Rule</a:t>
            </a:r>
            <a:endParaRPr lang="en-US" sz="1100" dirty="0"/>
          </a:p>
        </p:txBody>
      </p:sp>
      <p:sp>
        <p:nvSpPr>
          <p:cNvPr id="9" name="Text 7"/>
          <p:cNvSpPr/>
          <p:nvPr/>
        </p:nvSpPr>
        <p:spPr>
          <a:xfrm>
            <a:off x="6583680" y="1005840"/>
            <a:ext cx="2194560"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Physical Reason</a:t>
            </a:r>
            <a:endParaRPr lang="en-US" sz="1100" dirty="0"/>
          </a:p>
        </p:txBody>
      </p:sp>
      <p:sp>
        <p:nvSpPr>
          <p:cNvPr id="10" name="Shape 8"/>
          <p:cNvSpPr/>
          <p:nvPr/>
        </p:nvSpPr>
        <p:spPr>
          <a:xfrm>
            <a:off x="274320" y="1362456"/>
            <a:ext cx="8595360" cy="365760"/>
          </a:xfrm>
          <a:prstGeom prst="rect">
            <a:avLst/>
          </a:prstGeom>
          <a:solidFill>
            <a:srgbClr val="FFFFFF"/>
          </a:solidFill>
          <a:ln w="12700">
            <a:solidFill>
              <a:srgbClr val="FFFFFF"/>
            </a:solidFill>
            <a:prstDash val="solid"/>
          </a:ln>
        </p:spPr>
      </p:sp>
      <p:sp>
        <p:nvSpPr>
          <p:cNvPr id="11" name="Text 9"/>
          <p:cNvSpPr/>
          <p:nvPr/>
        </p:nvSpPr>
        <p:spPr>
          <a:xfrm>
            <a:off x="274320" y="1389888"/>
            <a:ext cx="658368" cy="310896"/>
          </a:xfrm>
          <a:prstGeom prst="rect">
            <a:avLst/>
          </a:prstGeom>
          <a:noFill/>
          <a:ln/>
        </p:spPr>
        <p:txBody>
          <a:bodyPr wrap="square" lIns="0" tIns="0" rIns="0" bIns="0" rtlCol="0" anchor="ctr"/>
          <a:lstStyle/>
          <a:p>
            <a:pPr algn="ctr" indent="0" marL="0">
              <a:buNone/>
            </a:pPr>
            <a:r>
              <a:rPr lang="en-US" sz="1050" b="1" dirty="0">
                <a:solidFill>
                  <a:srgbClr val="1A8A47"/>
                </a:solidFill>
                <a:latin typeface="Calibri" pitchFamily="34" charset="0"/>
                <a:ea typeface="Calibri" pitchFamily="34" charset="-122"/>
                <a:cs typeface="Calibri" pitchFamily="34" charset="-120"/>
              </a:rPr>
              <a:t>I-1</a:t>
            </a:r>
            <a:endParaRPr lang="en-US" sz="1050" dirty="0"/>
          </a:p>
        </p:txBody>
      </p:sp>
      <p:sp>
        <p:nvSpPr>
          <p:cNvPr id="12" name="Text 10"/>
          <p:cNvSpPr/>
          <p:nvPr/>
        </p:nvSpPr>
        <p:spPr>
          <a:xfrm>
            <a:off x="960120" y="1389888"/>
            <a:ext cx="2788920" cy="310896"/>
          </a:xfrm>
          <a:prstGeom prst="rect">
            <a:avLst/>
          </a:prstGeom>
          <a:noFill/>
          <a:ln/>
        </p:spPr>
        <p:txBody>
          <a:bodyPr wrap="square" lIns="0" tIns="0" rIns="0" bIns="0" rtlCol="0" anchor="ctr"/>
          <a:lstStyle/>
          <a:p>
            <a:pPr indent="0" marL="0">
              <a:buNone/>
            </a:pPr>
            <a:r>
              <a:rPr lang="en-US" sz="1050" dirty="0">
                <a:solidFill>
                  <a:srgbClr val="0D1B2A"/>
                </a:solidFill>
                <a:latin typeface="Consolas" pitchFamily="34" charset="0"/>
                <a:ea typeface="Consolas" pitchFamily="34" charset="-122"/>
                <a:cs typeface="Consolas" pitchFamily="34" charset="-120"/>
              </a:rPr>
              <a:t>MV101 OPEN</a:t>
            </a:r>
            <a:endParaRPr lang="en-US" sz="1050" dirty="0"/>
          </a:p>
        </p:txBody>
      </p:sp>
      <p:sp>
        <p:nvSpPr>
          <p:cNvPr id="13" name="Text 11"/>
          <p:cNvSpPr/>
          <p:nvPr/>
        </p:nvSpPr>
        <p:spPr>
          <a:xfrm>
            <a:off x="3794760" y="1389888"/>
            <a:ext cx="2697480" cy="310896"/>
          </a:xfrm>
          <a:prstGeom prst="rect">
            <a:avLst/>
          </a:prstGeom>
          <a:noFill/>
          <a:ln/>
        </p:spPr>
        <p:txBody>
          <a:bodyPr wrap="square" lIns="0" tIns="0" rIns="0" bIns="0" rtlCol="0" anchor="ctr"/>
          <a:lstStyle/>
          <a:p>
            <a:pPr indent="0" marL="0">
              <a:buNone/>
            </a:pPr>
            <a:r>
              <a:rPr lang="en-US" sz="1050" dirty="0">
                <a:solidFill>
                  <a:srgbClr val="0D1B2A"/>
                </a:solidFill>
                <a:latin typeface="Calibri" pitchFamily="34" charset="0"/>
                <a:ea typeface="Calibri" pitchFamily="34" charset="-122"/>
                <a:cs typeface="Calibri" pitchFamily="34" charset="-120"/>
              </a:rPr>
              <a:t>FIT101 &gt; 0.4 m³/h</a:t>
            </a:r>
            <a:endParaRPr lang="en-US" sz="1050" dirty="0"/>
          </a:p>
        </p:txBody>
      </p:sp>
      <p:sp>
        <p:nvSpPr>
          <p:cNvPr id="14" name="Text 12"/>
          <p:cNvSpPr/>
          <p:nvPr/>
        </p:nvSpPr>
        <p:spPr>
          <a:xfrm>
            <a:off x="6583680" y="1389888"/>
            <a:ext cx="2194560" cy="310896"/>
          </a:xfrm>
          <a:prstGeom prst="rect">
            <a:avLst/>
          </a:prstGeom>
          <a:noFill/>
          <a:ln/>
        </p:spPr>
        <p:txBody>
          <a:bodyPr wrap="square" lIns="0" tIns="0" rIns="0" bIns="0" rtlCol="0" anchor="ctr"/>
          <a:lstStyle/>
          <a:p>
            <a:pPr indent="0" marL="0">
              <a:buNone/>
            </a:pPr>
            <a:r>
              <a:rPr lang="en-US" sz="1000" dirty="0">
                <a:solidFill>
                  <a:srgbClr val="555555"/>
                </a:solidFill>
                <a:latin typeface="Calibri" pitchFamily="34" charset="0"/>
                <a:ea typeface="Calibri" pitchFamily="34" charset="-122"/>
                <a:cs typeface="Calibri" pitchFamily="34" charset="-120"/>
              </a:rPr>
              <a:t>Water flows when valve open</a:t>
            </a:r>
            <a:endParaRPr lang="en-US" sz="1000" dirty="0"/>
          </a:p>
        </p:txBody>
      </p:sp>
      <p:sp>
        <p:nvSpPr>
          <p:cNvPr id="15" name="Shape 13"/>
          <p:cNvSpPr/>
          <p:nvPr/>
        </p:nvSpPr>
        <p:spPr>
          <a:xfrm>
            <a:off x="274320" y="1746504"/>
            <a:ext cx="8595360" cy="365760"/>
          </a:xfrm>
          <a:prstGeom prst="rect">
            <a:avLst/>
          </a:prstGeom>
          <a:solidFill>
            <a:srgbClr val="EBF4EE"/>
          </a:solidFill>
          <a:ln w="12700">
            <a:solidFill>
              <a:srgbClr val="EBF4EE"/>
            </a:solidFill>
            <a:prstDash val="solid"/>
          </a:ln>
        </p:spPr>
      </p:sp>
      <p:sp>
        <p:nvSpPr>
          <p:cNvPr id="16" name="Text 14"/>
          <p:cNvSpPr/>
          <p:nvPr/>
        </p:nvSpPr>
        <p:spPr>
          <a:xfrm>
            <a:off x="274320" y="1773936"/>
            <a:ext cx="658368" cy="310896"/>
          </a:xfrm>
          <a:prstGeom prst="rect">
            <a:avLst/>
          </a:prstGeom>
          <a:noFill/>
          <a:ln/>
        </p:spPr>
        <p:txBody>
          <a:bodyPr wrap="square" lIns="0" tIns="0" rIns="0" bIns="0" rtlCol="0" anchor="ctr"/>
          <a:lstStyle/>
          <a:p>
            <a:pPr algn="ctr" indent="0" marL="0">
              <a:buNone/>
            </a:pPr>
            <a:r>
              <a:rPr lang="en-US" sz="1050" b="1" dirty="0">
                <a:solidFill>
                  <a:srgbClr val="1A8A47"/>
                </a:solidFill>
                <a:latin typeface="Calibri" pitchFamily="34" charset="0"/>
                <a:ea typeface="Calibri" pitchFamily="34" charset="-122"/>
                <a:cs typeface="Calibri" pitchFamily="34" charset="-120"/>
              </a:rPr>
              <a:t>I-2</a:t>
            </a:r>
            <a:endParaRPr lang="en-US" sz="1050" dirty="0"/>
          </a:p>
        </p:txBody>
      </p:sp>
      <p:sp>
        <p:nvSpPr>
          <p:cNvPr id="17" name="Text 15"/>
          <p:cNvSpPr/>
          <p:nvPr/>
        </p:nvSpPr>
        <p:spPr>
          <a:xfrm>
            <a:off x="960120" y="1773936"/>
            <a:ext cx="2788920" cy="310896"/>
          </a:xfrm>
          <a:prstGeom prst="rect">
            <a:avLst/>
          </a:prstGeom>
          <a:noFill/>
          <a:ln/>
        </p:spPr>
        <p:txBody>
          <a:bodyPr wrap="square" lIns="0" tIns="0" rIns="0" bIns="0" rtlCol="0" anchor="ctr"/>
          <a:lstStyle/>
          <a:p>
            <a:pPr indent="0" marL="0">
              <a:buNone/>
            </a:pPr>
            <a:r>
              <a:rPr lang="en-US" sz="1050" dirty="0">
                <a:solidFill>
                  <a:srgbClr val="0D1B2A"/>
                </a:solidFill>
                <a:latin typeface="Consolas" pitchFamily="34" charset="0"/>
                <a:ea typeface="Consolas" pitchFamily="34" charset="-122"/>
                <a:cs typeface="Consolas" pitchFamily="34" charset="-120"/>
              </a:rPr>
              <a:t>P101 ON</a:t>
            </a:r>
            <a:endParaRPr lang="en-US" sz="1050" dirty="0"/>
          </a:p>
        </p:txBody>
      </p:sp>
      <p:sp>
        <p:nvSpPr>
          <p:cNvPr id="18" name="Text 16"/>
          <p:cNvSpPr/>
          <p:nvPr/>
        </p:nvSpPr>
        <p:spPr>
          <a:xfrm>
            <a:off x="3794760" y="1773936"/>
            <a:ext cx="2697480" cy="310896"/>
          </a:xfrm>
          <a:prstGeom prst="rect">
            <a:avLst/>
          </a:prstGeom>
          <a:noFill/>
          <a:ln/>
        </p:spPr>
        <p:txBody>
          <a:bodyPr wrap="square" lIns="0" tIns="0" rIns="0" bIns="0" rtlCol="0" anchor="ctr"/>
          <a:lstStyle/>
          <a:p>
            <a:pPr indent="0" marL="0">
              <a:buNone/>
            </a:pPr>
            <a:r>
              <a:rPr lang="en-US" sz="1050" dirty="0">
                <a:solidFill>
                  <a:srgbClr val="0D1B2A"/>
                </a:solidFill>
                <a:latin typeface="Calibri" pitchFamily="34" charset="0"/>
                <a:ea typeface="Calibri" pitchFamily="34" charset="-122"/>
                <a:cs typeface="Calibri" pitchFamily="34" charset="-120"/>
              </a:rPr>
              <a:t>FIT101 &gt; 0.3 m³/h</a:t>
            </a:r>
            <a:endParaRPr lang="en-US" sz="1050" dirty="0"/>
          </a:p>
        </p:txBody>
      </p:sp>
      <p:sp>
        <p:nvSpPr>
          <p:cNvPr id="19" name="Text 17"/>
          <p:cNvSpPr/>
          <p:nvPr/>
        </p:nvSpPr>
        <p:spPr>
          <a:xfrm>
            <a:off x="6583680" y="1773936"/>
            <a:ext cx="2194560" cy="310896"/>
          </a:xfrm>
          <a:prstGeom prst="rect">
            <a:avLst/>
          </a:prstGeom>
          <a:noFill/>
          <a:ln/>
        </p:spPr>
        <p:txBody>
          <a:bodyPr wrap="square" lIns="0" tIns="0" rIns="0" bIns="0" rtlCol="0" anchor="ctr"/>
          <a:lstStyle/>
          <a:p>
            <a:pPr indent="0" marL="0">
              <a:buNone/>
            </a:pPr>
            <a:r>
              <a:rPr lang="en-US" sz="1000" dirty="0">
                <a:solidFill>
                  <a:srgbClr val="555555"/>
                </a:solidFill>
                <a:latin typeface="Calibri" pitchFamily="34" charset="0"/>
                <a:ea typeface="Calibri" pitchFamily="34" charset="-122"/>
                <a:cs typeface="Calibri" pitchFamily="34" charset="-120"/>
              </a:rPr>
              <a:t>Pump drives positive flow</a:t>
            </a:r>
            <a:endParaRPr lang="en-US" sz="1000" dirty="0"/>
          </a:p>
        </p:txBody>
      </p:sp>
      <p:sp>
        <p:nvSpPr>
          <p:cNvPr id="20" name="Shape 18"/>
          <p:cNvSpPr/>
          <p:nvPr/>
        </p:nvSpPr>
        <p:spPr>
          <a:xfrm>
            <a:off x="274320" y="2130552"/>
            <a:ext cx="8595360" cy="365760"/>
          </a:xfrm>
          <a:prstGeom prst="rect">
            <a:avLst/>
          </a:prstGeom>
          <a:solidFill>
            <a:srgbClr val="FFFFFF"/>
          </a:solidFill>
          <a:ln w="12700">
            <a:solidFill>
              <a:srgbClr val="FFFFFF"/>
            </a:solidFill>
            <a:prstDash val="solid"/>
          </a:ln>
        </p:spPr>
      </p:sp>
      <p:sp>
        <p:nvSpPr>
          <p:cNvPr id="21" name="Text 19"/>
          <p:cNvSpPr/>
          <p:nvPr/>
        </p:nvSpPr>
        <p:spPr>
          <a:xfrm>
            <a:off x="274320" y="2157984"/>
            <a:ext cx="658368" cy="310896"/>
          </a:xfrm>
          <a:prstGeom prst="rect">
            <a:avLst/>
          </a:prstGeom>
          <a:noFill/>
          <a:ln/>
        </p:spPr>
        <p:txBody>
          <a:bodyPr wrap="square" lIns="0" tIns="0" rIns="0" bIns="0" rtlCol="0" anchor="ctr"/>
          <a:lstStyle/>
          <a:p>
            <a:pPr algn="ctr" indent="0" marL="0">
              <a:buNone/>
            </a:pPr>
            <a:r>
              <a:rPr lang="en-US" sz="1050" b="1" dirty="0">
                <a:solidFill>
                  <a:srgbClr val="1A8A47"/>
                </a:solidFill>
                <a:latin typeface="Calibri" pitchFamily="34" charset="0"/>
                <a:ea typeface="Calibri" pitchFamily="34" charset="-122"/>
                <a:cs typeface="Calibri" pitchFamily="34" charset="-120"/>
              </a:rPr>
              <a:t>I-3</a:t>
            </a:r>
            <a:endParaRPr lang="en-US" sz="1050" dirty="0"/>
          </a:p>
        </p:txBody>
      </p:sp>
      <p:sp>
        <p:nvSpPr>
          <p:cNvPr id="22" name="Text 20"/>
          <p:cNvSpPr/>
          <p:nvPr/>
        </p:nvSpPr>
        <p:spPr>
          <a:xfrm>
            <a:off x="960120" y="2157984"/>
            <a:ext cx="2788920" cy="310896"/>
          </a:xfrm>
          <a:prstGeom prst="rect">
            <a:avLst/>
          </a:prstGeom>
          <a:noFill/>
          <a:ln/>
        </p:spPr>
        <p:txBody>
          <a:bodyPr wrap="square" lIns="0" tIns="0" rIns="0" bIns="0" rtlCol="0" anchor="ctr"/>
          <a:lstStyle/>
          <a:p>
            <a:pPr indent="0" marL="0">
              <a:buNone/>
            </a:pPr>
            <a:r>
              <a:rPr lang="en-US" sz="1050" dirty="0">
                <a:solidFill>
                  <a:srgbClr val="0D1B2A"/>
                </a:solidFill>
                <a:latin typeface="Consolas" pitchFamily="34" charset="0"/>
                <a:ea typeface="Consolas" pitchFamily="34" charset="-122"/>
                <a:cs typeface="Consolas" pitchFamily="34" charset="-120"/>
              </a:rPr>
              <a:t>P101 ON</a:t>
            </a:r>
            <a:endParaRPr lang="en-US" sz="1050" dirty="0"/>
          </a:p>
        </p:txBody>
      </p:sp>
      <p:sp>
        <p:nvSpPr>
          <p:cNvPr id="23" name="Text 21"/>
          <p:cNvSpPr/>
          <p:nvPr/>
        </p:nvSpPr>
        <p:spPr>
          <a:xfrm>
            <a:off x="3794760" y="2157984"/>
            <a:ext cx="2697480" cy="310896"/>
          </a:xfrm>
          <a:prstGeom prst="rect">
            <a:avLst/>
          </a:prstGeom>
          <a:noFill/>
          <a:ln/>
        </p:spPr>
        <p:txBody>
          <a:bodyPr wrap="square" lIns="0" tIns="0" rIns="0" bIns="0" rtlCol="0" anchor="ctr"/>
          <a:lstStyle/>
          <a:p>
            <a:pPr indent="0" marL="0">
              <a:buNone/>
            </a:pPr>
            <a:r>
              <a:rPr lang="en-US" sz="1050" dirty="0">
                <a:solidFill>
                  <a:srgbClr val="0D1B2A"/>
                </a:solidFill>
                <a:latin typeface="Calibri" pitchFamily="34" charset="0"/>
                <a:ea typeface="Calibri" pitchFamily="34" charset="-122"/>
                <a:cs typeface="Calibri" pitchFamily="34" charset="-120"/>
              </a:rPr>
              <a:t>LIT101 not falling rapidly</a:t>
            </a:r>
            <a:endParaRPr lang="en-US" sz="1050" dirty="0"/>
          </a:p>
        </p:txBody>
      </p:sp>
      <p:sp>
        <p:nvSpPr>
          <p:cNvPr id="24" name="Text 22"/>
          <p:cNvSpPr/>
          <p:nvPr/>
        </p:nvSpPr>
        <p:spPr>
          <a:xfrm>
            <a:off x="6583680" y="2157984"/>
            <a:ext cx="2194560" cy="310896"/>
          </a:xfrm>
          <a:prstGeom prst="rect">
            <a:avLst/>
          </a:prstGeom>
          <a:noFill/>
          <a:ln/>
        </p:spPr>
        <p:txBody>
          <a:bodyPr wrap="square" lIns="0" tIns="0" rIns="0" bIns="0" rtlCol="0" anchor="ctr"/>
          <a:lstStyle/>
          <a:p>
            <a:pPr indent="0" marL="0">
              <a:buNone/>
            </a:pPr>
            <a:r>
              <a:rPr lang="en-US" sz="1000" dirty="0">
                <a:solidFill>
                  <a:srgbClr val="555555"/>
                </a:solidFill>
                <a:latin typeface="Calibri" pitchFamily="34" charset="0"/>
                <a:ea typeface="Calibri" pitchFamily="34" charset="-122"/>
                <a:cs typeface="Calibri" pitchFamily="34" charset="-120"/>
              </a:rPr>
              <a:t>Pump fills or holds tank</a:t>
            </a:r>
            <a:endParaRPr lang="en-US" sz="1000" dirty="0"/>
          </a:p>
        </p:txBody>
      </p:sp>
      <p:sp>
        <p:nvSpPr>
          <p:cNvPr id="25" name="Shape 23"/>
          <p:cNvSpPr/>
          <p:nvPr/>
        </p:nvSpPr>
        <p:spPr>
          <a:xfrm>
            <a:off x="274320" y="2514600"/>
            <a:ext cx="8595360" cy="365760"/>
          </a:xfrm>
          <a:prstGeom prst="rect">
            <a:avLst/>
          </a:prstGeom>
          <a:solidFill>
            <a:srgbClr val="EBF4EE"/>
          </a:solidFill>
          <a:ln w="12700">
            <a:solidFill>
              <a:srgbClr val="EBF4EE"/>
            </a:solidFill>
            <a:prstDash val="solid"/>
          </a:ln>
        </p:spPr>
      </p:sp>
      <p:sp>
        <p:nvSpPr>
          <p:cNvPr id="26" name="Text 24"/>
          <p:cNvSpPr/>
          <p:nvPr/>
        </p:nvSpPr>
        <p:spPr>
          <a:xfrm>
            <a:off x="274320" y="2542032"/>
            <a:ext cx="658368" cy="310896"/>
          </a:xfrm>
          <a:prstGeom prst="rect">
            <a:avLst/>
          </a:prstGeom>
          <a:noFill/>
          <a:ln/>
        </p:spPr>
        <p:txBody>
          <a:bodyPr wrap="square" lIns="0" tIns="0" rIns="0" bIns="0" rtlCol="0" anchor="ctr"/>
          <a:lstStyle/>
          <a:p>
            <a:pPr algn="ctr" indent="0" marL="0">
              <a:buNone/>
            </a:pPr>
            <a:r>
              <a:rPr lang="en-US" sz="1050" b="1" dirty="0">
                <a:solidFill>
                  <a:srgbClr val="1A8A47"/>
                </a:solidFill>
                <a:latin typeface="Calibri" pitchFamily="34" charset="0"/>
                <a:ea typeface="Calibri" pitchFamily="34" charset="-122"/>
                <a:cs typeface="Calibri" pitchFamily="34" charset="-120"/>
              </a:rPr>
              <a:t>I-4</a:t>
            </a:r>
            <a:endParaRPr lang="en-US" sz="1050" dirty="0"/>
          </a:p>
        </p:txBody>
      </p:sp>
      <p:sp>
        <p:nvSpPr>
          <p:cNvPr id="27" name="Text 25"/>
          <p:cNvSpPr/>
          <p:nvPr/>
        </p:nvSpPr>
        <p:spPr>
          <a:xfrm>
            <a:off x="960120" y="2542032"/>
            <a:ext cx="2788920" cy="310896"/>
          </a:xfrm>
          <a:prstGeom prst="rect">
            <a:avLst/>
          </a:prstGeom>
          <a:noFill/>
          <a:ln/>
        </p:spPr>
        <p:txBody>
          <a:bodyPr wrap="square" lIns="0" tIns="0" rIns="0" bIns="0" rtlCol="0" anchor="ctr"/>
          <a:lstStyle/>
          <a:p>
            <a:pPr indent="0" marL="0">
              <a:buNone/>
            </a:pPr>
            <a:r>
              <a:rPr lang="en-US" sz="1050" dirty="0">
                <a:solidFill>
                  <a:srgbClr val="0D1B2A"/>
                </a:solidFill>
                <a:latin typeface="Consolas" pitchFamily="34" charset="0"/>
                <a:ea typeface="Consolas" pitchFamily="34" charset="-122"/>
                <a:cs typeface="Consolas" pitchFamily="34" charset="-120"/>
              </a:rPr>
              <a:t>LIT101 &gt; HIGH (800mm)</a:t>
            </a:r>
            <a:endParaRPr lang="en-US" sz="1050" dirty="0"/>
          </a:p>
        </p:txBody>
      </p:sp>
      <p:sp>
        <p:nvSpPr>
          <p:cNvPr id="28" name="Text 26"/>
          <p:cNvSpPr/>
          <p:nvPr/>
        </p:nvSpPr>
        <p:spPr>
          <a:xfrm>
            <a:off x="3794760" y="2542032"/>
            <a:ext cx="2697480" cy="310896"/>
          </a:xfrm>
          <a:prstGeom prst="rect">
            <a:avLst/>
          </a:prstGeom>
          <a:noFill/>
          <a:ln/>
        </p:spPr>
        <p:txBody>
          <a:bodyPr wrap="square" lIns="0" tIns="0" rIns="0" bIns="0" rtlCol="0" anchor="ctr"/>
          <a:lstStyle/>
          <a:p>
            <a:pPr indent="0" marL="0">
              <a:buNone/>
            </a:pPr>
            <a:r>
              <a:rPr lang="en-US" sz="1050" dirty="0">
                <a:solidFill>
                  <a:srgbClr val="0D1B2A"/>
                </a:solidFill>
                <a:latin typeface="Calibri" pitchFamily="34" charset="0"/>
                <a:ea typeface="Calibri" pitchFamily="34" charset="-122"/>
                <a:cs typeface="Calibri" pitchFamily="34" charset="-120"/>
              </a:rPr>
              <a:t>P101 OFF within 2 cycles</a:t>
            </a:r>
            <a:endParaRPr lang="en-US" sz="1050" dirty="0"/>
          </a:p>
        </p:txBody>
      </p:sp>
      <p:sp>
        <p:nvSpPr>
          <p:cNvPr id="29" name="Text 27"/>
          <p:cNvSpPr/>
          <p:nvPr/>
        </p:nvSpPr>
        <p:spPr>
          <a:xfrm>
            <a:off x="6583680" y="2542032"/>
            <a:ext cx="2194560" cy="310896"/>
          </a:xfrm>
          <a:prstGeom prst="rect">
            <a:avLst/>
          </a:prstGeom>
          <a:noFill/>
          <a:ln/>
        </p:spPr>
        <p:txBody>
          <a:bodyPr wrap="square" lIns="0" tIns="0" rIns="0" bIns="0" rtlCol="0" anchor="ctr"/>
          <a:lstStyle/>
          <a:p>
            <a:pPr indent="0" marL="0">
              <a:buNone/>
            </a:pPr>
            <a:r>
              <a:rPr lang="en-US" sz="1000" dirty="0">
                <a:solidFill>
                  <a:srgbClr val="555555"/>
                </a:solidFill>
                <a:latin typeface="Calibri" pitchFamily="34" charset="0"/>
                <a:ea typeface="Calibri" pitchFamily="34" charset="-122"/>
                <a:cs typeface="Calibri" pitchFamily="34" charset="-120"/>
              </a:rPr>
              <a:t>Overflow protection</a:t>
            </a:r>
            <a:endParaRPr lang="en-US" sz="1000" dirty="0"/>
          </a:p>
        </p:txBody>
      </p:sp>
      <p:sp>
        <p:nvSpPr>
          <p:cNvPr id="30" name="Shape 28"/>
          <p:cNvSpPr/>
          <p:nvPr/>
        </p:nvSpPr>
        <p:spPr>
          <a:xfrm>
            <a:off x="274320" y="2898648"/>
            <a:ext cx="8595360" cy="365760"/>
          </a:xfrm>
          <a:prstGeom prst="rect">
            <a:avLst/>
          </a:prstGeom>
          <a:solidFill>
            <a:srgbClr val="FFFFFF"/>
          </a:solidFill>
          <a:ln w="12700">
            <a:solidFill>
              <a:srgbClr val="FFFFFF"/>
            </a:solidFill>
            <a:prstDash val="solid"/>
          </a:ln>
        </p:spPr>
      </p:sp>
      <p:sp>
        <p:nvSpPr>
          <p:cNvPr id="31" name="Text 29"/>
          <p:cNvSpPr/>
          <p:nvPr/>
        </p:nvSpPr>
        <p:spPr>
          <a:xfrm>
            <a:off x="274320" y="2926080"/>
            <a:ext cx="658368" cy="310896"/>
          </a:xfrm>
          <a:prstGeom prst="rect">
            <a:avLst/>
          </a:prstGeom>
          <a:noFill/>
          <a:ln/>
        </p:spPr>
        <p:txBody>
          <a:bodyPr wrap="square" lIns="0" tIns="0" rIns="0" bIns="0" rtlCol="0" anchor="ctr"/>
          <a:lstStyle/>
          <a:p>
            <a:pPr algn="ctr" indent="0" marL="0">
              <a:buNone/>
            </a:pPr>
            <a:r>
              <a:rPr lang="en-US" sz="1050" b="1" dirty="0">
                <a:solidFill>
                  <a:srgbClr val="1A8A47"/>
                </a:solidFill>
                <a:latin typeface="Calibri" pitchFamily="34" charset="0"/>
                <a:ea typeface="Calibri" pitchFamily="34" charset="-122"/>
                <a:cs typeface="Calibri" pitchFamily="34" charset="-120"/>
              </a:rPr>
              <a:t>I-5</a:t>
            </a:r>
            <a:endParaRPr lang="en-US" sz="1050" dirty="0"/>
          </a:p>
        </p:txBody>
      </p:sp>
      <p:sp>
        <p:nvSpPr>
          <p:cNvPr id="32" name="Text 30"/>
          <p:cNvSpPr/>
          <p:nvPr/>
        </p:nvSpPr>
        <p:spPr>
          <a:xfrm>
            <a:off x="960120" y="2926080"/>
            <a:ext cx="2788920" cy="310896"/>
          </a:xfrm>
          <a:prstGeom prst="rect">
            <a:avLst/>
          </a:prstGeom>
          <a:noFill/>
          <a:ln/>
        </p:spPr>
        <p:txBody>
          <a:bodyPr wrap="square" lIns="0" tIns="0" rIns="0" bIns="0" rtlCol="0" anchor="ctr"/>
          <a:lstStyle/>
          <a:p>
            <a:pPr indent="0" marL="0">
              <a:buNone/>
            </a:pPr>
            <a:r>
              <a:rPr lang="en-US" sz="1050" dirty="0">
                <a:solidFill>
                  <a:srgbClr val="0D1B2A"/>
                </a:solidFill>
                <a:latin typeface="Consolas" pitchFamily="34" charset="0"/>
                <a:ea typeface="Consolas" pitchFamily="34" charset="-122"/>
                <a:cs typeface="Consolas" pitchFamily="34" charset="-120"/>
              </a:rPr>
              <a:t>LIT101 &lt; LOW (250mm)</a:t>
            </a:r>
            <a:endParaRPr lang="en-US" sz="1050" dirty="0"/>
          </a:p>
        </p:txBody>
      </p:sp>
      <p:sp>
        <p:nvSpPr>
          <p:cNvPr id="33" name="Text 31"/>
          <p:cNvSpPr/>
          <p:nvPr/>
        </p:nvSpPr>
        <p:spPr>
          <a:xfrm>
            <a:off x="3794760" y="2926080"/>
            <a:ext cx="2697480" cy="310896"/>
          </a:xfrm>
          <a:prstGeom prst="rect">
            <a:avLst/>
          </a:prstGeom>
          <a:noFill/>
          <a:ln/>
        </p:spPr>
        <p:txBody>
          <a:bodyPr wrap="square" lIns="0" tIns="0" rIns="0" bIns="0" rtlCol="0" anchor="ctr"/>
          <a:lstStyle/>
          <a:p>
            <a:pPr indent="0" marL="0">
              <a:buNone/>
            </a:pPr>
            <a:r>
              <a:rPr lang="en-US" sz="1050" dirty="0">
                <a:solidFill>
                  <a:srgbClr val="0D1B2A"/>
                </a:solidFill>
                <a:latin typeface="Calibri" pitchFamily="34" charset="0"/>
                <a:ea typeface="Calibri" pitchFamily="34" charset="-122"/>
                <a:cs typeface="Calibri" pitchFamily="34" charset="-120"/>
              </a:rPr>
              <a:t>MV101 OPEN + P101 ON</a:t>
            </a:r>
            <a:endParaRPr lang="en-US" sz="1050" dirty="0"/>
          </a:p>
        </p:txBody>
      </p:sp>
      <p:sp>
        <p:nvSpPr>
          <p:cNvPr id="34" name="Text 32"/>
          <p:cNvSpPr/>
          <p:nvPr/>
        </p:nvSpPr>
        <p:spPr>
          <a:xfrm>
            <a:off x="6583680" y="2926080"/>
            <a:ext cx="2194560" cy="310896"/>
          </a:xfrm>
          <a:prstGeom prst="rect">
            <a:avLst/>
          </a:prstGeom>
          <a:noFill/>
          <a:ln/>
        </p:spPr>
        <p:txBody>
          <a:bodyPr wrap="square" lIns="0" tIns="0" rIns="0" bIns="0" rtlCol="0" anchor="ctr"/>
          <a:lstStyle/>
          <a:p>
            <a:pPr indent="0" marL="0">
              <a:buNone/>
            </a:pPr>
            <a:r>
              <a:rPr lang="en-US" sz="1000" dirty="0">
                <a:solidFill>
                  <a:srgbClr val="555555"/>
                </a:solidFill>
                <a:latin typeface="Calibri" pitchFamily="34" charset="0"/>
                <a:ea typeface="Calibri" pitchFamily="34" charset="-122"/>
                <a:cs typeface="Calibri" pitchFamily="34" charset="-120"/>
              </a:rPr>
              <a:t>Dry-run protection</a:t>
            </a:r>
            <a:endParaRPr lang="en-US" sz="1000" dirty="0"/>
          </a:p>
        </p:txBody>
      </p:sp>
      <p:sp>
        <p:nvSpPr>
          <p:cNvPr id="35" name="Shape 33"/>
          <p:cNvSpPr/>
          <p:nvPr/>
        </p:nvSpPr>
        <p:spPr>
          <a:xfrm>
            <a:off x="274320" y="3282696"/>
            <a:ext cx="8595360" cy="365760"/>
          </a:xfrm>
          <a:prstGeom prst="rect">
            <a:avLst/>
          </a:prstGeom>
          <a:solidFill>
            <a:srgbClr val="EBF4EE"/>
          </a:solidFill>
          <a:ln w="12700">
            <a:solidFill>
              <a:srgbClr val="EBF4EE"/>
            </a:solidFill>
            <a:prstDash val="solid"/>
          </a:ln>
        </p:spPr>
      </p:sp>
      <p:sp>
        <p:nvSpPr>
          <p:cNvPr id="36" name="Text 34"/>
          <p:cNvSpPr/>
          <p:nvPr/>
        </p:nvSpPr>
        <p:spPr>
          <a:xfrm>
            <a:off x="274320" y="3310128"/>
            <a:ext cx="658368" cy="310896"/>
          </a:xfrm>
          <a:prstGeom prst="rect">
            <a:avLst/>
          </a:prstGeom>
          <a:noFill/>
          <a:ln/>
        </p:spPr>
        <p:txBody>
          <a:bodyPr wrap="square" lIns="0" tIns="0" rIns="0" bIns="0" rtlCol="0" anchor="ctr"/>
          <a:lstStyle/>
          <a:p>
            <a:pPr algn="ctr" indent="0" marL="0">
              <a:buNone/>
            </a:pPr>
            <a:r>
              <a:rPr lang="en-US" sz="1050" b="1" dirty="0">
                <a:solidFill>
                  <a:srgbClr val="1A8A47"/>
                </a:solidFill>
                <a:latin typeface="Calibri" pitchFamily="34" charset="0"/>
                <a:ea typeface="Calibri" pitchFamily="34" charset="-122"/>
                <a:cs typeface="Calibri" pitchFamily="34" charset="-120"/>
              </a:rPr>
              <a:t>I-6</a:t>
            </a:r>
            <a:endParaRPr lang="en-US" sz="1050" dirty="0"/>
          </a:p>
        </p:txBody>
      </p:sp>
      <p:sp>
        <p:nvSpPr>
          <p:cNvPr id="37" name="Text 35"/>
          <p:cNvSpPr/>
          <p:nvPr/>
        </p:nvSpPr>
        <p:spPr>
          <a:xfrm>
            <a:off x="960120" y="3310128"/>
            <a:ext cx="2788920" cy="310896"/>
          </a:xfrm>
          <a:prstGeom prst="rect">
            <a:avLst/>
          </a:prstGeom>
          <a:noFill/>
          <a:ln/>
        </p:spPr>
        <p:txBody>
          <a:bodyPr wrap="square" lIns="0" tIns="0" rIns="0" bIns="0" rtlCol="0" anchor="ctr"/>
          <a:lstStyle/>
          <a:p>
            <a:pPr indent="0" marL="0">
              <a:buNone/>
            </a:pPr>
            <a:r>
              <a:rPr lang="en-US" sz="1050" dirty="0">
                <a:solidFill>
                  <a:srgbClr val="0D1B2A"/>
                </a:solidFill>
                <a:latin typeface="Consolas" pitchFamily="34" charset="0"/>
                <a:ea typeface="Consolas" pitchFamily="34" charset="-122"/>
                <a:cs typeface="Consolas" pitchFamily="34" charset="-120"/>
              </a:rPr>
              <a:t>MV101 CLOSED</a:t>
            </a:r>
            <a:endParaRPr lang="en-US" sz="1050" dirty="0"/>
          </a:p>
        </p:txBody>
      </p:sp>
      <p:sp>
        <p:nvSpPr>
          <p:cNvPr id="38" name="Text 36"/>
          <p:cNvSpPr/>
          <p:nvPr/>
        </p:nvSpPr>
        <p:spPr>
          <a:xfrm>
            <a:off x="3794760" y="3310128"/>
            <a:ext cx="2697480" cy="310896"/>
          </a:xfrm>
          <a:prstGeom prst="rect">
            <a:avLst/>
          </a:prstGeom>
          <a:noFill/>
          <a:ln/>
        </p:spPr>
        <p:txBody>
          <a:bodyPr wrap="square" lIns="0" tIns="0" rIns="0" bIns="0" rtlCol="0" anchor="ctr"/>
          <a:lstStyle/>
          <a:p>
            <a:pPr indent="0" marL="0">
              <a:buNone/>
            </a:pPr>
            <a:r>
              <a:rPr lang="en-US" sz="1050" dirty="0">
                <a:solidFill>
                  <a:srgbClr val="0D1B2A"/>
                </a:solidFill>
                <a:latin typeface="Calibri" pitchFamily="34" charset="0"/>
                <a:ea typeface="Calibri" pitchFamily="34" charset="-122"/>
                <a:cs typeface="Calibri" pitchFamily="34" charset="-120"/>
              </a:rPr>
              <a:t>FIT101 &lt; 0.05 m³/h</a:t>
            </a:r>
            <a:endParaRPr lang="en-US" sz="1050" dirty="0"/>
          </a:p>
        </p:txBody>
      </p:sp>
      <p:sp>
        <p:nvSpPr>
          <p:cNvPr id="39" name="Text 37"/>
          <p:cNvSpPr/>
          <p:nvPr/>
        </p:nvSpPr>
        <p:spPr>
          <a:xfrm>
            <a:off x="6583680" y="3310128"/>
            <a:ext cx="2194560" cy="310896"/>
          </a:xfrm>
          <a:prstGeom prst="rect">
            <a:avLst/>
          </a:prstGeom>
          <a:noFill/>
          <a:ln/>
        </p:spPr>
        <p:txBody>
          <a:bodyPr wrap="square" lIns="0" tIns="0" rIns="0" bIns="0" rtlCol="0" anchor="ctr"/>
          <a:lstStyle/>
          <a:p>
            <a:pPr indent="0" marL="0">
              <a:buNone/>
            </a:pPr>
            <a:r>
              <a:rPr lang="en-US" sz="1000" dirty="0">
                <a:solidFill>
                  <a:srgbClr val="555555"/>
                </a:solidFill>
                <a:latin typeface="Calibri" pitchFamily="34" charset="0"/>
                <a:ea typeface="Calibri" pitchFamily="34" charset="-122"/>
                <a:cs typeface="Calibri" pitchFamily="34" charset="-120"/>
              </a:rPr>
              <a:t>No flow when valve shut</a:t>
            </a:r>
            <a:endParaRPr lang="en-US" sz="1000" dirty="0"/>
          </a:p>
        </p:txBody>
      </p:sp>
      <p:sp>
        <p:nvSpPr>
          <p:cNvPr id="40" name="Shape 38"/>
          <p:cNvSpPr/>
          <p:nvPr/>
        </p:nvSpPr>
        <p:spPr>
          <a:xfrm>
            <a:off x="274320" y="3666744"/>
            <a:ext cx="8595360" cy="365760"/>
          </a:xfrm>
          <a:prstGeom prst="rect">
            <a:avLst/>
          </a:prstGeom>
          <a:solidFill>
            <a:srgbClr val="FFEDED"/>
          </a:solidFill>
          <a:ln w="12700">
            <a:solidFill>
              <a:srgbClr val="FFEDED"/>
            </a:solidFill>
            <a:prstDash val="solid"/>
          </a:ln>
        </p:spPr>
      </p:sp>
      <p:sp>
        <p:nvSpPr>
          <p:cNvPr id="41" name="Shape 39"/>
          <p:cNvSpPr/>
          <p:nvPr/>
        </p:nvSpPr>
        <p:spPr>
          <a:xfrm>
            <a:off x="274320" y="3666744"/>
            <a:ext cx="64008" cy="365760"/>
          </a:xfrm>
          <a:prstGeom prst="rect">
            <a:avLst/>
          </a:prstGeom>
          <a:solidFill>
            <a:srgbClr val="E74C3C"/>
          </a:solidFill>
          <a:ln w="12700">
            <a:solidFill>
              <a:srgbClr val="E74C3C"/>
            </a:solidFill>
            <a:prstDash val="solid"/>
          </a:ln>
        </p:spPr>
      </p:sp>
      <p:sp>
        <p:nvSpPr>
          <p:cNvPr id="42" name="Text 40"/>
          <p:cNvSpPr/>
          <p:nvPr/>
        </p:nvSpPr>
        <p:spPr>
          <a:xfrm>
            <a:off x="274320" y="3694176"/>
            <a:ext cx="658368" cy="310896"/>
          </a:xfrm>
          <a:prstGeom prst="rect">
            <a:avLst/>
          </a:prstGeom>
          <a:noFill/>
          <a:ln/>
        </p:spPr>
        <p:txBody>
          <a:bodyPr wrap="square" lIns="0" tIns="0" rIns="0" bIns="0" rtlCol="0" anchor="ctr"/>
          <a:lstStyle/>
          <a:p>
            <a:pPr algn="ctr" indent="0" marL="0">
              <a:buNone/>
            </a:pPr>
            <a:r>
              <a:rPr lang="en-US" sz="1050" b="1" dirty="0">
                <a:solidFill>
                  <a:srgbClr val="1A8A47"/>
                </a:solidFill>
                <a:latin typeface="Calibri" pitchFamily="34" charset="0"/>
                <a:ea typeface="Calibri" pitchFamily="34" charset="-122"/>
                <a:cs typeface="Calibri" pitchFamily="34" charset="-120"/>
              </a:rPr>
              <a:t>I-7</a:t>
            </a:r>
            <a:endParaRPr lang="en-US" sz="1050" dirty="0"/>
          </a:p>
        </p:txBody>
      </p:sp>
      <p:sp>
        <p:nvSpPr>
          <p:cNvPr id="43" name="Text 41"/>
          <p:cNvSpPr/>
          <p:nvPr/>
        </p:nvSpPr>
        <p:spPr>
          <a:xfrm>
            <a:off x="960120" y="3694176"/>
            <a:ext cx="2788920" cy="310896"/>
          </a:xfrm>
          <a:prstGeom prst="rect">
            <a:avLst/>
          </a:prstGeom>
          <a:noFill/>
          <a:ln/>
        </p:spPr>
        <p:txBody>
          <a:bodyPr wrap="square" lIns="0" tIns="0" rIns="0" bIns="0" rtlCol="0" anchor="ctr"/>
          <a:lstStyle/>
          <a:p>
            <a:pPr indent="0" marL="0">
              <a:buNone/>
            </a:pPr>
            <a:r>
              <a:rPr lang="en-US" sz="1050" b="1" dirty="0">
                <a:solidFill>
                  <a:srgbClr val="E74C3C"/>
                </a:solidFill>
                <a:latin typeface="Consolas" pitchFamily="34" charset="0"/>
                <a:ea typeface="Consolas" pitchFamily="34" charset="-122"/>
                <a:cs typeface="Consolas" pitchFamily="34" charset="-120"/>
              </a:rPr>
              <a:t>P101 ON + MV101 CLOSED</a:t>
            </a:r>
            <a:endParaRPr lang="en-US" sz="1050" dirty="0"/>
          </a:p>
        </p:txBody>
      </p:sp>
      <p:sp>
        <p:nvSpPr>
          <p:cNvPr id="44" name="Text 42"/>
          <p:cNvSpPr/>
          <p:nvPr/>
        </p:nvSpPr>
        <p:spPr>
          <a:xfrm>
            <a:off x="3794760" y="3694176"/>
            <a:ext cx="2697480" cy="310896"/>
          </a:xfrm>
          <a:prstGeom prst="rect">
            <a:avLst/>
          </a:prstGeom>
          <a:noFill/>
          <a:ln/>
        </p:spPr>
        <p:txBody>
          <a:bodyPr wrap="square" lIns="0" tIns="0" rIns="0" bIns="0" rtlCol="0" anchor="ctr"/>
          <a:lstStyle/>
          <a:p>
            <a:pPr indent="0" marL="0">
              <a:buNone/>
            </a:pPr>
            <a:r>
              <a:rPr lang="en-US" sz="1050" b="1" dirty="0">
                <a:solidFill>
                  <a:srgbClr val="E74C3C"/>
                </a:solidFill>
                <a:latin typeface="Calibri" pitchFamily="34" charset="0"/>
                <a:ea typeface="Calibri" pitchFamily="34" charset="-122"/>
                <a:cs typeface="Calibri" pitchFamily="34" charset="-120"/>
              </a:rPr>
              <a:t>→ VIOLATION  (attack signature)</a:t>
            </a:r>
            <a:endParaRPr lang="en-US" sz="1050" dirty="0"/>
          </a:p>
        </p:txBody>
      </p:sp>
      <p:sp>
        <p:nvSpPr>
          <p:cNvPr id="45" name="Text 43"/>
          <p:cNvSpPr/>
          <p:nvPr/>
        </p:nvSpPr>
        <p:spPr>
          <a:xfrm>
            <a:off x="6583680" y="3694176"/>
            <a:ext cx="2194560" cy="310896"/>
          </a:xfrm>
          <a:prstGeom prst="rect">
            <a:avLst/>
          </a:prstGeom>
          <a:noFill/>
          <a:ln/>
        </p:spPr>
        <p:txBody>
          <a:bodyPr wrap="square" lIns="0" tIns="0" rIns="0" bIns="0" rtlCol="0" anchor="ctr"/>
          <a:lstStyle/>
          <a:p>
            <a:pPr indent="0" marL="0">
              <a:buNone/>
            </a:pPr>
            <a:r>
              <a:rPr lang="en-US" sz="1000" dirty="0">
                <a:solidFill>
                  <a:srgbClr val="555555"/>
                </a:solidFill>
                <a:latin typeface="Calibri" pitchFamily="34" charset="0"/>
                <a:ea typeface="Calibri" pitchFamily="34" charset="-122"/>
                <a:cs typeface="Calibri" pitchFamily="34" charset="-120"/>
              </a:rPr>
              <a:t>Impossible physics state</a:t>
            </a:r>
            <a:endParaRPr lang="en-US" sz="1000" dirty="0"/>
          </a:p>
        </p:txBody>
      </p:sp>
      <p:sp>
        <p:nvSpPr>
          <p:cNvPr id="46" name="Shape 44"/>
          <p:cNvSpPr/>
          <p:nvPr/>
        </p:nvSpPr>
        <p:spPr>
          <a:xfrm>
            <a:off x="274320" y="4050792"/>
            <a:ext cx="8595360" cy="365760"/>
          </a:xfrm>
          <a:prstGeom prst="rect">
            <a:avLst/>
          </a:prstGeom>
          <a:solidFill>
            <a:srgbClr val="EBF4EE"/>
          </a:solidFill>
          <a:ln w="12700">
            <a:solidFill>
              <a:srgbClr val="EBF4EE"/>
            </a:solidFill>
            <a:prstDash val="solid"/>
          </a:ln>
        </p:spPr>
      </p:sp>
      <p:sp>
        <p:nvSpPr>
          <p:cNvPr id="47" name="Text 45"/>
          <p:cNvSpPr/>
          <p:nvPr/>
        </p:nvSpPr>
        <p:spPr>
          <a:xfrm>
            <a:off x="274320" y="4078224"/>
            <a:ext cx="658368" cy="310896"/>
          </a:xfrm>
          <a:prstGeom prst="rect">
            <a:avLst/>
          </a:prstGeom>
          <a:noFill/>
          <a:ln/>
        </p:spPr>
        <p:txBody>
          <a:bodyPr wrap="square" lIns="0" tIns="0" rIns="0" bIns="0" rtlCol="0" anchor="ctr"/>
          <a:lstStyle/>
          <a:p>
            <a:pPr algn="ctr" indent="0" marL="0">
              <a:buNone/>
            </a:pPr>
            <a:r>
              <a:rPr lang="en-US" sz="1050" b="1" dirty="0">
                <a:solidFill>
                  <a:srgbClr val="1A8A47"/>
                </a:solidFill>
                <a:latin typeface="Calibri" pitchFamily="34" charset="0"/>
                <a:ea typeface="Calibri" pitchFamily="34" charset="-122"/>
                <a:cs typeface="Calibri" pitchFamily="34" charset="-120"/>
              </a:rPr>
              <a:t>I-8</a:t>
            </a:r>
            <a:endParaRPr lang="en-US" sz="1050" dirty="0"/>
          </a:p>
        </p:txBody>
      </p:sp>
      <p:sp>
        <p:nvSpPr>
          <p:cNvPr id="48" name="Text 46"/>
          <p:cNvSpPr/>
          <p:nvPr/>
        </p:nvSpPr>
        <p:spPr>
          <a:xfrm>
            <a:off x="960120" y="4078224"/>
            <a:ext cx="2788920" cy="310896"/>
          </a:xfrm>
          <a:prstGeom prst="rect">
            <a:avLst/>
          </a:prstGeom>
          <a:noFill/>
          <a:ln/>
        </p:spPr>
        <p:txBody>
          <a:bodyPr wrap="square" lIns="0" tIns="0" rIns="0" bIns="0" rtlCol="0" anchor="ctr"/>
          <a:lstStyle/>
          <a:p>
            <a:pPr indent="0" marL="0">
              <a:buNone/>
            </a:pPr>
            <a:r>
              <a:rPr lang="en-US" sz="1050" dirty="0">
                <a:solidFill>
                  <a:srgbClr val="0D1B2A"/>
                </a:solidFill>
                <a:latin typeface="Consolas" pitchFamily="34" charset="0"/>
                <a:ea typeface="Consolas" pitchFamily="34" charset="-122"/>
                <a:cs typeface="Consolas" pitchFamily="34" charset="-120"/>
              </a:rPr>
              <a:t>P101 OFF</a:t>
            </a:r>
            <a:endParaRPr lang="en-US" sz="1050" dirty="0"/>
          </a:p>
        </p:txBody>
      </p:sp>
      <p:sp>
        <p:nvSpPr>
          <p:cNvPr id="49" name="Text 47"/>
          <p:cNvSpPr/>
          <p:nvPr/>
        </p:nvSpPr>
        <p:spPr>
          <a:xfrm>
            <a:off x="3794760" y="4078224"/>
            <a:ext cx="2697480" cy="310896"/>
          </a:xfrm>
          <a:prstGeom prst="rect">
            <a:avLst/>
          </a:prstGeom>
          <a:noFill/>
          <a:ln/>
        </p:spPr>
        <p:txBody>
          <a:bodyPr wrap="square" lIns="0" tIns="0" rIns="0" bIns="0" rtlCol="0" anchor="ctr"/>
          <a:lstStyle/>
          <a:p>
            <a:pPr indent="0" marL="0">
              <a:buNone/>
            </a:pPr>
            <a:r>
              <a:rPr lang="en-US" sz="1050" dirty="0">
                <a:solidFill>
                  <a:srgbClr val="0D1B2A"/>
                </a:solidFill>
                <a:latin typeface="Calibri" pitchFamily="34" charset="0"/>
                <a:ea typeface="Calibri" pitchFamily="34" charset="-122"/>
                <a:cs typeface="Calibri" pitchFamily="34" charset="-120"/>
              </a:rPr>
              <a:t>LIT101 non-increasing</a:t>
            </a:r>
            <a:endParaRPr lang="en-US" sz="1050" dirty="0"/>
          </a:p>
        </p:txBody>
      </p:sp>
      <p:sp>
        <p:nvSpPr>
          <p:cNvPr id="50" name="Text 48"/>
          <p:cNvSpPr/>
          <p:nvPr/>
        </p:nvSpPr>
        <p:spPr>
          <a:xfrm>
            <a:off x="6583680" y="4078224"/>
            <a:ext cx="2194560" cy="310896"/>
          </a:xfrm>
          <a:prstGeom prst="rect">
            <a:avLst/>
          </a:prstGeom>
          <a:noFill/>
          <a:ln/>
        </p:spPr>
        <p:txBody>
          <a:bodyPr wrap="square" lIns="0" tIns="0" rIns="0" bIns="0" rtlCol="0" anchor="ctr"/>
          <a:lstStyle/>
          <a:p>
            <a:pPr indent="0" marL="0">
              <a:buNone/>
            </a:pPr>
            <a:r>
              <a:rPr lang="en-US" sz="1000" dirty="0">
                <a:solidFill>
                  <a:srgbClr val="555555"/>
                </a:solidFill>
                <a:latin typeface="Calibri" pitchFamily="34" charset="0"/>
                <a:ea typeface="Calibri" pitchFamily="34" charset="-122"/>
                <a:cs typeface="Calibri" pitchFamily="34" charset="-120"/>
              </a:rPr>
              <a:t>Tank drains only if pump off</a:t>
            </a:r>
            <a:endParaRPr lang="en-US" sz="1000" dirty="0"/>
          </a:p>
        </p:txBody>
      </p:sp>
      <p:sp>
        <p:nvSpPr>
          <p:cNvPr id="51" name="Shape 49"/>
          <p:cNvSpPr/>
          <p:nvPr/>
        </p:nvSpPr>
        <p:spPr>
          <a:xfrm>
            <a:off x="274320" y="4507992"/>
            <a:ext cx="8595360" cy="182880"/>
          </a:xfrm>
          <a:prstGeom prst="rect">
            <a:avLst/>
          </a:prstGeom>
          <a:solidFill>
            <a:srgbClr val="E8F5E9"/>
          </a:solidFill>
          <a:ln w="12700">
            <a:solidFill>
              <a:srgbClr val="E8F5E9"/>
            </a:solidFill>
            <a:prstDash val="solid"/>
          </a:ln>
        </p:spPr>
      </p:sp>
      <p:sp>
        <p:nvSpPr>
          <p:cNvPr id="52" name="Text 50"/>
          <p:cNvSpPr/>
          <p:nvPr/>
        </p:nvSpPr>
        <p:spPr>
          <a:xfrm>
            <a:off x="411480" y="4517136"/>
            <a:ext cx="8321040" cy="164592"/>
          </a:xfrm>
          <a:prstGeom prst="rect">
            <a:avLst/>
          </a:prstGeom>
          <a:noFill/>
          <a:ln/>
        </p:spPr>
        <p:txBody>
          <a:bodyPr wrap="square" lIns="0" tIns="0" rIns="0" bIns="0" rtlCol="0" anchor="ctr"/>
          <a:lstStyle/>
          <a:p>
            <a:pPr indent="0" marL="0">
              <a:buNone/>
            </a:pPr>
            <a:r>
              <a:rPr lang="en-US" sz="1000" b="1" dirty="0">
                <a:solidFill>
                  <a:srgbClr val="1A8A47"/>
                </a:solidFill>
                <a:latin typeface="Calibri" pitchFamily="34" charset="0"/>
                <a:ea typeface="Calibri" pitchFamily="34" charset="-122"/>
                <a:cs typeface="Calibri" pitchFamily="34" charset="-120"/>
              </a:rPr>
              <a:t xml:space="preserve">Key insight:  </a:t>
            </a:r>
            <a:pPr indent="0" marL="0">
              <a:buNone/>
            </a:pPr>
            <a:r>
              <a:rPr lang="en-US" sz="1000" dirty="0">
                <a:solidFill>
                  <a:srgbClr val="0D1B2A"/>
                </a:solidFill>
                <a:latin typeface="Calibri" pitchFamily="34" charset="0"/>
                <a:ea typeface="Calibri" pitchFamily="34" charset="-122"/>
                <a:cs typeface="Calibri" pitchFamily="34" charset="-120"/>
              </a:rPr>
              <a:t>I-7 fires immediately when Paper #9 forces P101 ON + MV101 CLOSED simultaneously — the invariant flags the attack before any physical damage occurs.</a:t>
            </a:r>
            <a:endParaRPr lang="en-US" sz="1000" dirty="0"/>
          </a:p>
        </p:txBody>
      </p:sp>
      <p:sp>
        <p:nvSpPr>
          <p:cNvPr id="53" name="Shape 51"/>
          <p:cNvSpPr/>
          <p:nvPr/>
        </p:nvSpPr>
        <p:spPr>
          <a:xfrm>
            <a:off x="0" y="4754880"/>
            <a:ext cx="9144000" cy="384048"/>
          </a:xfrm>
          <a:prstGeom prst="rect">
            <a:avLst/>
          </a:prstGeom>
          <a:solidFill>
            <a:srgbClr val="1B3A5C"/>
          </a:solidFill>
          <a:ln w="12700">
            <a:solidFill>
              <a:srgbClr val="1B3A5C"/>
            </a:solidFill>
            <a:prstDash val="solid"/>
          </a:ln>
        </p:spPr>
      </p:sp>
      <p:sp>
        <p:nvSpPr>
          <p:cNvPr id="54" name="Text 52"/>
          <p:cNvSpPr/>
          <p:nvPr/>
        </p:nvSpPr>
        <p:spPr>
          <a:xfrm>
            <a:off x="274320" y="4754880"/>
            <a:ext cx="8595360" cy="38404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Defense  ·  Layer 1 — Invariants</a:t>
            </a:r>
            <a:endParaRPr lang="en-US" sz="1000" dirty="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196F3"/>
          </a:solidFill>
          <a:ln w="12700">
            <a:solidFill>
              <a:srgbClr val="2196F3"/>
            </a:solidFill>
            <a:prstDash val="solid"/>
          </a:ln>
        </p:spPr>
      </p:sp>
      <p:sp>
        <p:nvSpPr>
          <p:cNvPr id="3" name="Text 1"/>
          <p:cNvSpPr/>
          <p:nvPr/>
        </p:nvSpPr>
        <p:spPr>
          <a:xfrm>
            <a:off x="365760" y="164592"/>
            <a:ext cx="8229600" cy="475488"/>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Layer 2 — Reconstruction Autoencoder</a:t>
            </a:r>
            <a:endParaRPr lang="en-US" sz="2800" dirty="0"/>
          </a:p>
        </p:txBody>
      </p:sp>
      <p:sp>
        <p:nvSpPr>
          <p:cNvPr id="4" name="Text 2"/>
          <p:cNvSpPr/>
          <p:nvPr/>
        </p:nvSpPr>
        <p:spPr>
          <a:xfrm>
            <a:off x="365760" y="640080"/>
            <a:ext cx="8229600" cy="256032"/>
          </a:xfrm>
          <a:prstGeom prst="rect">
            <a:avLst/>
          </a:prstGeom>
          <a:noFill/>
          <a:ln/>
        </p:spPr>
        <p:txBody>
          <a:bodyPr wrap="square" lIns="0" tIns="0" rIns="0" bIns="0" rtlCol="0" anchor="ctr"/>
          <a:lstStyle/>
          <a:p>
            <a:pPr indent="0" marL="0">
              <a:buNone/>
            </a:pPr>
            <a:r>
              <a:rPr lang="en-US" sz="1200" i="1" dirty="0">
                <a:solidFill>
                  <a:srgbClr val="8FA3B1"/>
                </a:solidFill>
                <a:latin typeface="Calibri" pitchFamily="34" charset="0"/>
                <a:ea typeface="Calibri" pitchFamily="34" charset="-122"/>
                <a:cs typeface="Calibri" pitchFamily="34" charset="-120"/>
              </a:rPr>
              <a:t>Trained on normal SWaT sensor timeseries — flags deviations from learned correlations</a:t>
            </a:r>
            <a:endParaRPr lang="en-US" sz="1200" dirty="0"/>
          </a:p>
        </p:txBody>
      </p:sp>
      <p:sp>
        <p:nvSpPr>
          <p:cNvPr id="5" name="Shape 3"/>
          <p:cNvSpPr/>
          <p:nvPr/>
        </p:nvSpPr>
        <p:spPr>
          <a:xfrm>
            <a:off x="228600" y="987552"/>
            <a:ext cx="4114800" cy="3749040"/>
          </a:xfrm>
          <a:prstGeom prst="rect">
            <a:avLst/>
          </a:prstGeom>
          <a:solidFill>
            <a:srgbClr val="1B3A5C"/>
          </a:solidFill>
          <a:ln w="12700">
            <a:solidFill>
              <a:srgbClr val="1B3A5C"/>
            </a:solidFill>
            <a:prstDash val="solid"/>
          </a:ln>
        </p:spPr>
      </p:sp>
      <p:sp>
        <p:nvSpPr>
          <p:cNvPr id="6" name="Text 4"/>
          <p:cNvSpPr/>
          <p:nvPr/>
        </p:nvSpPr>
        <p:spPr>
          <a:xfrm>
            <a:off x="320040" y="1042416"/>
            <a:ext cx="3931920" cy="301752"/>
          </a:xfrm>
          <a:prstGeom prst="rect">
            <a:avLst/>
          </a:prstGeom>
          <a:noFill/>
          <a:ln/>
        </p:spPr>
        <p:txBody>
          <a:bodyPr wrap="square" lIns="0" tIns="0" rIns="0" bIns="0" rtlCol="0" anchor="ctr"/>
          <a:lstStyle/>
          <a:p>
            <a:pPr indent="0" marL="0">
              <a:buNone/>
            </a:pPr>
            <a:r>
              <a:rPr lang="en-US" sz="1300" b="1" dirty="0">
                <a:solidFill>
                  <a:srgbClr val="64B5F6"/>
                </a:solidFill>
                <a:latin typeface="Calibri" pitchFamily="34" charset="0"/>
                <a:ea typeface="Calibri" pitchFamily="34" charset="-122"/>
                <a:cs typeface="Calibri" pitchFamily="34" charset="-120"/>
              </a:rPr>
              <a:t>Autoencoder Architecture</a:t>
            </a:r>
            <a:endParaRPr lang="en-US" sz="1300" dirty="0"/>
          </a:p>
        </p:txBody>
      </p:sp>
      <p:sp>
        <p:nvSpPr>
          <p:cNvPr id="7" name="Shape 5"/>
          <p:cNvSpPr/>
          <p:nvPr/>
        </p:nvSpPr>
        <p:spPr>
          <a:xfrm>
            <a:off x="365760" y="1417320"/>
            <a:ext cx="1737360" cy="475488"/>
          </a:xfrm>
          <a:prstGeom prst="rect">
            <a:avLst/>
          </a:prstGeom>
          <a:solidFill>
            <a:srgbClr val="1A3A6E"/>
          </a:solidFill>
          <a:ln w="12700">
            <a:solidFill>
              <a:srgbClr val="1A3A6E"/>
            </a:solidFill>
            <a:prstDash val="solid"/>
          </a:ln>
        </p:spPr>
      </p:sp>
      <p:sp>
        <p:nvSpPr>
          <p:cNvPr id="8" name="Text 6"/>
          <p:cNvSpPr/>
          <p:nvPr/>
        </p:nvSpPr>
        <p:spPr>
          <a:xfrm>
            <a:off x="365760" y="1435608"/>
            <a:ext cx="1737360"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Input</a:t>
            </a:r>
            <a:endParaRPr lang="en-US" sz="1000" dirty="0"/>
          </a:p>
        </p:txBody>
      </p:sp>
      <p:sp>
        <p:nvSpPr>
          <p:cNvPr id="9" name="Text 7"/>
          <p:cNvSpPr/>
          <p:nvPr/>
        </p:nvSpPr>
        <p:spPr>
          <a:xfrm>
            <a:off x="365760" y="1664208"/>
            <a:ext cx="1737360" cy="201168"/>
          </a:xfrm>
          <a:prstGeom prst="rect">
            <a:avLst/>
          </a:prstGeom>
          <a:noFill/>
          <a:ln/>
        </p:spPr>
        <p:txBody>
          <a:bodyPr wrap="square" lIns="0" tIns="0" rIns="0" bIns="0" rtlCol="0" anchor="ctr"/>
          <a:lstStyle/>
          <a:p>
            <a:pPr algn="ctr" indent="0" marL="0">
              <a:buNone/>
            </a:pPr>
            <a:r>
              <a:rPr lang="en-US" sz="850" dirty="0">
                <a:solidFill>
                  <a:srgbClr val="E8EEF4"/>
                </a:solidFill>
                <a:latin typeface="Calibri" pitchFamily="34" charset="0"/>
                <a:ea typeface="Calibri" pitchFamily="34" charset="-122"/>
                <a:cs typeface="Calibri" pitchFamily="34" charset="-120"/>
              </a:rPr>
              <a:t>51 features</a:t>
            </a:r>
            <a:endParaRPr lang="en-US" sz="850" dirty="0"/>
          </a:p>
          <a:p>
            <a:pPr algn="ctr" indent="0" marL="0">
              <a:buNone/>
            </a:pPr>
            <a:r>
              <a:rPr lang="en-US" sz="850" dirty="0">
                <a:solidFill>
                  <a:srgbClr val="E8EEF4"/>
                </a:solidFill>
                <a:latin typeface="Calibri" pitchFamily="34" charset="0"/>
                <a:ea typeface="Calibri" pitchFamily="34" charset="-122"/>
                <a:cs typeface="Calibri" pitchFamily="34" charset="-120"/>
              </a:rPr>
              <a:t>(all SWaT sensors, window=10)</a:t>
            </a:r>
            <a:endParaRPr lang="en-US" sz="850" dirty="0"/>
          </a:p>
        </p:txBody>
      </p:sp>
      <p:sp>
        <p:nvSpPr>
          <p:cNvPr id="10" name="Text 8"/>
          <p:cNvSpPr/>
          <p:nvPr/>
        </p:nvSpPr>
        <p:spPr>
          <a:xfrm>
            <a:off x="365760" y="1911096"/>
            <a:ext cx="1737360" cy="128016"/>
          </a:xfrm>
          <a:prstGeom prst="rect">
            <a:avLst/>
          </a:prstGeom>
          <a:noFill/>
          <a:ln/>
        </p:spPr>
        <p:txBody>
          <a:bodyPr wrap="square" lIns="0" tIns="0" rIns="0" bIns="0" rtlCol="0" anchor="ctr"/>
          <a:lstStyle/>
          <a:p>
            <a:pPr algn="ctr" indent="0" marL="0">
              <a:buNone/>
            </a:pPr>
            <a:r>
              <a:rPr lang="en-US" sz="1200" dirty="0">
                <a:solidFill>
                  <a:srgbClr val="64B5F6"/>
                </a:solidFill>
                <a:latin typeface="Calibri" pitchFamily="34" charset="0"/>
                <a:ea typeface="Calibri" pitchFamily="34" charset="-122"/>
                <a:cs typeface="Calibri" pitchFamily="34" charset="-120"/>
              </a:rPr>
              <a:t>↓</a:t>
            </a:r>
            <a:endParaRPr lang="en-US" sz="1200" dirty="0"/>
          </a:p>
        </p:txBody>
      </p:sp>
      <p:sp>
        <p:nvSpPr>
          <p:cNvPr id="11" name="Shape 9"/>
          <p:cNvSpPr/>
          <p:nvPr/>
        </p:nvSpPr>
        <p:spPr>
          <a:xfrm>
            <a:off x="411480" y="2057400"/>
            <a:ext cx="1645920" cy="475488"/>
          </a:xfrm>
          <a:prstGeom prst="rect">
            <a:avLst/>
          </a:prstGeom>
          <a:solidFill>
            <a:srgbClr val="1E4D8C"/>
          </a:solidFill>
          <a:ln w="12700">
            <a:solidFill>
              <a:srgbClr val="1E4D8C"/>
            </a:solidFill>
            <a:prstDash val="solid"/>
          </a:ln>
        </p:spPr>
      </p:sp>
      <p:sp>
        <p:nvSpPr>
          <p:cNvPr id="12" name="Text 10"/>
          <p:cNvSpPr/>
          <p:nvPr/>
        </p:nvSpPr>
        <p:spPr>
          <a:xfrm>
            <a:off x="411480" y="2075688"/>
            <a:ext cx="1645920"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Encoder L1</a:t>
            </a:r>
            <a:endParaRPr lang="en-US" sz="1000" dirty="0"/>
          </a:p>
        </p:txBody>
      </p:sp>
      <p:sp>
        <p:nvSpPr>
          <p:cNvPr id="13" name="Text 11"/>
          <p:cNvSpPr/>
          <p:nvPr/>
        </p:nvSpPr>
        <p:spPr>
          <a:xfrm>
            <a:off x="411480" y="2304288"/>
            <a:ext cx="1645920" cy="201168"/>
          </a:xfrm>
          <a:prstGeom prst="rect">
            <a:avLst/>
          </a:prstGeom>
          <a:noFill/>
          <a:ln/>
        </p:spPr>
        <p:txBody>
          <a:bodyPr wrap="square" lIns="0" tIns="0" rIns="0" bIns="0" rtlCol="0" anchor="ctr"/>
          <a:lstStyle/>
          <a:p>
            <a:pPr algn="ctr" indent="0" marL="0">
              <a:buNone/>
            </a:pPr>
            <a:r>
              <a:rPr lang="en-US" sz="850" dirty="0">
                <a:solidFill>
                  <a:srgbClr val="E8EEF4"/>
                </a:solidFill>
                <a:latin typeface="Calibri" pitchFamily="34" charset="0"/>
                <a:ea typeface="Calibri" pitchFamily="34" charset="-122"/>
                <a:cs typeface="Calibri" pitchFamily="34" charset="-120"/>
              </a:rPr>
              <a:t>128 units  ReLU</a:t>
            </a:r>
            <a:endParaRPr lang="en-US" sz="850" dirty="0"/>
          </a:p>
        </p:txBody>
      </p:sp>
      <p:sp>
        <p:nvSpPr>
          <p:cNvPr id="14" name="Text 12"/>
          <p:cNvSpPr/>
          <p:nvPr/>
        </p:nvSpPr>
        <p:spPr>
          <a:xfrm>
            <a:off x="365760" y="2551176"/>
            <a:ext cx="1737360" cy="128016"/>
          </a:xfrm>
          <a:prstGeom prst="rect">
            <a:avLst/>
          </a:prstGeom>
          <a:noFill/>
          <a:ln/>
        </p:spPr>
        <p:txBody>
          <a:bodyPr wrap="square" lIns="0" tIns="0" rIns="0" bIns="0" rtlCol="0" anchor="ctr"/>
          <a:lstStyle/>
          <a:p>
            <a:pPr algn="ctr" indent="0" marL="0">
              <a:buNone/>
            </a:pPr>
            <a:r>
              <a:rPr lang="en-US" sz="1200" dirty="0">
                <a:solidFill>
                  <a:srgbClr val="64B5F6"/>
                </a:solidFill>
                <a:latin typeface="Calibri" pitchFamily="34" charset="0"/>
                <a:ea typeface="Calibri" pitchFamily="34" charset="-122"/>
                <a:cs typeface="Calibri" pitchFamily="34" charset="-120"/>
              </a:rPr>
              <a:t>↓</a:t>
            </a:r>
            <a:endParaRPr lang="en-US" sz="1200" dirty="0"/>
          </a:p>
        </p:txBody>
      </p:sp>
      <p:sp>
        <p:nvSpPr>
          <p:cNvPr id="15" name="Shape 13"/>
          <p:cNvSpPr/>
          <p:nvPr/>
        </p:nvSpPr>
        <p:spPr>
          <a:xfrm>
            <a:off x="457200" y="2697480"/>
            <a:ext cx="1554480" cy="475488"/>
          </a:xfrm>
          <a:prstGeom prst="rect">
            <a:avLst/>
          </a:prstGeom>
          <a:solidFill>
            <a:srgbClr val="2261AE"/>
          </a:solidFill>
          <a:ln w="12700">
            <a:solidFill>
              <a:srgbClr val="2261AE"/>
            </a:solidFill>
            <a:prstDash val="solid"/>
          </a:ln>
        </p:spPr>
      </p:sp>
      <p:sp>
        <p:nvSpPr>
          <p:cNvPr id="16" name="Text 14"/>
          <p:cNvSpPr/>
          <p:nvPr/>
        </p:nvSpPr>
        <p:spPr>
          <a:xfrm>
            <a:off x="457200" y="2715768"/>
            <a:ext cx="1554480"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Encoder L2</a:t>
            </a:r>
            <a:endParaRPr lang="en-US" sz="1000" dirty="0"/>
          </a:p>
        </p:txBody>
      </p:sp>
      <p:sp>
        <p:nvSpPr>
          <p:cNvPr id="17" name="Text 15"/>
          <p:cNvSpPr/>
          <p:nvPr/>
        </p:nvSpPr>
        <p:spPr>
          <a:xfrm>
            <a:off x="457200" y="2944368"/>
            <a:ext cx="1554480" cy="201168"/>
          </a:xfrm>
          <a:prstGeom prst="rect">
            <a:avLst/>
          </a:prstGeom>
          <a:noFill/>
          <a:ln/>
        </p:spPr>
        <p:txBody>
          <a:bodyPr wrap="square" lIns="0" tIns="0" rIns="0" bIns="0" rtlCol="0" anchor="ctr"/>
          <a:lstStyle/>
          <a:p>
            <a:pPr algn="ctr" indent="0" marL="0">
              <a:buNone/>
            </a:pPr>
            <a:r>
              <a:rPr lang="en-US" sz="850" dirty="0">
                <a:solidFill>
                  <a:srgbClr val="E8EEF4"/>
                </a:solidFill>
                <a:latin typeface="Calibri" pitchFamily="34" charset="0"/>
                <a:ea typeface="Calibri" pitchFamily="34" charset="-122"/>
                <a:cs typeface="Calibri" pitchFamily="34" charset="-120"/>
              </a:rPr>
              <a:t>64 units   ReLU</a:t>
            </a:r>
            <a:endParaRPr lang="en-US" sz="850" dirty="0"/>
          </a:p>
        </p:txBody>
      </p:sp>
      <p:sp>
        <p:nvSpPr>
          <p:cNvPr id="18" name="Text 16"/>
          <p:cNvSpPr/>
          <p:nvPr/>
        </p:nvSpPr>
        <p:spPr>
          <a:xfrm>
            <a:off x="365760" y="3191256"/>
            <a:ext cx="1737360" cy="128016"/>
          </a:xfrm>
          <a:prstGeom prst="rect">
            <a:avLst/>
          </a:prstGeom>
          <a:noFill/>
          <a:ln/>
        </p:spPr>
        <p:txBody>
          <a:bodyPr wrap="square" lIns="0" tIns="0" rIns="0" bIns="0" rtlCol="0" anchor="ctr"/>
          <a:lstStyle/>
          <a:p>
            <a:pPr algn="ctr" indent="0" marL="0">
              <a:buNone/>
            </a:pPr>
            <a:r>
              <a:rPr lang="en-US" sz="1200" dirty="0">
                <a:solidFill>
                  <a:srgbClr val="64B5F6"/>
                </a:solidFill>
                <a:latin typeface="Calibri" pitchFamily="34" charset="0"/>
                <a:ea typeface="Calibri" pitchFamily="34" charset="-122"/>
                <a:cs typeface="Calibri" pitchFamily="34" charset="-120"/>
              </a:rPr>
              <a:t>↓</a:t>
            </a:r>
            <a:endParaRPr lang="en-US" sz="1200" dirty="0"/>
          </a:p>
        </p:txBody>
      </p:sp>
      <p:sp>
        <p:nvSpPr>
          <p:cNvPr id="19" name="Shape 17"/>
          <p:cNvSpPr/>
          <p:nvPr/>
        </p:nvSpPr>
        <p:spPr>
          <a:xfrm>
            <a:off x="502920" y="3337560"/>
            <a:ext cx="1463040" cy="475488"/>
          </a:xfrm>
          <a:prstGeom prst="rect">
            <a:avLst/>
          </a:prstGeom>
          <a:solidFill>
            <a:srgbClr val="2196F3"/>
          </a:solidFill>
          <a:ln w="12700">
            <a:solidFill>
              <a:srgbClr val="2196F3"/>
            </a:solidFill>
            <a:prstDash val="solid"/>
          </a:ln>
        </p:spPr>
      </p:sp>
      <p:sp>
        <p:nvSpPr>
          <p:cNvPr id="20" name="Text 18"/>
          <p:cNvSpPr/>
          <p:nvPr/>
        </p:nvSpPr>
        <p:spPr>
          <a:xfrm>
            <a:off x="502920" y="3355848"/>
            <a:ext cx="1463040"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Latent z</a:t>
            </a:r>
            <a:endParaRPr lang="en-US" sz="1000" dirty="0"/>
          </a:p>
        </p:txBody>
      </p:sp>
      <p:sp>
        <p:nvSpPr>
          <p:cNvPr id="21" name="Text 19"/>
          <p:cNvSpPr/>
          <p:nvPr/>
        </p:nvSpPr>
        <p:spPr>
          <a:xfrm>
            <a:off x="502920" y="3584448"/>
            <a:ext cx="1463040" cy="201168"/>
          </a:xfrm>
          <a:prstGeom prst="rect">
            <a:avLst/>
          </a:prstGeom>
          <a:noFill/>
          <a:ln/>
        </p:spPr>
        <p:txBody>
          <a:bodyPr wrap="square" lIns="0" tIns="0" rIns="0" bIns="0" rtlCol="0" anchor="ctr"/>
          <a:lstStyle/>
          <a:p>
            <a:pPr algn="ctr" indent="0" marL="0">
              <a:buNone/>
            </a:pPr>
            <a:r>
              <a:rPr lang="en-US" sz="850" dirty="0">
                <a:solidFill>
                  <a:srgbClr val="E8EEF4"/>
                </a:solidFill>
                <a:latin typeface="Calibri" pitchFamily="34" charset="0"/>
                <a:ea typeface="Calibri" pitchFamily="34" charset="-122"/>
                <a:cs typeface="Calibri" pitchFamily="34" charset="-120"/>
              </a:rPr>
              <a:t>16 units (bottleneck)</a:t>
            </a:r>
            <a:endParaRPr lang="en-US" sz="850" dirty="0"/>
          </a:p>
        </p:txBody>
      </p:sp>
      <p:sp>
        <p:nvSpPr>
          <p:cNvPr id="22" name="Shape 20"/>
          <p:cNvSpPr/>
          <p:nvPr/>
        </p:nvSpPr>
        <p:spPr>
          <a:xfrm>
            <a:off x="2606040" y="2761488"/>
            <a:ext cx="1371600" cy="475488"/>
          </a:xfrm>
          <a:prstGeom prst="rect">
            <a:avLst/>
          </a:prstGeom>
          <a:solidFill>
            <a:srgbClr val="1E4D8C"/>
          </a:solidFill>
          <a:ln w="12700">
            <a:solidFill>
              <a:srgbClr val="1E4D8C"/>
            </a:solidFill>
            <a:prstDash val="solid"/>
          </a:ln>
        </p:spPr>
      </p:sp>
      <p:sp>
        <p:nvSpPr>
          <p:cNvPr id="23" name="Text 21"/>
          <p:cNvSpPr/>
          <p:nvPr/>
        </p:nvSpPr>
        <p:spPr>
          <a:xfrm>
            <a:off x="2606040" y="2779776"/>
            <a:ext cx="1371600"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Decoder L1</a:t>
            </a:r>
            <a:endParaRPr lang="en-US" sz="1000" dirty="0"/>
          </a:p>
        </p:txBody>
      </p:sp>
      <p:sp>
        <p:nvSpPr>
          <p:cNvPr id="24" name="Text 22"/>
          <p:cNvSpPr/>
          <p:nvPr/>
        </p:nvSpPr>
        <p:spPr>
          <a:xfrm>
            <a:off x="2606040" y="3008376"/>
            <a:ext cx="1371600" cy="201168"/>
          </a:xfrm>
          <a:prstGeom prst="rect">
            <a:avLst/>
          </a:prstGeom>
          <a:noFill/>
          <a:ln/>
        </p:spPr>
        <p:txBody>
          <a:bodyPr wrap="square" lIns="0" tIns="0" rIns="0" bIns="0" rtlCol="0" anchor="ctr"/>
          <a:lstStyle/>
          <a:p>
            <a:pPr algn="ctr" indent="0" marL="0">
              <a:buNone/>
            </a:pPr>
            <a:r>
              <a:rPr lang="en-US" sz="850" dirty="0">
                <a:solidFill>
                  <a:srgbClr val="E8EEF4"/>
                </a:solidFill>
                <a:latin typeface="Calibri" pitchFamily="34" charset="0"/>
                <a:ea typeface="Calibri" pitchFamily="34" charset="-122"/>
                <a:cs typeface="Calibri" pitchFamily="34" charset="-120"/>
              </a:rPr>
              <a:t>64 units   ReLU</a:t>
            </a:r>
            <a:endParaRPr lang="en-US" sz="850" dirty="0"/>
          </a:p>
        </p:txBody>
      </p:sp>
      <p:sp>
        <p:nvSpPr>
          <p:cNvPr id="25" name="Text 23"/>
          <p:cNvSpPr/>
          <p:nvPr/>
        </p:nvSpPr>
        <p:spPr>
          <a:xfrm>
            <a:off x="2423160" y="3255264"/>
            <a:ext cx="1737360" cy="128016"/>
          </a:xfrm>
          <a:prstGeom prst="rect">
            <a:avLst/>
          </a:prstGeom>
          <a:noFill/>
          <a:ln/>
        </p:spPr>
        <p:txBody>
          <a:bodyPr wrap="square" lIns="0" tIns="0" rIns="0" bIns="0" rtlCol="0" anchor="ctr"/>
          <a:lstStyle/>
          <a:p>
            <a:pPr algn="ctr" indent="0" marL="0">
              <a:buNone/>
            </a:pPr>
            <a:r>
              <a:rPr lang="en-US" sz="1200" dirty="0">
                <a:solidFill>
                  <a:srgbClr val="64B5F6"/>
                </a:solidFill>
                <a:latin typeface="Calibri" pitchFamily="34" charset="0"/>
                <a:ea typeface="Calibri" pitchFamily="34" charset="-122"/>
                <a:cs typeface="Calibri" pitchFamily="34" charset="-120"/>
              </a:rPr>
              <a:t>↓</a:t>
            </a:r>
            <a:endParaRPr lang="en-US" sz="1200" dirty="0"/>
          </a:p>
        </p:txBody>
      </p:sp>
      <p:sp>
        <p:nvSpPr>
          <p:cNvPr id="26" name="Shape 24"/>
          <p:cNvSpPr/>
          <p:nvPr/>
        </p:nvSpPr>
        <p:spPr>
          <a:xfrm>
            <a:off x="2560320" y="3401568"/>
            <a:ext cx="1463040" cy="475488"/>
          </a:xfrm>
          <a:prstGeom prst="rect">
            <a:avLst/>
          </a:prstGeom>
          <a:solidFill>
            <a:srgbClr val="1A3A6E"/>
          </a:solidFill>
          <a:ln w="12700">
            <a:solidFill>
              <a:srgbClr val="1A3A6E"/>
            </a:solidFill>
            <a:prstDash val="solid"/>
          </a:ln>
        </p:spPr>
      </p:sp>
      <p:sp>
        <p:nvSpPr>
          <p:cNvPr id="27" name="Text 25"/>
          <p:cNvSpPr/>
          <p:nvPr/>
        </p:nvSpPr>
        <p:spPr>
          <a:xfrm>
            <a:off x="2560320" y="3419856"/>
            <a:ext cx="1463040"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Decoder L2</a:t>
            </a:r>
            <a:endParaRPr lang="en-US" sz="1000" dirty="0"/>
          </a:p>
        </p:txBody>
      </p:sp>
      <p:sp>
        <p:nvSpPr>
          <p:cNvPr id="28" name="Text 26"/>
          <p:cNvSpPr/>
          <p:nvPr/>
        </p:nvSpPr>
        <p:spPr>
          <a:xfrm>
            <a:off x="2560320" y="3648456"/>
            <a:ext cx="1463040" cy="201168"/>
          </a:xfrm>
          <a:prstGeom prst="rect">
            <a:avLst/>
          </a:prstGeom>
          <a:noFill/>
          <a:ln/>
        </p:spPr>
        <p:txBody>
          <a:bodyPr wrap="square" lIns="0" tIns="0" rIns="0" bIns="0" rtlCol="0" anchor="ctr"/>
          <a:lstStyle/>
          <a:p>
            <a:pPr algn="ctr" indent="0" marL="0">
              <a:buNone/>
            </a:pPr>
            <a:r>
              <a:rPr lang="en-US" sz="850" dirty="0">
                <a:solidFill>
                  <a:srgbClr val="E8EEF4"/>
                </a:solidFill>
                <a:latin typeface="Calibri" pitchFamily="34" charset="0"/>
                <a:ea typeface="Calibri" pitchFamily="34" charset="-122"/>
                <a:cs typeface="Calibri" pitchFamily="34" charset="-120"/>
              </a:rPr>
              <a:t>128 units  ReLU</a:t>
            </a:r>
            <a:endParaRPr lang="en-US" sz="850" dirty="0"/>
          </a:p>
        </p:txBody>
      </p:sp>
      <p:sp>
        <p:nvSpPr>
          <p:cNvPr id="29" name="Text 27"/>
          <p:cNvSpPr/>
          <p:nvPr/>
        </p:nvSpPr>
        <p:spPr>
          <a:xfrm>
            <a:off x="2423160" y="3895344"/>
            <a:ext cx="1737360" cy="128016"/>
          </a:xfrm>
          <a:prstGeom prst="rect">
            <a:avLst/>
          </a:prstGeom>
          <a:noFill/>
          <a:ln/>
        </p:spPr>
        <p:txBody>
          <a:bodyPr wrap="square" lIns="0" tIns="0" rIns="0" bIns="0" rtlCol="0" anchor="ctr"/>
          <a:lstStyle/>
          <a:p>
            <a:pPr algn="ctr" indent="0" marL="0">
              <a:buNone/>
            </a:pPr>
            <a:r>
              <a:rPr lang="en-US" sz="1200" dirty="0">
                <a:solidFill>
                  <a:srgbClr val="64B5F6"/>
                </a:solidFill>
                <a:latin typeface="Calibri" pitchFamily="34" charset="0"/>
                <a:ea typeface="Calibri" pitchFamily="34" charset="-122"/>
                <a:cs typeface="Calibri" pitchFamily="34" charset="-120"/>
              </a:rPr>
              <a:t>↓</a:t>
            </a:r>
            <a:endParaRPr lang="en-US" sz="1200" dirty="0"/>
          </a:p>
        </p:txBody>
      </p:sp>
      <p:sp>
        <p:nvSpPr>
          <p:cNvPr id="30" name="Shape 28"/>
          <p:cNvSpPr/>
          <p:nvPr/>
        </p:nvSpPr>
        <p:spPr>
          <a:xfrm>
            <a:off x="2514600" y="4041648"/>
            <a:ext cx="1554480" cy="475488"/>
          </a:xfrm>
          <a:prstGeom prst="rect">
            <a:avLst/>
          </a:prstGeom>
          <a:solidFill>
            <a:srgbClr val="0D2B55"/>
          </a:solidFill>
          <a:ln w="12700">
            <a:solidFill>
              <a:srgbClr val="0D2B55"/>
            </a:solidFill>
            <a:prstDash val="solid"/>
          </a:ln>
        </p:spPr>
      </p:sp>
      <p:sp>
        <p:nvSpPr>
          <p:cNvPr id="31" name="Text 29"/>
          <p:cNvSpPr/>
          <p:nvPr/>
        </p:nvSpPr>
        <p:spPr>
          <a:xfrm>
            <a:off x="2514600" y="4059936"/>
            <a:ext cx="1554480"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Output x̂</a:t>
            </a:r>
            <a:endParaRPr lang="en-US" sz="1000" dirty="0"/>
          </a:p>
        </p:txBody>
      </p:sp>
      <p:sp>
        <p:nvSpPr>
          <p:cNvPr id="32" name="Text 30"/>
          <p:cNvSpPr/>
          <p:nvPr/>
        </p:nvSpPr>
        <p:spPr>
          <a:xfrm>
            <a:off x="2514600" y="4288536"/>
            <a:ext cx="1554480" cy="201168"/>
          </a:xfrm>
          <a:prstGeom prst="rect">
            <a:avLst/>
          </a:prstGeom>
          <a:noFill/>
          <a:ln/>
        </p:spPr>
        <p:txBody>
          <a:bodyPr wrap="square" lIns="0" tIns="0" rIns="0" bIns="0" rtlCol="0" anchor="ctr"/>
          <a:lstStyle/>
          <a:p>
            <a:pPr algn="ctr" indent="0" marL="0">
              <a:buNone/>
            </a:pPr>
            <a:r>
              <a:rPr lang="en-US" sz="850" dirty="0">
                <a:solidFill>
                  <a:srgbClr val="E8EEF4"/>
                </a:solidFill>
                <a:latin typeface="Calibri" pitchFamily="34" charset="0"/>
                <a:ea typeface="Calibri" pitchFamily="34" charset="-122"/>
                <a:cs typeface="Calibri" pitchFamily="34" charset="-120"/>
              </a:rPr>
              <a:t>51 features reconstruction</a:t>
            </a:r>
            <a:endParaRPr lang="en-US" sz="850" dirty="0"/>
          </a:p>
        </p:txBody>
      </p:sp>
      <p:sp>
        <p:nvSpPr>
          <p:cNvPr id="33" name="Text 31"/>
          <p:cNvSpPr/>
          <p:nvPr/>
        </p:nvSpPr>
        <p:spPr>
          <a:xfrm>
            <a:off x="320040" y="4553712"/>
            <a:ext cx="3931920" cy="137160"/>
          </a:xfrm>
          <a:prstGeom prst="rect">
            <a:avLst/>
          </a:prstGeom>
          <a:noFill/>
          <a:ln/>
        </p:spPr>
        <p:txBody>
          <a:bodyPr wrap="square" lIns="0" tIns="0" rIns="0" bIns="0" rtlCol="0" anchor="ctr"/>
          <a:lstStyle/>
          <a:p>
            <a:pPr algn="ctr" indent="0" marL="0">
              <a:buNone/>
            </a:pPr>
            <a:r>
              <a:rPr lang="en-US" sz="1100" b="1" dirty="0">
                <a:solidFill>
                  <a:srgbClr val="F39C12"/>
                </a:solidFill>
                <a:latin typeface="Calibri" pitchFamily="34" charset="0"/>
                <a:ea typeface="Calibri" pitchFamily="34" charset="-122"/>
                <a:cs typeface="Calibri" pitchFamily="34" charset="-120"/>
              </a:rPr>
              <a:t>MSE(x, x̂) = Anomaly Score</a:t>
            </a:r>
            <a:endParaRPr lang="en-US" sz="1100" dirty="0"/>
          </a:p>
        </p:txBody>
      </p:sp>
      <p:sp>
        <p:nvSpPr>
          <p:cNvPr id="34" name="Shape 32"/>
          <p:cNvSpPr/>
          <p:nvPr/>
        </p:nvSpPr>
        <p:spPr>
          <a:xfrm>
            <a:off x="4617720" y="987552"/>
            <a:ext cx="4297680" cy="1371600"/>
          </a:xfrm>
          <a:prstGeom prst="rect">
            <a:avLst/>
          </a:prstGeom>
          <a:solidFill>
            <a:srgbClr val="0F2030"/>
          </a:solidFill>
          <a:ln w="12700">
            <a:solidFill>
              <a:srgbClr val="0F2030"/>
            </a:solidFill>
            <a:prstDash val="solid"/>
          </a:ln>
        </p:spPr>
      </p:sp>
      <p:sp>
        <p:nvSpPr>
          <p:cNvPr id="35" name="Shape 33"/>
          <p:cNvSpPr/>
          <p:nvPr/>
        </p:nvSpPr>
        <p:spPr>
          <a:xfrm>
            <a:off x="4617720" y="987552"/>
            <a:ext cx="64008" cy="1371600"/>
          </a:xfrm>
          <a:prstGeom prst="rect">
            <a:avLst/>
          </a:prstGeom>
          <a:solidFill>
            <a:srgbClr val="2196F3"/>
          </a:solidFill>
          <a:ln w="12700">
            <a:solidFill>
              <a:srgbClr val="2196F3"/>
            </a:solidFill>
            <a:prstDash val="solid"/>
          </a:ln>
        </p:spPr>
      </p:sp>
      <p:sp>
        <p:nvSpPr>
          <p:cNvPr id="36" name="Text 34"/>
          <p:cNvSpPr/>
          <p:nvPr/>
        </p:nvSpPr>
        <p:spPr>
          <a:xfrm>
            <a:off x="4782312" y="1042416"/>
            <a:ext cx="3977640" cy="274320"/>
          </a:xfrm>
          <a:prstGeom prst="rect">
            <a:avLst/>
          </a:prstGeom>
          <a:noFill/>
          <a:ln/>
        </p:spPr>
        <p:txBody>
          <a:bodyPr wrap="square" lIns="0" tIns="0" rIns="0" bIns="0" rtlCol="0" anchor="ctr"/>
          <a:lstStyle/>
          <a:p>
            <a:pPr indent="0" marL="0">
              <a:buNone/>
            </a:pPr>
            <a:r>
              <a:rPr lang="en-US" sz="1300" b="1" dirty="0">
                <a:solidFill>
                  <a:srgbClr val="64B5F6"/>
                </a:solidFill>
                <a:latin typeface="Calibri" pitchFamily="34" charset="0"/>
                <a:ea typeface="Calibri" pitchFamily="34" charset="-122"/>
                <a:cs typeface="Calibri" pitchFamily="34" charset="-120"/>
              </a:rPr>
              <a:t>Training</a:t>
            </a:r>
            <a:endParaRPr lang="en-US" sz="1300" dirty="0"/>
          </a:p>
        </p:txBody>
      </p:sp>
      <p:sp>
        <p:nvSpPr>
          <p:cNvPr id="37" name="Text 35"/>
          <p:cNvSpPr/>
          <p:nvPr/>
        </p:nvSpPr>
        <p:spPr>
          <a:xfrm>
            <a:off x="4818888" y="1362456"/>
            <a:ext cx="3931920" cy="18288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7-day SWaT normal operation dataset (iTrust)</a:t>
            </a:r>
            <a:endParaRPr lang="en-US" sz="1000" dirty="0"/>
          </a:p>
        </p:txBody>
      </p:sp>
      <p:sp>
        <p:nvSpPr>
          <p:cNvPr id="38" name="Text 36"/>
          <p:cNvSpPr/>
          <p:nvPr/>
        </p:nvSpPr>
        <p:spPr>
          <a:xfrm>
            <a:off x="4818888" y="1554480"/>
            <a:ext cx="3931920" cy="18288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Sliding window: 10 timesteps, step=1</a:t>
            </a:r>
            <a:endParaRPr lang="en-US" sz="1000" dirty="0"/>
          </a:p>
        </p:txBody>
      </p:sp>
      <p:sp>
        <p:nvSpPr>
          <p:cNvPr id="39" name="Text 37"/>
          <p:cNvSpPr/>
          <p:nvPr/>
        </p:nvSpPr>
        <p:spPr>
          <a:xfrm>
            <a:off x="4818888" y="1746504"/>
            <a:ext cx="3931920" cy="18288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Batch size 128, Adam optimiser, lr=1×10⁻³</a:t>
            </a:r>
            <a:endParaRPr lang="en-US" sz="1000" dirty="0"/>
          </a:p>
        </p:txBody>
      </p:sp>
      <p:sp>
        <p:nvSpPr>
          <p:cNvPr id="40" name="Text 38"/>
          <p:cNvSpPr/>
          <p:nvPr/>
        </p:nvSpPr>
        <p:spPr>
          <a:xfrm>
            <a:off x="4818888" y="1938528"/>
            <a:ext cx="3931920" cy="18288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100 epochs, MSE loss on reconstruction</a:t>
            </a:r>
            <a:endParaRPr lang="en-US" sz="1000" dirty="0"/>
          </a:p>
        </p:txBody>
      </p:sp>
      <p:sp>
        <p:nvSpPr>
          <p:cNvPr id="41" name="Text 39"/>
          <p:cNvSpPr/>
          <p:nvPr/>
        </p:nvSpPr>
        <p:spPr>
          <a:xfrm>
            <a:off x="4818888" y="2130552"/>
            <a:ext cx="3931920" cy="18288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Threshold = 95th percentile of training MSE</a:t>
            </a:r>
            <a:endParaRPr lang="en-US" sz="1000" dirty="0"/>
          </a:p>
        </p:txBody>
      </p:sp>
      <p:sp>
        <p:nvSpPr>
          <p:cNvPr id="42" name="Shape 40"/>
          <p:cNvSpPr/>
          <p:nvPr/>
        </p:nvSpPr>
        <p:spPr>
          <a:xfrm>
            <a:off x="4617720" y="2423160"/>
            <a:ext cx="4297680" cy="1170432"/>
          </a:xfrm>
          <a:prstGeom prst="rect">
            <a:avLst/>
          </a:prstGeom>
          <a:solidFill>
            <a:srgbClr val="0F2030"/>
          </a:solidFill>
          <a:ln w="12700">
            <a:solidFill>
              <a:srgbClr val="0F2030"/>
            </a:solidFill>
            <a:prstDash val="solid"/>
          </a:ln>
        </p:spPr>
      </p:sp>
      <p:sp>
        <p:nvSpPr>
          <p:cNvPr id="43" name="Shape 41"/>
          <p:cNvSpPr/>
          <p:nvPr/>
        </p:nvSpPr>
        <p:spPr>
          <a:xfrm>
            <a:off x="4617720" y="2423160"/>
            <a:ext cx="64008" cy="1170432"/>
          </a:xfrm>
          <a:prstGeom prst="rect">
            <a:avLst/>
          </a:prstGeom>
          <a:solidFill>
            <a:srgbClr val="2ECC71"/>
          </a:solidFill>
          <a:ln w="12700">
            <a:solidFill>
              <a:srgbClr val="2ECC71"/>
            </a:solidFill>
            <a:prstDash val="solid"/>
          </a:ln>
        </p:spPr>
      </p:sp>
      <p:sp>
        <p:nvSpPr>
          <p:cNvPr id="44" name="Text 42"/>
          <p:cNvSpPr/>
          <p:nvPr/>
        </p:nvSpPr>
        <p:spPr>
          <a:xfrm>
            <a:off x="4782312" y="2478024"/>
            <a:ext cx="3977640" cy="274320"/>
          </a:xfrm>
          <a:prstGeom prst="rect">
            <a:avLst/>
          </a:prstGeom>
          <a:noFill/>
          <a:ln/>
        </p:spPr>
        <p:txBody>
          <a:bodyPr wrap="square" lIns="0" tIns="0" rIns="0" bIns="0" rtlCol="0" anchor="ctr"/>
          <a:lstStyle/>
          <a:p>
            <a:pPr indent="0" marL="0">
              <a:buNone/>
            </a:pPr>
            <a:r>
              <a:rPr lang="en-US" sz="1300" b="1" dirty="0">
                <a:solidFill>
                  <a:srgbClr val="2ECC71"/>
                </a:solidFill>
                <a:latin typeface="Calibri" pitchFamily="34" charset="0"/>
                <a:ea typeface="Calibri" pitchFamily="34" charset="-122"/>
                <a:cs typeface="Calibri" pitchFamily="34" charset="-120"/>
              </a:rPr>
              <a:t>Detection Logic</a:t>
            </a:r>
            <a:endParaRPr lang="en-US" sz="1300" dirty="0"/>
          </a:p>
        </p:txBody>
      </p:sp>
      <p:sp>
        <p:nvSpPr>
          <p:cNvPr id="45" name="Text 43"/>
          <p:cNvSpPr/>
          <p:nvPr/>
        </p:nvSpPr>
        <p:spPr>
          <a:xfrm>
            <a:off x="4818888" y="2798064"/>
            <a:ext cx="3931920" cy="201168"/>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At inference: compute MSE(x_t, x̂_t) per timestep</a:t>
            </a:r>
            <a:endParaRPr lang="en-US" sz="1000" dirty="0"/>
          </a:p>
        </p:txBody>
      </p:sp>
      <p:sp>
        <p:nvSpPr>
          <p:cNvPr id="46" name="Text 44"/>
          <p:cNvSpPr/>
          <p:nvPr/>
        </p:nvSpPr>
        <p:spPr>
          <a:xfrm>
            <a:off x="4818888" y="3017520"/>
            <a:ext cx="3931920" cy="201168"/>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Flag if score &gt; threshold for 3 consecutive steps</a:t>
            </a:r>
            <a:endParaRPr lang="en-US" sz="1000" dirty="0"/>
          </a:p>
        </p:txBody>
      </p:sp>
      <p:sp>
        <p:nvSpPr>
          <p:cNvPr id="47" name="Text 45"/>
          <p:cNvSpPr/>
          <p:nvPr/>
        </p:nvSpPr>
        <p:spPr>
          <a:xfrm>
            <a:off x="4818888" y="3236976"/>
            <a:ext cx="3931920" cy="201168"/>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Rate of score increase also tracked (gradient check)</a:t>
            </a:r>
            <a:endParaRPr lang="en-US" sz="1000" dirty="0"/>
          </a:p>
        </p:txBody>
      </p:sp>
      <p:sp>
        <p:nvSpPr>
          <p:cNvPr id="48" name="Text 46"/>
          <p:cNvSpPr/>
          <p:nvPr/>
        </p:nvSpPr>
        <p:spPr>
          <a:xfrm>
            <a:off x="4818888" y="3456432"/>
            <a:ext cx="3931920" cy="201168"/>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Separates genuine anomaly from sensor noise</a:t>
            </a:r>
            <a:endParaRPr lang="en-US" sz="1000" dirty="0"/>
          </a:p>
        </p:txBody>
      </p:sp>
      <p:sp>
        <p:nvSpPr>
          <p:cNvPr id="49" name="Shape 47"/>
          <p:cNvSpPr/>
          <p:nvPr/>
        </p:nvSpPr>
        <p:spPr>
          <a:xfrm>
            <a:off x="4617720" y="3657600"/>
            <a:ext cx="4297680" cy="1051560"/>
          </a:xfrm>
          <a:prstGeom prst="rect">
            <a:avLst/>
          </a:prstGeom>
          <a:solidFill>
            <a:srgbClr val="0F2030"/>
          </a:solidFill>
          <a:ln w="12700">
            <a:solidFill>
              <a:srgbClr val="0F2030"/>
            </a:solidFill>
            <a:prstDash val="solid"/>
          </a:ln>
        </p:spPr>
      </p:sp>
      <p:sp>
        <p:nvSpPr>
          <p:cNvPr id="50" name="Shape 48"/>
          <p:cNvSpPr/>
          <p:nvPr/>
        </p:nvSpPr>
        <p:spPr>
          <a:xfrm>
            <a:off x="4617720" y="3657600"/>
            <a:ext cx="64008" cy="1051560"/>
          </a:xfrm>
          <a:prstGeom prst="rect">
            <a:avLst/>
          </a:prstGeom>
          <a:solidFill>
            <a:srgbClr val="F39C12"/>
          </a:solidFill>
          <a:ln w="12700">
            <a:solidFill>
              <a:srgbClr val="F39C12"/>
            </a:solidFill>
            <a:prstDash val="solid"/>
          </a:ln>
        </p:spPr>
      </p:sp>
      <p:sp>
        <p:nvSpPr>
          <p:cNvPr id="51" name="Text 49"/>
          <p:cNvSpPr/>
          <p:nvPr/>
        </p:nvSpPr>
        <p:spPr>
          <a:xfrm>
            <a:off x="4782312" y="3712464"/>
            <a:ext cx="3977640" cy="274320"/>
          </a:xfrm>
          <a:prstGeom prst="rect">
            <a:avLst/>
          </a:prstGeom>
          <a:noFill/>
          <a:ln/>
        </p:spPr>
        <p:txBody>
          <a:bodyPr wrap="square" lIns="0" tIns="0" rIns="0" bIns="0" rtlCol="0" anchor="ctr"/>
          <a:lstStyle/>
          <a:p>
            <a:pPr indent="0" marL="0">
              <a:buNone/>
            </a:pPr>
            <a:r>
              <a:rPr lang="en-US" sz="1300" b="1" dirty="0">
                <a:solidFill>
                  <a:srgbClr val="F39C12"/>
                </a:solidFill>
                <a:latin typeface="Calibri" pitchFamily="34" charset="0"/>
                <a:ea typeface="Calibri" pitchFamily="34" charset="-122"/>
                <a:cs typeface="Calibri" pitchFamily="34" charset="-120"/>
              </a:rPr>
              <a:t>Why AE Alone Fails (Paper #31)</a:t>
            </a:r>
            <a:endParaRPr lang="en-US" sz="1300" dirty="0"/>
          </a:p>
        </p:txBody>
      </p:sp>
      <p:sp>
        <p:nvSpPr>
          <p:cNvPr id="52" name="Text 50"/>
          <p:cNvSpPr/>
          <p:nvPr/>
        </p:nvSpPr>
        <p:spPr>
          <a:xfrm>
            <a:off x="4818888" y="4005072"/>
            <a:ext cx="3931920" cy="18288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Adversarial AE trained to minimise our detector's MSE</a:t>
            </a:r>
            <a:endParaRPr lang="en-US" sz="1000" dirty="0"/>
          </a:p>
        </p:txBody>
      </p:sp>
      <p:sp>
        <p:nvSpPr>
          <p:cNvPr id="53" name="Text 51"/>
          <p:cNvSpPr/>
          <p:nvPr/>
        </p:nvSpPr>
        <p:spPr>
          <a:xfrm>
            <a:off x="4818888" y="4206240"/>
            <a:ext cx="3931920" cy="18288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Perturbation δ constrained to ‖δ‖∞ ≤ 0.1 (imperceptible)</a:t>
            </a:r>
            <a:endParaRPr lang="en-US" sz="1000" dirty="0"/>
          </a:p>
        </p:txBody>
      </p:sp>
      <p:sp>
        <p:nvSpPr>
          <p:cNvPr id="54" name="Text 52"/>
          <p:cNvSpPr/>
          <p:nvPr/>
        </p:nvSpPr>
        <p:spPr>
          <a:xfrm>
            <a:off x="4818888" y="4407408"/>
            <a:ext cx="3931920" cy="18288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Bypasses AE alone in ~94% of cycles (Paper #31 result)</a:t>
            </a:r>
            <a:endParaRPr lang="en-US" sz="1000" dirty="0"/>
          </a:p>
        </p:txBody>
      </p:sp>
      <p:sp>
        <p:nvSpPr>
          <p:cNvPr id="55" name="Text 53"/>
          <p:cNvSpPr/>
          <p:nvPr/>
        </p:nvSpPr>
        <p:spPr>
          <a:xfrm>
            <a:off x="4818888" y="4608576"/>
            <a:ext cx="3931920" cy="18288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 Layer 1 invariant catches what AE misses</a:t>
            </a:r>
            <a:endParaRPr lang="en-US" sz="1000" dirty="0"/>
          </a:p>
        </p:txBody>
      </p:sp>
      <p:sp>
        <p:nvSpPr>
          <p:cNvPr id="56" name="Shape 54"/>
          <p:cNvSpPr/>
          <p:nvPr/>
        </p:nvSpPr>
        <p:spPr>
          <a:xfrm>
            <a:off x="0" y="4754880"/>
            <a:ext cx="9144000" cy="384048"/>
          </a:xfrm>
          <a:prstGeom prst="rect">
            <a:avLst/>
          </a:prstGeom>
          <a:solidFill>
            <a:srgbClr val="1B3A5C"/>
          </a:solidFill>
          <a:ln w="12700">
            <a:solidFill>
              <a:srgbClr val="1B3A5C"/>
            </a:solidFill>
            <a:prstDash val="solid"/>
          </a:ln>
        </p:spPr>
      </p:sp>
      <p:sp>
        <p:nvSpPr>
          <p:cNvPr id="57" name="Text 55"/>
          <p:cNvSpPr/>
          <p:nvPr/>
        </p:nvSpPr>
        <p:spPr>
          <a:xfrm>
            <a:off x="274320" y="4754880"/>
            <a:ext cx="8595360" cy="38404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Defense  ·  Layer 2 — Autoencoder</a:t>
            </a:r>
            <a:endParaRPr lang="en-US" sz="1000"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39C12"/>
          </a:solidFill>
          <a:ln w="12700">
            <a:solidFill>
              <a:srgbClr val="F39C12"/>
            </a:solidFill>
            <a:prstDash val="solid"/>
          </a:ln>
        </p:spPr>
      </p:sp>
      <p:sp>
        <p:nvSpPr>
          <p:cNvPr id="3" name="Text 1"/>
          <p:cNvSpPr/>
          <p:nvPr/>
        </p:nvSpPr>
        <p:spPr>
          <a:xfrm>
            <a:off x="365760" y="164592"/>
            <a:ext cx="8229600" cy="475488"/>
          </a:xfrm>
          <a:prstGeom prst="rect">
            <a:avLst/>
          </a:prstGeom>
          <a:noFill/>
          <a:ln/>
        </p:spPr>
        <p:txBody>
          <a:bodyPr wrap="square" lIns="0" tIns="0" rIns="0" bIns="0"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Layer 3 — Decision Fusion &amp; Alert</a:t>
            </a:r>
            <a:endParaRPr lang="en-US" sz="2800" dirty="0"/>
          </a:p>
        </p:txBody>
      </p:sp>
      <p:sp>
        <p:nvSpPr>
          <p:cNvPr id="4" name="Text 2"/>
          <p:cNvSpPr/>
          <p:nvPr/>
        </p:nvSpPr>
        <p:spPr>
          <a:xfrm>
            <a:off x="365760" y="640080"/>
            <a:ext cx="8229600" cy="256032"/>
          </a:xfrm>
          <a:prstGeom prst="rect">
            <a:avLst/>
          </a:prstGeom>
          <a:noFill/>
          <a:ln/>
        </p:spPr>
        <p:txBody>
          <a:bodyPr wrap="square" lIns="0" tIns="0" rIns="0" bIns="0" rtlCol="0" anchor="ctr"/>
          <a:lstStyle/>
          <a:p>
            <a:pPr indent="0" marL="0">
              <a:buNone/>
            </a:pPr>
            <a:r>
              <a:rPr lang="en-US" sz="1200" i="1" dirty="0">
                <a:solidFill>
                  <a:srgbClr val="8FA3B1"/>
                </a:solidFill>
                <a:latin typeface="Calibri" pitchFamily="34" charset="0"/>
                <a:ea typeface="Calibri" pitchFamily="34" charset="-122"/>
                <a:cs typeface="Calibri" pitchFamily="34" charset="-120"/>
              </a:rPr>
              <a:t>Combines both detection signals — minimises false positives while maximising detection coverage</a:t>
            </a:r>
            <a:endParaRPr lang="en-US" sz="1200" dirty="0"/>
          </a:p>
        </p:txBody>
      </p:sp>
      <p:sp>
        <p:nvSpPr>
          <p:cNvPr id="5" name="Shape 3"/>
          <p:cNvSpPr/>
          <p:nvPr/>
        </p:nvSpPr>
        <p:spPr>
          <a:xfrm>
            <a:off x="274320" y="987552"/>
            <a:ext cx="8595360" cy="347472"/>
          </a:xfrm>
          <a:prstGeom prst="rect">
            <a:avLst/>
          </a:prstGeom>
          <a:solidFill>
            <a:srgbClr val="4A2A00"/>
          </a:solidFill>
          <a:ln w="12700">
            <a:solidFill>
              <a:srgbClr val="4A2A00"/>
            </a:solidFill>
            <a:prstDash val="solid"/>
          </a:ln>
        </p:spPr>
      </p:sp>
      <p:sp>
        <p:nvSpPr>
          <p:cNvPr id="6" name="Text 4"/>
          <p:cNvSpPr/>
          <p:nvPr/>
        </p:nvSpPr>
        <p:spPr>
          <a:xfrm>
            <a:off x="274320" y="1033272"/>
            <a:ext cx="182880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Invariant Flag</a:t>
            </a:r>
            <a:endParaRPr lang="en-US" sz="1100" dirty="0"/>
          </a:p>
        </p:txBody>
      </p:sp>
      <p:sp>
        <p:nvSpPr>
          <p:cNvPr id="7" name="Text 5"/>
          <p:cNvSpPr/>
          <p:nvPr/>
        </p:nvSpPr>
        <p:spPr>
          <a:xfrm>
            <a:off x="2194560" y="1033272"/>
            <a:ext cx="182880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AE Flag</a:t>
            </a:r>
            <a:endParaRPr lang="en-US" sz="1100" dirty="0"/>
          </a:p>
        </p:txBody>
      </p:sp>
      <p:sp>
        <p:nvSpPr>
          <p:cNvPr id="8" name="Text 6"/>
          <p:cNvSpPr/>
          <p:nvPr/>
        </p:nvSpPr>
        <p:spPr>
          <a:xfrm>
            <a:off x="4114800" y="1033272"/>
            <a:ext cx="160020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Output</a:t>
            </a:r>
            <a:endParaRPr lang="en-US" sz="1100" dirty="0"/>
          </a:p>
        </p:txBody>
      </p:sp>
      <p:sp>
        <p:nvSpPr>
          <p:cNvPr id="9" name="Text 7"/>
          <p:cNvSpPr/>
          <p:nvPr/>
        </p:nvSpPr>
        <p:spPr>
          <a:xfrm>
            <a:off x="5806440" y="1033272"/>
            <a:ext cx="118872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Confidence</a:t>
            </a:r>
            <a:endParaRPr lang="en-US" sz="1100" dirty="0"/>
          </a:p>
        </p:txBody>
      </p:sp>
      <p:sp>
        <p:nvSpPr>
          <p:cNvPr id="10" name="Text 8"/>
          <p:cNvSpPr/>
          <p:nvPr/>
        </p:nvSpPr>
        <p:spPr>
          <a:xfrm>
            <a:off x="7040880" y="1033272"/>
            <a:ext cx="210312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Action</a:t>
            </a:r>
            <a:endParaRPr lang="en-US" sz="1100" dirty="0"/>
          </a:p>
        </p:txBody>
      </p:sp>
      <p:sp>
        <p:nvSpPr>
          <p:cNvPr id="11" name="Text 9"/>
          <p:cNvSpPr/>
          <p:nvPr/>
        </p:nvSpPr>
        <p:spPr>
          <a:xfrm>
            <a:off x="274320" y="1033272"/>
            <a:ext cx="182880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Invariant Flag</a:t>
            </a:r>
            <a:endParaRPr lang="en-US" sz="1100" dirty="0"/>
          </a:p>
        </p:txBody>
      </p:sp>
      <p:sp>
        <p:nvSpPr>
          <p:cNvPr id="12" name="Text 10"/>
          <p:cNvSpPr/>
          <p:nvPr/>
        </p:nvSpPr>
        <p:spPr>
          <a:xfrm>
            <a:off x="2194560" y="1033272"/>
            <a:ext cx="182880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AE Flag</a:t>
            </a:r>
            <a:endParaRPr lang="en-US" sz="1100" dirty="0"/>
          </a:p>
        </p:txBody>
      </p:sp>
      <p:sp>
        <p:nvSpPr>
          <p:cNvPr id="13" name="Text 11"/>
          <p:cNvSpPr/>
          <p:nvPr/>
        </p:nvSpPr>
        <p:spPr>
          <a:xfrm>
            <a:off x="4114800" y="1033272"/>
            <a:ext cx="160020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Output</a:t>
            </a:r>
            <a:endParaRPr lang="en-US" sz="1100" dirty="0"/>
          </a:p>
        </p:txBody>
      </p:sp>
      <p:sp>
        <p:nvSpPr>
          <p:cNvPr id="14" name="Text 12"/>
          <p:cNvSpPr/>
          <p:nvPr/>
        </p:nvSpPr>
        <p:spPr>
          <a:xfrm>
            <a:off x="5806440" y="1033272"/>
            <a:ext cx="118872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Confidence</a:t>
            </a:r>
            <a:endParaRPr lang="en-US" sz="1100" dirty="0"/>
          </a:p>
        </p:txBody>
      </p:sp>
      <p:sp>
        <p:nvSpPr>
          <p:cNvPr id="15" name="Text 13"/>
          <p:cNvSpPr/>
          <p:nvPr/>
        </p:nvSpPr>
        <p:spPr>
          <a:xfrm>
            <a:off x="7040880" y="1033272"/>
            <a:ext cx="210312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Action</a:t>
            </a:r>
            <a:endParaRPr lang="en-US" sz="1100" dirty="0"/>
          </a:p>
        </p:txBody>
      </p:sp>
      <p:sp>
        <p:nvSpPr>
          <p:cNvPr id="16" name="Shape 14"/>
          <p:cNvSpPr/>
          <p:nvPr/>
        </p:nvSpPr>
        <p:spPr>
          <a:xfrm>
            <a:off x="274320" y="1371600"/>
            <a:ext cx="8595360" cy="457200"/>
          </a:xfrm>
          <a:prstGeom prst="rect">
            <a:avLst/>
          </a:prstGeom>
          <a:solidFill>
            <a:srgbClr val="FFF0F0"/>
          </a:solidFill>
          <a:ln w="12700">
            <a:solidFill>
              <a:srgbClr val="FFF0F0"/>
            </a:solidFill>
            <a:prstDash val="solid"/>
          </a:ln>
        </p:spPr>
      </p:sp>
      <p:sp>
        <p:nvSpPr>
          <p:cNvPr id="17" name="Shape 15"/>
          <p:cNvSpPr/>
          <p:nvPr/>
        </p:nvSpPr>
        <p:spPr>
          <a:xfrm>
            <a:off x="274320" y="1371600"/>
            <a:ext cx="64008" cy="457200"/>
          </a:xfrm>
          <a:prstGeom prst="rect">
            <a:avLst/>
          </a:prstGeom>
          <a:solidFill>
            <a:srgbClr val="E74C3C"/>
          </a:solidFill>
          <a:ln w="12700">
            <a:solidFill>
              <a:srgbClr val="E74C3C"/>
            </a:solidFill>
            <a:prstDash val="solid"/>
          </a:ln>
        </p:spPr>
      </p:sp>
      <p:sp>
        <p:nvSpPr>
          <p:cNvPr id="18" name="Text 16"/>
          <p:cNvSpPr/>
          <p:nvPr/>
        </p:nvSpPr>
        <p:spPr>
          <a:xfrm>
            <a:off x="274320" y="1444752"/>
            <a:ext cx="1828800" cy="310896"/>
          </a:xfrm>
          <a:prstGeom prst="rect">
            <a:avLst/>
          </a:prstGeom>
          <a:noFill/>
          <a:ln/>
        </p:spPr>
        <p:txBody>
          <a:bodyPr wrap="square" lIns="0" tIns="0" rIns="0" bIns="0" rtlCol="0" anchor="ctr"/>
          <a:lstStyle/>
          <a:p>
            <a:pPr indent="0" marL="0">
              <a:buNone/>
            </a:pPr>
            <a:r>
              <a:rPr lang="en-US" sz="1050" b="1" dirty="0">
                <a:solidFill>
                  <a:srgbClr val="E74C3C"/>
                </a:solidFill>
                <a:latin typeface="Calibri" pitchFamily="34" charset="0"/>
                <a:ea typeface="Calibri" pitchFamily="34" charset="-122"/>
                <a:cs typeface="Calibri" pitchFamily="34" charset="-120"/>
              </a:rPr>
              <a:t>✓  TRIGGERED</a:t>
            </a:r>
            <a:endParaRPr lang="en-US" sz="1050" dirty="0"/>
          </a:p>
        </p:txBody>
      </p:sp>
      <p:sp>
        <p:nvSpPr>
          <p:cNvPr id="19" name="Text 17"/>
          <p:cNvSpPr/>
          <p:nvPr/>
        </p:nvSpPr>
        <p:spPr>
          <a:xfrm>
            <a:off x="2194560" y="1444752"/>
            <a:ext cx="1828800" cy="310896"/>
          </a:xfrm>
          <a:prstGeom prst="rect">
            <a:avLst/>
          </a:prstGeom>
          <a:noFill/>
          <a:ln/>
        </p:spPr>
        <p:txBody>
          <a:bodyPr wrap="square" lIns="0" tIns="0" rIns="0" bIns="0" rtlCol="0" anchor="ctr"/>
          <a:lstStyle/>
          <a:p>
            <a:pPr indent="0" marL="0">
              <a:buNone/>
            </a:pPr>
            <a:r>
              <a:rPr lang="en-US" sz="1050" b="1" dirty="0">
                <a:solidFill>
                  <a:srgbClr val="E74C3C"/>
                </a:solidFill>
                <a:latin typeface="Calibri" pitchFamily="34" charset="0"/>
                <a:ea typeface="Calibri" pitchFamily="34" charset="-122"/>
                <a:cs typeface="Calibri" pitchFamily="34" charset="-120"/>
              </a:rPr>
              <a:t>✓  TRIGGERED</a:t>
            </a:r>
            <a:endParaRPr lang="en-US" sz="1050" dirty="0"/>
          </a:p>
        </p:txBody>
      </p:sp>
      <p:sp>
        <p:nvSpPr>
          <p:cNvPr id="20" name="Text 18"/>
          <p:cNvSpPr/>
          <p:nvPr/>
        </p:nvSpPr>
        <p:spPr>
          <a:xfrm>
            <a:off x="4114800" y="1444752"/>
            <a:ext cx="1600200" cy="310896"/>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  ALERT</a:t>
            </a:r>
            <a:endParaRPr lang="en-US" sz="1100" dirty="0"/>
          </a:p>
        </p:txBody>
      </p:sp>
      <p:sp>
        <p:nvSpPr>
          <p:cNvPr id="21" name="Text 19"/>
          <p:cNvSpPr/>
          <p:nvPr/>
        </p:nvSpPr>
        <p:spPr>
          <a:xfrm>
            <a:off x="5806440" y="1444752"/>
            <a:ext cx="1188720" cy="310896"/>
          </a:xfrm>
          <a:prstGeom prst="rect">
            <a:avLst/>
          </a:prstGeom>
          <a:noFill/>
          <a:ln/>
        </p:spPr>
        <p:txBody>
          <a:bodyPr wrap="square" lIns="0" tIns="0" rIns="0" bIns="0" rtlCol="0" anchor="ctr"/>
          <a:lstStyle/>
          <a:p>
            <a:pPr indent="0" marL="0">
              <a:buNone/>
            </a:pPr>
            <a:r>
              <a:rPr lang="en-US" sz="1050" dirty="0">
                <a:solidFill>
                  <a:srgbClr val="555555"/>
                </a:solidFill>
                <a:latin typeface="Calibri" pitchFamily="34" charset="0"/>
                <a:ea typeface="Calibri" pitchFamily="34" charset="-122"/>
                <a:cs typeface="Calibri" pitchFamily="34" charset="-120"/>
              </a:rPr>
              <a:t>HIGH (99%)</a:t>
            </a:r>
            <a:endParaRPr lang="en-US" sz="1050" dirty="0"/>
          </a:p>
        </p:txBody>
      </p:sp>
      <p:sp>
        <p:nvSpPr>
          <p:cNvPr id="22" name="Text 20"/>
          <p:cNvSpPr/>
          <p:nvPr/>
        </p:nvSpPr>
        <p:spPr>
          <a:xfrm>
            <a:off x="7040880" y="1444752"/>
            <a:ext cx="2103120" cy="310896"/>
          </a:xfrm>
          <a:prstGeom prst="rect">
            <a:avLst/>
          </a:prstGeom>
          <a:noFill/>
          <a:ln/>
        </p:spPr>
        <p:txBody>
          <a:bodyPr wrap="square" lIns="0" tIns="0" rIns="0" bIns="0" rtlCol="0" anchor="ctr"/>
          <a:lstStyle/>
          <a:p>
            <a:pPr indent="0" marL="0">
              <a:buNone/>
            </a:pPr>
            <a:r>
              <a:rPr lang="en-US" sz="1000" dirty="0">
                <a:solidFill>
                  <a:srgbClr val="0D1B2A"/>
                </a:solidFill>
                <a:latin typeface="Calibri" pitchFamily="34" charset="0"/>
                <a:ea typeface="Calibri" pitchFamily="34" charset="-122"/>
                <a:cs typeface="Calibri" pitchFamily="34" charset="-120"/>
              </a:rPr>
              <a:t>Initiate full recovery pipeline</a:t>
            </a:r>
            <a:endParaRPr lang="en-US" sz="1000" dirty="0"/>
          </a:p>
        </p:txBody>
      </p:sp>
      <p:sp>
        <p:nvSpPr>
          <p:cNvPr id="23" name="Shape 21"/>
          <p:cNvSpPr/>
          <p:nvPr/>
        </p:nvSpPr>
        <p:spPr>
          <a:xfrm>
            <a:off x="274320" y="1847088"/>
            <a:ext cx="8595360" cy="457200"/>
          </a:xfrm>
          <a:prstGeom prst="rect">
            <a:avLst/>
          </a:prstGeom>
          <a:solidFill>
            <a:srgbClr val="FFF5E8"/>
          </a:solidFill>
          <a:ln w="12700">
            <a:solidFill>
              <a:srgbClr val="FFF5E8"/>
            </a:solidFill>
            <a:prstDash val="solid"/>
          </a:ln>
        </p:spPr>
      </p:sp>
      <p:sp>
        <p:nvSpPr>
          <p:cNvPr id="24" name="Shape 22"/>
          <p:cNvSpPr/>
          <p:nvPr/>
        </p:nvSpPr>
        <p:spPr>
          <a:xfrm>
            <a:off x="274320" y="1847088"/>
            <a:ext cx="64008" cy="457200"/>
          </a:xfrm>
          <a:prstGeom prst="rect">
            <a:avLst/>
          </a:prstGeom>
          <a:solidFill>
            <a:srgbClr val="F39C12"/>
          </a:solidFill>
          <a:ln w="12700">
            <a:solidFill>
              <a:srgbClr val="F39C12"/>
            </a:solidFill>
            <a:prstDash val="solid"/>
          </a:ln>
        </p:spPr>
      </p:sp>
      <p:sp>
        <p:nvSpPr>
          <p:cNvPr id="25" name="Text 23"/>
          <p:cNvSpPr/>
          <p:nvPr/>
        </p:nvSpPr>
        <p:spPr>
          <a:xfrm>
            <a:off x="274320" y="1920240"/>
            <a:ext cx="1828800" cy="310896"/>
          </a:xfrm>
          <a:prstGeom prst="rect">
            <a:avLst/>
          </a:prstGeom>
          <a:noFill/>
          <a:ln/>
        </p:spPr>
        <p:txBody>
          <a:bodyPr wrap="square" lIns="0" tIns="0" rIns="0" bIns="0" rtlCol="0" anchor="ctr"/>
          <a:lstStyle/>
          <a:p>
            <a:pPr indent="0" marL="0">
              <a:buNone/>
            </a:pPr>
            <a:r>
              <a:rPr lang="en-US" sz="1050" b="1" dirty="0">
                <a:solidFill>
                  <a:srgbClr val="E74C3C"/>
                </a:solidFill>
                <a:latin typeface="Calibri" pitchFamily="34" charset="0"/>
                <a:ea typeface="Calibri" pitchFamily="34" charset="-122"/>
                <a:cs typeface="Calibri" pitchFamily="34" charset="-120"/>
              </a:rPr>
              <a:t>✓  TRIGGERED</a:t>
            </a:r>
            <a:endParaRPr lang="en-US" sz="1050" dirty="0"/>
          </a:p>
        </p:txBody>
      </p:sp>
      <p:sp>
        <p:nvSpPr>
          <p:cNvPr id="26" name="Text 24"/>
          <p:cNvSpPr/>
          <p:nvPr/>
        </p:nvSpPr>
        <p:spPr>
          <a:xfrm>
            <a:off x="2194560" y="1920240"/>
            <a:ext cx="1828800" cy="310896"/>
          </a:xfrm>
          <a:prstGeom prst="rect">
            <a:avLst/>
          </a:prstGeom>
          <a:noFill/>
          <a:ln/>
        </p:spPr>
        <p:txBody>
          <a:bodyPr wrap="square" lIns="0" tIns="0" rIns="0" bIns="0" rtlCol="0" anchor="ctr"/>
          <a:lstStyle/>
          <a:p>
            <a:pPr indent="0" marL="0">
              <a:buNone/>
            </a:pPr>
            <a:r>
              <a:rPr lang="en-US" sz="1050" dirty="0">
                <a:solidFill>
                  <a:srgbClr val="E74C3C"/>
                </a:solidFill>
                <a:latin typeface="Calibri" pitchFamily="34" charset="0"/>
                <a:ea typeface="Calibri" pitchFamily="34" charset="-122"/>
                <a:cs typeface="Calibri" pitchFamily="34" charset="-120"/>
              </a:rPr>
              <a:t>✗  Clean</a:t>
            </a:r>
            <a:endParaRPr lang="en-US" sz="1050" dirty="0"/>
          </a:p>
        </p:txBody>
      </p:sp>
      <p:sp>
        <p:nvSpPr>
          <p:cNvPr id="27" name="Text 25"/>
          <p:cNvSpPr/>
          <p:nvPr/>
        </p:nvSpPr>
        <p:spPr>
          <a:xfrm>
            <a:off x="4114800" y="1920240"/>
            <a:ext cx="1600200" cy="310896"/>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  ALERT</a:t>
            </a:r>
            <a:endParaRPr lang="en-US" sz="1100" dirty="0"/>
          </a:p>
        </p:txBody>
      </p:sp>
      <p:sp>
        <p:nvSpPr>
          <p:cNvPr id="28" name="Text 26"/>
          <p:cNvSpPr/>
          <p:nvPr/>
        </p:nvSpPr>
        <p:spPr>
          <a:xfrm>
            <a:off x="5806440" y="1920240"/>
            <a:ext cx="1188720" cy="310896"/>
          </a:xfrm>
          <a:prstGeom prst="rect">
            <a:avLst/>
          </a:prstGeom>
          <a:noFill/>
          <a:ln/>
        </p:spPr>
        <p:txBody>
          <a:bodyPr wrap="square" lIns="0" tIns="0" rIns="0" bIns="0" rtlCol="0" anchor="ctr"/>
          <a:lstStyle/>
          <a:p>
            <a:pPr indent="0" marL="0">
              <a:buNone/>
            </a:pPr>
            <a:r>
              <a:rPr lang="en-US" sz="1050" dirty="0">
                <a:solidFill>
                  <a:srgbClr val="555555"/>
                </a:solidFill>
                <a:latin typeface="Calibri" pitchFamily="34" charset="0"/>
                <a:ea typeface="Calibri" pitchFamily="34" charset="-122"/>
                <a:cs typeface="Calibri" pitchFamily="34" charset="-120"/>
              </a:rPr>
              <a:t>HIGH (95%)</a:t>
            </a:r>
            <a:endParaRPr lang="en-US" sz="1050" dirty="0"/>
          </a:p>
        </p:txBody>
      </p:sp>
      <p:sp>
        <p:nvSpPr>
          <p:cNvPr id="29" name="Text 27"/>
          <p:cNvSpPr/>
          <p:nvPr/>
        </p:nvSpPr>
        <p:spPr>
          <a:xfrm>
            <a:off x="7040880" y="1920240"/>
            <a:ext cx="2103120" cy="310896"/>
          </a:xfrm>
          <a:prstGeom prst="rect">
            <a:avLst/>
          </a:prstGeom>
          <a:noFill/>
          <a:ln/>
        </p:spPr>
        <p:txBody>
          <a:bodyPr wrap="square" lIns="0" tIns="0" rIns="0" bIns="0" rtlCol="0" anchor="ctr"/>
          <a:lstStyle/>
          <a:p>
            <a:pPr indent="0" marL="0">
              <a:buNone/>
            </a:pPr>
            <a:r>
              <a:rPr lang="en-US" sz="1000" dirty="0">
                <a:solidFill>
                  <a:srgbClr val="0D1B2A"/>
                </a:solidFill>
                <a:latin typeface="Calibri" pitchFamily="34" charset="0"/>
                <a:ea typeface="Calibri" pitchFamily="34" charset="-122"/>
                <a:cs typeface="Calibri" pitchFamily="34" charset="-120"/>
              </a:rPr>
              <a:t>Alert + log + verify invariant</a:t>
            </a:r>
            <a:endParaRPr lang="en-US" sz="1000" dirty="0"/>
          </a:p>
        </p:txBody>
      </p:sp>
      <p:sp>
        <p:nvSpPr>
          <p:cNvPr id="30" name="Shape 28"/>
          <p:cNvSpPr/>
          <p:nvPr/>
        </p:nvSpPr>
        <p:spPr>
          <a:xfrm>
            <a:off x="274320" y="2322576"/>
            <a:ext cx="8595360" cy="457200"/>
          </a:xfrm>
          <a:prstGeom prst="rect">
            <a:avLst/>
          </a:prstGeom>
          <a:solidFill>
            <a:srgbClr val="FFFFF0"/>
          </a:solidFill>
          <a:ln w="12700">
            <a:solidFill>
              <a:srgbClr val="FFFFF0"/>
            </a:solidFill>
            <a:prstDash val="solid"/>
          </a:ln>
        </p:spPr>
      </p:sp>
      <p:sp>
        <p:nvSpPr>
          <p:cNvPr id="31" name="Shape 29"/>
          <p:cNvSpPr/>
          <p:nvPr/>
        </p:nvSpPr>
        <p:spPr>
          <a:xfrm>
            <a:off x="274320" y="2322576"/>
            <a:ext cx="64008" cy="457200"/>
          </a:xfrm>
          <a:prstGeom prst="rect">
            <a:avLst/>
          </a:prstGeom>
          <a:solidFill>
            <a:srgbClr val="C8A000"/>
          </a:solidFill>
          <a:ln w="12700">
            <a:solidFill>
              <a:srgbClr val="C8A000"/>
            </a:solidFill>
            <a:prstDash val="solid"/>
          </a:ln>
        </p:spPr>
      </p:sp>
      <p:sp>
        <p:nvSpPr>
          <p:cNvPr id="32" name="Text 30"/>
          <p:cNvSpPr/>
          <p:nvPr/>
        </p:nvSpPr>
        <p:spPr>
          <a:xfrm>
            <a:off x="274320" y="2395728"/>
            <a:ext cx="1828800" cy="310896"/>
          </a:xfrm>
          <a:prstGeom prst="rect">
            <a:avLst/>
          </a:prstGeom>
          <a:noFill/>
          <a:ln/>
        </p:spPr>
        <p:txBody>
          <a:bodyPr wrap="square" lIns="0" tIns="0" rIns="0" bIns="0" rtlCol="0" anchor="ctr"/>
          <a:lstStyle/>
          <a:p>
            <a:pPr indent="0" marL="0">
              <a:buNone/>
            </a:pPr>
            <a:r>
              <a:rPr lang="en-US" sz="1050" dirty="0">
                <a:solidFill>
                  <a:srgbClr val="E74C3C"/>
                </a:solidFill>
                <a:latin typeface="Calibri" pitchFamily="34" charset="0"/>
                <a:ea typeface="Calibri" pitchFamily="34" charset="-122"/>
                <a:cs typeface="Calibri" pitchFamily="34" charset="-120"/>
              </a:rPr>
              <a:t>✗  Clean</a:t>
            </a:r>
            <a:endParaRPr lang="en-US" sz="1050" dirty="0"/>
          </a:p>
        </p:txBody>
      </p:sp>
      <p:sp>
        <p:nvSpPr>
          <p:cNvPr id="33" name="Text 31"/>
          <p:cNvSpPr/>
          <p:nvPr/>
        </p:nvSpPr>
        <p:spPr>
          <a:xfrm>
            <a:off x="2194560" y="2395728"/>
            <a:ext cx="1828800" cy="310896"/>
          </a:xfrm>
          <a:prstGeom prst="rect">
            <a:avLst/>
          </a:prstGeom>
          <a:noFill/>
          <a:ln/>
        </p:spPr>
        <p:txBody>
          <a:bodyPr wrap="square" lIns="0" tIns="0" rIns="0" bIns="0" rtlCol="0" anchor="ctr"/>
          <a:lstStyle/>
          <a:p>
            <a:pPr indent="0" marL="0">
              <a:buNone/>
            </a:pPr>
            <a:r>
              <a:rPr lang="en-US" sz="1050" b="1" dirty="0">
                <a:solidFill>
                  <a:srgbClr val="777777"/>
                </a:solidFill>
                <a:latin typeface="Calibri" pitchFamily="34" charset="0"/>
                <a:ea typeface="Calibri" pitchFamily="34" charset="-122"/>
                <a:cs typeface="Calibri" pitchFamily="34" charset="-120"/>
              </a:rPr>
              <a:t>✓  TRIGGERED</a:t>
            </a:r>
            <a:endParaRPr lang="en-US" sz="1050" dirty="0"/>
          </a:p>
        </p:txBody>
      </p:sp>
      <p:sp>
        <p:nvSpPr>
          <p:cNvPr id="34" name="Text 32"/>
          <p:cNvSpPr/>
          <p:nvPr/>
        </p:nvSpPr>
        <p:spPr>
          <a:xfrm>
            <a:off x="4114800" y="2395728"/>
            <a:ext cx="1600200" cy="310896"/>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  WARN</a:t>
            </a:r>
            <a:endParaRPr lang="en-US" sz="1100" dirty="0"/>
          </a:p>
        </p:txBody>
      </p:sp>
      <p:sp>
        <p:nvSpPr>
          <p:cNvPr id="35" name="Text 33"/>
          <p:cNvSpPr/>
          <p:nvPr/>
        </p:nvSpPr>
        <p:spPr>
          <a:xfrm>
            <a:off x="5806440" y="2395728"/>
            <a:ext cx="1188720" cy="310896"/>
          </a:xfrm>
          <a:prstGeom prst="rect">
            <a:avLst/>
          </a:prstGeom>
          <a:noFill/>
          <a:ln/>
        </p:spPr>
        <p:txBody>
          <a:bodyPr wrap="square" lIns="0" tIns="0" rIns="0" bIns="0" rtlCol="0" anchor="ctr"/>
          <a:lstStyle/>
          <a:p>
            <a:pPr indent="0" marL="0">
              <a:buNone/>
            </a:pPr>
            <a:r>
              <a:rPr lang="en-US" sz="1050" dirty="0">
                <a:solidFill>
                  <a:srgbClr val="555555"/>
                </a:solidFill>
                <a:latin typeface="Calibri" pitchFamily="34" charset="0"/>
                <a:ea typeface="Calibri" pitchFamily="34" charset="-122"/>
                <a:cs typeface="Calibri" pitchFamily="34" charset="-120"/>
              </a:rPr>
              <a:t>MEDIUM (70%)</a:t>
            </a:r>
            <a:endParaRPr lang="en-US" sz="1050" dirty="0"/>
          </a:p>
        </p:txBody>
      </p:sp>
      <p:sp>
        <p:nvSpPr>
          <p:cNvPr id="36" name="Text 34"/>
          <p:cNvSpPr/>
          <p:nvPr/>
        </p:nvSpPr>
        <p:spPr>
          <a:xfrm>
            <a:off x="7040880" y="2395728"/>
            <a:ext cx="2103120" cy="310896"/>
          </a:xfrm>
          <a:prstGeom prst="rect">
            <a:avLst/>
          </a:prstGeom>
          <a:noFill/>
          <a:ln/>
        </p:spPr>
        <p:txBody>
          <a:bodyPr wrap="square" lIns="0" tIns="0" rIns="0" bIns="0" rtlCol="0" anchor="ctr"/>
          <a:lstStyle/>
          <a:p>
            <a:pPr indent="0" marL="0">
              <a:buNone/>
            </a:pPr>
            <a:r>
              <a:rPr lang="en-US" sz="1000" dirty="0">
                <a:solidFill>
                  <a:srgbClr val="0D1B2A"/>
                </a:solidFill>
                <a:latin typeface="Calibri" pitchFamily="34" charset="0"/>
                <a:ea typeface="Calibri" pitchFamily="34" charset="-122"/>
                <a:cs typeface="Calibri" pitchFamily="34" charset="-120"/>
              </a:rPr>
              <a:t>Investigate — possible drift</a:t>
            </a:r>
            <a:endParaRPr lang="en-US" sz="1000" dirty="0"/>
          </a:p>
        </p:txBody>
      </p:sp>
      <p:sp>
        <p:nvSpPr>
          <p:cNvPr id="37" name="Shape 35"/>
          <p:cNvSpPr/>
          <p:nvPr/>
        </p:nvSpPr>
        <p:spPr>
          <a:xfrm>
            <a:off x="274320" y="2798064"/>
            <a:ext cx="8595360" cy="457200"/>
          </a:xfrm>
          <a:prstGeom prst="rect">
            <a:avLst/>
          </a:prstGeom>
          <a:solidFill>
            <a:srgbClr val="F0FFF4"/>
          </a:solidFill>
          <a:ln w="12700">
            <a:solidFill>
              <a:srgbClr val="F0FFF4"/>
            </a:solidFill>
            <a:prstDash val="solid"/>
          </a:ln>
        </p:spPr>
      </p:sp>
      <p:sp>
        <p:nvSpPr>
          <p:cNvPr id="38" name="Shape 36"/>
          <p:cNvSpPr/>
          <p:nvPr/>
        </p:nvSpPr>
        <p:spPr>
          <a:xfrm>
            <a:off x="274320" y="2798064"/>
            <a:ext cx="64008" cy="457200"/>
          </a:xfrm>
          <a:prstGeom prst="rect">
            <a:avLst/>
          </a:prstGeom>
          <a:solidFill>
            <a:srgbClr val="2ECC71"/>
          </a:solidFill>
          <a:ln w="12700">
            <a:solidFill>
              <a:srgbClr val="2ECC71"/>
            </a:solidFill>
            <a:prstDash val="solid"/>
          </a:ln>
        </p:spPr>
      </p:sp>
      <p:sp>
        <p:nvSpPr>
          <p:cNvPr id="39" name="Text 37"/>
          <p:cNvSpPr/>
          <p:nvPr/>
        </p:nvSpPr>
        <p:spPr>
          <a:xfrm>
            <a:off x="274320" y="2871216"/>
            <a:ext cx="1828800" cy="310896"/>
          </a:xfrm>
          <a:prstGeom prst="rect">
            <a:avLst/>
          </a:prstGeom>
          <a:noFill/>
          <a:ln/>
        </p:spPr>
        <p:txBody>
          <a:bodyPr wrap="square" lIns="0" tIns="0" rIns="0" bIns="0" rtlCol="0" anchor="ctr"/>
          <a:lstStyle/>
          <a:p>
            <a:pPr indent="0" marL="0">
              <a:buNone/>
            </a:pPr>
            <a:r>
              <a:rPr lang="en-US" sz="1050" dirty="0">
                <a:solidFill>
                  <a:srgbClr val="1A8A47"/>
                </a:solidFill>
                <a:latin typeface="Calibri" pitchFamily="34" charset="0"/>
                <a:ea typeface="Calibri" pitchFamily="34" charset="-122"/>
                <a:cs typeface="Calibri" pitchFamily="34" charset="-120"/>
              </a:rPr>
              <a:t>✗  Clean</a:t>
            </a:r>
            <a:endParaRPr lang="en-US" sz="1050" dirty="0"/>
          </a:p>
        </p:txBody>
      </p:sp>
      <p:sp>
        <p:nvSpPr>
          <p:cNvPr id="40" name="Text 38"/>
          <p:cNvSpPr/>
          <p:nvPr/>
        </p:nvSpPr>
        <p:spPr>
          <a:xfrm>
            <a:off x="2194560" y="2871216"/>
            <a:ext cx="1828800" cy="310896"/>
          </a:xfrm>
          <a:prstGeom prst="rect">
            <a:avLst/>
          </a:prstGeom>
          <a:noFill/>
          <a:ln/>
        </p:spPr>
        <p:txBody>
          <a:bodyPr wrap="square" lIns="0" tIns="0" rIns="0" bIns="0" rtlCol="0" anchor="ctr"/>
          <a:lstStyle/>
          <a:p>
            <a:pPr indent="0" marL="0">
              <a:buNone/>
            </a:pPr>
            <a:r>
              <a:rPr lang="en-US" sz="1050" dirty="0">
                <a:solidFill>
                  <a:srgbClr val="E74C3C"/>
                </a:solidFill>
                <a:latin typeface="Calibri" pitchFamily="34" charset="0"/>
                <a:ea typeface="Calibri" pitchFamily="34" charset="-122"/>
                <a:cs typeface="Calibri" pitchFamily="34" charset="-120"/>
              </a:rPr>
              <a:t>✗  Clean</a:t>
            </a:r>
            <a:endParaRPr lang="en-US" sz="1050" dirty="0"/>
          </a:p>
        </p:txBody>
      </p:sp>
      <p:sp>
        <p:nvSpPr>
          <p:cNvPr id="41" name="Text 39"/>
          <p:cNvSpPr/>
          <p:nvPr/>
        </p:nvSpPr>
        <p:spPr>
          <a:xfrm>
            <a:off x="4114800" y="2871216"/>
            <a:ext cx="1600200" cy="310896"/>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  NORMAL</a:t>
            </a:r>
            <a:endParaRPr lang="en-US" sz="1100" dirty="0"/>
          </a:p>
        </p:txBody>
      </p:sp>
      <p:sp>
        <p:nvSpPr>
          <p:cNvPr id="42" name="Text 40"/>
          <p:cNvSpPr/>
          <p:nvPr/>
        </p:nvSpPr>
        <p:spPr>
          <a:xfrm>
            <a:off x="5806440" y="2871216"/>
            <a:ext cx="1188720" cy="310896"/>
          </a:xfrm>
          <a:prstGeom prst="rect">
            <a:avLst/>
          </a:prstGeom>
          <a:noFill/>
          <a:ln/>
        </p:spPr>
        <p:txBody>
          <a:bodyPr wrap="square" lIns="0" tIns="0" rIns="0" bIns="0" rtlCol="0" anchor="ctr"/>
          <a:lstStyle/>
          <a:p>
            <a:pPr indent="0" marL="0">
              <a:buNone/>
            </a:pPr>
            <a:r>
              <a:rPr lang="en-US" sz="1050" dirty="0">
                <a:solidFill>
                  <a:srgbClr val="555555"/>
                </a:solidFill>
                <a:latin typeface="Calibri" pitchFamily="34" charset="0"/>
                <a:ea typeface="Calibri" pitchFamily="34" charset="-122"/>
                <a:cs typeface="Calibri" pitchFamily="34" charset="-120"/>
              </a:rPr>
              <a:t>N/A</a:t>
            </a:r>
            <a:endParaRPr lang="en-US" sz="1050" dirty="0"/>
          </a:p>
        </p:txBody>
      </p:sp>
      <p:sp>
        <p:nvSpPr>
          <p:cNvPr id="43" name="Text 41"/>
          <p:cNvSpPr/>
          <p:nvPr/>
        </p:nvSpPr>
        <p:spPr>
          <a:xfrm>
            <a:off x="7040880" y="2871216"/>
            <a:ext cx="2103120" cy="310896"/>
          </a:xfrm>
          <a:prstGeom prst="rect">
            <a:avLst/>
          </a:prstGeom>
          <a:noFill/>
          <a:ln/>
        </p:spPr>
        <p:txBody>
          <a:bodyPr wrap="square" lIns="0" tIns="0" rIns="0" bIns="0" rtlCol="0" anchor="ctr"/>
          <a:lstStyle/>
          <a:p>
            <a:pPr indent="0" marL="0">
              <a:buNone/>
            </a:pPr>
            <a:r>
              <a:rPr lang="en-US" sz="1000" dirty="0">
                <a:solidFill>
                  <a:srgbClr val="0D1B2A"/>
                </a:solidFill>
                <a:latin typeface="Calibri" pitchFamily="34" charset="0"/>
                <a:ea typeface="Calibri" pitchFamily="34" charset="-122"/>
                <a:cs typeface="Calibri" pitchFamily="34" charset="-120"/>
              </a:rPr>
              <a:t>Continue normal operation</a:t>
            </a:r>
            <a:endParaRPr lang="en-US" sz="1000" dirty="0"/>
          </a:p>
        </p:txBody>
      </p:sp>
      <p:sp>
        <p:nvSpPr>
          <p:cNvPr id="44" name="Shape 42"/>
          <p:cNvSpPr/>
          <p:nvPr/>
        </p:nvSpPr>
        <p:spPr>
          <a:xfrm>
            <a:off x="274320" y="3337560"/>
            <a:ext cx="4160520" cy="1325880"/>
          </a:xfrm>
          <a:prstGeom prst="rect">
            <a:avLst/>
          </a:prstGeom>
          <a:solidFill>
            <a:srgbClr val="1B3A5C"/>
          </a:solidFill>
          <a:ln w="12700">
            <a:solidFill>
              <a:srgbClr val="1B3A5C"/>
            </a:solidFill>
            <a:prstDash val="solid"/>
          </a:ln>
        </p:spPr>
      </p:sp>
      <p:sp>
        <p:nvSpPr>
          <p:cNvPr id="45" name="Shape 43"/>
          <p:cNvSpPr/>
          <p:nvPr/>
        </p:nvSpPr>
        <p:spPr>
          <a:xfrm>
            <a:off x="274320" y="3337560"/>
            <a:ext cx="64008" cy="1325880"/>
          </a:xfrm>
          <a:prstGeom prst="rect">
            <a:avLst/>
          </a:prstGeom>
          <a:solidFill>
            <a:srgbClr val="F39C12"/>
          </a:solidFill>
          <a:ln w="12700">
            <a:solidFill>
              <a:srgbClr val="F39C12"/>
            </a:solidFill>
            <a:prstDash val="solid"/>
          </a:ln>
        </p:spPr>
      </p:sp>
      <p:sp>
        <p:nvSpPr>
          <p:cNvPr id="46" name="Text 44"/>
          <p:cNvSpPr/>
          <p:nvPr/>
        </p:nvSpPr>
        <p:spPr>
          <a:xfrm>
            <a:off x="457200" y="3401568"/>
            <a:ext cx="3794760" cy="274320"/>
          </a:xfrm>
          <a:prstGeom prst="rect">
            <a:avLst/>
          </a:prstGeom>
          <a:noFill/>
          <a:ln/>
        </p:spPr>
        <p:txBody>
          <a:bodyPr wrap="square" lIns="0" tIns="0" rIns="0" bIns="0" rtlCol="0" anchor="ctr"/>
          <a:lstStyle/>
          <a:p>
            <a:pPr indent="0" marL="0">
              <a:buNone/>
            </a:pPr>
            <a:r>
              <a:rPr lang="en-US" sz="1300" b="1" dirty="0">
                <a:solidFill>
                  <a:srgbClr val="F39C12"/>
                </a:solidFill>
                <a:latin typeface="Calibri" pitchFamily="34" charset="0"/>
                <a:ea typeface="Calibri" pitchFamily="34" charset="-122"/>
                <a:cs typeface="Calibri" pitchFamily="34" charset="-120"/>
              </a:rPr>
              <a:t>Weighted Fusion Formula</a:t>
            </a:r>
            <a:endParaRPr lang="en-US" sz="1300" dirty="0"/>
          </a:p>
        </p:txBody>
      </p:sp>
      <p:sp>
        <p:nvSpPr>
          <p:cNvPr id="47" name="Text 45"/>
          <p:cNvSpPr/>
          <p:nvPr/>
        </p:nvSpPr>
        <p:spPr>
          <a:xfrm>
            <a:off x="457200" y="3721608"/>
            <a:ext cx="3794760" cy="256032"/>
          </a:xfrm>
          <a:prstGeom prst="rect">
            <a:avLst/>
          </a:prstGeom>
          <a:noFill/>
          <a:ln/>
        </p:spPr>
        <p:txBody>
          <a:bodyPr wrap="square" lIns="0" tIns="0" rIns="0" bIns="0" rtlCol="0" anchor="ctr"/>
          <a:lstStyle/>
          <a:p>
            <a:pPr indent="0" marL="0">
              <a:buNone/>
            </a:pPr>
            <a:r>
              <a:rPr lang="en-US" sz="1100" dirty="0">
                <a:solidFill>
                  <a:srgbClr val="E8EEF4"/>
                </a:solidFill>
                <a:latin typeface="Consolas" pitchFamily="34" charset="0"/>
                <a:ea typeface="Consolas" pitchFamily="34" charset="-122"/>
                <a:cs typeface="Consolas" pitchFamily="34" charset="-120"/>
              </a:rPr>
              <a:t>score_fusion = 1.5 × inv_flag + 1.0 × ae_flag</a:t>
            </a:r>
            <a:endParaRPr lang="en-US" sz="1100" dirty="0"/>
          </a:p>
        </p:txBody>
      </p:sp>
      <p:sp>
        <p:nvSpPr>
          <p:cNvPr id="48" name="Text 46"/>
          <p:cNvSpPr/>
          <p:nvPr/>
        </p:nvSpPr>
        <p:spPr>
          <a:xfrm>
            <a:off x="457200" y="3977640"/>
            <a:ext cx="3794760" cy="228600"/>
          </a:xfrm>
          <a:prstGeom prst="rect">
            <a:avLst/>
          </a:prstGeom>
          <a:noFill/>
          <a:ln/>
        </p:spPr>
        <p:txBody>
          <a:bodyPr wrap="square" lIns="0" tIns="0" rIns="0" bIns="0" rtlCol="0" anchor="ctr"/>
          <a:lstStyle/>
          <a:p>
            <a:pPr indent="0" marL="0">
              <a:buNone/>
            </a:pPr>
            <a:r>
              <a:rPr lang="en-US" sz="1100" dirty="0">
                <a:solidFill>
                  <a:srgbClr val="0FB3C5"/>
                </a:solidFill>
                <a:latin typeface="Consolas" pitchFamily="34" charset="0"/>
                <a:ea typeface="Consolas" pitchFamily="34" charset="-122"/>
                <a:cs typeface="Consolas" pitchFamily="34" charset="-120"/>
              </a:rPr>
              <a:t>ALERT  if score_fusion ≥ 1.5  (3-cycle window)</a:t>
            </a:r>
            <a:endParaRPr lang="en-US" sz="1100" dirty="0"/>
          </a:p>
        </p:txBody>
      </p:sp>
      <p:sp>
        <p:nvSpPr>
          <p:cNvPr id="49" name="Text 47"/>
          <p:cNvSpPr/>
          <p:nvPr/>
        </p:nvSpPr>
        <p:spPr>
          <a:xfrm>
            <a:off x="457200" y="4251960"/>
            <a:ext cx="3794760" cy="347472"/>
          </a:xfrm>
          <a:prstGeom prst="rect">
            <a:avLst/>
          </a:prstGeom>
          <a:noFill/>
          <a:ln/>
        </p:spPr>
        <p:txBody>
          <a:bodyPr wrap="square" lIns="0" tIns="0" rIns="0" bIns="0" rtlCol="0" anchor="ctr"/>
          <a:lstStyle/>
          <a:p>
            <a:pPr indent="0" marL="0">
              <a:buNone/>
            </a:pPr>
            <a:r>
              <a:rPr lang="en-US" sz="1000" i="1" dirty="0">
                <a:solidFill>
                  <a:srgbClr val="8FA3B1"/>
                </a:solidFill>
                <a:latin typeface="Calibri" pitchFamily="34" charset="0"/>
                <a:ea typeface="Calibri" pitchFamily="34" charset="-122"/>
                <a:cs typeface="Calibri" pitchFamily="34" charset="-120"/>
              </a:rPr>
              <a:t>Invariant weighted ×1.5 because physics violations are deterministic, not probabilistic.</a:t>
            </a:r>
            <a:endParaRPr lang="en-US" sz="1000" dirty="0"/>
          </a:p>
        </p:txBody>
      </p:sp>
      <p:sp>
        <p:nvSpPr>
          <p:cNvPr id="50" name="Shape 48"/>
          <p:cNvSpPr/>
          <p:nvPr/>
        </p:nvSpPr>
        <p:spPr>
          <a:xfrm>
            <a:off x="4617720" y="3337560"/>
            <a:ext cx="4251960" cy="1325880"/>
          </a:xfrm>
          <a:prstGeom prst="rect">
            <a:avLst/>
          </a:prstGeom>
          <a:solidFill>
            <a:srgbClr val="1B3A5C"/>
          </a:solidFill>
          <a:ln w="12700">
            <a:solidFill>
              <a:srgbClr val="1B3A5C"/>
            </a:solidFill>
            <a:prstDash val="solid"/>
          </a:ln>
        </p:spPr>
      </p:sp>
      <p:sp>
        <p:nvSpPr>
          <p:cNvPr id="51" name="Shape 49"/>
          <p:cNvSpPr/>
          <p:nvPr/>
        </p:nvSpPr>
        <p:spPr>
          <a:xfrm>
            <a:off x="4617720" y="3337560"/>
            <a:ext cx="64008" cy="1325880"/>
          </a:xfrm>
          <a:prstGeom prst="rect">
            <a:avLst/>
          </a:prstGeom>
          <a:solidFill>
            <a:srgbClr val="0A7E8C"/>
          </a:solidFill>
          <a:ln w="12700">
            <a:solidFill>
              <a:srgbClr val="0A7E8C"/>
            </a:solidFill>
            <a:prstDash val="solid"/>
          </a:ln>
        </p:spPr>
      </p:sp>
      <p:sp>
        <p:nvSpPr>
          <p:cNvPr id="52" name="Text 50"/>
          <p:cNvSpPr/>
          <p:nvPr/>
        </p:nvSpPr>
        <p:spPr>
          <a:xfrm>
            <a:off x="4800600" y="3401568"/>
            <a:ext cx="3886200" cy="274320"/>
          </a:xfrm>
          <a:prstGeom prst="rect">
            <a:avLst/>
          </a:prstGeom>
          <a:noFill/>
          <a:ln/>
        </p:spPr>
        <p:txBody>
          <a:bodyPr wrap="square" lIns="0" tIns="0" rIns="0" bIns="0" rtlCol="0" anchor="ctr"/>
          <a:lstStyle/>
          <a:p>
            <a:pPr indent="0" marL="0">
              <a:buNone/>
            </a:pPr>
            <a:r>
              <a:rPr lang="en-US" sz="1300" b="1" dirty="0">
                <a:solidFill>
                  <a:srgbClr val="0FB3C5"/>
                </a:solidFill>
                <a:latin typeface="Calibri" pitchFamily="34" charset="0"/>
                <a:ea typeface="Calibri" pitchFamily="34" charset="-122"/>
                <a:cs typeface="Calibri" pitchFamily="34" charset="-120"/>
              </a:rPr>
              <a:t>Timing Constraints (SWaT)</a:t>
            </a:r>
            <a:endParaRPr lang="en-US" sz="1300" dirty="0"/>
          </a:p>
        </p:txBody>
      </p:sp>
      <p:sp>
        <p:nvSpPr>
          <p:cNvPr id="53" name="Text 51"/>
          <p:cNvSpPr/>
          <p:nvPr/>
        </p:nvSpPr>
        <p:spPr>
          <a:xfrm>
            <a:off x="4800600" y="3749040"/>
            <a:ext cx="3886200" cy="164592"/>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PLC polling cycle: 1–2 seconds</a:t>
            </a:r>
            <a:endParaRPr lang="en-US" sz="1000" dirty="0"/>
          </a:p>
        </p:txBody>
      </p:sp>
      <p:sp>
        <p:nvSpPr>
          <p:cNvPr id="54" name="Text 52"/>
          <p:cNvSpPr/>
          <p:nvPr/>
        </p:nvSpPr>
        <p:spPr>
          <a:xfrm>
            <a:off x="4800600" y="3922776"/>
            <a:ext cx="3886200" cy="164592"/>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Invariant check: &lt;1 ms (rule lookup)</a:t>
            </a:r>
            <a:endParaRPr lang="en-US" sz="1000" dirty="0"/>
          </a:p>
        </p:txBody>
      </p:sp>
      <p:sp>
        <p:nvSpPr>
          <p:cNvPr id="55" name="Text 53"/>
          <p:cNvSpPr/>
          <p:nvPr/>
        </p:nvSpPr>
        <p:spPr>
          <a:xfrm>
            <a:off x="4800600" y="4096512"/>
            <a:ext cx="3886200" cy="164592"/>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AE inference: ~8 ms (GPU) / ~45 ms (CPU)</a:t>
            </a:r>
            <a:endParaRPr lang="en-US" sz="1000" dirty="0"/>
          </a:p>
        </p:txBody>
      </p:sp>
      <p:sp>
        <p:nvSpPr>
          <p:cNvPr id="56" name="Text 54"/>
          <p:cNvSpPr/>
          <p:nvPr/>
        </p:nvSpPr>
        <p:spPr>
          <a:xfrm>
            <a:off x="4800600" y="4270248"/>
            <a:ext cx="3886200" cy="164592"/>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Total detection latency: &lt;50 ms per cycle</a:t>
            </a:r>
            <a:endParaRPr lang="en-US" sz="1000" dirty="0"/>
          </a:p>
        </p:txBody>
      </p:sp>
      <p:sp>
        <p:nvSpPr>
          <p:cNvPr id="57" name="Text 55"/>
          <p:cNvSpPr/>
          <p:nvPr/>
        </p:nvSpPr>
        <p:spPr>
          <a:xfrm>
            <a:off x="4800600" y="4443984"/>
            <a:ext cx="3886200" cy="164592"/>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3-cycle confirmation: 3–6 seconds to alert</a:t>
            </a:r>
            <a:endParaRPr lang="en-US" sz="1000" dirty="0"/>
          </a:p>
        </p:txBody>
      </p:sp>
      <p:sp>
        <p:nvSpPr>
          <p:cNvPr id="58" name="Shape 56"/>
          <p:cNvSpPr/>
          <p:nvPr/>
        </p:nvSpPr>
        <p:spPr>
          <a:xfrm>
            <a:off x="0" y="4754880"/>
            <a:ext cx="9144000" cy="384048"/>
          </a:xfrm>
          <a:prstGeom prst="rect">
            <a:avLst/>
          </a:prstGeom>
          <a:solidFill>
            <a:srgbClr val="1B3A5C"/>
          </a:solidFill>
          <a:ln w="12700">
            <a:solidFill>
              <a:srgbClr val="1B3A5C"/>
            </a:solidFill>
            <a:prstDash val="solid"/>
          </a:ln>
        </p:spPr>
      </p:sp>
      <p:sp>
        <p:nvSpPr>
          <p:cNvPr id="59" name="Text 57"/>
          <p:cNvSpPr/>
          <p:nvPr/>
        </p:nvSpPr>
        <p:spPr>
          <a:xfrm>
            <a:off x="274320" y="4754880"/>
            <a:ext cx="8595360" cy="38404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Defense  ·  Layer 3 — Fusion</a:t>
            </a:r>
            <a:endParaRPr lang="en-US" sz="1000" dirty="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8E44AD"/>
          </a:solidFill>
          <a:ln w="12700">
            <a:solidFill>
              <a:srgbClr val="8E44AD"/>
            </a:solidFill>
            <a:prstDash val="solid"/>
          </a:ln>
        </p:spPr>
      </p:sp>
      <p:sp>
        <p:nvSpPr>
          <p:cNvPr id="3" name="Text 1"/>
          <p:cNvSpPr/>
          <p:nvPr/>
        </p:nvSpPr>
        <p:spPr>
          <a:xfrm>
            <a:off x="365760" y="164592"/>
            <a:ext cx="8412480" cy="475488"/>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Why the Hybrid Defeats Paper #31's Evasion</a:t>
            </a:r>
            <a:endParaRPr lang="en-US" sz="2600" dirty="0"/>
          </a:p>
        </p:txBody>
      </p:sp>
      <p:sp>
        <p:nvSpPr>
          <p:cNvPr id="4" name="Text 2"/>
          <p:cNvSpPr/>
          <p:nvPr/>
        </p:nvSpPr>
        <p:spPr>
          <a:xfrm>
            <a:off x="365760" y="640080"/>
            <a:ext cx="8412480" cy="256032"/>
          </a:xfrm>
          <a:prstGeom prst="rect">
            <a:avLst/>
          </a:prstGeom>
          <a:noFill/>
          <a:ln/>
        </p:spPr>
        <p:txBody>
          <a:bodyPr wrap="square" lIns="0" tIns="0" rIns="0" bIns="0" rtlCol="0" anchor="ctr"/>
          <a:lstStyle/>
          <a:p>
            <a:pPr indent="0" marL="0">
              <a:buNone/>
            </a:pPr>
            <a:r>
              <a:rPr lang="en-US" sz="1200" i="1" dirty="0">
                <a:solidFill>
                  <a:srgbClr val="8FA3B1"/>
                </a:solidFill>
                <a:latin typeface="Calibri" pitchFamily="34" charset="0"/>
                <a:ea typeface="Calibri" pitchFamily="34" charset="-122"/>
                <a:cs typeface="Calibri" pitchFamily="34" charset="-120"/>
              </a:rPr>
              <a:t>The adversarial autoencoder can fool the ML layer — but it cannot satisfy physics simultaneously</a:t>
            </a:r>
            <a:endParaRPr lang="en-US" sz="1200" dirty="0"/>
          </a:p>
        </p:txBody>
      </p:sp>
      <p:sp>
        <p:nvSpPr>
          <p:cNvPr id="5" name="Shape 3"/>
          <p:cNvSpPr/>
          <p:nvPr/>
        </p:nvSpPr>
        <p:spPr>
          <a:xfrm>
            <a:off x="228600" y="987552"/>
            <a:ext cx="4206240" cy="3749040"/>
          </a:xfrm>
          <a:prstGeom prst="rect">
            <a:avLst/>
          </a:prstGeom>
          <a:solidFill>
            <a:srgbClr val="1B3A5C"/>
          </a:solidFill>
          <a:ln w="12700">
            <a:solidFill>
              <a:srgbClr val="1B3A5C"/>
            </a:solidFill>
            <a:prstDash val="solid"/>
          </a:ln>
        </p:spPr>
      </p:sp>
      <p:sp>
        <p:nvSpPr>
          <p:cNvPr id="6" name="Shape 4"/>
          <p:cNvSpPr/>
          <p:nvPr/>
        </p:nvSpPr>
        <p:spPr>
          <a:xfrm>
            <a:off x="228600" y="987552"/>
            <a:ext cx="64008" cy="3749040"/>
          </a:xfrm>
          <a:prstGeom prst="rect">
            <a:avLst/>
          </a:prstGeom>
          <a:solidFill>
            <a:srgbClr val="8E44AD"/>
          </a:solidFill>
          <a:ln w="12700">
            <a:solidFill>
              <a:srgbClr val="8E44AD"/>
            </a:solidFill>
            <a:prstDash val="solid"/>
          </a:ln>
        </p:spPr>
      </p:sp>
      <p:sp>
        <p:nvSpPr>
          <p:cNvPr id="7" name="Text 5"/>
          <p:cNvSpPr/>
          <p:nvPr/>
        </p:nvSpPr>
        <p:spPr>
          <a:xfrm>
            <a:off x="411480" y="1051560"/>
            <a:ext cx="3840480" cy="320040"/>
          </a:xfrm>
          <a:prstGeom prst="rect">
            <a:avLst/>
          </a:prstGeom>
          <a:noFill/>
          <a:ln/>
        </p:spPr>
        <p:txBody>
          <a:bodyPr wrap="square" lIns="0" tIns="0" rIns="0" bIns="0" rtlCol="0" anchor="ctr"/>
          <a:lstStyle/>
          <a:p>
            <a:pPr indent="0" marL="0">
              <a:buNone/>
            </a:pPr>
            <a:r>
              <a:rPr lang="en-US" sz="1500" b="1" dirty="0">
                <a:solidFill>
                  <a:srgbClr val="D4A8FF"/>
                </a:solidFill>
                <a:latin typeface="Calibri" pitchFamily="34" charset="0"/>
                <a:ea typeface="Calibri" pitchFamily="34" charset="-122"/>
                <a:cs typeface="Calibri" pitchFamily="34" charset="-120"/>
              </a:rPr>
              <a:t>The Attacker's Dilemma</a:t>
            </a:r>
            <a:endParaRPr lang="en-US" sz="1500" dirty="0"/>
          </a:p>
        </p:txBody>
      </p:sp>
      <p:sp>
        <p:nvSpPr>
          <p:cNvPr id="8" name="Text 6"/>
          <p:cNvSpPr/>
          <p:nvPr/>
        </p:nvSpPr>
        <p:spPr>
          <a:xfrm>
            <a:off x="411480" y="1417320"/>
            <a:ext cx="3840480" cy="256032"/>
          </a:xfrm>
          <a:prstGeom prst="rect">
            <a:avLst/>
          </a:prstGeom>
          <a:noFill/>
          <a:ln/>
        </p:spPr>
        <p:txBody>
          <a:bodyPr wrap="square" lIns="0" tIns="0" rIns="0" bIns="0" rtlCol="0" anchor="ctr"/>
          <a:lstStyle/>
          <a:p>
            <a:pPr indent="0" marL="0">
              <a:buNone/>
            </a:pPr>
            <a:r>
              <a:rPr lang="en-US" sz="1050" dirty="0">
                <a:solidFill>
                  <a:srgbClr val="E8EEF4"/>
                </a:solidFill>
                <a:latin typeface="Calibri" pitchFamily="34" charset="0"/>
                <a:ea typeface="Calibri" pitchFamily="34" charset="-122"/>
                <a:cs typeface="Calibri" pitchFamily="34" charset="-120"/>
              </a:rPr>
              <a:t>Paper #31 trains a perturbation network δ(x) such that:</a:t>
            </a:r>
            <a:endParaRPr lang="en-US" sz="1050" dirty="0"/>
          </a:p>
        </p:txBody>
      </p:sp>
      <p:sp>
        <p:nvSpPr>
          <p:cNvPr id="9" name="Shape 7"/>
          <p:cNvSpPr/>
          <p:nvPr/>
        </p:nvSpPr>
        <p:spPr>
          <a:xfrm>
            <a:off x="365760" y="1719072"/>
            <a:ext cx="3931920" cy="566928"/>
          </a:xfrm>
          <a:prstGeom prst="rect">
            <a:avLst/>
          </a:prstGeom>
          <a:solidFill>
            <a:srgbClr val="0A0F1A"/>
          </a:solidFill>
          <a:ln w="12700">
            <a:solidFill>
              <a:srgbClr val="0A0F1A"/>
            </a:solidFill>
            <a:prstDash val="solid"/>
          </a:ln>
        </p:spPr>
      </p:sp>
      <p:sp>
        <p:nvSpPr>
          <p:cNvPr id="10" name="Text 8"/>
          <p:cNvSpPr/>
          <p:nvPr/>
        </p:nvSpPr>
        <p:spPr>
          <a:xfrm>
            <a:off x="457200" y="1755648"/>
            <a:ext cx="3749040" cy="502920"/>
          </a:xfrm>
          <a:prstGeom prst="rect">
            <a:avLst/>
          </a:prstGeom>
          <a:noFill/>
          <a:ln/>
        </p:spPr>
        <p:txBody>
          <a:bodyPr wrap="square" lIns="0" tIns="0" rIns="0" bIns="0" rtlCol="0" anchor="ctr"/>
          <a:lstStyle/>
          <a:p>
            <a:pPr indent="0" marL="0">
              <a:buNone/>
            </a:pPr>
            <a:r>
              <a:rPr lang="en-US" sz="1200" dirty="0">
                <a:solidFill>
                  <a:srgbClr val="0FB3C5"/>
                </a:solidFill>
                <a:latin typeface="Consolas" pitchFamily="34" charset="0"/>
                <a:ea typeface="Consolas" pitchFamily="34" charset="-122"/>
                <a:cs typeface="Consolas" pitchFamily="34" charset="-120"/>
              </a:rPr>
              <a:t>MSE_detector( x + δ ) ≈ 0</a:t>
            </a:r>
            <a:endParaRPr lang="en-US" sz="1200" dirty="0"/>
          </a:p>
          <a:p>
            <a:pPr indent="0" marL="0">
              <a:buNone/>
            </a:pPr>
            <a:r>
              <a:rPr lang="en-US" sz="1200" dirty="0">
                <a:solidFill>
                  <a:srgbClr val="0FB3C5"/>
                </a:solidFill>
                <a:latin typeface="Consolas" pitchFamily="34" charset="0"/>
                <a:ea typeface="Consolas" pitchFamily="34" charset="-122"/>
                <a:cs typeface="Consolas" pitchFamily="34" charset="-120"/>
              </a:rPr>
              <a:t>‖δ‖∞  ≤  ε  =  0.1</a:t>
            </a:r>
            <a:endParaRPr lang="en-US" sz="1200" dirty="0"/>
          </a:p>
        </p:txBody>
      </p:sp>
      <p:sp>
        <p:nvSpPr>
          <p:cNvPr id="11" name="Text 9"/>
          <p:cNvSpPr/>
          <p:nvPr/>
        </p:nvSpPr>
        <p:spPr>
          <a:xfrm>
            <a:off x="411480" y="2340864"/>
            <a:ext cx="3840480" cy="256032"/>
          </a:xfrm>
          <a:prstGeom prst="rect">
            <a:avLst/>
          </a:prstGeom>
          <a:noFill/>
          <a:ln/>
        </p:spPr>
        <p:txBody>
          <a:bodyPr wrap="square" lIns="0" tIns="0" rIns="0" bIns="0" rtlCol="0" anchor="ctr"/>
          <a:lstStyle/>
          <a:p>
            <a:pPr indent="0" marL="0">
              <a:buNone/>
            </a:pPr>
            <a:r>
              <a:rPr lang="en-US" sz="1050" dirty="0">
                <a:solidFill>
                  <a:srgbClr val="E8EEF4"/>
                </a:solidFill>
                <a:latin typeface="Calibri" pitchFamily="34" charset="0"/>
                <a:ea typeface="Calibri" pitchFamily="34" charset="-122"/>
                <a:cs typeface="Calibri" pitchFamily="34" charset="-120"/>
              </a:rPr>
              <a:t>This successfully evades the AE (Layer 2). But:</a:t>
            </a:r>
            <a:endParaRPr lang="en-US" sz="1050" dirty="0"/>
          </a:p>
        </p:txBody>
      </p:sp>
      <p:sp>
        <p:nvSpPr>
          <p:cNvPr id="12" name="Shape 10"/>
          <p:cNvSpPr/>
          <p:nvPr/>
        </p:nvSpPr>
        <p:spPr>
          <a:xfrm>
            <a:off x="365760" y="2670048"/>
            <a:ext cx="256032" cy="256032"/>
          </a:xfrm>
          <a:prstGeom prst="rect">
            <a:avLst/>
          </a:prstGeom>
          <a:solidFill>
            <a:srgbClr val="E74C3C"/>
          </a:solidFill>
          <a:ln w="12700">
            <a:solidFill>
              <a:srgbClr val="E74C3C"/>
            </a:solidFill>
            <a:prstDash val="solid"/>
          </a:ln>
        </p:spPr>
      </p:sp>
      <p:sp>
        <p:nvSpPr>
          <p:cNvPr id="13" name="Text 11"/>
          <p:cNvSpPr/>
          <p:nvPr/>
        </p:nvSpPr>
        <p:spPr>
          <a:xfrm>
            <a:off x="365760" y="2670048"/>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4" name="Text 12"/>
          <p:cNvSpPr/>
          <p:nvPr/>
        </p:nvSpPr>
        <p:spPr>
          <a:xfrm>
            <a:off x="685800" y="2679192"/>
            <a:ext cx="3657600" cy="256032"/>
          </a:xfrm>
          <a:prstGeom prst="rect">
            <a:avLst/>
          </a:prstGeom>
          <a:noFill/>
          <a:ln/>
        </p:spPr>
        <p:txBody>
          <a:bodyPr wrap="square" lIns="0" tIns="0" rIns="0" bIns="0" rtlCol="0" anchor="ctr"/>
          <a:lstStyle/>
          <a:p>
            <a:pPr indent="0" marL="0">
              <a:buNone/>
            </a:pPr>
            <a:r>
              <a:rPr lang="en-US" sz="1050" b="1" dirty="0">
                <a:solidFill>
                  <a:srgbClr val="D4A8FF"/>
                </a:solidFill>
                <a:latin typeface="Calibri" pitchFamily="34" charset="0"/>
                <a:ea typeface="Calibri" pitchFamily="34" charset="-122"/>
                <a:cs typeface="Calibri" pitchFamily="34" charset="-120"/>
              </a:rPr>
              <a:t>δ on sensor readings ≠</a:t>
            </a:r>
            <a:endParaRPr lang="en-US" sz="1050" dirty="0"/>
          </a:p>
          <a:p>
            <a:pPr indent="0" marL="0">
              <a:buNone/>
            </a:pPr>
            <a:r>
              <a:rPr lang="en-US" sz="1050" b="1" dirty="0">
                <a:solidFill>
                  <a:srgbClr val="D4A8FF"/>
                </a:solidFill>
                <a:latin typeface="Calibri" pitchFamily="34" charset="0"/>
                <a:ea typeface="Calibri" pitchFamily="34" charset="-122"/>
                <a:cs typeface="Calibri" pitchFamily="34" charset="-120"/>
              </a:rPr>
              <a:t>δ on physical state</a:t>
            </a:r>
            <a:endParaRPr lang="en-US" sz="1050" dirty="0"/>
          </a:p>
        </p:txBody>
      </p:sp>
      <p:sp>
        <p:nvSpPr>
          <p:cNvPr id="15" name="Text 13"/>
          <p:cNvSpPr/>
          <p:nvPr/>
        </p:nvSpPr>
        <p:spPr>
          <a:xfrm>
            <a:off x="411480" y="2962656"/>
            <a:ext cx="3886200" cy="347472"/>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The real P101 is still OFF. The real MV101 is still CLOSED. Perturbing sensor readings reported to HMI does not change what the PLC actually commands.</a:t>
            </a:r>
            <a:endParaRPr lang="en-US" sz="950" dirty="0"/>
          </a:p>
        </p:txBody>
      </p:sp>
      <p:sp>
        <p:nvSpPr>
          <p:cNvPr id="16" name="Shape 14"/>
          <p:cNvSpPr/>
          <p:nvPr/>
        </p:nvSpPr>
        <p:spPr>
          <a:xfrm>
            <a:off x="365760" y="3337560"/>
            <a:ext cx="256032" cy="256032"/>
          </a:xfrm>
          <a:prstGeom prst="rect">
            <a:avLst/>
          </a:prstGeom>
          <a:solidFill>
            <a:srgbClr val="E74C3C"/>
          </a:solidFill>
          <a:ln w="12700">
            <a:solidFill>
              <a:srgbClr val="E74C3C"/>
            </a:solidFill>
            <a:prstDash val="solid"/>
          </a:ln>
        </p:spPr>
      </p:sp>
      <p:sp>
        <p:nvSpPr>
          <p:cNvPr id="17" name="Text 15"/>
          <p:cNvSpPr/>
          <p:nvPr/>
        </p:nvSpPr>
        <p:spPr>
          <a:xfrm>
            <a:off x="365760" y="333756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8" name="Text 16"/>
          <p:cNvSpPr/>
          <p:nvPr/>
        </p:nvSpPr>
        <p:spPr>
          <a:xfrm>
            <a:off x="685800" y="3346704"/>
            <a:ext cx="3657600" cy="256032"/>
          </a:xfrm>
          <a:prstGeom prst="rect">
            <a:avLst/>
          </a:prstGeom>
          <a:noFill/>
          <a:ln/>
        </p:spPr>
        <p:txBody>
          <a:bodyPr wrap="square" lIns="0" tIns="0" rIns="0" bIns="0" rtlCol="0" anchor="ctr"/>
          <a:lstStyle/>
          <a:p>
            <a:pPr indent="0" marL="0">
              <a:buNone/>
            </a:pPr>
            <a:r>
              <a:rPr lang="en-US" sz="1050" b="1" dirty="0">
                <a:solidFill>
                  <a:srgbClr val="D4A8FF"/>
                </a:solidFill>
                <a:latin typeface="Calibri" pitchFamily="34" charset="0"/>
                <a:ea typeface="Calibri" pitchFamily="34" charset="-122"/>
                <a:cs typeface="Calibri" pitchFamily="34" charset="-120"/>
              </a:rPr>
              <a:t>Invariant I-7 checks</a:t>
            </a:r>
            <a:endParaRPr lang="en-US" sz="1050" dirty="0"/>
          </a:p>
          <a:p>
            <a:pPr indent="0" marL="0">
              <a:buNone/>
            </a:pPr>
            <a:r>
              <a:rPr lang="en-US" sz="1050" b="1" dirty="0">
                <a:solidFill>
                  <a:srgbClr val="D4A8FF"/>
                </a:solidFill>
                <a:latin typeface="Calibri" pitchFamily="34" charset="0"/>
                <a:ea typeface="Calibri" pitchFamily="34" charset="-122"/>
                <a:cs typeface="Calibri" pitchFamily="34" charset="-120"/>
              </a:rPr>
              <a:t>actuator register state</a:t>
            </a:r>
            <a:endParaRPr lang="en-US" sz="1050" dirty="0"/>
          </a:p>
        </p:txBody>
      </p:sp>
      <p:sp>
        <p:nvSpPr>
          <p:cNvPr id="19" name="Text 17"/>
          <p:cNvSpPr/>
          <p:nvPr/>
        </p:nvSpPr>
        <p:spPr>
          <a:xfrm>
            <a:off x="411480" y="3630168"/>
            <a:ext cx="3886200" cy="347472"/>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Layer 1 reads directly from PLC coil registers — not from Modbus responses replayed to HMI. The attack cannot spoof both simultaneously.</a:t>
            </a:r>
            <a:endParaRPr lang="en-US" sz="950" dirty="0"/>
          </a:p>
        </p:txBody>
      </p:sp>
      <p:sp>
        <p:nvSpPr>
          <p:cNvPr id="20" name="Shape 18"/>
          <p:cNvSpPr/>
          <p:nvPr/>
        </p:nvSpPr>
        <p:spPr>
          <a:xfrm>
            <a:off x="365760" y="4005072"/>
            <a:ext cx="256032" cy="256032"/>
          </a:xfrm>
          <a:prstGeom prst="rect">
            <a:avLst/>
          </a:prstGeom>
          <a:solidFill>
            <a:srgbClr val="E74C3C"/>
          </a:solidFill>
          <a:ln w="12700">
            <a:solidFill>
              <a:srgbClr val="E74C3C"/>
            </a:solidFill>
            <a:prstDash val="solid"/>
          </a:ln>
        </p:spPr>
      </p:sp>
      <p:sp>
        <p:nvSpPr>
          <p:cNvPr id="21" name="Text 19"/>
          <p:cNvSpPr/>
          <p:nvPr/>
        </p:nvSpPr>
        <p:spPr>
          <a:xfrm>
            <a:off x="365760" y="400507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2" name="Text 20"/>
          <p:cNvSpPr/>
          <p:nvPr/>
        </p:nvSpPr>
        <p:spPr>
          <a:xfrm>
            <a:off x="685800" y="4014216"/>
            <a:ext cx="3657600" cy="256032"/>
          </a:xfrm>
          <a:prstGeom prst="rect">
            <a:avLst/>
          </a:prstGeom>
          <a:noFill/>
          <a:ln/>
        </p:spPr>
        <p:txBody>
          <a:bodyPr wrap="square" lIns="0" tIns="0" rIns="0" bIns="0" rtlCol="0" anchor="ctr"/>
          <a:lstStyle/>
          <a:p>
            <a:pPr indent="0" marL="0">
              <a:buNone/>
            </a:pPr>
            <a:r>
              <a:rPr lang="en-US" sz="1050" b="1" dirty="0">
                <a:solidFill>
                  <a:srgbClr val="D4A8FF"/>
                </a:solidFill>
                <a:latin typeface="Calibri" pitchFamily="34" charset="0"/>
                <a:ea typeface="Calibri" pitchFamily="34" charset="-122"/>
                <a:cs typeface="Calibri" pitchFamily="34" charset="-120"/>
              </a:rPr>
              <a:t>Constraint violation is</a:t>
            </a:r>
            <a:endParaRPr lang="en-US" sz="1050" dirty="0"/>
          </a:p>
          <a:p>
            <a:pPr indent="0" marL="0">
              <a:buNone/>
            </a:pPr>
            <a:r>
              <a:rPr lang="en-US" sz="1050" b="1" dirty="0">
                <a:solidFill>
                  <a:srgbClr val="D4A8FF"/>
                </a:solidFill>
                <a:latin typeface="Calibri" pitchFamily="34" charset="0"/>
                <a:ea typeface="Calibri" pitchFamily="34" charset="-122"/>
                <a:cs typeface="Calibri" pitchFamily="34" charset="-120"/>
              </a:rPr>
              <a:t>deterministic, not probabilistic</a:t>
            </a:r>
            <a:endParaRPr lang="en-US" sz="1050" dirty="0"/>
          </a:p>
        </p:txBody>
      </p:sp>
      <p:sp>
        <p:nvSpPr>
          <p:cNvPr id="23" name="Text 21"/>
          <p:cNvSpPr/>
          <p:nvPr/>
        </p:nvSpPr>
        <p:spPr>
          <a:xfrm>
            <a:off x="411480" y="4297680"/>
            <a:ext cx="3886200" cy="347472"/>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P101 ON + MV101 CLOSED is physically impossible regardless of what the sensor timeseries says. Physics does not average over distributions.</a:t>
            </a:r>
            <a:endParaRPr lang="en-US" sz="950" dirty="0"/>
          </a:p>
        </p:txBody>
      </p:sp>
      <p:sp>
        <p:nvSpPr>
          <p:cNvPr id="24" name="Shape 22"/>
          <p:cNvSpPr/>
          <p:nvPr/>
        </p:nvSpPr>
        <p:spPr>
          <a:xfrm>
            <a:off x="4617720" y="987552"/>
            <a:ext cx="4297680" cy="3749040"/>
          </a:xfrm>
          <a:prstGeom prst="rect">
            <a:avLst/>
          </a:prstGeom>
          <a:solidFill>
            <a:srgbClr val="1B3A5C"/>
          </a:solidFill>
          <a:ln w="12700">
            <a:solidFill>
              <a:srgbClr val="1B3A5C"/>
            </a:solidFill>
            <a:prstDash val="solid"/>
          </a:ln>
        </p:spPr>
      </p:sp>
      <p:sp>
        <p:nvSpPr>
          <p:cNvPr id="25" name="Shape 23"/>
          <p:cNvSpPr/>
          <p:nvPr/>
        </p:nvSpPr>
        <p:spPr>
          <a:xfrm>
            <a:off x="4617720" y="987552"/>
            <a:ext cx="64008" cy="3749040"/>
          </a:xfrm>
          <a:prstGeom prst="rect">
            <a:avLst/>
          </a:prstGeom>
          <a:solidFill>
            <a:srgbClr val="E74C3C"/>
          </a:solidFill>
          <a:ln w="12700">
            <a:solidFill>
              <a:srgbClr val="E74C3C"/>
            </a:solidFill>
            <a:prstDash val="solid"/>
          </a:ln>
        </p:spPr>
      </p:sp>
      <p:sp>
        <p:nvSpPr>
          <p:cNvPr id="26" name="Text 24"/>
          <p:cNvSpPr/>
          <p:nvPr/>
        </p:nvSpPr>
        <p:spPr>
          <a:xfrm>
            <a:off x="4800600" y="1051560"/>
            <a:ext cx="3931920" cy="320040"/>
          </a:xfrm>
          <a:prstGeom prst="rect">
            <a:avLst/>
          </a:prstGeom>
          <a:noFill/>
          <a:ln/>
        </p:spPr>
        <p:txBody>
          <a:bodyPr wrap="square" lIns="0" tIns="0" rIns="0" bIns="0" rtlCol="0" anchor="ctr"/>
          <a:lstStyle/>
          <a:p>
            <a:pPr indent="0" marL="0">
              <a:buNone/>
            </a:pPr>
            <a:r>
              <a:rPr lang="en-US" sz="1400" b="1" dirty="0">
                <a:solidFill>
                  <a:srgbClr val="E8EEF4"/>
                </a:solidFill>
                <a:latin typeface="Calibri" pitchFamily="34" charset="0"/>
                <a:ea typeface="Calibri" pitchFamily="34" charset="-122"/>
                <a:cs typeface="Calibri" pitchFamily="34" charset="-120"/>
              </a:rPr>
              <a:t>Attack Timeline Under Hybrid Defense</a:t>
            </a:r>
            <a:endParaRPr lang="en-US" sz="1400" dirty="0"/>
          </a:p>
        </p:txBody>
      </p:sp>
      <p:sp>
        <p:nvSpPr>
          <p:cNvPr id="27" name="Shape 25"/>
          <p:cNvSpPr/>
          <p:nvPr/>
        </p:nvSpPr>
        <p:spPr>
          <a:xfrm>
            <a:off x="4754880" y="1444752"/>
            <a:ext cx="594360" cy="347472"/>
          </a:xfrm>
          <a:prstGeom prst="rect">
            <a:avLst/>
          </a:prstGeom>
          <a:solidFill>
            <a:srgbClr val="8FA3B1"/>
          </a:solidFill>
          <a:ln w="12700">
            <a:solidFill>
              <a:srgbClr val="8FA3B1"/>
            </a:solidFill>
            <a:prstDash val="solid"/>
          </a:ln>
        </p:spPr>
      </p:sp>
      <p:sp>
        <p:nvSpPr>
          <p:cNvPr id="28" name="Text 26"/>
          <p:cNvSpPr/>
          <p:nvPr/>
        </p:nvSpPr>
        <p:spPr>
          <a:xfrm>
            <a:off x="4754880" y="1444752"/>
            <a:ext cx="594360"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t=0s</a:t>
            </a:r>
            <a:endParaRPr lang="en-US" sz="950" dirty="0"/>
          </a:p>
        </p:txBody>
      </p:sp>
      <p:sp>
        <p:nvSpPr>
          <p:cNvPr id="29" name="Text 27"/>
          <p:cNvSpPr/>
          <p:nvPr/>
        </p:nvSpPr>
        <p:spPr>
          <a:xfrm>
            <a:off x="5413248" y="1453896"/>
            <a:ext cx="1097280" cy="182880"/>
          </a:xfrm>
          <a:prstGeom prst="rect">
            <a:avLst/>
          </a:prstGeom>
          <a:noFill/>
          <a:ln/>
        </p:spPr>
        <p:txBody>
          <a:bodyPr wrap="square" lIns="0" tIns="0" rIns="0" bIns="0" rtlCol="0" anchor="ctr"/>
          <a:lstStyle/>
          <a:p>
            <a:pPr indent="0" marL="0">
              <a:buNone/>
            </a:pPr>
            <a:r>
              <a:rPr lang="en-US" sz="1000" b="1" dirty="0">
                <a:solidFill>
                  <a:srgbClr val="8FA3B1"/>
                </a:solidFill>
                <a:latin typeface="Calibri" pitchFamily="34" charset="0"/>
                <a:ea typeface="Calibri" pitchFamily="34" charset="-122"/>
                <a:cs typeface="Calibri" pitchFamily="34" charset="-120"/>
              </a:rPr>
              <a:t>Phase 0</a:t>
            </a:r>
            <a:endParaRPr lang="en-US" sz="1000" dirty="0"/>
          </a:p>
        </p:txBody>
      </p:sp>
      <p:sp>
        <p:nvSpPr>
          <p:cNvPr id="30" name="Text 28"/>
          <p:cNvSpPr/>
          <p:nvPr/>
        </p:nvSpPr>
        <p:spPr>
          <a:xfrm>
            <a:off x="5413248" y="1627632"/>
            <a:ext cx="3383280" cy="164592"/>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ARP poisoning begins, MITM established</a:t>
            </a:r>
            <a:endParaRPr lang="en-US" sz="950" dirty="0"/>
          </a:p>
        </p:txBody>
      </p:sp>
      <p:sp>
        <p:nvSpPr>
          <p:cNvPr id="31" name="Shape 29"/>
          <p:cNvSpPr/>
          <p:nvPr/>
        </p:nvSpPr>
        <p:spPr>
          <a:xfrm>
            <a:off x="4754880" y="1911096"/>
            <a:ext cx="594360" cy="347472"/>
          </a:xfrm>
          <a:prstGeom prst="rect">
            <a:avLst/>
          </a:prstGeom>
          <a:solidFill>
            <a:srgbClr val="F39C12"/>
          </a:solidFill>
          <a:ln w="12700">
            <a:solidFill>
              <a:srgbClr val="F39C12"/>
            </a:solidFill>
            <a:prstDash val="solid"/>
          </a:ln>
        </p:spPr>
      </p:sp>
      <p:sp>
        <p:nvSpPr>
          <p:cNvPr id="32" name="Text 30"/>
          <p:cNvSpPr/>
          <p:nvPr/>
        </p:nvSpPr>
        <p:spPr>
          <a:xfrm>
            <a:off x="4754880" y="1911096"/>
            <a:ext cx="594360"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t=5s</a:t>
            </a:r>
            <a:endParaRPr lang="en-US" sz="950" dirty="0"/>
          </a:p>
        </p:txBody>
      </p:sp>
      <p:sp>
        <p:nvSpPr>
          <p:cNvPr id="33" name="Text 31"/>
          <p:cNvSpPr/>
          <p:nvPr/>
        </p:nvSpPr>
        <p:spPr>
          <a:xfrm>
            <a:off x="5413248" y="1920240"/>
            <a:ext cx="1097280" cy="182880"/>
          </a:xfrm>
          <a:prstGeom prst="rect">
            <a:avLst/>
          </a:prstGeom>
          <a:noFill/>
          <a:ln/>
        </p:spPr>
        <p:txBody>
          <a:bodyPr wrap="square" lIns="0" tIns="0" rIns="0" bIns="0" rtlCol="0" anchor="ctr"/>
          <a:lstStyle/>
          <a:p>
            <a:pPr indent="0" marL="0">
              <a:buNone/>
            </a:pPr>
            <a:r>
              <a:rPr lang="en-US" sz="1000" b="1" dirty="0">
                <a:solidFill>
                  <a:srgbClr val="F39C12"/>
                </a:solidFill>
                <a:latin typeface="Calibri" pitchFamily="34" charset="0"/>
                <a:ea typeface="Calibri" pitchFamily="34" charset="-122"/>
                <a:cs typeface="Calibri" pitchFamily="34" charset="-120"/>
              </a:rPr>
              <a:t>Phase 1</a:t>
            </a:r>
            <a:endParaRPr lang="en-US" sz="1000" dirty="0"/>
          </a:p>
        </p:txBody>
      </p:sp>
      <p:sp>
        <p:nvSpPr>
          <p:cNvPr id="34" name="Text 32"/>
          <p:cNvSpPr/>
          <p:nvPr/>
        </p:nvSpPr>
        <p:spPr>
          <a:xfrm>
            <a:off x="5413248" y="2093976"/>
            <a:ext cx="3383280" cy="164592"/>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False write: P101 OFF, MV101 CLOSED injected to PLC1</a:t>
            </a:r>
            <a:endParaRPr lang="en-US" sz="950" dirty="0"/>
          </a:p>
        </p:txBody>
      </p:sp>
      <p:sp>
        <p:nvSpPr>
          <p:cNvPr id="35" name="Shape 33"/>
          <p:cNvSpPr/>
          <p:nvPr/>
        </p:nvSpPr>
        <p:spPr>
          <a:xfrm>
            <a:off x="4754880" y="2377440"/>
            <a:ext cx="594360" cy="347472"/>
          </a:xfrm>
          <a:prstGeom prst="rect">
            <a:avLst/>
          </a:prstGeom>
          <a:solidFill>
            <a:srgbClr val="E74C3C"/>
          </a:solidFill>
          <a:ln w="12700">
            <a:solidFill>
              <a:srgbClr val="E74C3C"/>
            </a:solidFill>
            <a:prstDash val="solid"/>
          </a:ln>
        </p:spPr>
      </p:sp>
      <p:sp>
        <p:nvSpPr>
          <p:cNvPr id="36" name="Text 34"/>
          <p:cNvSpPr/>
          <p:nvPr/>
        </p:nvSpPr>
        <p:spPr>
          <a:xfrm>
            <a:off x="4754880" y="2377440"/>
            <a:ext cx="594360"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t=6s</a:t>
            </a:r>
            <a:endParaRPr lang="en-US" sz="950" dirty="0"/>
          </a:p>
        </p:txBody>
      </p:sp>
      <p:sp>
        <p:nvSpPr>
          <p:cNvPr id="37" name="Text 35"/>
          <p:cNvSpPr/>
          <p:nvPr/>
        </p:nvSpPr>
        <p:spPr>
          <a:xfrm>
            <a:off x="5413248" y="2386584"/>
            <a:ext cx="1097280" cy="182880"/>
          </a:xfrm>
          <a:prstGeom prst="rect">
            <a:avLst/>
          </a:prstGeom>
          <a:noFill/>
          <a:ln/>
        </p:spPr>
        <p:txBody>
          <a:bodyPr wrap="square" lIns="0" tIns="0" rIns="0" bIns="0" rtlCol="0" anchor="ctr"/>
          <a:lstStyle/>
          <a:p>
            <a:pPr indent="0" marL="0">
              <a:buNone/>
            </a:pPr>
            <a:r>
              <a:rPr lang="en-US" sz="1000" b="1" dirty="0">
                <a:solidFill>
                  <a:srgbClr val="E74C3C"/>
                </a:solidFill>
                <a:latin typeface="Calibri" pitchFamily="34" charset="0"/>
                <a:ea typeface="Calibri" pitchFamily="34" charset="-122"/>
                <a:cs typeface="Calibri" pitchFamily="34" charset="-120"/>
              </a:rPr>
              <a:t>L1 FIRES</a:t>
            </a:r>
            <a:endParaRPr lang="en-US" sz="1000" dirty="0"/>
          </a:p>
        </p:txBody>
      </p:sp>
      <p:sp>
        <p:nvSpPr>
          <p:cNvPr id="38" name="Text 36"/>
          <p:cNvSpPr/>
          <p:nvPr/>
        </p:nvSpPr>
        <p:spPr>
          <a:xfrm>
            <a:off x="5413248" y="2560320"/>
            <a:ext cx="3383280" cy="164592"/>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Invariant I-7 triggers: P101=ON coil state + MV101=CLOSED</a:t>
            </a:r>
            <a:endParaRPr lang="en-US" sz="950" dirty="0"/>
          </a:p>
        </p:txBody>
      </p:sp>
      <p:sp>
        <p:nvSpPr>
          <p:cNvPr id="39" name="Shape 37"/>
          <p:cNvSpPr/>
          <p:nvPr/>
        </p:nvSpPr>
        <p:spPr>
          <a:xfrm>
            <a:off x="4754880" y="2843784"/>
            <a:ext cx="594360" cy="347472"/>
          </a:xfrm>
          <a:prstGeom prst="rect">
            <a:avLst/>
          </a:prstGeom>
          <a:solidFill>
            <a:srgbClr val="2196F3"/>
          </a:solidFill>
          <a:ln w="12700">
            <a:solidFill>
              <a:srgbClr val="2196F3"/>
            </a:solidFill>
            <a:prstDash val="solid"/>
          </a:ln>
        </p:spPr>
      </p:sp>
      <p:sp>
        <p:nvSpPr>
          <p:cNvPr id="40" name="Text 38"/>
          <p:cNvSpPr/>
          <p:nvPr/>
        </p:nvSpPr>
        <p:spPr>
          <a:xfrm>
            <a:off x="4754880" y="2843784"/>
            <a:ext cx="594360"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t=7s</a:t>
            </a:r>
            <a:endParaRPr lang="en-US" sz="950" dirty="0"/>
          </a:p>
        </p:txBody>
      </p:sp>
      <p:sp>
        <p:nvSpPr>
          <p:cNvPr id="41" name="Text 39"/>
          <p:cNvSpPr/>
          <p:nvPr/>
        </p:nvSpPr>
        <p:spPr>
          <a:xfrm>
            <a:off x="5413248" y="2852928"/>
            <a:ext cx="1097280" cy="182880"/>
          </a:xfrm>
          <a:prstGeom prst="rect">
            <a:avLst/>
          </a:prstGeom>
          <a:noFill/>
          <a:ln/>
        </p:spPr>
        <p:txBody>
          <a:bodyPr wrap="square" lIns="0" tIns="0" rIns="0" bIns="0" rtlCol="0" anchor="ctr"/>
          <a:lstStyle/>
          <a:p>
            <a:pPr indent="0" marL="0">
              <a:buNone/>
            </a:pPr>
            <a:r>
              <a:rPr lang="en-US" sz="1000" b="1" dirty="0">
                <a:solidFill>
                  <a:srgbClr val="2196F3"/>
                </a:solidFill>
                <a:latin typeface="Calibri" pitchFamily="34" charset="0"/>
                <a:ea typeface="Calibri" pitchFamily="34" charset="-122"/>
                <a:cs typeface="Calibri" pitchFamily="34" charset="-120"/>
              </a:rPr>
              <a:t>Phase 2</a:t>
            </a:r>
            <a:endParaRPr lang="en-US" sz="1000" dirty="0"/>
          </a:p>
        </p:txBody>
      </p:sp>
      <p:sp>
        <p:nvSpPr>
          <p:cNvPr id="42" name="Text 40"/>
          <p:cNvSpPr/>
          <p:nvPr/>
        </p:nvSpPr>
        <p:spPr>
          <a:xfrm>
            <a:off x="5413248" y="3026664"/>
            <a:ext cx="3383280" cy="164592"/>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Adversarial sensor spoof begins — δ injected into Modbus replies</a:t>
            </a:r>
            <a:endParaRPr lang="en-US" sz="950" dirty="0"/>
          </a:p>
        </p:txBody>
      </p:sp>
      <p:sp>
        <p:nvSpPr>
          <p:cNvPr id="43" name="Shape 41"/>
          <p:cNvSpPr/>
          <p:nvPr/>
        </p:nvSpPr>
        <p:spPr>
          <a:xfrm>
            <a:off x="4754880" y="3310128"/>
            <a:ext cx="594360" cy="347472"/>
          </a:xfrm>
          <a:prstGeom prst="rect">
            <a:avLst/>
          </a:prstGeom>
          <a:solidFill>
            <a:srgbClr val="2ECC71"/>
          </a:solidFill>
          <a:ln w="12700">
            <a:solidFill>
              <a:srgbClr val="2ECC71"/>
            </a:solidFill>
            <a:prstDash val="solid"/>
          </a:ln>
        </p:spPr>
      </p:sp>
      <p:sp>
        <p:nvSpPr>
          <p:cNvPr id="44" name="Text 42"/>
          <p:cNvSpPr/>
          <p:nvPr/>
        </p:nvSpPr>
        <p:spPr>
          <a:xfrm>
            <a:off x="4754880" y="3310128"/>
            <a:ext cx="594360"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t=8s</a:t>
            </a:r>
            <a:endParaRPr lang="en-US" sz="950" dirty="0"/>
          </a:p>
        </p:txBody>
      </p:sp>
      <p:sp>
        <p:nvSpPr>
          <p:cNvPr id="45" name="Text 43"/>
          <p:cNvSpPr/>
          <p:nvPr/>
        </p:nvSpPr>
        <p:spPr>
          <a:xfrm>
            <a:off x="5413248" y="3319272"/>
            <a:ext cx="1097280" cy="182880"/>
          </a:xfrm>
          <a:prstGeom prst="rect">
            <a:avLst/>
          </a:prstGeom>
          <a:noFill/>
          <a:ln/>
        </p:spPr>
        <p:txBody>
          <a:bodyPr wrap="square" lIns="0" tIns="0" rIns="0" bIns="0" rtlCol="0" anchor="ctr"/>
          <a:lstStyle/>
          <a:p>
            <a:pPr indent="0" marL="0">
              <a:buNone/>
            </a:pPr>
            <a:r>
              <a:rPr lang="en-US" sz="1000" b="1" dirty="0">
                <a:solidFill>
                  <a:srgbClr val="2ECC71"/>
                </a:solidFill>
                <a:latin typeface="Calibri" pitchFamily="34" charset="0"/>
                <a:ea typeface="Calibri" pitchFamily="34" charset="-122"/>
                <a:cs typeface="Calibri" pitchFamily="34" charset="-120"/>
              </a:rPr>
              <a:t>L2 evaded</a:t>
            </a:r>
            <a:endParaRPr lang="en-US" sz="1000" dirty="0"/>
          </a:p>
        </p:txBody>
      </p:sp>
      <p:sp>
        <p:nvSpPr>
          <p:cNvPr id="46" name="Text 44"/>
          <p:cNvSpPr/>
          <p:nvPr/>
        </p:nvSpPr>
        <p:spPr>
          <a:xfrm>
            <a:off x="5413248" y="3493008"/>
            <a:ext cx="3383280" cy="164592"/>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AE reconstruction error stays below threshold (Paper #31 works)</a:t>
            </a:r>
            <a:endParaRPr lang="en-US" sz="950" dirty="0"/>
          </a:p>
        </p:txBody>
      </p:sp>
      <p:sp>
        <p:nvSpPr>
          <p:cNvPr id="47" name="Shape 45"/>
          <p:cNvSpPr/>
          <p:nvPr/>
        </p:nvSpPr>
        <p:spPr>
          <a:xfrm>
            <a:off x="4754880" y="3776472"/>
            <a:ext cx="594360" cy="347472"/>
          </a:xfrm>
          <a:prstGeom prst="rect">
            <a:avLst/>
          </a:prstGeom>
          <a:solidFill>
            <a:srgbClr val="E74C3C"/>
          </a:solidFill>
          <a:ln w="12700">
            <a:solidFill>
              <a:srgbClr val="E74C3C"/>
            </a:solidFill>
            <a:prstDash val="solid"/>
          </a:ln>
        </p:spPr>
      </p:sp>
      <p:sp>
        <p:nvSpPr>
          <p:cNvPr id="48" name="Text 46"/>
          <p:cNvSpPr/>
          <p:nvPr/>
        </p:nvSpPr>
        <p:spPr>
          <a:xfrm>
            <a:off x="4754880" y="3776472"/>
            <a:ext cx="594360"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t=10s</a:t>
            </a:r>
            <a:endParaRPr lang="en-US" sz="950" dirty="0"/>
          </a:p>
        </p:txBody>
      </p:sp>
      <p:sp>
        <p:nvSpPr>
          <p:cNvPr id="49" name="Text 47"/>
          <p:cNvSpPr/>
          <p:nvPr/>
        </p:nvSpPr>
        <p:spPr>
          <a:xfrm>
            <a:off x="5413248" y="3785616"/>
            <a:ext cx="1097280" cy="182880"/>
          </a:xfrm>
          <a:prstGeom prst="rect">
            <a:avLst/>
          </a:prstGeom>
          <a:noFill/>
          <a:ln/>
        </p:spPr>
        <p:txBody>
          <a:bodyPr wrap="square" lIns="0" tIns="0" rIns="0" bIns="0" rtlCol="0" anchor="ctr"/>
          <a:lstStyle/>
          <a:p>
            <a:pPr indent="0" marL="0">
              <a:buNone/>
            </a:pPr>
            <a:r>
              <a:rPr lang="en-US" sz="1000" b="1" dirty="0">
                <a:solidFill>
                  <a:srgbClr val="E74C3C"/>
                </a:solidFill>
                <a:latin typeface="Calibri" pitchFamily="34" charset="0"/>
                <a:ea typeface="Calibri" pitchFamily="34" charset="-122"/>
                <a:cs typeface="Calibri" pitchFamily="34" charset="-120"/>
              </a:rPr>
              <a:t>ALERT</a:t>
            </a:r>
            <a:endParaRPr lang="en-US" sz="1000" dirty="0"/>
          </a:p>
        </p:txBody>
      </p:sp>
      <p:sp>
        <p:nvSpPr>
          <p:cNvPr id="50" name="Text 48"/>
          <p:cNvSpPr/>
          <p:nvPr/>
        </p:nvSpPr>
        <p:spPr>
          <a:xfrm>
            <a:off x="5413248" y="3959352"/>
            <a:ext cx="3383280" cy="164592"/>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Fusion: L1 weight=1.5 → threshold crossed → ALERT triggered</a:t>
            </a:r>
            <a:endParaRPr lang="en-US" sz="950" dirty="0"/>
          </a:p>
        </p:txBody>
      </p:sp>
      <p:sp>
        <p:nvSpPr>
          <p:cNvPr id="51" name="Shape 49"/>
          <p:cNvSpPr/>
          <p:nvPr/>
        </p:nvSpPr>
        <p:spPr>
          <a:xfrm>
            <a:off x="4754880" y="4242816"/>
            <a:ext cx="594360" cy="347472"/>
          </a:xfrm>
          <a:prstGeom prst="rect">
            <a:avLst/>
          </a:prstGeom>
          <a:solidFill>
            <a:srgbClr val="F39C12"/>
          </a:solidFill>
          <a:ln w="12700">
            <a:solidFill>
              <a:srgbClr val="F39C12"/>
            </a:solidFill>
            <a:prstDash val="solid"/>
          </a:ln>
        </p:spPr>
      </p:sp>
      <p:sp>
        <p:nvSpPr>
          <p:cNvPr id="52" name="Text 50"/>
          <p:cNvSpPr/>
          <p:nvPr/>
        </p:nvSpPr>
        <p:spPr>
          <a:xfrm>
            <a:off x="4754880" y="4242816"/>
            <a:ext cx="594360"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t=11s</a:t>
            </a:r>
            <a:endParaRPr lang="en-US" sz="950" dirty="0"/>
          </a:p>
        </p:txBody>
      </p:sp>
      <p:sp>
        <p:nvSpPr>
          <p:cNvPr id="53" name="Text 51"/>
          <p:cNvSpPr/>
          <p:nvPr/>
        </p:nvSpPr>
        <p:spPr>
          <a:xfrm>
            <a:off x="5413248" y="4251960"/>
            <a:ext cx="1097280" cy="182880"/>
          </a:xfrm>
          <a:prstGeom prst="rect">
            <a:avLst/>
          </a:prstGeom>
          <a:noFill/>
          <a:ln/>
        </p:spPr>
        <p:txBody>
          <a:bodyPr wrap="square" lIns="0" tIns="0" rIns="0" bIns="0" rtlCol="0" anchor="ctr"/>
          <a:lstStyle/>
          <a:p>
            <a:pPr indent="0" marL="0">
              <a:buNone/>
            </a:pPr>
            <a:r>
              <a:rPr lang="en-US" sz="1000" b="1" dirty="0">
                <a:solidFill>
                  <a:srgbClr val="F39C12"/>
                </a:solidFill>
                <a:latin typeface="Calibri" pitchFamily="34" charset="0"/>
                <a:ea typeface="Calibri" pitchFamily="34" charset="-122"/>
                <a:cs typeface="Calibri" pitchFamily="34" charset="-120"/>
              </a:rPr>
              <a:t>Recovery</a:t>
            </a:r>
            <a:endParaRPr lang="en-US" sz="1000" dirty="0"/>
          </a:p>
        </p:txBody>
      </p:sp>
      <p:sp>
        <p:nvSpPr>
          <p:cNvPr id="54" name="Text 52"/>
          <p:cNvSpPr/>
          <p:nvPr/>
        </p:nvSpPr>
        <p:spPr>
          <a:xfrm>
            <a:off x="5413248" y="4425696"/>
            <a:ext cx="3383280" cy="164592"/>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Modbus blocked, safe state set, standby PLC activated</a:t>
            </a:r>
            <a:endParaRPr lang="en-US" sz="950" dirty="0"/>
          </a:p>
        </p:txBody>
      </p:sp>
      <p:sp>
        <p:nvSpPr>
          <p:cNvPr id="55" name="Shape 53"/>
          <p:cNvSpPr/>
          <p:nvPr/>
        </p:nvSpPr>
        <p:spPr>
          <a:xfrm>
            <a:off x="0" y="4754880"/>
            <a:ext cx="9144000" cy="384048"/>
          </a:xfrm>
          <a:prstGeom prst="rect">
            <a:avLst/>
          </a:prstGeom>
          <a:solidFill>
            <a:srgbClr val="1B3A5C"/>
          </a:solidFill>
          <a:ln w="12700">
            <a:solidFill>
              <a:srgbClr val="1B3A5C"/>
            </a:solidFill>
            <a:prstDash val="solid"/>
          </a:ln>
        </p:spPr>
      </p:sp>
      <p:sp>
        <p:nvSpPr>
          <p:cNvPr id="56" name="Text 54"/>
          <p:cNvSpPr/>
          <p:nvPr/>
        </p:nvSpPr>
        <p:spPr>
          <a:xfrm>
            <a:off x="274320" y="4754880"/>
            <a:ext cx="8595360" cy="38404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Defense  ·  Defeating Paper #31</a:t>
            </a:r>
            <a:endParaRPr lang="en-US" sz="1000" dirty="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A7E8C"/>
          </a:solidFill>
          <a:ln w="12700">
            <a:solidFill>
              <a:srgbClr val="0A7E8C"/>
            </a:solidFill>
            <a:prstDash val="solid"/>
          </a:ln>
        </p:spPr>
      </p:sp>
      <p:sp>
        <p:nvSpPr>
          <p:cNvPr id="3" name="Text 1"/>
          <p:cNvSpPr/>
          <p:nvPr/>
        </p:nvSpPr>
        <p:spPr>
          <a:xfrm>
            <a:off x="365760" y="164592"/>
            <a:ext cx="8229600" cy="475488"/>
          </a:xfrm>
          <a:prstGeom prst="rect">
            <a:avLst/>
          </a:prstGeom>
          <a:noFill/>
          <a:ln/>
        </p:spPr>
        <p:txBody>
          <a:bodyPr wrap="square" lIns="0" tIns="0" rIns="0" bIns="0"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Recovery Pipeline</a:t>
            </a:r>
            <a:endParaRPr lang="en-US" sz="2800" dirty="0"/>
          </a:p>
        </p:txBody>
      </p:sp>
      <p:sp>
        <p:nvSpPr>
          <p:cNvPr id="4" name="Text 2"/>
          <p:cNvSpPr/>
          <p:nvPr/>
        </p:nvSpPr>
        <p:spPr>
          <a:xfrm>
            <a:off x="365760" y="640080"/>
            <a:ext cx="8229600" cy="256032"/>
          </a:xfrm>
          <a:prstGeom prst="rect">
            <a:avLst/>
          </a:prstGeom>
          <a:noFill/>
          <a:ln/>
        </p:spPr>
        <p:txBody>
          <a:bodyPr wrap="square" lIns="0" tIns="0" rIns="0" bIns="0" rtlCol="0" anchor="ctr"/>
          <a:lstStyle/>
          <a:p>
            <a:pPr indent="0" marL="0">
              <a:buNone/>
            </a:pPr>
            <a:r>
              <a:rPr lang="en-US" sz="1200" i="1" dirty="0">
                <a:solidFill>
                  <a:srgbClr val="8FA3B1"/>
                </a:solidFill>
                <a:latin typeface="Calibri" pitchFamily="34" charset="0"/>
                <a:ea typeface="Calibri" pitchFamily="34" charset="-122"/>
                <a:cs typeface="Calibri" pitchFamily="34" charset="-120"/>
              </a:rPr>
              <a:t>Five deterministic steps — from detection to verified normal operation</a:t>
            </a:r>
            <a:endParaRPr lang="en-US" sz="1200" dirty="0"/>
          </a:p>
        </p:txBody>
      </p:sp>
      <p:sp>
        <p:nvSpPr>
          <p:cNvPr id="5" name="Shape 3"/>
          <p:cNvSpPr/>
          <p:nvPr/>
        </p:nvSpPr>
        <p:spPr>
          <a:xfrm>
            <a:off x="228600" y="987552"/>
            <a:ext cx="1627632" cy="457200"/>
          </a:xfrm>
          <a:prstGeom prst="rect">
            <a:avLst/>
          </a:prstGeom>
          <a:solidFill>
            <a:srgbClr val="E74C3C"/>
          </a:solidFill>
          <a:ln w="12700">
            <a:solidFill>
              <a:srgbClr val="E74C3C"/>
            </a:solidFill>
            <a:prstDash val="solid"/>
          </a:ln>
        </p:spPr>
      </p:sp>
      <p:sp>
        <p:nvSpPr>
          <p:cNvPr id="6" name="Text 4"/>
          <p:cNvSpPr/>
          <p:nvPr/>
        </p:nvSpPr>
        <p:spPr>
          <a:xfrm>
            <a:off x="228600" y="1005840"/>
            <a:ext cx="457200" cy="420624"/>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5"/>
          <p:cNvSpPr/>
          <p:nvPr/>
        </p:nvSpPr>
        <p:spPr>
          <a:xfrm>
            <a:off x="685800" y="1078992"/>
            <a:ext cx="1143000" cy="29260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Detect</a:t>
            </a:r>
            <a:endParaRPr lang="en-US" sz="1600" dirty="0"/>
          </a:p>
        </p:txBody>
      </p:sp>
      <p:sp>
        <p:nvSpPr>
          <p:cNvPr id="8" name="Text 6"/>
          <p:cNvSpPr/>
          <p:nvPr/>
        </p:nvSpPr>
        <p:spPr>
          <a:xfrm>
            <a:off x="1874520" y="1060704"/>
            <a:ext cx="256032" cy="310896"/>
          </a:xfrm>
          <a:prstGeom prst="rect">
            <a:avLst/>
          </a:prstGeom>
          <a:noFill/>
          <a:ln/>
        </p:spPr>
        <p:txBody>
          <a:bodyPr wrap="square" lIns="0" tIns="0" rIns="0" bIns="0" rtlCol="0" anchor="ctr"/>
          <a:lstStyle/>
          <a:p>
            <a:pPr algn="ctr" indent="0" marL="0">
              <a:buNone/>
            </a:pPr>
            <a:r>
              <a:rPr lang="en-US" sz="1800" dirty="0">
                <a:solidFill>
                  <a:srgbClr val="8FA3B1"/>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228600" y="1508760"/>
            <a:ext cx="1627632" cy="3154680"/>
          </a:xfrm>
          <a:prstGeom prst="rect">
            <a:avLst/>
          </a:prstGeom>
          <a:solidFill>
            <a:srgbClr val="E74C3C"/>
          </a:solidFill>
          <a:ln w="12700">
            <a:solidFill>
              <a:srgbClr val="E74C3C"/>
            </a:solidFill>
            <a:prstDash val="solid"/>
          </a:ln>
        </p:spPr>
      </p:sp>
      <p:sp>
        <p:nvSpPr>
          <p:cNvPr id="10" name="Shape 8"/>
          <p:cNvSpPr/>
          <p:nvPr/>
        </p:nvSpPr>
        <p:spPr>
          <a:xfrm>
            <a:off x="228600" y="1508760"/>
            <a:ext cx="54864" cy="3154680"/>
          </a:xfrm>
          <a:prstGeom prst="rect">
            <a:avLst/>
          </a:prstGeom>
          <a:solidFill>
            <a:srgbClr val="E74C3C"/>
          </a:solidFill>
          <a:ln w="12700">
            <a:solidFill>
              <a:srgbClr val="E74C3C"/>
            </a:solidFill>
            <a:prstDash val="solid"/>
          </a:ln>
        </p:spPr>
      </p:sp>
      <p:sp>
        <p:nvSpPr>
          <p:cNvPr id="11" name="Text 9"/>
          <p:cNvSpPr/>
          <p:nvPr/>
        </p:nvSpPr>
        <p:spPr>
          <a:xfrm>
            <a:off x="338328" y="1572768"/>
            <a:ext cx="1463040" cy="502920"/>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  Fusion score ≥ 1.5 for 3 consecutive cycles</a:t>
            </a:r>
            <a:endParaRPr lang="en-US" sz="950" dirty="0"/>
          </a:p>
        </p:txBody>
      </p:sp>
      <p:sp>
        <p:nvSpPr>
          <p:cNvPr id="12" name="Text 10"/>
          <p:cNvSpPr/>
          <p:nvPr/>
        </p:nvSpPr>
        <p:spPr>
          <a:xfrm>
            <a:off x="338328" y="2103120"/>
            <a:ext cx="1463040" cy="502920"/>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  Timestamp, sensor snapshot, and alert logged</a:t>
            </a:r>
            <a:endParaRPr lang="en-US" sz="950" dirty="0"/>
          </a:p>
        </p:txBody>
      </p:sp>
      <p:sp>
        <p:nvSpPr>
          <p:cNvPr id="13" name="Text 11"/>
          <p:cNvSpPr/>
          <p:nvPr/>
        </p:nvSpPr>
        <p:spPr>
          <a:xfrm>
            <a:off x="338328" y="2633472"/>
            <a:ext cx="1463040" cy="502920"/>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  Operator notified via SCADA HMI alarm</a:t>
            </a:r>
            <a:endParaRPr lang="en-US" sz="950" dirty="0"/>
          </a:p>
        </p:txBody>
      </p:sp>
      <p:sp>
        <p:nvSpPr>
          <p:cNvPr id="14" name="Shape 12"/>
          <p:cNvSpPr/>
          <p:nvPr/>
        </p:nvSpPr>
        <p:spPr>
          <a:xfrm>
            <a:off x="1993392" y="987552"/>
            <a:ext cx="1627632" cy="457200"/>
          </a:xfrm>
          <a:prstGeom prst="rect">
            <a:avLst/>
          </a:prstGeom>
          <a:solidFill>
            <a:srgbClr val="F39C12"/>
          </a:solidFill>
          <a:ln w="12700">
            <a:solidFill>
              <a:srgbClr val="F39C12"/>
            </a:solidFill>
            <a:prstDash val="solid"/>
          </a:ln>
        </p:spPr>
      </p:sp>
      <p:sp>
        <p:nvSpPr>
          <p:cNvPr id="15" name="Text 13"/>
          <p:cNvSpPr/>
          <p:nvPr/>
        </p:nvSpPr>
        <p:spPr>
          <a:xfrm>
            <a:off x="1993392" y="1005840"/>
            <a:ext cx="457200" cy="420624"/>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6" name="Text 14"/>
          <p:cNvSpPr/>
          <p:nvPr/>
        </p:nvSpPr>
        <p:spPr>
          <a:xfrm>
            <a:off x="2450592" y="1078992"/>
            <a:ext cx="1143000" cy="29260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Contain</a:t>
            </a:r>
            <a:endParaRPr lang="en-US" sz="1600" dirty="0"/>
          </a:p>
        </p:txBody>
      </p:sp>
      <p:sp>
        <p:nvSpPr>
          <p:cNvPr id="17" name="Text 15"/>
          <p:cNvSpPr/>
          <p:nvPr/>
        </p:nvSpPr>
        <p:spPr>
          <a:xfrm>
            <a:off x="3639312" y="1060704"/>
            <a:ext cx="256032" cy="310896"/>
          </a:xfrm>
          <a:prstGeom prst="rect">
            <a:avLst/>
          </a:prstGeom>
          <a:noFill/>
          <a:ln/>
        </p:spPr>
        <p:txBody>
          <a:bodyPr wrap="square" lIns="0" tIns="0" rIns="0" bIns="0" rtlCol="0" anchor="ctr"/>
          <a:lstStyle/>
          <a:p>
            <a:pPr algn="ctr" indent="0" marL="0">
              <a:buNone/>
            </a:pPr>
            <a:r>
              <a:rPr lang="en-US" sz="1800" dirty="0">
                <a:solidFill>
                  <a:srgbClr val="8FA3B1"/>
                </a:solidFill>
                <a:latin typeface="Calibri" pitchFamily="34" charset="0"/>
                <a:ea typeface="Calibri" pitchFamily="34" charset="-122"/>
                <a:cs typeface="Calibri" pitchFamily="34" charset="-120"/>
              </a:rPr>
              <a:t>→</a:t>
            </a:r>
            <a:endParaRPr lang="en-US" sz="1800" dirty="0"/>
          </a:p>
        </p:txBody>
      </p:sp>
      <p:sp>
        <p:nvSpPr>
          <p:cNvPr id="18" name="Shape 16"/>
          <p:cNvSpPr/>
          <p:nvPr/>
        </p:nvSpPr>
        <p:spPr>
          <a:xfrm>
            <a:off x="1993392" y="1508760"/>
            <a:ext cx="1627632" cy="3154680"/>
          </a:xfrm>
          <a:prstGeom prst="rect">
            <a:avLst/>
          </a:prstGeom>
          <a:solidFill>
            <a:srgbClr val="F39C12"/>
          </a:solidFill>
          <a:ln w="12700">
            <a:solidFill>
              <a:srgbClr val="F39C12"/>
            </a:solidFill>
            <a:prstDash val="solid"/>
          </a:ln>
        </p:spPr>
      </p:sp>
      <p:sp>
        <p:nvSpPr>
          <p:cNvPr id="19" name="Shape 17"/>
          <p:cNvSpPr/>
          <p:nvPr/>
        </p:nvSpPr>
        <p:spPr>
          <a:xfrm>
            <a:off x="1993392" y="1508760"/>
            <a:ext cx="54864" cy="3154680"/>
          </a:xfrm>
          <a:prstGeom prst="rect">
            <a:avLst/>
          </a:prstGeom>
          <a:solidFill>
            <a:srgbClr val="F39C12"/>
          </a:solidFill>
          <a:ln w="12700">
            <a:solidFill>
              <a:srgbClr val="F39C12"/>
            </a:solidFill>
            <a:prstDash val="solid"/>
          </a:ln>
        </p:spPr>
      </p:sp>
      <p:sp>
        <p:nvSpPr>
          <p:cNvPr id="20" name="Text 18"/>
          <p:cNvSpPr/>
          <p:nvPr/>
        </p:nvSpPr>
        <p:spPr>
          <a:xfrm>
            <a:off x="2103120" y="1572768"/>
            <a:ext cx="1463040" cy="502920"/>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  Drop all Modbus TCP frames on port 502 (iptables rule)</a:t>
            </a:r>
            <a:endParaRPr lang="en-US" sz="950" dirty="0"/>
          </a:p>
        </p:txBody>
      </p:sp>
      <p:sp>
        <p:nvSpPr>
          <p:cNvPr id="21" name="Text 19"/>
          <p:cNvSpPr/>
          <p:nvPr/>
        </p:nvSpPr>
        <p:spPr>
          <a:xfrm>
            <a:off x="2103120" y="2103120"/>
            <a:ext cx="1463040" cy="502920"/>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  Isolate attacker MAC from Level 1/2 switch (VLAN)</a:t>
            </a:r>
            <a:endParaRPr lang="en-US" sz="950" dirty="0"/>
          </a:p>
        </p:txBody>
      </p:sp>
      <p:sp>
        <p:nvSpPr>
          <p:cNvPr id="22" name="Text 20"/>
          <p:cNvSpPr/>
          <p:nvPr/>
        </p:nvSpPr>
        <p:spPr>
          <a:xfrm>
            <a:off x="2103120" y="2633472"/>
            <a:ext cx="1463040" cy="502920"/>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  Freeze current PLC output register state</a:t>
            </a:r>
            <a:endParaRPr lang="en-US" sz="950" dirty="0"/>
          </a:p>
        </p:txBody>
      </p:sp>
      <p:sp>
        <p:nvSpPr>
          <p:cNvPr id="23" name="Shape 21"/>
          <p:cNvSpPr/>
          <p:nvPr/>
        </p:nvSpPr>
        <p:spPr>
          <a:xfrm>
            <a:off x="3758184" y="987552"/>
            <a:ext cx="1627632" cy="457200"/>
          </a:xfrm>
          <a:prstGeom prst="rect">
            <a:avLst/>
          </a:prstGeom>
          <a:solidFill>
            <a:srgbClr val="8E44AD"/>
          </a:solidFill>
          <a:ln w="12700">
            <a:solidFill>
              <a:srgbClr val="8E44AD"/>
            </a:solidFill>
            <a:prstDash val="solid"/>
          </a:ln>
        </p:spPr>
      </p:sp>
      <p:sp>
        <p:nvSpPr>
          <p:cNvPr id="24" name="Text 22"/>
          <p:cNvSpPr/>
          <p:nvPr/>
        </p:nvSpPr>
        <p:spPr>
          <a:xfrm>
            <a:off x="3758184" y="1005840"/>
            <a:ext cx="457200" cy="420624"/>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5" name="Text 23"/>
          <p:cNvSpPr/>
          <p:nvPr/>
        </p:nvSpPr>
        <p:spPr>
          <a:xfrm>
            <a:off x="4215384" y="1078992"/>
            <a:ext cx="1143000" cy="29260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Safe State</a:t>
            </a:r>
            <a:endParaRPr lang="en-US" sz="1600" dirty="0"/>
          </a:p>
        </p:txBody>
      </p:sp>
      <p:sp>
        <p:nvSpPr>
          <p:cNvPr id="26" name="Text 24"/>
          <p:cNvSpPr/>
          <p:nvPr/>
        </p:nvSpPr>
        <p:spPr>
          <a:xfrm>
            <a:off x="5404104" y="1060704"/>
            <a:ext cx="256032" cy="310896"/>
          </a:xfrm>
          <a:prstGeom prst="rect">
            <a:avLst/>
          </a:prstGeom>
          <a:noFill/>
          <a:ln/>
        </p:spPr>
        <p:txBody>
          <a:bodyPr wrap="square" lIns="0" tIns="0" rIns="0" bIns="0" rtlCol="0" anchor="ctr"/>
          <a:lstStyle/>
          <a:p>
            <a:pPr algn="ctr" indent="0" marL="0">
              <a:buNone/>
            </a:pPr>
            <a:r>
              <a:rPr lang="en-US" sz="1800" dirty="0">
                <a:solidFill>
                  <a:srgbClr val="8FA3B1"/>
                </a:solidFill>
                <a:latin typeface="Calibri" pitchFamily="34" charset="0"/>
                <a:ea typeface="Calibri" pitchFamily="34" charset="-122"/>
                <a:cs typeface="Calibri" pitchFamily="34" charset="-120"/>
              </a:rPr>
              <a:t>→</a:t>
            </a:r>
            <a:endParaRPr lang="en-US" sz="1800" dirty="0"/>
          </a:p>
        </p:txBody>
      </p:sp>
      <p:sp>
        <p:nvSpPr>
          <p:cNvPr id="27" name="Shape 25"/>
          <p:cNvSpPr/>
          <p:nvPr/>
        </p:nvSpPr>
        <p:spPr>
          <a:xfrm>
            <a:off x="3758184" y="1508760"/>
            <a:ext cx="1627632" cy="3154680"/>
          </a:xfrm>
          <a:prstGeom prst="rect">
            <a:avLst/>
          </a:prstGeom>
          <a:solidFill>
            <a:srgbClr val="8E44AD"/>
          </a:solidFill>
          <a:ln w="12700">
            <a:solidFill>
              <a:srgbClr val="8E44AD"/>
            </a:solidFill>
            <a:prstDash val="solid"/>
          </a:ln>
        </p:spPr>
      </p:sp>
      <p:sp>
        <p:nvSpPr>
          <p:cNvPr id="28" name="Shape 26"/>
          <p:cNvSpPr/>
          <p:nvPr/>
        </p:nvSpPr>
        <p:spPr>
          <a:xfrm>
            <a:off x="3758184" y="1508760"/>
            <a:ext cx="54864" cy="3154680"/>
          </a:xfrm>
          <a:prstGeom prst="rect">
            <a:avLst/>
          </a:prstGeom>
          <a:solidFill>
            <a:srgbClr val="8E44AD"/>
          </a:solidFill>
          <a:ln w="12700">
            <a:solidFill>
              <a:srgbClr val="8E44AD"/>
            </a:solidFill>
            <a:prstDash val="solid"/>
          </a:ln>
        </p:spPr>
      </p:sp>
      <p:sp>
        <p:nvSpPr>
          <p:cNvPr id="29" name="Text 27"/>
          <p:cNvSpPr/>
          <p:nvPr/>
        </p:nvSpPr>
        <p:spPr>
          <a:xfrm>
            <a:off x="3867912" y="1572768"/>
            <a:ext cx="1463040" cy="502920"/>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  Write safe-state actuator values to PLC1 (see Slide 9)</a:t>
            </a:r>
            <a:endParaRPr lang="en-US" sz="950" dirty="0"/>
          </a:p>
        </p:txBody>
      </p:sp>
      <p:sp>
        <p:nvSpPr>
          <p:cNvPr id="30" name="Text 28"/>
          <p:cNvSpPr/>
          <p:nvPr/>
        </p:nvSpPr>
        <p:spPr>
          <a:xfrm>
            <a:off x="3867912" y="2103120"/>
            <a:ext cx="1463040" cy="502920"/>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  MV101 → CLOSED, P101 → OFF (P1 safe idle)</a:t>
            </a:r>
            <a:endParaRPr lang="en-US" sz="950" dirty="0"/>
          </a:p>
        </p:txBody>
      </p:sp>
      <p:sp>
        <p:nvSpPr>
          <p:cNvPr id="31" name="Text 29"/>
          <p:cNvSpPr/>
          <p:nvPr/>
        </p:nvSpPr>
        <p:spPr>
          <a:xfrm>
            <a:off x="3867912" y="2633472"/>
            <a:ext cx="1463040" cy="502920"/>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  Wait 2 polling cycles to confirm registers held</a:t>
            </a:r>
            <a:endParaRPr lang="en-US" sz="950" dirty="0"/>
          </a:p>
        </p:txBody>
      </p:sp>
      <p:sp>
        <p:nvSpPr>
          <p:cNvPr id="32" name="Shape 30"/>
          <p:cNvSpPr/>
          <p:nvPr/>
        </p:nvSpPr>
        <p:spPr>
          <a:xfrm>
            <a:off x="5522976" y="987552"/>
            <a:ext cx="1627632" cy="457200"/>
          </a:xfrm>
          <a:prstGeom prst="rect">
            <a:avLst/>
          </a:prstGeom>
          <a:solidFill>
            <a:srgbClr val="2196F3"/>
          </a:solidFill>
          <a:ln w="12700">
            <a:solidFill>
              <a:srgbClr val="2196F3"/>
            </a:solidFill>
            <a:prstDash val="solid"/>
          </a:ln>
        </p:spPr>
      </p:sp>
      <p:sp>
        <p:nvSpPr>
          <p:cNvPr id="33" name="Text 31"/>
          <p:cNvSpPr/>
          <p:nvPr/>
        </p:nvSpPr>
        <p:spPr>
          <a:xfrm>
            <a:off x="5522976" y="1005840"/>
            <a:ext cx="457200" cy="420624"/>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34" name="Text 32"/>
          <p:cNvSpPr/>
          <p:nvPr/>
        </p:nvSpPr>
        <p:spPr>
          <a:xfrm>
            <a:off x="5980176" y="1078992"/>
            <a:ext cx="1143000" cy="29260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PLC Failover</a:t>
            </a:r>
            <a:endParaRPr lang="en-US" sz="1600" dirty="0"/>
          </a:p>
        </p:txBody>
      </p:sp>
      <p:sp>
        <p:nvSpPr>
          <p:cNvPr id="35" name="Text 33"/>
          <p:cNvSpPr/>
          <p:nvPr/>
        </p:nvSpPr>
        <p:spPr>
          <a:xfrm>
            <a:off x="7168896" y="1060704"/>
            <a:ext cx="256032" cy="310896"/>
          </a:xfrm>
          <a:prstGeom prst="rect">
            <a:avLst/>
          </a:prstGeom>
          <a:noFill/>
          <a:ln/>
        </p:spPr>
        <p:txBody>
          <a:bodyPr wrap="square" lIns="0" tIns="0" rIns="0" bIns="0" rtlCol="0" anchor="ctr"/>
          <a:lstStyle/>
          <a:p>
            <a:pPr algn="ctr" indent="0" marL="0">
              <a:buNone/>
            </a:pPr>
            <a:r>
              <a:rPr lang="en-US" sz="1800" dirty="0">
                <a:solidFill>
                  <a:srgbClr val="8FA3B1"/>
                </a:solidFill>
                <a:latin typeface="Calibri" pitchFamily="34" charset="0"/>
                <a:ea typeface="Calibri" pitchFamily="34" charset="-122"/>
                <a:cs typeface="Calibri" pitchFamily="34" charset="-120"/>
              </a:rPr>
              <a:t>→</a:t>
            </a:r>
            <a:endParaRPr lang="en-US" sz="1800" dirty="0"/>
          </a:p>
        </p:txBody>
      </p:sp>
      <p:sp>
        <p:nvSpPr>
          <p:cNvPr id="36" name="Shape 34"/>
          <p:cNvSpPr/>
          <p:nvPr/>
        </p:nvSpPr>
        <p:spPr>
          <a:xfrm>
            <a:off x="5522976" y="1508760"/>
            <a:ext cx="1627632" cy="3154680"/>
          </a:xfrm>
          <a:prstGeom prst="rect">
            <a:avLst/>
          </a:prstGeom>
          <a:solidFill>
            <a:srgbClr val="2196F3"/>
          </a:solidFill>
          <a:ln w="12700">
            <a:solidFill>
              <a:srgbClr val="2196F3"/>
            </a:solidFill>
            <a:prstDash val="solid"/>
          </a:ln>
        </p:spPr>
      </p:sp>
      <p:sp>
        <p:nvSpPr>
          <p:cNvPr id="37" name="Shape 35"/>
          <p:cNvSpPr/>
          <p:nvPr/>
        </p:nvSpPr>
        <p:spPr>
          <a:xfrm>
            <a:off x="5522976" y="1508760"/>
            <a:ext cx="54864" cy="3154680"/>
          </a:xfrm>
          <a:prstGeom prst="rect">
            <a:avLst/>
          </a:prstGeom>
          <a:solidFill>
            <a:srgbClr val="2196F3"/>
          </a:solidFill>
          <a:ln w="12700">
            <a:solidFill>
              <a:srgbClr val="2196F3"/>
            </a:solidFill>
            <a:prstDash val="solid"/>
          </a:ln>
        </p:spPr>
      </p:sp>
      <p:sp>
        <p:nvSpPr>
          <p:cNvPr id="38" name="Text 36"/>
          <p:cNvSpPr/>
          <p:nvPr/>
        </p:nvSpPr>
        <p:spPr>
          <a:xfrm>
            <a:off x="5632704" y="1572768"/>
            <a:ext cx="1463040" cy="502920"/>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  Signal hot-standby PLC1B to take control</a:t>
            </a:r>
            <a:endParaRPr lang="en-US" sz="950" dirty="0"/>
          </a:p>
        </p:txBody>
      </p:sp>
      <p:sp>
        <p:nvSpPr>
          <p:cNvPr id="39" name="Text 37"/>
          <p:cNvSpPr/>
          <p:nvPr/>
        </p:nvSpPr>
        <p:spPr>
          <a:xfrm>
            <a:off x="5632704" y="2103120"/>
            <a:ext cx="1463040" cy="502920"/>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  EtherNet/IP handshake confirms PLC1B is primary</a:t>
            </a:r>
            <a:endParaRPr lang="en-US" sz="950" dirty="0"/>
          </a:p>
        </p:txBody>
      </p:sp>
      <p:sp>
        <p:nvSpPr>
          <p:cNvPr id="40" name="Text 38"/>
          <p:cNvSpPr/>
          <p:nvPr/>
        </p:nvSpPr>
        <p:spPr>
          <a:xfrm>
            <a:off x="5632704" y="2633472"/>
            <a:ext cx="1463040" cy="502920"/>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  HMI re-mapped to PLC1B IP (automatic switchover)</a:t>
            </a:r>
            <a:endParaRPr lang="en-US" sz="950" dirty="0"/>
          </a:p>
        </p:txBody>
      </p:sp>
      <p:sp>
        <p:nvSpPr>
          <p:cNvPr id="41" name="Shape 39"/>
          <p:cNvSpPr/>
          <p:nvPr/>
        </p:nvSpPr>
        <p:spPr>
          <a:xfrm>
            <a:off x="7287768" y="987552"/>
            <a:ext cx="1627632" cy="457200"/>
          </a:xfrm>
          <a:prstGeom prst="rect">
            <a:avLst/>
          </a:prstGeom>
          <a:solidFill>
            <a:srgbClr val="2ECC71"/>
          </a:solidFill>
          <a:ln w="12700">
            <a:solidFill>
              <a:srgbClr val="2ECC71"/>
            </a:solidFill>
            <a:prstDash val="solid"/>
          </a:ln>
        </p:spPr>
      </p:sp>
      <p:sp>
        <p:nvSpPr>
          <p:cNvPr id="42" name="Text 40"/>
          <p:cNvSpPr/>
          <p:nvPr/>
        </p:nvSpPr>
        <p:spPr>
          <a:xfrm>
            <a:off x="7287768" y="1005840"/>
            <a:ext cx="457200" cy="420624"/>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43" name="Text 41"/>
          <p:cNvSpPr/>
          <p:nvPr/>
        </p:nvSpPr>
        <p:spPr>
          <a:xfrm>
            <a:off x="7744968" y="1078992"/>
            <a:ext cx="1143000" cy="29260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Verify &amp; Resume</a:t>
            </a:r>
            <a:endParaRPr lang="en-US" sz="1600" dirty="0"/>
          </a:p>
        </p:txBody>
      </p:sp>
      <p:sp>
        <p:nvSpPr>
          <p:cNvPr id="44" name="Shape 42"/>
          <p:cNvSpPr/>
          <p:nvPr/>
        </p:nvSpPr>
        <p:spPr>
          <a:xfrm>
            <a:off x="7287768" y="1508760"/>
            <a:ext cx="1627632" cy="3154680"/>
          </a:xfrm>
          <a:prstGeom prst="rect">
            <a:avLst/>
          </a:prstGeom>
          <a:solidFill>
            <a:srgbClr val="2ECC71"/>
          </a:solidFill>
          <a:ln w="12700">
            <a:solidFill>
              <a:srgbClr val="2ECC71"/>
            </a:solidFill>
            <a:prstDash val="solid"/>
          </a:ln>
        </p:spPr>
      </p:sp>
      <p:sp>
        <p:nvSpPr>
          <p:cNvPr id="45" name="Shape 43"/>
          <p:cNvSpPr/>
          <p:nvPr/>
        </p:nvSpPr>
        <p:spPr>
          <a:xfrm>
            <a:off x="7287768" y="1508760"/>
            <a:ext cx="54864" cy="3154680"/>
          </a:xfrm>
          <a:prstGeom prst="rect">
            <a:avLst/>
          </a:prstGeom>
          <a:solidFill>
            <a:srgbClr val="2ECC71"/>
          </a:solidFill>
          <a:ln w="12700">
            <a:solidFill>
              <a:srgbClr val="2ECC71"/>
            </a:solidFill>
            <a:prstDash val="solid"/>
          </a:ln>
        </p:spPr>
      </p:sp>
      <p:sp>
        <p:nvSpPr>
          <p:cNvPr id="46" name="Text 44"/>
          <p:cNvSpPr/>
          <p:nvPr/>
        </p:nvSpPr>
        <p:spPr>
          <a:xfrm>
            <a:off x="7397496" y="1572768"/>
            <a:ext cx="1463040" cy="502920"/>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  Run all 8 P1 invariants against PLC1B readings</a:t>
            </a:r>
            <a:endParaRPr lang="en-US" sz="950" dirty="0"/>
          </a:p>
        </p:txBody>
      </p:sp>
      <p:sp>
        <p:nvSpPr>
          <p:cNvPr id="47" name="Text 45"/>
          <p:cNvSpPr/>
          <p:nvPr/>
        </p:nvSpPr>
        <p:spPr>
          <a:xfrm>
            <a:off x="7397496" y="2103120"/>
            <a:ext cx="1463040" cy="502920"/>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  Check LIT101 within [250, 800] mm safe range</a:t>
            </a:r>
            <a:endParaRPr lang="en-US" sz="950" dirty="0"/>
          </a:p>
        </p:txBody>
      </p:sp>
      <p:sp>
        <p:nvSpPr>
          <p:cNvPr id="48" name="Text 46"/>
          <p:cNvSpPr/>
          <p:nvPr/>
        </p:nvSpPr>
        <p:spPr>
          <a:xfrm>
            <a:off x="7397496" y="2633472"/>
            <a:ext cx="1463040" cy="502920"/>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  Resume only if all invariants pass for 5+ cycles</a:t>
            </a:r>
            <a:endParaRPr lang="en-US" sz="950" dirty="0"/>
          </a:p>
        </p:txBody>
      </p:sp>
      <p:sp>
        <p:nvSpPr>
          <p:cNvPr id="49" name="Shape 47"/>
          <p:cNvSpPr/>
          <p:nvPr/>
        </p:nvSpPr>
        <p:spPr>
          <a:xfrm>
            <a:off x="228600" y="4727448"/>
            <a:ext cx="8686800" cy="365760"/>
          </a:xfrm>
          <a:prstGeom prst="rect">
            <a:avLst/>
          </a:prstGeom>
          <a:solidFill>
            <a:srgbClr val="0D1B2A"/>
          </a:solidFill>
          <a:ln w="12700">
            <a:solidFill>
              <a:srgbClr val="0D1B2A"/>
            </a:solidFill>
            <a:prstDash val="solid"/>
          </a:ln>
        </p:spPr>
      </p:sp>
      <p:sp>
        <p:nvSpPr>
          <p:cNvPr id="50" name="Text 48"/>
          <p:cNvSpPr/>
          <p:nvPr/>
        </p:nvSpPr>
        <p:spPr>
          <a:xfrm>
            <a:off x="365760" y="4727448"/>
            <a:ext cx="8412480" cy="365760"/>
          </a:xfrm>
          <a:prstGeom prst="rect">
            <a:avLst/>
          </a:prstGeom>
          <a:noFill/>
          <a:ln/>
        </p:spPr>
        <p:txBody>
          <a:bodyPr wrap="square" lIns="0" tIns="0" rIns="0" bIns="0" rtlCol="0" anchor="ctr"/>
          <a:lstStyle/>
          <a:p>
            <a:pPr indent="0" marL="0">
              <a:buNone/>
            </a:pPr>
            <a:r>
              <a:rPr lang="en-US" sz="1000" b="1" dirty="0">
                <a:solidFill>
                  <a:srgbClr val="0FB3C5"/>
                </a:solidFill>
                <a:latin typeface="Calibri" pitchFamily="34" charset="0"/>
                <a:ea typeface="Calibri" pitchFamily="34" charset="-122"/>
                <a:cs typeface="Calibri" pitchFamily="34" charset="-120"/>
              </a:rPr>
              <a:t xml:space="preserve">Total recovery time target:  </a:t>
            </a:r>
            <a:pPr indent="0" marL="0">
              <a:buNone/>
            </a:pPr>
            <a:r>
              <a:rPr lang="en-US" sz="1000" dirty="0">
                <a:solidFill>
                  <a:srgbClr val="E8EEF4"/>
                </a:solidFill>
                <a:latin typeface="Calibri" pitchFamily="34" charset="0"/>
                <a:ea typeface="Calibri" pitchFamily="34" charset="-122"/>
                <a:cs typeface="Calibri" pitchFamily="34" charset="-120"/>
              </a:rPr>
              <a:t xml:space="preserve">&lt; 15 seconds from alert to verified safe state  |  </a:t>
            </a:r>
            <a:pPr indent="0" marL="0">
              <a:buNone/>
            </a:pPr>
            <a:r>
              <a:rPr lang="en-US" sz="1000" dirty="0">
                <a:solidFill>
                  <a:srgbClr val="E8EEF4"/>
                </a:solidFill>
                <a:latin typeface="Calibri" pitchFamily="34" charset="0"/>
                <a:ea typeface="Calibri" pitchFamily="34" charset="-122"/>
                <a:cs typeface="Calibri" pitchFamily="34" charset="-120"/>
              </a:rPr>
              <a:t xml:space="preserve">PLC1B failover &lt; 3 seconds  |  </a:t>
            </a:r>
            <a:pPr indent="0" marL="0">
              <a:buNone/>
            </a:pPr>
            <a:r>
              <a:rPr lang="en-US" sz="1000" dirty="0">
                <a:solidFill>
                  <a:srgbClr val="E8EEF4"/>
                </a:solidFill>
                <a:latin typeface="Calibri" pitchFamily="34" charset="0"/>
                <a:ea typeface="Calibri" pitchFamily="34" charset="-122"/>
                <a:cs typeface="Calibri" pitchFamily="34" charset="-120"/>
              </a:rPr>
              <a:t>No unsafe state (overflow/underflow) during window</a:t>
            </a:r>
            <a:endParaRPr lang="en-US" sz="1000" dirty="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ECC71"/>
          </a:solidFill>
          <a:ln w="12700">
            <a:solidFill>
              <a:srgbClr val="2ECC71"/>
            </a:solidFill>
            <a:prstDash val="solid"/>
          </a:ln>
        </p:spPr>
      </p:sp>
      <p:sp>
        <p:nvSpPr>
          <p:cNvPr id="3" name="Text 1"/>
          <p:cNvSpPr/>
          <p:nvPr/>
        </p:nvSpPr>
        <p:spPr>
          <a:xfrm>
            <a:off x="365760" y="164592"/>
            <a:ext cx="8229600" cy="475488"/>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Safe State Table &amp; PLC Failover</a:t>
            </a:r>
            <a:endParaRPr lang="en-US" sz="2800" dirty="0"/>
          </a:p>
        </p:txBody>
      </p:sp>
      <p:sp>
        <p:nvSpPr>
          <p:cNvPr id="4" name="Text 2"/>
          <p:cNvSpPr/>
          <p:nvPr/>
        </p:nvSpPr>
        <p:spPr>
          <a:xfrm>
            <a:off x="365760" y="640080"/>
            <a:ext cx="8229600" cy="256032"/>
          </a:xfrm>
          <a:prstGeom prst="rect">
            <a:avLst/>
          </a:prstGeom>
          <a:noFill/>
          <a:ln/>
        </p:spPr>
        <p:txBody>
          <a:bodyPr wrap="square" lIns="0" tIns="0" rIns="0" bIns="0" rtlCol="0" anchor="ctr"/>
          <a:lstStyle/>
          <a:p>
            <a:pPr indent="0" marL="0">
              <a:buNone/>
            </a:pPr>
            <a:r>
              <a:rPr lang="en-US" sz="1200" i="1" dirty="0">
                <a:solidFill>
                  <a:srgbClr val="8FA3B1"/>
                </a:solidFill>
                <a:latin typeface="Calibri" pitchFamily="34" charset="0"/>
                <a:ea typeface="Calibri" pitchFamily="34" charset="-122"/>
                <a:cs typeface="Calibri" pitchFamily="34" charset="-120"/>
              </a:rPr>
              <a:t>Exact actuator targets per stage — written to PLC registers before failover handshake</a:t>
            </a:r>
            <a:endParaRPr lang="en-US" sz="1200" dirty="0"/>
          </a:p>
        </p:txBody>
      </p:sp>
      <p:sp>
        <p:nvSpPr>
          <p:cNvPr id="5" name="Shape 3"/>
          <p:cNvSpPr/>
          <p:nvPr/>
        </p:nvSpPr>
        <p:spPr>
          <a:xfrm>
            <a:off x="228600" y="987552"/>
            <a:ext cx="8686800" cy="320040"/>
          </a:xfrm>
          <a:prstGeom prst="rect">
            <a:avLst/>
          </a:prstGeom>
          <a:solidFill>
            <a:srgbClr val="1A8A47"/>
          </a:solidFill>
          <a:ln w="12700">
            <a:solidFill>
              <a:srgbClr val="1A8A47"/>
            </a:solidFill>
            <a:prstDash val="solid"/>
          </a:ln>
        </p:spPr>
      </p:sp>
      <p:sp>
        <p:nvSpPr>
          <p:cNvPr id="6" name="Text 4"/>
          <p:cNvSpPr/>
          <p:nvPr/>
        </p:nvSpPr>
        <p:spPr>
          <a:xfrm>
            <a:off x="274320" y="1024128"/>
            <a:ext cx="594360" cy="24688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Stage</a:t>
            </a:r>
            <a:endParaRPr lang="en-US" sz="1050" dirty="0"/>
          </a:p>
        </p:txBody>
      </p:sp>
      <p:sp>
        <p:nvSpPr>
          <p:cNvPr id="7" name="Text 5"/>
          <p:cNvSpPr/>
          <p:nvPr/>
        </p:nvSpPr>
        <p:spPr>
          <a:xfrm>
            <a:off x="886968" y="1024128"/>
            <a:ext cx="1828800" cy="24688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Actuator</a:t>
            </a:r>
            <a:endParaRPr lang="en-US" sz="1050" dirty="0"/>
          </a:p>
        </p:txBody>
      </p:sp>
      <p:sp>
        <p:nvSpPr>
          <p:cNvPr id="8" name="Text 6"/>
          <p:cNvSpPr/>
          <p:nvPr/>
        </p:nvSpPr>
        <p:spPr>
          <a:xfrm>
            <a:off x="2734056" y="1024128"/>
            <a:ext cx="1645920" cy="24688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Safe State Value</a:t>
            </a:r>
            <a:endParaRPr lang="en-US" sz="1050" dirty="0"/>
          </a:p>
        </p:txBody>
      </p:sp>
      <p:sp>
        <p:nvSpPr>
          <p:cNvPr id="9" name="Text 7"/>
          <p:cNvSpPr/>
          <p:nvPr/>
        </p:nvSpPr>
        <p:spPr>
          <a:xfrm>
            <a:off x="4398264" y="1024128"/>
            <a:ext cx="2194560" cy="24688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Physical Reason</a:t>
            </a:r>
            <a:endParaRPr lang="en-US" sz="1050" dirty="0"/>
          </a:p>
        </p:txBody>
      </p:sp>
      <p:sp>
        <p:nvSpPr>
          <p:cNvPr id="10" name="Text 8"/>
          <p:cNvSpPr/>
          <p:nvPr/>
        </p:nvSpPr>
        <p:spPr>
          <a:xfrm>
            <a:off x="6611112" y="1024128"/>
            <a:ext cx="2606040" cy="24688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SWaT Risk if Wrong</a:t>
            </a:r>
            <a:endParaRPr lang="en-US" sz="1050" dirty="0"/>
          </a:p>
        </p:txBody>
      </p:sp>
      <p:sp>
        <p:nvSpPr>
          <p:cNvPr id="11" name="Shape 9"/>
          <p:cNvSpPr/>
          <p:nvPr/>
        </p:nvSpPr>
        <p:spPr>
          <a:xfrm>
            <a:off x="228600" y="1325880"/>
            <a:ext cx="8686800" cy="356616"/>
          </a:xfrm>
          <a:prstGeom prst="rect">
            <a:avLst/>
          </a:prstGeom>
          <a:solidFill>
            <a:srgbClr val="1B3A5C"/>
          </a:solidFill>
          <a:ln w="12700">
            <a:solidFill>
              <a:srgbClr val="1B3A5C"/>
            </a:solidFill>
            <a:prstDash val="solid"/>
          </a:ln>
        </p:spPr>
      </p:sp>
      <p:sp>
        <p:nvSpPr>
          <p:cNvPr id="12" name="Shape 10"/>
          <p:cNvSpPr/>
          <p:nvPr/>
        </p:nvSpPr>
        <p:spPr>
          <a:xfrm>
            <a:off x="228600" y="1325880"/>
            <a:ext cx="64008" cy="356616"/>
          </a:xfrm>
          <a:prstGeom prst="rect">
            <a:avLst/>
          </a:prstGeom>
          <a:solidFill>
            <a:srgbClr val="2ECC71"/>
          </a:solidFill>
          <a:ln w="12700">
            <a:solidFill>
              <a:srgbClr val="2ECC71"/>
            </a:solidFill>
            <a:prstDash val="solid"/>
          </a:ln>
        </p:spPr>
      </p:sp>
      <p:sp>
        <p:nvSpPr>
          <p:cNvPr id="13" name="Text 11"/>
          <p:cNvSpPr/>
          <p:nvPr/>
        </p:nvSpPr>
        <p:spPr>
          <a:xfrm>
            <a:off x="274320" y="1380744"/>
            <a:ext cx="594360" cy="246888"/>
          </a:xfrm>
          <a:prstGeom prst="rect">
            <a:avLst/>
          </a:prstGeom>
          <a:noFill/>
          <a:ln/>
        </p:spPr>
        <p:txBody>
          <a:bodyPr wrap="square" lIns="0" tIns="0" rIns="0" bIns="0" rtlCol="0" anchor="ctr"/>
          <a:lstStyle/>
          <a:p>
            <a:pPr algn="ctr" indent="0" marL="0">
              <a:buNone/>
            </a:pPr>
            <a:r>
              <a:rPr lang="en-US" sz="1050" b="1" dirty="0">
                <a:solidFill>
                  <a:srgbClr val="2ECC71"/>
                </a:solidFill>
                <a:latin typeface="Calibri" pitchFamily="34" charset="0"/>
                <a:ea typeface="Calibri" pitchFamily="34" charset="-122"/>
                <a:cs typeface="Calibri" pitchFamily="34" charset="-120"/>
              </a:rPr>
              <a:t>P1</a:t>
            </a:r>
            <a:endParaRPr lang="en-US" sz="1050" dirty="0"/>
          </a:p>
        </p:txBody>
      </p:sp>
      <p:sp>
        <p:nvSpPr>
          <p:cNvPr id="14" name="Text 12"/>
          <p:cNvSpPr/>
          <p:nvPr/>
        </p:nvSpPr>
        <p:spPr>
          <a:xfrm>
            <a:off x="886968" y="1380744"/>
            <a:ext cx="1828800" cy="246888"/>
          </a:xfrm>
          <a:prstGeom prst="rect">
            <a:avLst/>
          </a:prstGeom>
          <a:noFill/>
          <a:ln/>
        </p:spPr>
        <p:txBody>
          <a:bodyPr wrap="square" lIns="0" tIns="0" rIns="0" bIns="0" rtlCol="0" anchor="ctr"/>
          <a:lstStyle/>
          <a:p>
            <a:pPr indent="0" marL="0">
              <a:buNone/>
            </a:pPr>
            <a:r>
              <a:rPr lang="en-US" sz="1050" dirty="0">
                <a:solidFill>
                  <a:srgbClr val="E8EEF4"/>
                </a:solidFill>
                <a:latin typeface="Consolas" pitchFamily="34" charset="0"/>
                <a:ea typeface="Consolas" pitchFamily="34" charset="-122"/>
                <a:cs typeface="Consolas" pitchFamily="34" charset="-120"/>
              </a:rPr>
              <a:t>MV101</a:t>
            </a:r>
            <a:endParaRPr lang="en-US" sz="1050" dirty="0"/>
          </a:p>
        </p:txBody>
      </p:sp>
      <p:sp>
        <p:nvSpPr>
          <p:cNvPr id="15" name="Text 13"/>
          <p:cNvSpPr/>
          <p:nvPr/>
        </p:nvSpPr>
        <p:spPr>
          <a:xfrm>
            <a:off x="2734056" y="1380744"/>
            <a:ext cx="1645920" cy="246888"/>
          </a:xfrm>
          <a:prstGeom prst="rect">
            <a:avLst/>
          </a:prstGeom>
          <a:noFill/>
          <a:ln/>
        </p:spPr>
        <p:txBody>
          <a:bodyPr wrap="square" lIns="0" tIns="0" rIns="0" bIns="0" rtlCol="0" anchor="ctr"/>
          <a:lstStyle/>
          <a:p>
            <a:pPr indent="0" marL="0">
              <a:buNone/>
            </a:pPr>
            <a:r>
              <a:rPr lang="en-US" sz="1050" b="1" dirty="0">
                <a:solidFill>
                  <a:srgbClr val="F39C12"/>
                </a:solidFill>
                <a:latin typeface="Calibri" pitchFamily="34" charset="0"/>
                <a:ea typeface="Calibri" pitchFamily="34" charset="-122"/>
                <a:cs typeface="Calibri" pitchFamily="34" charset="-120"/>
              </a:rPr>
              <a:t>CLOSED</a:t>
            </a:r>
            <a:endParaRPr lang="en-US" sz="1050" dirty="0"/>
          </a:p>
        </p:txBody>
      </p:sp>
      <p:sp>
        <p:nvSpPr>
          <p:cNvPr id="16" name="Text 14"/>
          <p:cNvSpPr/>
          <p:nvPr/>
        </p:nvSpPr>
        <p:spPr>
          <a:xfrm>
            <a:off x="4398264" y="1380744"/>
            <a:ext cx="2194560" cy="246888"/>
          </a:xfrm>
          <a:prstGeom prst="rect">
            <a:avLst/>
          </a:prstGeom>
          <a:noFill/>
          <a:ln/>
        </p:spPr>
        <p:txBody>
          <a:bodyPr wrap="square" lIns="0" tIns="0" rIns="0" bIns="0" rtlCol="0" anchor="ctr"/>
          <a:lstStyle/>
          <a:p>
            <a:pPr indent="0" marL="0">
              <a:buNone/>
            </a:pPr>
            <a:r>
              <a:rPr lang="en-US" sz="950" dirty="0">
                <a:solidFill>
                  <a:srgbClr val="C9D6DF"/>
                </a:solidFill>
                <a:latin typeface="Calibri" pitchFamily="34" charset="0"/>
                <a:ea typeface="Calibri" pitchFamily="34" charset="-122"/>
                <a:cs typeface="Calibri" pitchFamily="34" charset="-120"/>
              </a:rPr>
              <a:t>Stop raw water intake</a:t>
            </a:r>
            <a:endParaRPr lang="en-US" sz="950" dirty="0"/>
          </a:p>
        </p:txBody>
      </p:sp>
      <p:sp>
        <p:nvSpPr>
          <p:cNvPr id="17" name="Text 15"/>
          <p:cNvSpPr/>
          <p:nvPr/>
        </p:nvSpPr>
        <p:spPr>
          <a:xfrm>
            <a:off x="6611112" y="1380744"/>
            <a:ext cx="2606040" cy="246888"/>
          </a:xfrm>
          <a:prstGeom prst="rect">
            <a:avLst/>
          </a:prstGeom>
          <a:noFill/>
          <a:ln/>
        </p:spPr>
        <p:txBody>
          <a:bodyPr wrap="square" lIns="0" tIns="0" rIns="0" bIns="0" rtlCol="0" anchor="ctr"/>
          <a:lstStyle/>
          <a:p>
            <a:pPr indent="0" marL="0">
              <a:buNone/>
            </a:pPr>
            <a:r>
              <a:rPr lang="en-US" sz="950" dirty="0">
                <a:solidFill>
                  <a:srgbClr val="E74C3C"/>
                </a:solidFill>
                <a:latin typeface="Calibri" pitchFamily="34" charset="0"/>
                <a:ea typeface="Calibri" pitchFamily="34" charset="-122"/>
                <a:cs typeface="Calibri" pitchFamily="34" charset="-120"/>
              </a:rPr>
              <a:t>Tank overflows if left open</a:t>
            </a:r>
            <a:endParaRPr lang="en-US" sz="950" dirty="0"/>
          </a:p>
        </p:txBody>
      </p:sp>
      <p:sp>
        <p:nvSpPr>
          <p:cNvPr id="18" name="Shape 16"/>
          <p:cNvSpPr/>
          <p:nvPr/>
        </p:nvSpPr>
        <p:spPr>
          <a:xfrm>
            <a:off x="228600" y="1700784"/>
            <a:ext cx="8686800" cy="356616"/>
          </a:xfrm>
          <a:prstGeom prst="rect">
            <a:avLst/>
          </a:prstGeom>
          <a:solidFill>
            <a:srgbClr val="14304F"/>
          </a:solidFill>
          <a:ln w="12700">
            <a:solidFill>
              <a:srgbClr val="14304F"/>
            </a:solidFill>
            <a:prstDash val="solid"/>
          </a:ln>
        </p:spPr>
      </p:sp>
      <p:sp>
        <p:nvSpPr>
          <p:cNvPr id="19" name="Shape 17"/>
          <p:cNvSpPr/>
          <p:nvPr/>
        </p:nvSpPr>
        <p:spPr>
          <a:xfrm>
            <a:off x="228600" y="1700784"/>
            <a:ext cx="64008" cy="356616"/>
          </a:xfrm>
          <a:prstGeom prst="rect">
            <a:avLst/>
          </a:prstGeom>
          <a:solidFill>
            <a:srgbClr val="2ECC71"/>
          </a:solidFill>
          <a:ln w="12700">
            <a:solidFill>
              <a:srgbClr val="2ECC71"/>
            </a:solidFill>
            <a:prstDash val="solid"/>
          </a:ln>
        </p:spPr>
      </p:sp>
      <p:sp>
        <p:nvSpPr>
          <p:cNvPr id="20" name="Text 18"/>
          <p:cNvSpPr/>
          <p:nvPr/>
        </p:nvSpPr>
        <p:spPr>
          <a:xfrm>
            <a:off x="274320" y="1755648"/>
            <a:ext cx="594360" cy="246888"/>
          </a:xfrm>
          <a:prstGeom prst="rect">
            <a:avLst/>
          </a:prstGeom>
          <a:noFill/>
          <a:ln/>
        </p:spPr>
        <p:txBody>
          <a:bodyPr wrap="square" lIns="0" tIns="0" rIns="0" bIns="0" rtlCol="0" anchor="ctr"/>
          <a:lstStyle/>
          <a:p>
            <a:pPr algn="ctr" indent="0" marL="0">
              <a:buNone/>
            </a:pPr>
            <a:r>
              <a:rPr lang="en-US" sz="1050" b="1" dirty="0">
                <a:solidFill>
                  <a:srgbClr val="2ECC71"/>
                </a:solidFill>
                <a:latin typeface="Calibri" pitchFamily="34" charset="0"/>
                <a:ea typeface="Calibri" pitchFamily="34" charset="-122"/>
                <a:cs typeface="Calibri" pitchFamily="34" charset="-120"/>
              </a:rPr>
              <a:t>P1</a:t>
            </a:r>
            <a:endParaRPr lang="en-US" sz="1050" dirty="0"/>
          </a:p>
        </p:txBody>
      </p:sp>
      <p:sp>
        <p:nvSpPr>
          <p:cNvPr id="21" name="Text 19"/>
          <p:cNvSpPr/>
          <p:nvPr/>
        </p:nvSpPr>
        <p:spPr>
          <a:xfrm>
            <a:off x="886968" y="1755648"/>
            <a:ext cx="1828800" cy="246888"/>
          </a:xfrm>
          <a:prstGeom prst="rect">
            <a:avLst/>
          </a:prstGeom>
          <a:noFill/>
          <a:ln/>
        </p:spPr>
        <p:txBody>
          <a:bodyPr wrap="square" lIns="0" tIns="0" rIns="0" bIns="0" rtlCol="0" anchor="ctr"/>
          <a:lstStyle/>
          <a:p>
            <a:pPr indent="0" marL="0">
              <a:buNone/>
            </a:pPr>
            <a:r>
              <a:rPr lang="en-US" sz="1050" dirty="0">
                <a:solidFill>
                  <a:srgbClr val="E8EEF4"/>
                </a:solidFill>
                <a:latin typeface="Consolas" pitchFamily="34" charset="0"/>
                <a:ea typeface="Consolas" pitchFamily="34" charset="-122"/>
                <a:cs typeface="Consolas" pitchFamily="34" charset="-120"/>
              </a:rPr>
              <a:t>P101</a:t>
            </a:r>
            <a:endParaRPr lang="en-US" sz="1050" dirty="0"/>
          </a:p>
        </p:txBody>
      </p:sp>
      <p:sp>
        <p:nvSpPr>
          <p:cNvPr id="22" name="Text 20"/>
          <p:cNvSpPr/>
          <p:nvPr/>
        </p:nvSpPr>
        <p:spPr>
          <a:xfrm>
            <a:off x="2734056" y="1755648"/>
            <a:ext cx="1645920" cy="246888"/>
          </a:xfrm>
          <a:prstGeom prst="rect">
            <a:avLst/>
          </a:prstGeom>
          <a:noFill/>
          <a:ln/>
        </p:spPr>
        <p:txBody>
          <a:bodyPr wrap="square" lIns="0" tIns="0" rIns="0" bIns="0" rtlCol="0" anchor="ctr"/>
          <a:lstStyle/>
          <a:p>
            <a:pPr indent="0" marL="0">
              <a:buNone/>
            </a:pPr>
            <a:r>
              <a:rPr lang="en-US" sz="1050" b="1" dirty="0">
                <a:solidFill>
                  <a:srgbClr val="F39C12"/>
                </a:solidFill>
                <a:latin typeface="Calibri" pitchFamily="34" charset="0"/>
                <a:ea typeface="Calibri" pitchFamily="34" charset="-122"/>
                <a:cs typeface="Calibri" pitchFamily="34" charset="-120"/>
              </a:rPr>
              <a:t>OFF</a:t>
            </a:r>
            <a:endParaRPr lang="en-US" sz="1050" dirty="0"/>
          </a:p>
        </p:txBody>
      </p:sp>
      <p:sp>
        <p:nvSpPr>
          <p:cNvPr id="23" name="Text 21"/>
          <p:cNvSpPr/>
          <p:nvPr/>
        </p:nvSpPr>
        <p:spPr>
          <a:xfrm>
            <a:off x="4398264" y="1755648"/>
            <a:ext cx="2194560" cy="246888"/>
          </a:xfrm>
          <a:prstGeom prst="rect">
            <a:avLst/>
          </a:prstGeom>
          <a:noFill/>
          <a:ln/>
        </p:spPr>
        <p:txBody>
          <a:bodyPr wrap="square" lIns="0" tIns="0" rIns="0" bIns="0" rtlCol="0" anchor="ctr"/>
          <a:lstStyle/>
          <a:p>
            <a:pPr indent="0" marL="0">
              <a:buNone/>
            </a:pPr>
            <a:r>
              <a:rPr lang="en-US" sz="950" dirty="0">
                <a:solidFill>
                  <a:srgbClr val="C9D6DF"/>
                </a:solidFill>
                <a:latin typeface="Calibri" pitchFamily="34" charset="0"/>
                <a:ea typeface="Calibri" pitchFamily="34" charset="-122"/>
                <a:cs typeface="Calibri" pitchFamily="34" charset="-120"/>
              </a:rPr>
              <a:t>No pump without intake</a:t>
            </a:r>
            <a:endParaRPr lang="en-US" sz="950" dirty="0"/>
          </a:p>
        </p:txBody>
      </p:sp>
      <p:sp>
        <p:nvSpPr>
          <p:cNvPr id="24" name="Text 22"/>
          <p:cNvSpPr/>
          <p:nvPr/>
        </p:nvSpPr>
        <p:spPr>
          <a:xfrm>
            <a:off x="6611112" y="1755648"/>
            <a:ext cx="2606040" cy="246888"/>
          </a:xfrm>
          <a:prstGeom prst="rect">
            <a:avLst/>
          </a:prstGeom>
          <a:noFill/>
          <a:ln/>
        </p:spPr>
        <p:txBody>
          <a:bodyPr wrap="square" lIns="0" tIns="0" rIns="0" bIns="0" rtlCol="0" anchor="ctr"/>
          <a:lstStyle/>
          <a:p>
            <a:pPr indent="0" marL="0">
              <a:buNone/>
            </a:pPr>
            <a:r>
              <a:rPr lang="en-US" sz="950" dirty="0">
                <a:solidFill>
                  <a:srgbClr val="E74C3C"/>
                </a:solidFill>
                <a:latin typeface="Calibri" pitchFamily="34" charset="0"/>
                <a:ea typeface="Calibri" pitchFamily="34" charset="-122"/>
                <a:cs typeface="Calibri" pitchFamily="34" charset="-120"/>
              </a:rPr>
              <a:t>Dry-run damage to pump</a:t>
            </a:r>
            <a:endParaRPr lang="en-US" sz="950" dirty="0"/>
          </a:p>
        </p:txBody>
      </p:sp>
      <p:sp>
        <p:nvSpPr>
          <p:cNvPr id="25" name="Shape 23"/>
          <p:cNvSpPr/>
          <p:nvPr/>
        </p:nvSpPr>
        <p:spPr>
          <a:xfrm>
            <a:off x="228600" y="2075688"/>
            <a:ext cx="8686800" cy="356616"/>
          </a:xfrm>
          <a:prstGeom prst="rect">
            <a:avLst/>
          </a:prstGeom>
          <a:solidFill>
            <a:srgbClr val="1B3A5C"/>
          </a:solidFill>
          <a:ln w="12700">
            <a:solidFill>
              <a:srgbClr val="1B3A5C"/>
            </a:solidFill>
            <a:prstDash val="solid"/>
          </a:ln>
        </p:spPr>
      </p:sp>
      <p:sp>
        <p:nvSpPr>
          <p:cNvPr id="26" name="Shape 24"/>
          <p:cNvSpPr/>
          <p:nvPr/>
        </p:nvSpPr>
        <p:spPr>
          <a:xfrm>
            <a:off x="228600" y="2075688"/>
            <a:ext cx="64008" cy="356616"/>
          </a:xfrm>
          <a:prstGeom prst="rect">
            <a:avLst/>
          </a:prstGeom>
          <a:solidFill>
            <a:srgbClr val="2ECC71"/>
          </a:solidFill>
          <a:ln w="12700">
            <a:solidFill>
              <a:srgbClr val="2ECC71"/>
            </a:solidFill>
            <a:prstDash val="solid"/>
          </a:ln>
        </p:spPr>
      </p:sp>
      <p:sp>
        <p:nvSpPr>
          <p:cNvPr id="27" name="Text 25"/>
          <p:cNvSpPr/>
          <p:nvPr/>
        </p:nvSpPr>
        <p:spPr>
          <a:xfrm>
            <a:off x="274320" y="2130552"/>
            <a:ext cx="594360" cy="246888"/>
          </a:xfrm>
          <a:prstGeom prst="rect">
            <a:avLst/>
          </a:prstGeom>
          <a:noFill/>
          <a:ln/>
        </p:spPr>
        <p:txBody>
          <a:bodyPr wrap="square" lIns="0" tIns="0" rIns="0" bIns="0" rtlCol="0" anchor="ctr"/>
          <a:lstStyle/>
          <a:p>
            <a:pPr algn="ctr" indent="0" marL="0">
              <a:buNone/>
            </a:pPr>
            <a:r>
              <a:rPr lang="en-US" sz="1050" b="1" dirty="0">
                <a:solidFill>
                  <a:srgbClr val="2ECC71"/>
                </a:solidFill>
                <a:latin typeface="Calibri" pitchFamily="34" charset="0"/>
                <a:ea typeface="Calibri" pitchFamily="34" charset="-122"/>
                <a:cs typeface="Calibri" pitchFamily="34" charset="-120"/>
              </a:rPr>
              <a:t>P1</a:t>
            </a:r>
            <a:endParaRPr lang="en-US" sz="1050" dirty="0"/>
          </a:p>
        </p:txBody>
      </p:sp>
      <p:sp>
        <p:nvSpPr>
          <p:cNvPr id="28" name="Text 26"/>
          <p:cNvSpPr/>
          <p:nvPr/>
        </p:nvSpPr>
        <p:spPr>
          <a:xfrm>
            <a:off x="886968" y="2130552"/>
            <a:ext cx="1828800" cy="246888"/>
          </a:xfrm>
          <a:prstGeom prst="rect">
            <a:avLst/>
          </a:prstGeom>
          <a:noFill/>
          <a:ln/>
        </p:spPr>
        <p:txBody>
          <a:bodyPr wrap="square" lIns="0" tIns="0" rIns="0" bIns="0" rtlCol="0" anchor="ctr"/>
          <a:lstStyle/>
          <a:p>
            <a:pPr indent="0" marL="0">
              <a:buNone/>
            </a:pPr>
            <a:r>
              <a:rPr lang="en-US" sz="1050" dirty="0">
                <a:solidFill>
                  <a:srgbClr val="E8EEF4"/>
                </a:solidFill>
                <a:latin typeface="Consolas" pitchFamily="34" charset="0"/>
                <a:ea typeface="Consolas" pitchFamily="34" charset="-122"/>
                <a:cs typeface="Consolas" pitchFamily="34" charset="-120"/>
              </a:rPr>
              <a:t>P102</a:t>
            </a:r>
            <a:endParaRPr lang="en-US" sz="1050" dirty="0"/>
          </a:p>
        </p:txBody>
      </p:sp>
      <p:sp>
        <p:nvSpPr>
          <p:cNvPr id="29" name="Text 27"/>
          <p:cNvSpPr/>
          <p:nvPr/>
        </p:nvSpPr>
        <p:spPr>
          <a:xfrm>
            <a:off x="2734056" y="2130552"/>
            <a:ext cx="1645920" cy="246888"/>
          </a:xfrm>
          <a:prstGeom prst="rect">
            <a:avLst/>
          </a:prstGeom>
          <a:noFill/>
          <a:ln/>
        </p:spPr>
        <p:txBody>
          <a:bodyPr wrap="square" lIns="0" tIns="0" rIns="0" bIns="0" rtlCol="0" anchor="ctr"/>
          <a:lstStyle/>
          <a:p>
            <a:pPr indent="0" marL="0">
              <a:buNone/>
            </a:pPr>
            <a:r>
              <a:rPr lang="en-US" sz="1050" b="1" dirty="0">
                <a:solidFill>
                  <a:srgbClr val="F39C12"/>
                </a:solidFill>
                <a:latin typeface="Calibri" pitchFamily="34" charset="0"/>
                <a:ea typeface="Calibri" pitchFamily="34" charset="-122"/>
                <a:cs typeface="Calibri" pitchFamily="34" charset="-120"/>
              </a:rPr>
              <a:t>OFF</a:t>
            </a:r>
            <a:endParaRPr lang="en-US" sz="1050" dirty="0"/>
          </a:p>
        </p:txBody>
      </p:sp>
      <p:sp>
        <p:nvSpPr>
          <p:cNvPr id="30" name="Text 28"/>
          <p:cNvSpPr/>
          <p:nvPr/>
        </p:nvSpPr>
        <p:spPr>
          <a:xfrm>
            <a:off x="4398264" y="2130552"/>
            <a:ext cx="2194560" cy="246888"/>
          </a:xfrm>
          <a:prstGeom prst="rect">
            <a:avLst/>
          </a:prstGeom>
          <a:noFill/>
          <a:ln/>
        </p:spPr>
        <p:txBody>
          <a:bodyPr wrap="square" lIns="0" tIns="0" rIns="0" bIns="0" rtlCol="0" anchor="ctr"/>
          <a:lstStyle/>
          <a:p>
            <a:pPr indent="0" marL="0">
              <a:buNone/>
            </a:pPr>
            <a:r>
              <a:rPr lang="en-US" sz="950" dirty="0">
                <a:solidFill>
                  <a:srgbClr val="C9D6DF"/>
                </a:solidFill>
                <a:latin typeface="Calibri" pitchFamily="34" charset="0"/>
                <a:ea typeface="Calibri" pitchFamily="34" charset="-122"/>
                <a:cs typeface="Calibri" pitchFamily="34" charset="-120"/>
              </a:rPr>
              <a:t>Backup pump also idle</a:t>
            </a:r>
            <a:endParaRPr lang="en-US" sz="950" dirty="0"/>
          </a:p>
        </p:txBody>
      </p:sp>
      <p:sp>
        <p:nvSpPr>
          <p:cNvPr id="31" name="Text 29"/>
          <p:cNvSpPr/>
          <p:nvPr/>
        </p:nvSpPr>
        <p:spPr>
          <a:xfrm>
            <a:off x="6611112" y="2130552"/>
            <a:ext cx="2606040" cy="246888"/>
          </a:xfrm>
          <a:prstGeom prst="rect">
            <a:avLst/>
          </a:prstGeom>
          <a:noFill/>
          <a:ln/>
        </p:spPr>
        <p:txBody>
          <a:bodyPr wrap="square" lIns="0" tIns="0" rIns="0" bIns="0" rtlCol="0" anchor="ctr"/>
          <a:lstStyle/>
          <a:p>
            <a:pPr indent="0" marL="0">
              <a:buNone/>
            </a:pPr>
            <a:r>
              <a:rPr lang="en-US" sz="950" dirty="0">
                <a:solidFill>
                  <a:srgbClr val="E74C3C"/>
                </a:solidFill>
                <a:latin typeface="Calibri" pitchFamily="34" charset="0"/>
                <a:ea typeface="Calibri" pitchFamily="34" charset="-122"/>
                <a:cs typeface="Calibri" pitchFamily="34" charset="-120"/>
              </a:rPr>
              <a:t>Redundant — must match P101</a:t>
            </a:r>
            <a:endParaRPr lang="en-US" sz="950" dirty="0"/>
          </a:p>
        </p:txBody>
      </p:sp>
      <p:sp>
        <p:nvSpPr>
          <p:cNvPr id="32" name="Shape 30"/>
          <p:cNvSpPr/>
          <p:nvPr/>
        </p:nvSpPr>
        <p:spPr>
          <a:xfrm>
            <a:off x="228600" y="2450592"/>
            <a:ext cx="8686800" cy="356616"/>
          </a:xfrm>
          <a:prstGeom prst="rect">
            <a:avLst/>
          </a:prstGeom>
          <a:solidFill>
            <a:srgbClr val="14304F"/>
          </a:solidFill>
          <a:ln w="12700">
            <a:solidFill>
              <a:srgbClr val="14304F"/>
            </a:solidFill>
            <a:prstDash val="solid"/>
          </a:ln>
        </p:spPr>
      </p:sp>
      <p:sp>
        <p:nvSpPr>
          <p:cNvPr id="33" name="Shape 31"/>
          <p:cNvSpPr/>
          <p:nvPr/>
        </p:nvSpPr>
        <p:spPr>
          <a:xfrm>
            <a:off x="228600" y="2450592"/>
            <a:ext cx="64008" cy="356616"/>
          </a:xfrm>
          <a:prstGeom prst="rect">
            <a:avLst/>
          </a:prstGeom>
          <a:solidFill>
            <a:srgbClr val="0A7E8C"/>
          </a:solidFill>
          <a:ln w="12700">
            <a:solidFill>
              <a:srgbClr val="0A7E8C"/>
            </a:solidFill>
            <a:prstDash val="solid"/>
          </a:ln>
        </p:spPr>
      </p:sp>
      <p:sp>
        <p:nvSpPr>
          <p:cNvPr id="34" name="Text 32"/>
          <p:cNvSpPr/>
          <p:nvPr/>
        </p:nvSpPr>
        <p:spPr>
          <a:xfrm>
            <a:off x="274320" y="2505456"/>
            <a:ext cx="594360" cy="246888"/>
          </a:xfrm>
          <a:prstGeom prst="rect">
            <a:avLst/>
          </a:prstGeom>
          <a:noFill/>
          <a:ln/>
        </p:spPr>
        <p:txBody>
          <a:bodyPr wrap="square" lIns="0" tIns="0" rIns="0" bIns="0" rtlCol="0" anchor="ctr"/>
          <a:lstStyle/>
          <a:p>
            <a:pPr algn="ctr" indent="0" marL="0">
              <a:buNone/>
            </a:pPr>
            <a:r>
              <a:rPr lang="en-US" sz="1050" b="1" dirty="0">
                <a:solidFill>
                  <a:srgbClr val="0FB3C5"/>
                </a:solidFill>
                <a:latin typeface="Calibri" pitchFamily="34" charset="0"/>
                <a:ea typeface="Calibri" pitchFamily="34" charset="-122"/>
                <a:cs typeface="Calibri" pitchFamily="34" charset="-120"/>
              </a:rPr>
              <a:t>P2</a:t>
            </a:r>
            <a:endParaRPr lang="en-US" sz="1050" dirty="0"/>
          </a:p>
        </p:txBody>
      </p:sp>
      <p:sp>
        <p:nvSpPr>
          <p:cNvPr id="35" name="Text 33"/>
          <p:cNvSpPr/>
          <p:nvPr/>
        </p:nvSpPr>
        <p:spPr>
          <a:xfrm>
            <a:off x="886968" y="2505456"/>
            <a:ext cx="1828800" cy="246888"/>
          </a:xfrm>
          <a:prstGeom prst="rect">
            <a:avLst/>
          </a:prstGeom>
          <a:noFill/>
          <a:ln/>
        </p:spPr>
        <p:txBody>
          <a:bodyPr wrap="square" lIns="0" tIns="0" rIns="0" bIns="0" rtlCol="0" anchor="ctr"/>
          <a:lstStyle/>
          <a:p>
            <a:pPr indent="0" marL="0">
              <a:buNone/>
            </a:pPr>
            <a:r>
              <a:rPr lang="en-US" sz="1050" dirty="0">
                <a:solidFill>
                  <a:srgbClr val="E8EEF4"/>
                </a:solidFill>
                <a:latin typeface="Consolas" pitchFamily="34" charset="0"/>
                <a:ea typeface="Consolas" pitchFamily="34" charset="-122"/>
                <a:cs typeface="Consolas" pitchFamily="34" charset="-120"/>
              </a:rPr>
              <a:t>P201–206</a:t>
            </a:r>
            <a:endParaRPr lang="en-US" sz="1050" dirty="0"/>
          </a:p>
        </p:txBody>
      </p:sp>
      <p:sp>
        <p:nvSpPr>
          <p:cNvPr id="36" name="Text 34"/>
          <p:cNvSpPr/>
          <p:nvPr/>
        </p:nvSpPr>
        <p:spPr>
          <a:xfrm>
            <a:off x="2734056" y="2505456"/>
            <a:ext cx="1645920" cy="246888"/>
          </a:xfrm>
          <a:prstGeom prst="rect">
            <a:avLst/>
          </a:prstGeom>
          <a:noFill/>
          <a:ln/>
        </p:spPr>
        <p:txBody>
          <a:bodyPr wrap="square" lIns="0" tIns="0" rIns="0" bIns="0" rtlCol="0" anchor="ctr"/>
          <a:lstStyle/>
          <a:p>
            <a:pPr indent="0" marL="0">
              <a:buNone/>
            </a:pPr>
            <a:r>
              <a:rPr lang="en-US" sz="1050" b="1" dirty="0">
                <a:solidFill>
                  <a:srgbClr val="F39C12"/>
                </a:solidFill>
                <a:latin typeface="Calibri" pitchFamily="34" charset="0"/>
                <a:ea typeface="Calibri" pitchFamily="34" charset="-122"/>
                <a:cs typeface="Calibri" pitchFamily="34" charset="-120"/>
              </a:rPr>
              <a:t>ALL OFF</a:t>
            </a:r>
            <a:endParaRPr lang="en-US" sz="1050" dirty="0"/>
          </a:p>
        </p:txBody>
      </p:sp>
      <p:sp>
        <p:nvSpPr>
          <p:cNvPr id="37" name="Text 35"/>
          <p:cNvSpPr/>
          <p:nvPr/>
        </p:nvSpPr>
        <p:spPr>
          <a:xfrm>
            <a:off x="4398264" y="2505456"/>
            <a:ext cx="2194560" cy="246888"/>
          </a:xfrm>
          <a:prstGeom prst="rect">
            <a:avLst/>
          </a:prstGeom>
          <a:noFill/>
          <a:ln/>
        </p:spPr>
        <p:txBody>
          <a:bodyPr wrap="square" lIns="0" tIns="0" rIns="0" bIns="0" rtlCol="0" anchor="ctr"/>
          <a:lstStyle/>
          <a:p>
            <a:pPr indent="0" marL="0">
              <a:buNone/>
            </a:pPr>
            <a:r>
              <a:rPr lang="en-US" sz="950" dirty="0">
                <a:solidFill>
                  <a:srgbClr val="C9D6DF"/>
                </a:solidFill>
                <a:latin typeface="Calibri" pitchFamily="34" charset="0"/>
                <a:ea typeface="Calibri" pitchFamily="34" charset="-122"/>
                <a:cs typeface="Calibri" pitchFamily="34" charset="-120"/>
              </a:rPr>
              <a:t>No dosing without P1 feed</a:t>
            </a:r>
            <a:endParaRPr lang="en-US" sz="950" dirty="0"/>
          </a:p>
        </p:txBody>
      </p:sp>
      <p:sp>
        <p:nvSpPr>
          <p:cNvPr id="38" name="Text 36"/>
          <p:cNvSpPr/>
          <p:nvPr/>
        </p:nvSpPr>
        <p:spPr>
          <a:xfrm>
            <a:off x="6611112" y="2505456"/>
            <a:ext cx="2606040" cy="246888"/>
          </a:xfrm>
          <a:prstGeom prst="rect">
            <a:avLst/>
          </a:prstGeom>
          <a:noFill/>
          <a:ln/>
        </p:spPr>
        <p:txBody>
          <a:bodyPr wrap="square" lIns="0" tIns="0" rIns="0" bIns="0" rtlCol="0" anchor="ctr"/>
          <a:lstStyle/>
          <a:p>
            <a:pPr indent="0" marL="0">
              <a:buNone/>
            </a:pPr>
            <a:r>
              <a:rPr lang="en-US" sz="950" dirty="0">
                <a:solidFill>
                  <a:srgbClr val="E74C3C"/>
                </a:solidFill>
                <a:latin typeface="Calibri" pitchFamily="34" charset="0"/>
                <a:ea typeface="Calibri" pitchFamily="34" charset="-122"/>
                <a:cs typeface="Calibri" pitchFamily="34" charset="-120"/>
              </a:rPr>
              <a:t>Chemical overdose to tank</a:t>
            </a:r>
            <a:endParaRPr lang="en-US" sz="950" dirty="0"/>
          </a:p>
        </p:txBody>
      </p:sp>
      <p:sp>
        <p:nvSpPr>
          <p:cNvPr id="39" name="Shape 37"/>
          <p:cNvSpPr/>
          <p:nvPr/>
        </p:nvSpPr>
        <p:spPr>
          <a:xfrm>
            <a:off x="228600" y="2825496"/>
            <a:ext cx="8686800" cy="356616"/>
          </a:xfrm>
          <a:prstGeom prst="rect">
            <a:avLst/>
          </a:prstGeom>
          <a:solidFill>
            <a:srgbClr val="1B3A5C"/>
          </a:solidFill>
          <a:ln w="12700">
            <a:solidFill>
              <a:srgbClr val="1B3A5C"/>
            </a:solidFill>
            <a:prstDash val="solid"/>
          </a:ln>
        </p:spPr>
      </p:sp>
      <p:sp>
        <p:nvSpPr>
          <p:cNvPr id="40" name="Shape 38"/>
          <p:cNvSpPr/>
          <p:nvPr/>
        </p:nvSpPr>
        <p:spPr>
          <a:xfrm>
            <a:off x="228600" y="2825496"/>
            <a:ext cx="64008" cy="356616"/>
          </a:xfrm>
          <a:prstGeom prst="rect">
            <a:avLst/>
          </a:prstGeom>
          <a:solidFill>
            <a:srgbClr val="0A7E8C"/>
          </a:solidFill>
          <a:ln w="12700">
            <a:solidFill>
              <a:srgbClr val="0A7E8C"/>
            </a:solidFill>
            <a:prstDash val="solid"/>
          </a:ln>
        </p:spPr>
      </p:sp>
      <p:sp>
        <p:nvSpPr>
          <p:cNvPr id="41" name="Text 39"/>
          <p:cNvSpPr/>
          <p:nvPr/>
        </p:nvSpPr>
        <p:spPr>
          <a:xfrm>
            <a:off x="274320" y="2880360"/>
            <a:ext cx="594360" cy="246888"/>
          </a:xfrm>
          <a:prstGeom prst="rect">
            <a:avLst/>
          </a:prstGeom>
          <a:noFill/>
          <a:ln/>
        </p:spPr>
        <p:txBody>
          <a:bodyPr wrap="square" lIns="0" tIns="0" rIns="0" bIns="0" rtlCol="0" anchor="ctr"/>
          <a:lstStyle/>
          <a:p>
            <a:pPr algn="ctr" indent="0" marL="0">
              <a:buNone/>
            </a:pPr>
            <a:r>
              <a:rPr lang="en-US" sz="1050" b="1" dirty="0">
                <a:solidFill>
                  <a:srgbClr val="0FB3C5"/>
                </a:solidFill>
                <a:latin typeface="Calibri" pitchFamily="34" charset="0"/>
                <a:ea typeface="Calibri" pitchFamily="34" charset="-122"/>
                <a:cs typeface="Calibri" pitchFamily="34" charset="-120"/>
              </a:rPr>
              <a:t>P3</a:t>
            </a:r>
            <a:endParaRPr lang="en-US" sz="1050" dirty="0"/>
          </a:p>
        </p:txBody>
      </p:sp>
      <p:sp>
        <p:nvSpPr>
          <p:cNvPr id="42" name="Text 40"/>
          <p:cNvSpPr/>
          <p:nvPr/>
        </p:nvSpPr>
        <p:spPr>
          <a:xfrm>
            <a:off x="886968" y="2880360"/>
            <a:ext cx="1828800" cy="246888"/>
          </a:xfrm>
          <a:prstGeom prst="rect">
            <a:avLst/>
          </a:prstGeom>
          <a:noFill/>
          <a:ln/>
        </p:spPr>
        <p:txBody>
          <a:bodyPr wrap="square" lIns="0" tIns="0" rIns="0" bIns="0" rtlCol="0" anchor="ctr"/>
          <a:lstStyle/>
          <a:p>
            <a:pPr indent="0" marL="0">
              <a:buNone/>
            </a:pPr>
            <a:r>
              <a:rPr lang="en-US" sz="1050" dirty="0">
                <a:solidFill>
                  <a:srgbClr val="E8EEF4"/>
                </a:solidFill>
                <a:latin typeface="Consolas" pitchFamily="34" charset="0"/>
                <a:ea typeface="Consolas" pitchFamily="34" charset="-122"/>
                <a:cs typeface="Consolas" pitchFamily="34" charset="-120"/>
              </a:rPr>
              <a:t>MV301</a:t>
            </a:r>
            <a:endParaRPr lang="en-US" sz="1050" dirty="0"/>
          </a:p>
        </p:txBody>
      </p:sp>
      <p:sp>
        <p:nvSpPr>
          <p:cNvPr id="43" name="Text 41"/>
          <p:cNvSpPr/>
          <p:nvPr/>
        </p:nvSpPr>
        <p:spPr>
          <a:xfrm>
            <a:off x="2734056" y="2880360"/>
            <a:ext cx="1645920" cy="246888"/>
          </a:xfrm>
          <a:prstGeom prst="rect">
            <a:avLst/>
          </a:prstGeom>
          <a:noFill/>
          <a:ln/>
        </p:spPr>
        <p:txBody>
          <a:bodyPr wrap="square" lIns="0" tIns="0" rIns="0" bIns="0" rtlCol="0" anchor="ctr"/>
          <a:lstStyle/>
          <a:p>
            <a:pPr indent="0" marL="0">
              <a:buNone/>
            </a:pPr>
            <a:r>
              <a:rPr lang="en-US" sz="1050" b="1" dirty="0">
                <a:solidFill>
                  <a:srgbClr val="F39C12"/>
                </a:solidFill>
                <a:latin typeface="Calibri" pitchFamily="34" charset="0"/>
                <a:ea typeface="Calibri" pitchFamily="34" charset="-122"/>
                <a:cs typeface="Calibri" pitchFamily="34" charset="-120"/>
              </a:rPr>
              <a:t>CLOSED</a:t>
            </a:r>
            <a:endParaRPr lang="en-US" sz="1050" dirty="0"/>
          </a:p>
        </p:txBody>
      </p:sp>
      <p:sp>
        <p:nvSpPr>
          <p:cNvPr id="44" name="Text 42"/>
          <p:cNvSpPr/>
          <p:nvPr/>
        </p:nvSpPr>
        <p:spPr>
          <a:xfrm>
            <a:off x="4398264" y="2880360"/>
            <a:ext cx="2194560" cy="246888"/>
          </a:xfrm>
          <a:prstGeom prst="rect">
            <a:avLst/>
          </a:prstGeom>
          <a:noFill/>
          <a:ln/>
        </p:spPr>
        <p:txBody>
          <a:bodyPr wrap="square" lIns="0" tIns="0" rIns="0" bIns="0" rtlCol="0" anchor="ctr"/>
          <a:lstStyle/>
          <a:p>
            <a:pPr indent="0" marL="0">
              <a:buNone/>
            </a:pPr>
            <a:r>
              <a:rPr lang="en-US" sz="950" dirty="0">
                <a:solidFill>
                  <a:srgbClr val="C9D6DF"/>
                </a:solidFill>
                <a:latin typeface="Calibri" pitchFamily="34" charset="0"/>
                <a:ea typeface="Calibri" pitchFamily="34" charset="-122"/>
                <a:cs typeface="Calibri" pitchFamily="34" charset="-120"/>
              </a:rPr>
              <a:t>Isolate UF feed</a:t>
            </a:r>
            <a:endParaRPr lang="en-US" sz="950" dirty="0"/>
          </a:p>
        </p:txBody>
      </p:sp>
      <p:sp>
        <p:nvSpPr>
          <p:cNvPr id="45" name="Text 43"/>
          <p:cNvSpPr/>
          <p:nvPr/>
        </p:nvSpPr>
        <p:spPr>
          <a:xfrm>
            <a:off x="6611112" y="2880360"/>
            <a:ext cx="2606040" cy="246888"/>
          </a:xfrm>
          <a:prstGeom prst="rect">
            <a:avLst/>
          </a:prstGeom>
          <a:noFill/>
          <a:ln/>
        </p:spPr>
        <p:txBody>
          <a:bodyPr wrap="square" lIns="0" tIns="0" rIns="0" bIns="0" rtlCol="0" anchor="ctr"/>
          <a:lstStyle/>
          <a:p>
            <a:pPr indent="0" marL="0">
              <a:buNone/>
            </a:pPr>
            <a:r>
              <a:rPr lang="en-US" sz="950" dirty="0">
                <a:solidFill>
                  <a:srgbClr val="E74C3C"/>
                </a:solidFill>
                <a:latin typeface="Calibri" pitchFamily="34" charset="0"/>
                <a:ea typeface="Calibri" pitchFamily="34" charset="-122"/>
                <a:cs typeface="Calibri" pitchFamily="34" charset="-120"/>
              </a:rPr>
              <a:t>Overflow in UF vessel</a:t>
            </a:r>
            <a:endParaRPr lang="en-US" sz="950" dirty="0"/>
          </a:p>
        </p:txBody>
      </p:sp>
      <p:sp>
        <p:nvSpPr>
          <p:cNvPr id="46" name="Shape 44"/>
          <p:cNvSpPr/>
          <p:nvPr/>
        </p:nvSpPr>
        <p:spPr>
          <a:xfrm>
            <a:off x="228600" y="3200400"/>
            <a:ext cx="8686800" cy="356616"/>
          </a:xfrm>
          <a:prstGeom prst="rect">
            <a:avLst/>
          </a:prstGeom>
          <a:solidFill>
            <a:srgbClr val="14304F"/>
          </a:solidFill>
          <a:ln w="12700">
            <a:solidFill>
              <a:srgbClr val="14304F"/>
            </a:solidFill>
            <a:prstDash val="solid"/>
          </a:ln>
        </p:spPr>
      </p:sp>
      <p:sp>
        <p:nvSpPr>
          <p:cNvPr id="47" name="Shape 45"/>
          <p:cNvSpPr/>
          <p:nvPr/>
        </p:nvSpPr>
        <p:spPr>
          <a:xfrm>
            <a:off x="228600" y="3200400"/>
            <a:ext cx="64008" cy="356616"/>
          </a:xfrm>
          <a:prstGeom prst="rect">
            <a:avLst/>
          </a:prstGeom>
          <a:solidFill>
            <a:srgbClr val="0A7E8C"/>
          </a:solidFill>
          <a:ln w="12700">
            <a:solidFill>
              <a:srgbClr val="0A7E8C"/>
            </a:solidFill>
            <a:prstDash val="solid"/>
          </a:ln>
        </p:spPr>
      </p:sp>
      <p:sp>
        <p:nvSpPr>
          <p:cNvPr id="48" name="Text 46"/>
          <p:cNvSpPr/>
          <p:nvPr/>
        </p:nvSpPr>
        <p:spPr>
          <a:xfrm>
            <a:off x="274320" y="3255264"/>
            <a:ext cx="594360" cy="246888"/>
          </a:xfrm>
          <a:prstGeom prst="rect">
            <a:avLst/>
          </a:prstGeom>
          <a:noFill/>
          <a:ln/>
        </p:spPr>
        <p:txBody>
          <a:bodyPr wrap="square" lIns="0" tIns="0" rIns="0" bIns="0" rtlCol="0" anchor="ctr"/>
          <a:lstStyle/>
          <a:p>
            <a:pPr algn="ctr" indent="0" marL="0">
              <a:buNone/>
            </a:pPr>
            <a:r>
              <a:rPr lang="en-US" sz="1050" b="1" dirty="0">
                <a:solidFill>
                  <a:srgbClr val="0FB3C5"/>
                </a:solidFill>
                <a:latin typeface="Calibri" pitchFamily="34" charset="0"/>
                <a:ea typeface="Calibri" pitchFamily="34" charset="-122"/>
                <a:cs typeface="Calibri" pitchFamily="34" charset="-120"/>
              </a:rPr>
              <a:t>P3</a:t>
            </a:r>
            <a:endParaRPr lang="en-US" sz="1050" dirty="0"/>
          </a:p>
        </p:txBody>
      </p:sp>
      <p:sp>
        <p:nvSpPr>
          <p:cNvPr id="49" name="Text 47"/>
          <p:cNvSpPr/>
          <p:nvPr/>
        </p:nvSpPr>
        <p:spPr>
          <a:xfrm>
            <a:off x="886968" y="3255264"/>
            <a:ext cx="1828800" cy="246888"/>
          </a:xfrm>
          <a:prstGeom prst="rect">
            <a:avLst/>
          </a:prstGeom>
          <a:noFill/>
          <a:ln/>
        </p:spPr>
        <p:txBody>
          <a:bodyPr wrap="square" lIns="0" tIns="0" rIns="0" bIns="0" rtlCol="0" anchor="ctr"/>
          <a:lstStyle/>
          <a:p>
            <a:pPr indent="0" marL="0">
              <a:buNone/>
            </a:pPr>
            <a:r>
              <a:rPr lang="en-US" sz="1050" dirty="0">
                <a:solidFill>
                  <a:srgbClr val="E8EEF4"/>
                </a:solidFill>
                <a:latin typeface="Consolas" pitchFamily="34" charset="0"/>
                <a:ea typeface="Consolas" pitchFamily="34" charset="-122"/>
                <a:cs typeface="Consolas" pitchFamily="34" charset="-120"/>
              </a:rPr>
              <a:t>P301/302</a:t>
            </a:r>
            <a:endParaRPr lang="en-US" sz="1050" dirty="0"/>
          </a:p>
        </p:txBody>
      </p:sp>
      <p:sp>
        <p:nvSpPr>
          <p:cNvPr id="50" name="Text 48"/>
          <p:cNvSpPr/>
          <p:nvPr/>
        </p:nvSpPr>
        <p:spPr>
          <a:xfrm>
            <a:off x="2734056" y="3255264"/>
            <a:ext cx="1645920" cy="246888"/>
          </a:xfrm>
          <a:prstGeom prst="rect">
            <a:avLst/>
          </a:prstGeom>
          <a:noFill/>
          <a:ln/>
        </p:spPr>
        <p:txBody>
          <a:bodyPr wrap="square" lIns="0" tIns="0" rIns="0" bIns="0" rtlCol="0" anchor="ctr"/>
          <a:lstStyle/>
          <a:p>
            <a:pPr indent="0" marL="0">
              <a:buNone/>
            </a:pPr>
            <a:r>
              <a:rPr lang="en-US" sz="1050" b="1" dirty="0">
                <a:solidFill>
                  <a:srgbClr val="F39C12"/>
                </a:solidFill>
                <a:latin typeface="Calibri" pitchFamily="34" charset="0"/>
                <a:ea typeface="Calibri" pitchFamily="34" charset="-122"/>
                <a:cs typeface="Calibri" pitchFamily="34" charset="-120"/>
              </a:rPr>
              <a:t>OFF</a:t>
            </a:r>
            <a:endParaRPr lang="en-US" sz="1050" dirty="0"/>
          </a:p>
        </p:txBody>
      </p:sp>
      <p:sp>
        <p:nvSpPr>
          <p:cNvPr id="51" name="Text 49"/>
          <p:cNvSpPr/>
          <p:nvPr/>
        </p:nvSpPr>
        <p:spPr>
          <a:xfrm>
            <a:off x="4398264" y="3255264"/>
            <a:ext cx="2194560" cy="246888"/>
          </a:xfrm>
          <a:prstGeom prst="rect">
            <a:avLst/>
          </a:prstGeom>
          <a:noFill/>
          <a:ln/>
        </p:spPr>
        <p:txBody>
          <a:bodyPr wrap="square" lIns="0" tIns="0" rIns="0" bIns="0" rtlCol="0" anchor="ctr"/>
          <a:lstStyle/>
          <a:p>
            <a:pPr indent="0" marL="0">
              <a:buNone/>
            </a:pPr>
            <a:r>
              <a:rPr lang="en-US" sz="950" dirty="0">
                <a:solidFill>
                  <a:srgbClr val="C9D6DF"/>
                </a:solidFill>
                <a:latin typeface="Calibri" pitchFamily="34" charset="0"/>
                <a:ea typeface="Calibri" pitchFamily="34" charset="-122"/>
                <a:cs typeface="Calibri" pitchFamily="34" charset="-120"/>
              </a:rPr>
              <a:t>UF pumps off</a:t>
            </a:r>
            <a:endParaRPr lang="en-US" sz="950" dirty="0"/>
          </a:p>
        </p:txBody>
      </p:sp>
      <p:sp>
        <p:nvSpPr>
          <p:cNvPr id="52" name="Text 50"/>
          <p:cNvSpPr/>
          <p:nvPr/>
        </p:nvSpPr>
        <p:spPr>
          <a:xfrm>
            <a:off x="6611112" y="3255264"/>
            <a:ext cx="2606040" cy="246888"/>
          </a:xfrm>
          <a:prstGeom prst="rect">
            <a:avLst/>
          </a:prstGeom>
          <a:noFill/>
          <a:ln/>
        </p:spPr>
        <p:txBody>
          <a:bodyPr wrap="square" lIns="0" tIns="0" rIns="0" bIns="0" rtlCol="0" anchor="ctr"/>
          <a:lstStyle/>
          <a:p>
            <a:pPr indent="0" marL="0">
              <a:buNone/>
            </a:pPr>
            <a:r>
              <a:rPr lang="en-US" sz="950" dirty="0">
                <a:solidFill>
                  <a:srgbClr val="E74C3C"/>
                </a:solidFill>
                <a:latin typeface="Calibri" pitchFamily="34" charset="0"/>
                <a:ea typeface="Calibri" pitchFamily="34" charset="-122"/>
                <a:cs typeface="Calibri" pitchFamily="34" charset="-120"/>
              </a:rPr>
              <a:t>Membrane pressure spike</a:t>
            </a:r>
            <a:endParaRPr lang="en-US" sz="950" dirty="0"/>
          </a:p>
        </p:txBody>
      </p:sp>
      <p:sp>
        <p:nvSpPr>
          <p:cNvPr id="53" name="Shape 51"/>
          <p:cNvSpPr/>
          <p:nvPr/>
        </p:nvSpPr>
        <p:spPr>
          <a:xfrm>
            <a:off x="228600" y="3575304"/>
            <a:ext cx="8686800" cy="356616"/>
          </a:xfrm>
          <a:prstGeom prst="rect">
            <a:avLst/>
          </a:prstGeom>
          <a:solidFill>
            <a:srgbClr val="1B3A5C"/>
          </a:solidFill>
          <a:ln w="12700">
            <a:solidFill>
              <a:srgbClr val="1B3A5C"/>
            </a:solidFill>
            <a:prstDash val="solid"/>
          </a:ln>
        </p:spPr>
      </p:sp>
      <p:sp>
        <p:nvSpPr>
          <p:cNvPr id="54" name="Shape 52"/>
          <p:cNvSpPr/>
          <p:nvPr/>
        </p:nvSpPr>
        <p:spPr>
          <a:xfrm>
            <a:off x="228600" y="3575304"/>
            <a:ext cx="64008" cy="356616"/>
          </a:xfrm>
          <a:prstGeom prst="rect">
            <a:avLst/>
          </a:prstGeom>
          <a:solidFill>
            <a:srgbClr val="0A7E8C"/>
          </a:solidFill>
          <a:ln w="12700">
            <a:solidFill>
              <a:srgbClr val="0A7E8C"/>
            </a:solidFill>
            <a:prstDash val="solid"/>
          </a:ln>
        </p:spPr>
      </p:sp>
      <p:sp>
        <p:nvSpPr>
          <p:cNvPr id="55" name="Text 53"/>
          <p:cNvSpPr/>
          <p:nvPr/>
        </p:nvSpPr>
        <p:spPr>
          <a:xfrm>
            <a:off x="274320" y="3630168"/>
            <a:ext cx="594360" cy="246888"/>
          </a:xfrm>
          <a:prstGeom prst="rect">
            <a:avLst/>
          </a:prstGeom>
          <a:noFill/>
          <a:ln/>
        </p:spPr>
        <p:txBody>
          <a:bodyPr wrap="square" lIns="0" tIns="0" rIns="0" bIns="0" rtlCol="0" anchor="ctr"/>
          <a:lstStyle/>
          <a:p>
            <a:pPr algn="ctr" indent="0" marL="0">
              <a:buNone/>
            </a:pPr>
            <a:r>
              <a:rPr lang="en-US" sz="1050" b="1" dirty="0">
                <a:solidFill>
                  <a:srgbClr val="0FB3C5"/>
                </a:solidFill>
                <a:latin typeface="Calibri" pitchFamily="34" charset="0"/>
                <a:ea typeface="Calibri" pitchFamily="34" charset="-122"/>
                <a:cs typeface="Calibri" pitchFamily="34" charset="-120"/>
              </a:rPr>
              <a:t>P4</a:t>
            </a:r>
            <a:endParaRPr lang="en-US" sz="1050" dirty="0"/>
          </a:p>
        </p:txBody>
      </p:sp>
      <p:sp>
        <p:nvSpPr>
          <p:cNvPr id="56" name="Text 54"/>
          <p:cNvSpPr/>
          <p:nvPr/>
        </p:nvSpPr>
        <p:spPr>
          <a:xfrm>
            <a:off x="886968" y="3630168"/>
            <a:ext cx="1828800" cy="246888"/>
          </a:xfrm>
          <a:prstGeom prst="rect">
            <a:avLst/>
          </a:prstGeom>
          <a:noFill/>
          <a:ln/>
        </p:spPr>
        <p:txBody>
          <a:bodyPr wrap="square" lIns="0" tIns="0" rIns="0" bIns="0" rtlCol="0" anchor="ctr"/>
          <a:lstStyle/>
          <a:p>
            <a:pPr indent="0" marL="0">
              <a:buNone/>
            </a:pPr>
            <a:r>
              <a:rPr lang="en-US" sz="1050" dirty="0">
                <a:solidFill>
                  <a:srgbClr val="E8EEF4"/>
                </a:solidFill>
                <a:latin typeface="Consolas" pitchFamily="34" charset="0"/>
                <a:ea typeface="Consolas" pitchFamily="34" charset="-122"/>
                <a:cs typeface="Consolas" pitchFamily="34" charset="-120"/>
              </a:rPr>
              <a:t>UV401</a:t>
            </a:r>
            <a:endParaRPr lang="en-US" sz="1050" dirty="0"/>
          </a:p>
        </p:txBody>
      </p:sp>
      <p:sp>
        <p:nvSpPr>
          <p:cNvPr id="57" name="Text 55"/>
          <p:cNvSpPr/>
          <p:nvPr/>
        </p:nvSpPr>
        <p:spPr>
          <a:xfrm>
            <a:off x="2734056" y="3630168"/>
            <a:ext cx="1645920" cy="246888"/>
          </a:xfrm>
          <a:prstGeom prst="rect">
            <a:avLst/>
          </a:prstGeom>
          <a:noFill/>
          <a:ln/>
        </p:spPr>
        <p:txBody>
          <a:bodyPr wrap="square" lIns="0" tIns="0" rIns="0" bIns="0" rtlCol="0" anchor="ctr"/>
          <a:lstStyle/>
          <a:p>
            <a:pPr indent="0" marL="0">
              <a:buNone/>
            </a:pPr>
            <a:r>
              <a:rPr lang="en-US" sz="1050" b="1" dirty="0">
                <a:solidFill>
                  <a:srgbClr val="F39C12"/>
                </a:solidFill>
                <a:latin typeface="Calibri" pitchFamily="34" charset="0"/>
                <a:ea typeface="Calibri" pitchFamily="34" charset="-122"/>
                <a:cs typeface="Calibri" pitchFamily="34" charset="-120"/>
              </a:rPr>
              <a:t>OFF</a:t>
            </a:r>
            <a:endParaRPr lang="en-US" sz="1050" dirty="0"/>
          </a:p>
        </p:txBody>
      </p:sp>
      <p:sp>
        <p:nvSpPr>
          <p:cNvPr id="58" name="Text 56"/>
          <p:cNvSpPr/>
          <p:nvPr/>
        </p:nvSpPr>
        <p:spPr>
          <a:xfrm>
            <a:off x="4398264" y="3630168"/>
            <a:ext cx="2194560" cy="246888"/>
          </a:xfrm>
          <a:prstGeom prst="rect">
            <a:avLst/>
          </a:prstGeom>
          <a:noFill/>
          <a:ln/>
        </p:spPr>
        <p:txBody>
          <a:bodyPr wrap="square" lIns="0" tIns="0" rIns="0" bIns="0" rtlCol="0" anchor="ctr"/>
          <a:lstStyle/>
          <a:p>
            <a:pPr indent="0" marL="0">
              <a:buNone/>
            </a:pPr>
            <a:r>
              <a:rPr lang="en-US" sz="950" dirty="0">
                <a:solidFill>
                  <a:srgbClr val="C9D6DF"/>
                </a:solidFill>
                <a:latin typeface="Calibri" pitchFamily="34" charset="0"/>
                <a:ea typeface="Calibri" pitchFamily="34" charset="-122"/>
                <a:cs typeface="Calibri" pitchFamily="34" charset="-120"/>
              </a:rPr>
              <a:t>UV off — no water to treat</a:t>
            </a:r>
            <a:endParaRPr lang="en-US" sz="950" dirty="0"/>
          </a:p>
        </p:txBody>
      </p:sp>
      <p:sp>
        <p:nvSpPr>
          <p:cNvPr id="59" name="Text 57"/>
          <p:cNvSpPr/>
          <p:nvPr/>
        </p:nvSpPr>
        <p:spPr>
          <a:xfrm>
            <a:off x="6611112" y="3630168"/>
            <a:ext cx="2606040" cy="246888"/>
          </a:xfrm>
          <a:prstGeom prst="rect">
            <a:avLst/>
          </a:prstGeom>
          <a:noFill/>
          <a:ln/>
        </p:spPr>
        <p:txBody>
          <a:bodyPr wrap="square" lIns="0" tIns="0" rIns="0" bIns="0" rtlCol="0" anchor="ctr"/>
          <a:lstStyle/>
          <a:p>
            <a:pPr indent="0" marL="0">
              <a:buNone/>
            </a:pPr>
            <a:r>
              <a:rPr lang="en-US" sz="950" dirty="0">
                <a:solidFill>
                  <a:srgbClr val="E74C3C"/>
                </a:solidFill>
                <a:latin typeface="Calibri" pitchFamily="34" charset="0"/>
                <a:ea typeface="Calibri" pitchFamily="34" charset="-122"/>
                <a:cs typeface="Calibri" pitchFamily="34" charset="-120"/>
              </a:rPr>
              <a:t>UV element overheating</a:t>
            </a:r>
            <a:endParaRPr lang="en-US" sz="950" dirty="0"/>
          </a:p>
        </p:txBody>
      </p:sp>
      <p:sp>
        <p:nvSpPr>
          <p:cNvPr id="60" name="Shape 58"/>
          <p:cNvSpPr/>
          <p:nvPr/>
        </p:nvSpPr>
        <p:spPr>
          <a:xfrm>
            <a:off x="228600" y="3950208"/>
            <a:ext cx="8686800" cy="356616"/>
          </a:xfrm>
          <a:prstGeom prst="rect">
            <a:avLst/>
          </a:prstGeom>
          <a:solidFill>
            <a:srgbClr val="14304F"/>
          </a:solidFill>
          <a:ln w="12700">
            <a:solidFill>
              <a:srgbClr val="14304F"/>
            </a:solidFill>
            <a:prstDash val="solid"/>
          </a:ln>
        </p:spPr>
      </p:sp>
      <p:sp>
        <p:nvSpPr>
          <p:cNvPr id="61" name="Shape 59"/>
          <p:cNvSpPr/>
          <p:nvPr/>
        </p:nvSpPr>
        <p:spPr>
          <a:xfrm>
            <a:off x="228600" y="3950208"/>
            <a:ext cx="64008" cy="356616"/>
          </a:xfrm>
          <a:prstGeom prst="rect">
            <a:avLst/>
          </a:prstGeom>
          <a:solidFill>
            <a:srgbClr val="0A7E8C"/>
          </a:solidFill>
          <a:ln w="12700">
            <a:solidFill>
              <a:srgbClr val="0A7E8C"/>
            </a:solidFill>
            <a:prstDash val="solid"/>
          </a:ln>
        </p:spPr>
      </p:sp>
      <p:sp>
        <p:nvSpPr>
          <p:cNvPr id="62" name="Text 60"/>
          <p:cNvSpPr/>
          <p:nvPr/>
        </p:nvSpPr>
        <p:spPr>
          <a:xfrm>
            <a:off x="274320" y="4005072"/>
            <a:ext cx="594360" cy="246888"/>
          </a:xfrm>
          <a:prstGeom prst="rect">
            <a:avLst/>
          </a:prstGeom>
          <a:noFill/>
          <a:ln/>
        </p:spPr>
        <p:txBody>
          <a:bodyPr wrap="square" lIns="0" tIns="0" rIns="0" bIns="0" rtlCol="0" anchor="ctr"/>
          <a:lstStyle/>
          <a:p>
            <a:pPr algn="ctr" indent="0" marL="0">
              <a:buNone/>
            </a:pPr>
            <a:r>
              <a:rPr lang="en-US" sz="1050" b="1" dirty="0">
                <a:solidFill>
                  <a:srgbClr val="0FB3C5"/>
                </a:solidFill>
                <a:latin typeface="Calibri" pitchFamily="34" charset="0"/>
                <a:ea typeface="Calibri" pitchFamily="34" charset="-122"/>
                <a:cs typeface="Calibri" pitchFamily="34" charset="-120"/>
              </a:rPr>
              <a:t>P6</a:t>
            </a:r>
            <a:endParaRPr lang="en-US" sz="1050" dirty="0"/>
          </a:p>
        </p:txBody>
      </p:sp>
      <p:sp>
        <p:nvSpPr>
          <p:cNvPr id="63" name="Text 61"/>
          <p:cNvSpPr/>
          <p:nvPr/>
        </p:nvSpPr>
        <p:spPr>
          <a:xfrm>
            <a:off x="886968" y="4005072"/>
            <a:ext cx="1828800" cy="246888"/>
          </a:xfrm>
          <a:prstGeom prst="rect">
            <a:avLst/>
          </a:prstGeom>
          <a:noFill/>
          <a:ln/>
        </p:spPr>
        <p:txBody>
          <a:bodyPr wrap="square" lIns="0" tIns="0" rIns="0" bIns="0" rtlCol="0" anchor="ctr"/>
          <a:lstStyle/>
          <a:p>
            <a:pPr indent="0" marL="0">
              <a:buNone/>
            </a:pPr>
            <a:r>
              <a:rPr lang="en-US" sz="1050" dirty="0">
                <a:solidFill>
                  <a:srgbClr val="E8EEF4"/>
                </a:solidFill>
                <a:latin typeface="Consolas" pitchFamily="34" charset="0"/>
                <a:ea typeface="Consolas" pitchFamily="34" charset="-122"/>
                <a:cs typeface="Consolas" pitchFamily="34" charset="-120"/>
              </a:rPr>
              <a:t>P602</a:t>
            </a:r>
            <a:endParaRPr lang="en-US" sz="1050" dirty="0"/>
          </a:p>
        </p:txBody>
      </p:sp>
      <p:sp>
        <p:nvSpPr>
          <p:cNvPr id="64" name="Text 62"/>
          <p:cNvSpPr/>
          <p:nvPr/>
        </p:nvSpPr>
        <p:spPr>
          <a:xfrm>
            <a:off x="2734056" y="4005072"/>
            <a:ext cx="1645920" cy="246888"/>
          </a:xfrm>
          <a:prstGeom prst="rect">
            <a:avLst/>
          </a:prstGeom>
          <a:noFill/>
          <a:ln/>
        </p:spPr>
        <p:txBody>
          <a:bodyPr wrap="square" lIns="0" tIns="0" rIns="0" bIns="0" rtlCol="0" anchor="ctr"/>
          <a:lstStyle/>
          <a:p>
            <a:pPr indent="0" marL="0">
              <a:buNone/>
            </a:pPr>
            <a:r>
              <a:rPr lang="en-US" sz="1050" b="1" dirty="0">
                <a:solidFill>
                  <a:srgbClr val="F39C12"/>
                </a:solidFill>
                <a:latin typeface="Calibri" pitchFamily="34" charset="0"/>
                <a:ea typeface="Calibri" pitchFamily="34" charset="-122"/>
                <a:cs typeface="Calibri" pitchFamily="34" charset="-120"/>
              </a:rPr>
              <a:t>OFF</a:t>
            </a:r>
            <a:endParaRPr lang="en-US" sz="1050" dirty="0"/>
          </a:p>
        </p:txBody>
      </p:sp>
      <p:sp>
        <p:nvSpPr>
          <p:cNvPr id="65" name="Text 63"/>
          <p:cNvSpPr/>
          <p:nvPr/>
        </p:nvSpPr>
        <p:spPr>
          <a:xfrm>
            <a:off x="4398264" y="4005072"/>
            <a:ext cx="2194560" cy="246888"/>
          </a:xfrm>
          <a:prstGeom prst="rect">
            <a:avLst/>
          </a:prstGeom>
          <a:noFill/>
          <a:ln/>
        </p:spPr>
        <p:txBody>
          <a:bodyPr wrap="square" lIns="0" tIns="0" rIns="0" bIns="0" rtlCol="0" anchor="ctr"/>
          <a:lstStyle/>
          <a:p>
            <a:pPr indent="0" marL="0">
              <a:buNone/>
            </a:pPr>
            <a:r>
              <a:rPr lang="en-US" sz="950" dirty="0">
                <a:solidFill>
                  <a:srgbClr val="C9D6DF"/>
                </a:solidFill>
                <a:latin typeface="Calibri" pitchFamily="34" charset="0"/>
                <a:ea typeface="Calibri" pitchFamily="34" charset="-122"/>
                <a:cs typeface="Calibri" pitchFamily="34" charset="-120"/>
              </a:rPr>
              <a:t>RO pump off</a:t>
            </a:r>
            <a:endParaRPr lang="en-US" sz="950" dirty="0"/>
          </a:p>
        </p:txBody>
      </p:sp>
      <p:sp>
        <p:nvSpPr>
          <p:cNvPr id="66" name="Text 64"/>
          <p:cNvSpPr/>
          <p:nvPr/>
        </p:nvSpPr>
        <p:spPr>
          <a:xfrm>
            <a:off x="6611112" y="4005072"/>
            <a:ext cx="2606040" cy="246888"/>
          </a:xfrm>
          <a:prstGeom prst="rect">
            <a:avLst/>
          </a:prstGeom>
          <a:noFill/>
          <a:ln/>
        </p:spPr>
        <p:txBody>
          <a:bodyPr wrap="square" lIns="0" tIns="0" rIns="0" bIns="0" rtlCol="0" anchor="ctr"/>
          <a:lstStyle/>
          <a:p>
            <a:pPr indent="0" marL="0">
              <a:buNone/>
            </a:pPr>
            <a:r>
              <a:rPr lang="en-US" sz="950" dirty="0">
                <a:solidFill>
                  <a:srgbClr val="E74C3C"/>
                </a:solidFill>
                <a:latin typeface="Calibri" pitchFamily="34" charset="0"/>
                <a:ea typeface="Calibri" pitchFamily="34" charset="-122"/>
                <a:cs typeface="Calibri" pitchFamily="34" charset="-120"/>
              </a:rPr>
              <a:t>Reverse osmosis membrane damage</a:t>
            </a:r>
            <a:endParaRPr lang="en-US" sz="950" dirty="0"/>
          </a:p>
        </p:txBody>
      </p:sp>
      <p:sp>
        <p:nvSpPr>
          <p:cNvPr id="67" name="Shape 65"/>
          <p:cNvSpPr/>
          <p:nvPr/>
        </p:nvSpPr>
        <p:spPr>
          <a:xfrm>
            <a:off x="228600" y="4407408"/>
            <a:ext cx="8686800" cy="566928"/>
          </a:xfrm>
          <a:prstGeom prst="rect">
            <a:avLst/>
          </a:prstGeom>
          <a:solidFill>
            <a:srgbClr val="162E20"/>
          </a:solidFill>
          <a:ln w="12700">
            <a:solidFill>
              <a:srgbClr val="162E20"/>
            </a:solidFill>
            <a:prstDash val="solid"/>
          </a:ln>
        </p:spPr>
      </p:sp>
      <p:sp>
        <p:nvSpPr>
          <p:cNvPr id="68" name="Shape 66"/>
          <p:cNvSpPr/>
          <p:nvPr/>
        </p:nvSpPr>
        <p:spPr>
          <a:xfrm>
            <a:off x="228600" y="4407408"/>
            <a:ext cx="64008" cy="566928"/>
          </a:xfrm>
          <a:prstGeom prst="rect">
            <a:avLst/>
          </a:prstGeom>
          <a:solidFill>
            <a:srgbClr val="2ECC71"/>
          </a:solidFill>
          <a:ln w="12700">
            <a:solidFill>
              <a:srgbClr val="2ECC71"/>
            </a:solidFill>
            <a:prstDash val="solid"/>
          </a:ln>
        </p:spPr>
      </p:sp>
      <p:sp>
        <p:nvSpPr>
          <p:cNvPr id="69" name="Text 67"/>
          <p:cNvSpPr/>
          <p:nvPr/>
        </p:nvSpPr>
        <p:spPr>
          <a:xfrm>
            <a:off x="411480" y="4434840"/>
            <a:ext cx="8321040" cy="512064"/>
          </a:xfrm>
          <a:prstGeom prst="rect">
            <a:avLst/>
          </a:prstGeom>
          <a:noFill/>
          <a:ln/>
        </p:spPr>
        <p:txBody>
          <a:bodyPr wrap="square" lIns="0" tIns="0" rIns="0" bIns="0" rtlCol="0" anchor="ctr"/>
          <a:lstStyle/>
          <a:p>
            <a:pPr indent="0" marL="0">
              <a:buNone/>
            </a:pPr>
            <a:r>
              <a:rPr lang="en-US" sz="1000" b="1" dirty="0">
                <a:solidFill>
                  <a:srgbClr val="2ECC71"/>
                </a:solidFill>
                <a:latin typeface="Calibri" pitchFamily="34" charset="0"/>
                <a:ea typeface="Calibri" pitchFamily="34" charset="-122"/>
                <a:cs typeface="Calibri" pitchFamily="34" charset="-120"/>
              </a:rPr>
              <a:t xml:space="preserve">Hot-Standby PLC Failover:  </a:t>
            </a:r>
            <a:pPr indent="0" marL="0">
              <a:buNone/>
            </a:pPr>
            <a:r>
              <a:rPr lang="en-US" sz="1000" dirty="0">
                <a:solidFill>
                  <a:srgbClr val="E8EEF4"/>
                </a:solidFill>
                <a:latin typeface="Calibri" pitchFamily="34" charset="0"/>
                <a:ea typeface="Calibri" pitchFamily="34" charset="-122"/>
                <a:cs typeface="Calibri" pitchFamily="34" charset="-120"/>
              </a:rPr>
              <a:t>SWaT runs dual PLCs per stage (primary + standby). After safe state is written, the standby PLC (PLC1B) takes control via EtherNet/IP primary/secondary handshake. PLC1B has an identical copy of the ladder logic and resumes from the last known safe register state. The compromised PLC1A is isolated from the network until it is re-imaged and verified.</a:t>
            </a:r>
            <a:endParaRPr lang="en-US" sz="1000" dirty="0"/>
          </a:p>
        </p:txBody>
      </p:sp>
      <p:sp>
        <p:nvSpPr>
          <p:cNvPr id="70" name="Shape 68"/>
          <p:cNvSpPr/>
          <p:nvPr/>
        </p:nvSpPr>
        <p:spPr>
          <a:xfrm>
            <a:off x="0" y="4754880"/>
            <a:ext cx="9144000" cy="384048"/>
          </a:xfrm>
          <a:prstGeom prst="rect">
            <a:avLst/>
          </a:prstGeom>
          <a:solidFill>
            <a:srgbClr val="1B3A5C"/>
          </a:solidFill>
          <a:ln w="12700">
            <a:solidFill>
              <a:srgbClr val="1B3A5C"/>
            </a:solidFill>
            <a:prstDash val="solid"/>
          </a:ln>
        </p:spPr>
      </p:sp>
      <p:sp>
        <p:nvSpPr>
          <p:cNvPr id="71" name="Text 69"/>
          <p:cNvSpPr/>
          <p:nvPr/>
        </p:nvSpPr>
        <p:spPr>
          <a:xfrm>
            <a:off x="274320" y="4754880"/>
            <a:ext cx="8595360" cy="38404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Defense  ·  Safe State &amp; Failover</a:t>
            </a:r>
            <a:endParaRPr lang="en-US" sz="100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A7E8C"/>
          </a:solidFill>
          <a:ln w="12700">
            <a:solidFill>
              <a:srgbClr val="0A7E8C"/>
            </a:solidFill>
            <a:prstDash val="solid"/>
          </a:ln>
        </p:spPr>
      </p:sp>
      <p:sp>
        <p:nvSpPr>
          <p:cNvPr id="3" name="Text 1"/>
          <p:cNvSpPr/>
          <p:nvPr/>
        </p:nvSpPr>
        <p:spPr>
          <a:xfrm>
            <a:off x="365760" y="164592"/>
            <a:ext cx="8229600" cy="475488"/>
          </a:xfrm>
          <a:prstGeom prst="rect">
            <a:avLst/>
          </a:prstGeom>
          <a:noFill/>
          <a:ln/>
        </p:spPr>
        <p:txBody>
          <a:bodyPr wrap="square" lIns="0" tIns="0" rIns="0" bIns="0"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Defense Implementation &amp; Evaluation</a:t>
            </a:r>
            <a:endParaRPr lang="en-US" sz="2800" dirty="0"/>
          </a:p>
        </p:txBody>
      </p:sp>
      <p:sp>
        <p:nvSpPr>
          <p:cNvPr id="4" name="Text 2"/>
          <p:cNvSpPr/>
          <p:nvPr/>
        </p:nvSpPr>
        <p:spPr>
          <a:xfrm>
            <a:off x="365760" y="640080"/>
            <a:ext cx="8229600" cy="256032"/>
          </a:xfrm>
          <a:prstGeom prst="rect">
            <a:avLst/>
          </a:prstGeom>
          <a:noFill/>
          <a:ln/>
        </p:spPr>
        <p:txBody>
          <a:bodyPr wrap="square" lIns="0" tIns="0" rIns="0" bIns="0" rtlCol="0" anchor="ctr"/>
          <a:lstStyle/>
          <a:p>
            <a:pPr indent="0" marL="0">
              <a:buNone/>
            </a:pPr>
            <a:r>
              <a:rPr lang="en-US" sz="1200" i="1" dirty="0">
                <a:solidFill>
                  <a:srgbClr val="8FA3B1"/>
                </a:solidFill>
                <a:latin typeface="Calibri" pitchFamily="34" charset="0"/>
                <a:ea typeface="Calibri" pitchFamily="34" charset="-122"/>
                <a:cs typeface="Calibri" pitchFamily="34" charset="-120"/>
              </a:rPr>
              <a:t>Concrete code artifacts and metrics for the course project demo at iTrust Lab</a:t>
            </a:r>
            <a:endParaRPr lang="en-US" sz="1200" dirty="0"/>
          </a:p>
        </p:txBody>
      </p:sp>
      <p:sp>
        <p:nvSpPr>
          <p:cNvPr id="5" name="Shape 3"/>
          <p:cNvSpPr/>
          <p:nvPr/>
        </p:nvSpPr>
        <p:spPr>
          <a:xfrm>
            <a:off x="228600" y="987552"/>
            <a:ext cx="4206240" cy="2743200"/>
          </a:xfrm>
          <a:prstGeom prst="rect">
            <a:avLst/>
          </a:prstGeom>
          <a:solidFill>
            <a:srgbClr val="FFFFFF"/>
          </a:solidFill>
          <a:ln w="12700">
            <a:solidFill>
              <a:srgbClr val="FFFFFF"/>
            </a:solidFill>
            <a:prstDash val="solid"/>
          </a:ln>
        </p:spPr>
      </p:sp>
      <p:sp>
        <p:nvSpPr>
          <p:cNvPr id="6" name="Shape 4"/>
          <p:cNvSpPr/>
          <p:nvPr/>
        </p:nvSpPr>
        <p:spPr>
          <a:xfrm>
            <a:off x="228600" y="987552"/>
            <a:ext cx="64008" cy="2743200"/>
          </a:xfrm>
          <a:prstGeom prst="rect">
            <a:avLst/>
          </a:prstGeom>
          <a:solidFill>
            <a:srgbClr val="0A7E8C"/>
          </a:solidFill>
          <a:ln w="12700">
            <a:solidFill>
              <a:srgbClr val="0A7E8C"/>
            </a:solidFill>
            <a:prstDash val="solid"/>
          </a:ln>
        </p:spPr>
      </p:sp>
      <p:sp>
        <p:nvSpPr>
          <p:cNvPr id="7" name="Text 5"/>
          <p:cNvSpPr/>
          <p:nvPr/>
        </p:nvSpPr>
        <p:spPr>
          <a:xfrm>
            <a:off x="411480" y="1051560"/>
            <a:ext cx="3840480" cy="320040"/>
          </a:xfrm>
          <a:prstGeom prst="rect">
            <a:avLst/>
          </a:prstGeom>
          <a:noFill/>
          <a:ln/>
        </p:spPr>
        <p:txBody>
          <a:bodyPr wrap="square" lIns="0" tIns="0" rIns="0" bIns="0" rtlCol="0" anchor="ctr"/>
          <a:lstStyle/>
          <a:p>
            <a:pPr indent="0" marL="0">
              <a:buNone/>
            </a:pPr>
            <a:r>
              <a:rPr lang="en-US" sz="1400" b="1" dirty="0">
                <a:solidFill>
                  <a:srgbClr val="0A7E8C"/>
                </a:solidFill>
                <a:latin typeface="Calibri" pitchFamily="34" charset="0"/>
                <a:ea typeface="Calibri" pitchFamily="34" charset="-122"/>
                <a:cs typeface="Calibri" pitchFamily="34" charset="-120"/>
              </a:rPr>
              <a:t>Implementation Artifacts</a:t>
            </a:r>
            <a:endParaRPr lang="en-US" sz="1400" dirty="0"/>
          </a:p>
        </p:txBody>
      </p:sp>
      <p:sp>
        <p:nvSpPr>
          <p:cNvPr id="8" name="Shape 6"/>
          <p:cNvSpPr/>
          <p:nvPr/>
        </p:nvSpPr>
        <p:spPr>
          <a:xfrm>
            <a:off x="347472" y="1444752"/>
            <a:ext cx="3977640" cy="402336"/>
          </a:xfrm>
          <a:prstGeom prst="rect">
            <a:avLst/>
          </a:prstGeom>
          <a:solidFill>
            <a:srgbClr val="F0F8FF"/>
          </a:solidFill>
          <a:ln w="12700">
            <a:solidFill>
              <a:srgbClr val="F0F8FF"/>
            </a:solidFill>
            <a:prstDash val="solid"/>
          </a:ln>
        </p:spPr>
      </p:sp>
      <p:sp>
        <p:nvSpPr>
          <p:cNvPr id="9" name="Text 7"/>
          <p:cNvSpPr/>
          <p:nvPr/>
        </p:nvSpPr>
        <p:spPr>
          <a:xfrm>
            <a:off x="457200" y="1472184"/>
            <a:ext cx="3749040" cy="201168"/>
          </a:xfrm>
          <a:prstGeom prst="rect">
            <a:avLst/>
          </a:prstGeom>
          <a:noFill/>
          <a:ln/>
        </p:spPr>
        <p:txBody>
          <a:bodyPr wrap="square" lIns="0" tIns="0" rIns="0" bIns="0" rtlCol="0" anchor="ctr"/>
          <a:lstStyle/>
          <a:p>
            <a:pPr indent="0" marL="0">
              <a:buNone/>
            </a:pPr>
            <a:r>
              <a:rPr lang="en-US" sz="1050" b="1" dirty="0">
                <a:solidFill>
                  <a:srgbClr val="0A7E8C"/>
                </a:solidFill>
                <a:latin typeface="Consolas" pitchFamily="34" charset="0"/>
                <a:ea typeface="Consolas" pitchFamily="34" charset="-122"/>
                <a:cs typeface="Consolas" pitchFamily="34" charset="-120"/>
              </a:rPr>
              <a:t>invariant_checker.py</a:t>
            </a:r>
            <a:endParaRPr lang="en-US" sz="1050" dirty="0"/>
          </a:p>
        </p:txBody>
      </p:sp>
      <p:sp>
        <p:nvSpPr>
          <p:cNvPr id="10" name="Text 8"/>
          <p:cNvSpPr/>
          <p:nvPr/>
        </p:nvSpPr>
        <p:spPr>
          <a:xfrm>
            <a:off x="457200" y="1664208"/>
            <a:ext cx="3749040" cy="164592"/>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8 P1 invariants, reads PLC1 coil registers via pyModbus</a:t>
            </a:r>
            <a:endParaRPr lang="en-US" sz="950" dirty="0"/>
          </a:p>
        </p:txBody>
      </p:sp>
      <p:sp>
        <p:nvSpPr>
          <p:cNvPr id="11" name="Shape 9"/>
          <p:cNvSpPr/>
          <p:nvPr/>
        </p:nvSpPr>
        <p:spPr>
          <a:xfrm>
            <a:off x="347472" y="1883664"/>
            <a:ext cx="3977640" cy="402336"/>
          </a:xfrm>
          <a:prstGeom prst="rect">
            <a:avLst/>
          </a:prstGeom>
          <a:solidFill>
            <a:srgbClr val="F8F8FF"/>
          </a:solidFill>
          <a:ln w="12700">
            <a:solidFill>
              <a:srgbClr val="F8F8FF"/>
            </a:solidFill>
            <a:prstDash val="solid"/>
          </a:ln>
        </p:spPr>
      </p:sp>
      <p:sp>
        <p:nvSpPr>
          <p:cNvPr id="12" name="Text 10"/>
          <p:cNvSpPr/>
          <p:nvPr/>
        </p:nvSpPr>
        <p:spPr>
          <a:xfrm>
            <a:off x="457200" y="1911096"/>
            <a:ext cx="3749040" cy="201168"/>
          </a:xfrm>
          <a:prstGeom prst="rect">
            <a:avLst/>
          </a:prstGeom>
          <a:noFill/>
          <a:ln/>
        </p:spPr>
        <p:txBody>
          <a:bodyPr wrap="square" lIns="0" tIns="0" rIns="0" bIns="0" rtlCol="0" anchor="ctr"/>
          <a:lstStyle/>
          <a:p>
            <a:pPr indent="0" marL="0">
              <a:buNone/>
            </a:pPr>
            <a:r>
              <a:rPr lang="en-US" sz="1050" b="1" dirty="0">
                <a:solidFill>
                  <a:srgbClr val="0A7E8C"/>
                </a:solidFill>
                <a:latin typeface="Consolas" pitchFamily="34" charset="0"/>
                <a:ea typeface="Consolas" pitchFamily="34" charset="-122"/>
                <a:cs typeface="Consolas" pitchFamily="34" charset="-120"/>
              </a:rPr>
              <a:t>autoencoder.py</a:t>
            </a:r>
            <a:endParaRPr lang="en-US" sz="1050" dirty="0"/>
          </a:p>
        </p:txBody>
      </p:sp>
      <p:sp>
        <p:nvSpPr>
          <p:cNvPr id="13" name="Text 11"/>
          <p:cNvSpPr/>
          <p:nvPr/>
        </p:nvSpPr>
        <p:spPr>
          <a:xfrm>
            <a:off x="457200" y="2103120"/>
            <a:ext cx="3749040" cy="164592"/>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Reconstruction AE, train on SWaT CSV, inference + threshold</a:t>
            </a:r>
            <a:endParaRPr lang="en-US" sz="950" dirty="0"/>
          </a:p>
        </p:txBody>
      </p:sp>
      <p:sp>
        <p:nvSpPr>
          <p:cNvPr id="14" name="Shape 12"/>
          <p:cNvSpPr/>
          <p:nvPr/>
        </p:nvSpPr>
        <p:spPr>
          <a:xfrm>
            <a:off x="347472" y="2322576"/>
            <a:ext cx="3977640" cy="402336"/>
          </a:xfrm>
          <a:prstGeom prst="rect">
            <a:avLst/>
          </a:prstGeom>
          <a:solidFill>
            <a:srgbClr val="F0F8FF"/>
          </a:solidFill>
          <a:ln w="12700">
            <a:solidFill>
              <a:srgbClr val="F0F8FF"/>
            </a:solidFill>
            <a:prstDash val="solid"/>
          </a:ln>
        </p:spPr>
      </p:sp>
      <p:sp>
        <p:nvSpPr>
          <p:cNvPr id="15" name="Text 13"/>
          <p:cNvSpPr/>
          <p:nvPr/>
        </p:nvSpPr>
        <p:spPr>
          <a:xfrm>
            <a:off x="457200" y="2350008"/>
            <a:ext cx="3749040" cy="201168"/>
          </a:xfrm>
          <a:prstGeom prst="rect">
            <a:avLst/>
          </a:prstGeom>
          <a:noFill/>
          <a:ln/>
        </p:spPr>
        <p:txBody>
          <a:bodyPr wrap="square" lIns="0" tIns="0" rIns="0" bIns="0" rtlCol="0" anchor="ctr"/>
          <a:lstStyle/>
          <a:p>
            <a:pPr indent="0" marL="0">
              <a:buNone/>
            </a:pPr>
            <a:r>
              <a:rPr lang="en-US" sz="1050" b="1" dirty="0">
                <a:solidFill>
                  <a:srgbClr val="0A7E8C"/>
                </a:solidFill>
                <a:latin typeface="Consolas" pitchFamily="34" charset="0"/>
                <a:ea typeface="Consolas" pitchFamily="34" charset="-122"/>
                <a:cs typeface="Consolas" pitchFamily="34" charset="-120"/>
              </a:rPr>
              <a:t>fusion.py</a:t>
            </a:r>
            <a:endParaRPr lang="en-US" sz="1050" dirty="0"/>
          </a:p>
        </p:txBody>
      </p:sp>
      <p:sp>
        <p:nvSpPr>
          <p:cNvPr id="16" name="Text 14"/>
          <p:cNvSpPr/>
          <p:nvPr/>
        </p:nvSpPr>
        <p:spPr>
          <a:xfrm>
            <a:off x="457200" y="2542032"/>
            <a:ext cx="3749040" cy="164592"/>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Weighted voting, 3-cycle window, alert + log output</a:t>
            </a:r>
            <a:endParaRPr lang="en-US" sz="950" dirty="0"/>
          </a:p>
        </p:txBody>
      </p:sp>
      <p:sp>
        <p:nvSpPr>
          <p:cNvPr id="17" name="Shape 15"/>
          <p:cNvSpPr/>
          <p:nvPr/>
        </p:nvSpPr>
        <p:spPr>
          <a:xfrm>
            <a:off x="347472" y="2761488"/>
            <a:ext cx="3977640" cy="402336"/>
          </a:xfrm>
          <a:prstGeom prst="rect">
            <a:avLst/>
          </a:prstGeom>
          <a:solidFill>
            <a:srgbClr val="F8F8FF"/>
          </a:solidFill>
          <a:ln w="12700">
            <a:solidFill>
              <a:srgbClr val="F8F8FF"/>
            </a:solidFill>
            <a:prstDash val="solid"/>
          </a:ln>
        </p:spPr>
      </p:sp>
      <p:sp>
        <p:nvSpPr>
          <p:cNvPr id="18" name="Text 16"/>
          <p:cNvSpPr/>
          <p:nvPr/>
        </p:nvSpPr>
        <p:spPr>
          <a:xfrm>
            <a:off x="457200" y="2788920"/>
            <a:ext cx="3749040" cy="201168"/>
          </a:xfrm>
          <a:prstGeom prst="rect">
            <a:avLst/>
          </a:prstGeom>
          <a:noFill/>
          <a:ln/>
        </p:spPr>
        <p:txBody>
          <a:bodyPr wrap="square" lIns="0" tIns="0" rIns="0" bIns="0" rtlCol="0" anchor="ctr"/>
          <a:lstStyle/>
          <a:p>
            <a:pPr indent="0" marL="0">
              <a:buNone/>
            </a:pPr>
            <a:r>
              <a:rPr lang="en-US" sz="1050" b="1" dirty="0">
                <a:solidFill>
                  <a:srgbClr val="0A7E8C"/>
                </a:solidFill>
                <a:latin typeface="Consolas" pitchFamily="34" charset="0"/>
                <a:ea typeface="Consolas" pitchFamily="34" charset="-122"/>
                <a:cs typeface="Consolas" pitchFamily="34" charset="-120"/>
              </a:rPr>
              <a:t>recovery_agent.py</a:t>
            </a:r>
            <a:endParaRPr lang="en-US" sz="1050" dirty="0"/>
          </a:p>
        </p:txBody>
      </p:sp>
      <p:sp>
        <p:nvSpPr>
          <p:cNvPr id="19" name="Text 17"/>
          <p:cNvSpPr/>
          <p:nvPr/>
        </p:nvSpPr>
        <p:spPr>
          <a:xfrm>
            <a:off x="457200" y="2980944"/>
            <a:ext cx="3749040" cy="164592"/>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iptables block, safe-state write, PLC1B failover trigger</a:t>
            </a:r>
            <a:endParaRPr lang="en-US" sz="950" dirty="0"/>
          </a:p>
        </p:txBody>
      </p:sp>
      <p:sp>
        <p:nvSpPr>
          <p:cNvPr id="20" name="Shape 18"/>
          <p:cNvSpPr/>
          <p:nvPr/>
        </p:nvSpPr>
        <p:spPr>
          <a:xfrm>
            <a:off x="347472" y="3200400"/>
            <a:ext cx="3977640" cy="402336"/>
          </a:xfrm>
          <a:prstGeom prst="rect">
            <a:avLst/>
          </a:prstGeom>
          <a:solidFill>
            <a:srgbClr val="F0F8FF"/>
          </a:solidFill>
          <a:ln w="12700">
            <a:solidFill>
              <a:srgbClr val="F0F8FF"/>
            </a:solidFill>
            <a:prstDash val="solid"/>
          </a:ln>
        </p:spPr>
      </p:sp>
      <p:sp>
        <p:nvSpPr>
          <p:cNvPr id="21" name="Text 19"/>
          <p:cNvSpPr/>
          <p:nvPr/>
        </p:nvSpPr>
        <p:spPr>
          <a:xfrm>
            <a:off x="457200" y="3227832"/>
            <a:ext cx="3749040" cy="201168"/>
          </a:xfrm>
          <a:prstGeom prst="rect">
            <a:avLst/>
          </a:prstGeom>
          <a:noFill/>
          <a:ln/>
        </p:spPr>
        <p:txBody>
          <a:bodyPr wrap="square" lIns="0" tIns="0" rIns="0" bIns="0" rtlCol="0" anchor="ctr"/>
          <a:lstStyle/>
          <a:p>
            <a:pPr indent="0" marL="0">
              <a:buNone/>
            </a:pPr>
            <a:r>
              <a:rPr lang="en-US" sz="1050" b="1" dirty="0">
                <a:solidFill>
                  <a:srgbClr val="0A7E8C"/>
                </a:solidFill>
                <a:latin typeface="Consolas" pitchFamily="34" charset="0"/>
                <a:ea typeface="Consolas" pitchFamily="34" charset="-122"/>
                <a:cs typeface="Consolas" pitchFamily="34" charset="-120"/>
              </a:rPr>
              <a:t>autoencoder_detector.py</a:t>
            </a:r>
            <a:endParaRPr lang="en-US" sz="1050" dirty="0"/>
          </a:p>
        </p:txBody>
      </p:sp>
      <p:sp>
        <p:nvSpPr>
          <p:cNvPr id="22" name="Text 20"/>
          <p:cNvSpPr/>
          <p:nvPr/>
        </p:nvSpPr>
        <p:spPr>
          <a:xfrm>
            <a:off x="457200" y="3419856"/>
            <a:ext cx="3749040" cy="164592"/>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Live MSE anomaly scoring; outputs /tmp/ae_flag for fusion engine</a:t>
            </a:r>
            <a:endParaRPr lang="en-US" sz="950" dirty="0"/>
          </a:p>
        </p:txBody>
      </p:sp>
      <p:sp>
        <p:nvSpPr>
          <p:cNvPr id="23" name="Shape 21"/>
          <p:cNvSpPr/>
          <p:nvPr/>
        </p:nvSpPr>
        <p:spPr>
          <a:xfrm>
            <a:off x="4617720" y="987552"/>
            <a:ext cx="4297680" cy="2743200"/>
          </a:xfrm>
          <a:prstGeom prst="rect">
            <a:avLst/>
          </a:prstGeom>
          <a:solidFill>
            <a:srgbClr val="FFFFFF"/>
          </a:solidFill>
          <a:ln w="12700">
            <a:solidFill>
              <a:srgbClr val="FFFFFF"/>
            </a:solidFill>
            <a:prstDash val="solid"/>
          </a:ln>
        </p:spPr>
      </p:sp>
      <p:sp>
        <p:nvSpPr>
          <p:cNvPr id="24" name="Shape 22"/>
          <p:cNvSpPr/>
          <p:nvPr/>
        </p:nvSpPr>
        <p:spPr>
          <a:xfrm>
            <a:off x="4617720" y="987552"/>
            <a:ext cx="64008" cy="2743200"/>
          </a:xfrm>
          <a:prstGeom prst="rect">
            <a:avLst/>
          </a:prstGeom>
          <a:solidFill>
            <a:srgbClr val="2ECC71"/>
          </a:solidFill>
          <a:ln w="12700">
            <a:solidFill>
              <a:srgbClr val="2ECC71"/>
            </a:solidFill>
            <a:prstDash val="solid"/>
          </a:ln>
        </p:spPr>
      </p:sp>
      <p:sp>
        <p:nvSpPr>
          <p:cNvPr id="25" name="Text 23"/>
          <p:cNvSpPr/>
          <p:nvPr/>
        </p:nvSpPr>
        <p:spPr>
          <a:xfrm>
            <a:off x="4800600" y="1051560"/>
            <a:ext cx="3931920" cy="320040"/>
          </a:xfrm>
          <a:prstGeom prst="rect">
            <a:avLst/>
          </a:prstGeom>
          <a:noFill/>
          <a:ln/>
        </p:spPr>
        <p:txBody>
          <a:bodyPr wrap="square" lIns="0" tIns="0" rIns="0" bIns="0" rtlCol="0" anchor="ctr"/>
          <a:lstStyle/>
          <a:p>
            <a:pPr indent="0" marL="0">
              <a:buNone/>
            </a:pPr>
            <a:r>
              <a:rPr lang="en-US" sz="1400" b="1" dirty="0">
                <a:solidFill>
                  <a:srgbClr val="1A8A47"/>
                </a:solidFill>
                <a:latin typeface="Calibri" pitchFamily="34" charset="0"/>
                <a:ea typeface="Calibri" pitchFamily="34" charset="-122"/>
                <a:cs typeface="Calibri" pitchFamily="34" charset="-120"/>
              </a:rPr>
              <a:t>Evaluation Metrics</a:t>
            </a:r>
            <a:endParaRPr lang="en-US" sz="1400" dirty="0"/>
          </a:p>
        </p:txBody>
      </p:sp>
      <p:sp>
        <p:nvSpPr>
          <p:cNvPr id="26" name="Shape 24"/>
          <p:cNvSpPr/>
          <p:nvPr/>
        </p:nvSpPr>
        <p:spPr>
          <a:xfrm>
            <a:off x="4736592" y="1444752"/>
            <a:ext cx="4069080" cy="402336"/>
          </a:xfrm>
          <a:prstGeom prst="rect">
            <a:avLst/>
          </a:prstGeom>
          <a:solidFill>
            <a:srgbClr val="F0FFF4"/>
          </a:solidFill>
          <a:ln w="12700">
            <a:solidFill>
              <a:srgbClr val="F0FFF4"/>
            </a:solidFill>
            <a:prstDash val="solid"/>
          </a:ln>
        </p:spPr>
      </p:sp>
      <p:sp>
        <p:nvSpPr>
          <p:cNvPr id="27" name="Text 25"/>
          <p:cNvSpPr/>
          <p:nvPr/>
        </p:nvSpPr>
        <p:spPr>
          <a:xfrm>
            <a:off x="4828032" y="1472184"/>
            <a:ext cx="3840480" cy="201168"/>
          </a:xfrm>
          <a:prstGeom prst="rect">
            <a:avLst/>
          </a:prstGeom>
          <a:noFill/>
          <a:ln/>
        </p:spPr>
        <p:txBody>
          <a:bodyPr wrap="square" lIns="0" tIns="0" rIns="0" bIns="0" rtlCol="0" anchor="ctr"/>
          <a:lstStyle/>
          <a:p>
            <a:pPr indent="0" marL="0">
              <a:buNone/>
            </a:pPr>
            <a:r>
              <a:rPr lang="en-US" sz="1050" b="1" dirty="0">
                <a:solidFill>
                  <a:srgbClr val="1A8A47"/>
                </a:solidFill>
                <a:latin typeface="Calibri" pitchFamily="34" charset="0"/>
                <a:ea typeface="Calibri" pitchFamily="34" charset="-122"/>
                <a:cs typeface="Calibri" pitchFamily="34" charset="-120"/>
              </a:rPr>
              <a:t>Detection Rate (DR)</a:t>
            </a:r>
            <a:endParaRPr lang="en-US" sz="1050" dirty="0"/>
          </a:p>
        </p:txBody>
      </p:sp>
      <p:sp>
        <p:nvSpPr>
          <p:cNvPr id="28" name="Text 26"/>
          <p:cNvSpPr/>
          <p:nvPr/>
        </p:nvSpPr>
        <p:spPr>
          <a:xfrm>
            <a:off x="4828032" y="1664208"/>
            <a:ext cx="3840480" cy="164592"/>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 attack scenarios caught by hybrid detector</a:t>
            </a:r>
            <a:endParaRPr lang="en-US" sz="950" dirty="0"/>
          </a:p>
        </p:txBody>
      </p:sp>
      <p:sp>
        <p:nvSpPr>
          <p:cNvPr id="29" name="Shape 27"/>
          <p:cNvSpPr/>
          <p:nvPr/>
        </p:nvSpPr>
        <p:spPr>
          <a:xfrm>
            <a:off x="4736592" y="1883664"/>
            <a:ext cx="4069080" cy="402336"/>
          </a:xfrm>
          <a:prstGeom prst="rect">
            <a:avLst/>
          </a:prstGeom>
          <a:solidFill>
            <a:srgbClr val="F8FFF8"/>
          </a:solidFill>
          <a:ln w="12700">
            <a:solidFill>
              <a:srgbClr val="F8FFF8"/>
            </a:solidFill>
            <a:prstDash val="solid"/>
          </a:ln>
        </p:spPr>
      </p:sp>
      <p:sp>
        <p:nvSpPr>
          <p:cNvPr id="30" name="Text 28"/>
          <p:cNvSpPr/>
          <p:nvPr/>
        </p:nvSpPr>
        <p:spPr>
          <a:xfrm>
            <a:off x="4828032" y="1911096"/>
            <a:ext cx="3840480" cy="201168"/>
          </a:xfrm>
          <a:prstGeom prst="rect">
            <a:avLst/>
          </a:prstGeom>
          <a:noFill/>
          <a:ln/>
        </p:spPr>
        <p:txBody>
          <a:bodyPr wrap="square" lIns="0" tIns="0" rIns="0" bIns="0" rtlCol="0" anchor="ctr"/>
          <a:lstStyle/>
          <a:p>
            <a:pPr indent="0" marL="0">
              <a:buNone/>
            </a:pPr>
            <a:r>
              <a:rPr lang="en-US" sz="1050" b="1" dirty="0">
                <a:solidFill>
                  <a:srgbClr val="1A8A47"/>
                </a:solidFill>
                <a:latin typeface="Calibri" pitchFamily="34" charset="0"/>
                <a:ea typeface="Calibri" pitchFamily="34" charset="-122"/>
                <a:cs typeface="Calibri" pitchFamily="34" charset="-120"/>
              </a:rPr>
              <a:t>False Positive Rate (FPR)</a:t>
            </a:r>
            <a:endParaRPr lang="en-US" sz="1050" dirty="0"/>
          </a:p>
        </p:txBody>
      </p:sp>
      <p:sp>
        <p:nvSpPr>
          <p:cNvPr id="31" name="Text 29"/>
          <p:cNvSpPr/>
          <p:nvPr/>
        </p:nvSpPr>
        <p:spPr>
          <a:xfrm>
            <a:off x="4828032" y="2103120"/>
            <a:ext cx="3840480" cy="164592"/>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 normal operation incorrectly flagged</a:t>
            </a:r>
            <a:endParaRPr lang="en-US" sz="950" dirty="0"/>
          </a:p>
        </p:txBody>
      </p:sp>
      <p:sp>
        <p:nvSpPr>
          <p:cNvPr id="32" name="Shape 30"/>
          <p:cNvSpPr/>
          <p:nvPr/>
        </p:nvSpPr>
        <p:spPr>
          <a:xfrm>
            <a:off x="4736592" y="2322576"/>
            <a:ext cx="4069080" cy="402336"/>
          </a:xfrm>
          <a:prstGeom prst="rect">
            <a:avLst/>
          </a:prstGeom>
          <a:solidFill>
            <a:srgbClr val="F0FFF4"/>
          </a:solidFill>
          <a:ln w="12700">
            <a:solidFill>
              <a:srgbClr val="F0FFF4"/>
            </a:solidFill>
            <a:prstDash val="solid"/>
          </a:ln>
        </p:spPr>
      </p:sp>
      <p:sp>
        <p:nvSpPr>
          <p:cNvPr id="33" name="Text 31"/>
          <p:cNvSpPr/>
          <p:nvPr/>
        </p:nvSpPr>
        <p:spPr>
          <a:xfrm>
            <a:off x="4828032" y="2350008"/>
            <a:ext cx="3840480" cy="201168"/>
          </a:xfrm>
          <a:prstGeom prst="rect">
            <a:avLst/>
          </a:prstGeom>
          <a:noFill/>
          <a:ln/>
        </p:spPr>
        <p:txBody>
          <a:bodyPr wrap="square" lIns="0" tIns="0" rIns="0" bIns="0" rtlCol="0" anchor="ctr"/>
          <a:lstStyle/>
          <a:p>
            <a:pPr indent="0" marL="0">
              <a:buNone/>
            </a:pPr>
            <a:r>
              <a:rPr lang="en-US" sz="1050" b="1" dirty="0">
                <a:solidFill>
                  <a:srgbClr val="1A8A47"/>
                </a:solidFill>
                <a:latin typeface="Calibri" pitchFamily="34" charset="0"/>
                <a:ea typeface="Calibri" pitchFamily="34" charset="-122"/>
                <a:cs typeface="Calibri" pitchFamily="34" charset="-120"/>
              </a:rPr>
              <a:t>Evasion Rate (ER)</a:t>
            </a:r>
            <a:endParaRPr lang="en-US" sz="1050" dirty="0"/>
          </a:p>
        </p:txBody>
      </p:sp>
      <p:sp>
        <p:nvSpPr>
          <p:cNvPr id="34" name="Text 32"/>
          <p:cNvSpPr/>
          <p:nvPr/>
        </p:nvSpPr>
        <p:spPr>
          <a:xfrm>
            <a:off x="4828032" y="2542032"/>
            <a:ext cx="3840480" cy="164592"/>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 attack cycles that pass both layers simultaneously</a:t>
            </a:r>
            <a:endParaRPr lang="en-US" sz="950" dirty="0"/>
          </a:p>
        </p:txBody>
      </p:sp>
      <p:sp>
        <p:nvSpPr>
          <p:cNvPr id="35" name="Shape 33"/>
          <p:cNvSpPr/>
          <p:nvPr/>
        </p:nvSpPr>
        <p:spPr>
          <a:xfrm>
            <a:off x="4736592" y="2761488"/>
            <a:ext cx="4069080" cy="402336"/>
          </a:xfrm>
          <a:prstGeom prst="rect">
            <a:avLst/>
          </a:prstGeom>
          <a:solidFill>
            <a:srgbClr val="F8FFF8"/>
          </a:solidFill>
          <a:ln w="12700">
            <a:solidFill>
              <a:srgbClr val="F8FFF8"/>
            </a:solidFill>
            <a:prstDash val="solid"/>
          </a:ln>
        </p:spPr>
      </p:sp>
      <p:sp>
        <p:nvSpPr>
          <p:cNvPr id="36" name="Text 34"/>
          <p:cNvSpPr/>
          <p:nvPr/>
        </p:nvSpPr>
        <p:spPr>
          <a:xfrm>
            <a:off x="4828032" y="2788920"/>
            <a:ext cx="3840480" cy="201168"/>
          </a:xfrm>
          <a:prstGeom prst="rect">
            <a:avLst/>
          </a:prstGeom>
          <a:noFill/>
          <a:ln/>
        </p:spPr>
        <p:txBody>
          <a:bodyPr wrap="square" lIns="0" tIns="0" rIns="0" bIns="0" rtlCol="0" anchor="ctr"/>
          <a:lstStyle/>
          <a:p>
            <a:pPr indent="0" marL="0">
              <a:buNone/>
            </a:pPr>
            <a:r>
              <a:rPr lang="en-US" sz="1050" b="1" dirty="0">
                <a:solidFill>
                  <a:srgbClr val="1A8A47"/>
                </a:solidFill>
                <a:latin typeface="Calibri" pitchFamily="34" charset="0"/>
                <a:ea typeface="Calibri" pitchFamily="34" charset="-122"/>
                <a:cs typeface="Calibri" pitchFamily="34" charset="-120"/>
              </a:rPr>
              <a:t>Time-to-Detect (TTD)</a:t>
            </a:r>
            <a:endParaRPr lang="en-US" sz="1050" dirty="0"/>
          </a:p>
        </p:txBody>
      </p:sp>
      <p:sp>
        <p:nvSpPr>
          <p:cNvPr id="37" name="Text 35"/>
          <p:cNvSpPr/>
          <p:nvPr/>
        </p:nvSpPr>
        <p:spPr>
          <a:xfrm>
            <a:off x="4828032" y="2980944"/>
            <a:ext cx="3840480" cy="164592"/>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Seconds from injection to confirmed ALERT</a:t>
            </a:r>
            <a:endParaRPr lang="en-US" sz="950" dirty="0"/>
          </a:p>
        </p:txBody>
      </p:sp>
      <p:sp>
        <p:nvSpPr>
          <p:cNvPr id="38" name="Shape 36"/>
          <p:cNvSpPr/>
          <p:nvPr/>
        </p:nvSpPr>
        <p:spPr>
          <a:xfrm>
            <a:off x="4736592" y="3200400"/>
            <a:ext cx="4069080" cy="402336"/>
          </a:xfrm>
          <a:prstGeom prst="rect">
            <a:avLst/>
          </a:prstGeom>
          <a:solidFill>
            <a:srgbClr val="F0FFF4"/>
          </a:solidFill>
          <a:ln w="12700">
            <a:solidFill>
              <a:srgbClr val="F0FFF4"/>
            </a:solidFill>
            <a:prstDash val="solid"/>
          </a:ln>
        </p:spPr>
      </p:sp>
      <p:sp>
        <p:nvSpPr>
          <p:cNvPr id="39" name="Text 37"/>
          <p:cNvSpPr/>
          <p:nvPr/>
        </p:nvSpPr>
        <p:spPr>
          <a:xfrm>
            <a:off x="4828032" y="3227832"/>
            <a:ext cx="3840480" cy="201168"/>
          </a:xfrm>
          <a:prstGeom prst="rect">
            <a:avLst/>
          </a:prstGeom>
          <a:noFill/>
          <a:ln/>
        </p:spPr>
        <p:txBody>
          <a:bodyPr wrap="square" lIns="0" tIns="0" rIns="0" bIns="0" rtlCol="0" anchor="ctr"/>
          <a:lstStyle/>
          <a:p>
            <a:pPr indent="0" marL="0">
              <a:buNone/>
            </a:pPr>
            <a:r>
              <a:rPr lang="en-US" sz="1050" b="1" dirty="0">
                <a:solidFill>
                  <a:srgbClr val="1A8A47"/>
                </a:solidFill>
                <a:latin typeface="Calibri" pitchFamily="34" charset="0"/>
                <a:ea typeface="Calibri" pitchFamily="34" charset="-122"/>
                <a:cs typeface="Calibri" pitchFamily="34" charset="-120"/>
              </a:rPr>
              <a:t>Recovery Time (RT)</a:t>
            </a:r>
            <a:endParaRPr lang="en-US" sz="1050" dirty="0"/>
          </a:p>
        </p:txBody>
      </p:sp>
      <p:sp>
        <p:nvSpPr>
          <p:cNvPr id="40" name="Text 38"/>
          <p:cNvSpPr/>
          <p:nvPr/>
        </p:nvSpPr>
        <p:spPr>
          <a:xfrm>
            <a:off x="4828032" y="3419856"/>
            <a:ext cx="3840480" cy="164592"/>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Seconds from ALERT to invariant-verified safe state</a:t>
            </a:r>
            <a:endParaRPr lang="en-US" sz="950" dirty="0"/>
          </a:p>
        </p:txBody>
      </p:sp>
      <p:sp>
        <p:nvSpPr>
          <p:cNvPr id="41" name="Shape 39"/>
          <p:cNvSpPr/>
          <p:nvPr/>
        </p:nvSpPr>
        <p:spPr>
          <a:xfrm>
            <a:off x="4736592" y="3639312"/>
            <a:ext cx="4069080" cy="402336"/>
          </a:xfrm>
          <a:prstGeom prst="rect">
            <a:avLst/>
          </a:prstGeom>
          <a:solidFill>
            <a:srgbClr val="F8FFF8"/>
          </a:solidFill>
          <a:ln w="12700">
            <a:solidFill>
              <a:srgbClr val="F8FFF8"/>
            </a:solidFill>
            <a:prstDash val="solid"/>
          </a:ln>
        </p:spPr>
      </p:sp>
      <p:sp>
        <p:nvSpPr>
          <p:cNvPr id="42" name="Text 40"/>
          <p:cNvSpPr/>
          <p:nvPr/>
        </p:nvSpPr>
        <p:spPr>
          <a:xfrm>
            <a:off x="4828032" y="3666744"/>
            <a:ext cx="3840480" cy="201168"/>
          </a:xfrm>
          <a:prstGeom prst="rect">
            <a:avLst/>
          </a:prstGeom>
          <a:noFill/>
          <a:ln/>
        </p:spPr>
        <p:txBody>
          <a:bodyPr wrap="square" lIns="0" tIns="0" rIns="0" bIns="0" rtlCol="0" anchor="ctr"/>
          <a:lstStyle/>
          <a:p>
            <a:pPr indent="0" marL="0">
              <a:buNone/>
            </a:pPr>
            <a:r>
              <a:rPr lang="en-US" sz="1050" b="1" dirty="0">
                <a:solidFill>
                  <a:srgbClr val="1A8A47"/>
                </a:solidFill>
                <a:latin typeface="Calibri" pitchFamily="34" charset="0"/>
                <a:ea typeface="Calibri" pitchFamily="34" charset="-122"/>
                <a:cs typeface="Calibri" pitchFamily="34" charset="-120"/>
              </a:rPr>
              <a:t>Layer Attribution</a:t>
            </a:r>
            <a:endParaRPr lang="en-US" sz="1050" dirty="0"/>
          </a:p>
        </p:txBody>
      </p:sp>
      <p:sp>
        <p:nvSpPr>
          <p:cNvPr id="43" name="Text 41"/>
          <p:cNvSpPr/>
          <p:nvPr/>
        </p:nvSpPr>
        <p:spPr>
          <a:xfrm>
            <a:off x="4828032" y="3858768"/>
            <a:ext cx="3840480" cy="164592"/>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Which layer fired first — L1 vs L2 vs both</a:t>
            </a:r>
            <a:endParaRPr lang="en-US" sz="950" dirty="0"/>
          </a:p>
        </p:txBody>
      </p:sp>
      <p:sp>
        <p:nvSpPr>
          <p:cNvPr id="44" name="Shape 42"/>
          <p:cNvSpPr/>
          <p:nvPr/>
        </p:nvSpPr>
        <p:spPr>
          <a:xfrm>
            <a:off x="228600" y="3794760"/>
            <a:ext cx="8686800" cy="868680"/>
          </a:xfrm>
          <a:prstGeom prst="rect">
            <a:avLst/>
          </a:prstGeom>
          <a:solidFill>
            <a:srgbClr val="0D1B2A"/>
          </a:solidFill>
          <a:ln w="12700">
            <a:solidFill>
              <a:srgbClr val="0D1B2A"/>
            </a:solidFill>
            <a:prstDash val="solid"/>
          </a:ln>
        </p:spPr>
      </p:sp>
      <p:sp>
        <p:nvSpPr>
          <p:cNvPr id="45" name="Text 43"/>
          <p:cNvSpPr/>
          <p:nvPr/>
        </p:nvSpPr>
        <p:spPr>
          <a:xfrm>
            <a:off x="411480" y="3858768"/>
            <a:ext cx="8321040" cy="274320"/>
          </a:xfrm>
          <a:prstGeom prst="rect">
            <a:avLst/>
          </a:prstGeom>
          <a:noFill/>
          <a:ln/>
        </p:spPr>
        <p:txBody>
          <a:bodyPr wrap="square" lIns="0" tIns="0" rIns="0" bIns="0" rtlCol="0" anchor="ctr"/>
          <a:lstStyle/>
          <a:p>
            <a:pPr indent="0" marL="0">
              <a:buNone/>
            </a:pPr>
            <a:r>
              <a:rPr lang="en-US" sz="1300" b="1" dirty="0">
                <a:solidFill>
                  <a:srgbClr val="0FB3C5"/>
                </a:solidFill>
                <a:latin typeface="Calibri" pitchFamily="34" charset="0"/>
                <a:ea typeface="Calibri" pitchFamily="34" charset="-122"/>
                <a:cs typeface="Calibri" pitchFamily="34" charset="-120"/>
              </a:rPr>
              <a:t>Baseline Comparison</a:t>
            </a:r>
            <a:endParaRPr lang="en-US" sz="1300" dirty="0"/>
          </a:p>
        </p:txBody>
      </p:sp>
      <p:sp>
        <p:nvSpPr>
          <p:cNvPr id="46" name="Text 44"/>
          <p:cNvSpPr/>
          <p:nvPr/>
        </p:nvSpPr>
        <p:spPr>
          <a:xfrm>
            <a:off x="457200" y="4169664"/>
            <a:ext cx="2651760" cy="182880"/>
          </a:xfrm>
          <a:prstGeom prst="rect">
            <a:avLst/>
          </a:prstGeom>
          <a:noFill/>
          <a:ln/>
        </p:spPr>
        <p:txBody>
          <a:bodyPr wrap="square" lIns="0" tIns="0" rIns="0" bIns="0" rtlCol="0" anchor="ctr"/>
          <a:lstStyle/>
          <a:p>
            <a:pPr indent="0" marL="0">
              <a:buNone/>
            </a:pPr>
            <a:r>
              <a:rPr lang="en-US" sz="1100" b="1" dirty="0">
                <a:solidFill>
                  <a:srgbClr val="E8EEF4"/>
                </a:solidFill>
                <a:latin typeface="Calibri" pitchFamily="34" charset="0"/>
                <a:ea typeface="Calibri" pitchFamily="34" charset="-122"/>
                <a:cs typeface="Calibri" pitchFamily="34" charset="-120"/>
              </a:rPr>
              <a:t>Invariant alone</a:t>
            </a:r>
            <a:endParaRPr lang="en-US" sz="1100" dirty="0"/>
          </a:p>
        </p:txBody>
      </p:sp>
      <p:sp>
        <p:nvSpPr>
          <p:cNvPr id="47" name="Text 45"/>
          <p:cNvSpPr/>
          <p:nvPr/>
        </p:nvSpPr>
        <p:spPr>
          <a:xfrm>
            <a:off x="457200" y="4361688"/>
            <a:ext cx="2651760" cy="219456"/>
          </a:xfrm>
          <a:prstGeom prst="rect">
            <a:avLst/>
          </a:prstGeom>
          <a:noFill/>
          <a:ln/>
        </p:spPr>
        <p:txBody>
          <a:bodyPr wrap="square" lIns="0" tIns="0" rIns="0" bIns="0" rtlCol="0" anchor="ctr"/>
          <a:lstStyle/>
          <a:p>
            <a:pPr indent="0" marL="0">
              <a:buNone/>
            </a:pPr>
            <a:r>
              <a:rPr lang="en-US" sz="1050" dirty="0">
                <a:solidFill>
                  <a:srgbClr val="F39C12"/>
                </a:solidFill>
                <a:latin typeface="Consolas" pitchFamily="34" charset="0"/>
                <a:ea typeface="Consolas" pitchFamily="34" charset="-122"/>
                <a:cs typeface="Consolas" pitchFamily="34" charset="-120"/>
              </a:rPr>
              <a:t>DR ~67%   FPR &lt;1%   Evasion ~33%</a:t>
            </a:r>
            <a:endParaRPr lang="en-US" sz="1050" dirty="0"/>
          </a:p>
        </p:txBody>
      </p:sp>
      <p:sp>
        <p:nvSpPr>
          <p:cNvPr id="48" name="Text 46"/>
          <p:cNvSpPr/>
          <p:nvPr/>
        </p:nvSpPr>
        <p:spPr>
          <a:xfrm>
            <a:off x="3291840" y="4169664"/>
            <a:ext cx="2651760" cy="182880"/>
          </a:xfrm>
          <a:prstGeom prst="rect">
            <a:avLst/>
          </a:prstGeom>
          <a:noFill/>
          <a:ln/>
        </p:spPr>
        <p:txBody>
          <a:bodyPr wrap="square" lIns="0" tIns="0" rIns="0" bIns="0" rtlCol="0" anchor="ctr"/>
          <a:lstStyle/>
          <a:p>
            <a:pPr indent="0" marL="0">
              <a:buNone/>
            </a:pPr>
            <a:r>
              <a:rPr lang="en-US" sz="1100" b="1" dirty="0">
                <a:solidFill>
                  <a:srgbClr val="E8EEF4"/>
                </a:solidFill>
                <a:latin typeface="Calibri" pitchFamily="34" charset="0"/>
                <a:ea typeface="Calibri" pitchFamily="34" charset="-122"/>
                <a:cs typeface="Calibri" pitchFamily="34" charset="-120"/>
              </a:rPr>
              <a:t>AE alone</a:t>
            </a:r>
            <a:endParaRPr lang="en-US" sz="1100" dirty="0"/>
          </a:p>
        </p:txBody>
      </p:sp>
      <p:sp>
        <p:nvSpPr>
          <p:cNvPr id="49" name="Text 47"/>
          <p:cNvSpPr/>
          <p:nvPr/>
        </p:nvSpPr>
        <p:spPr>
          <a:xfrm>
            <a:off x="3291840" y="4361688"/>
            <a:ext cx="2651760" cy="219456"/>
          </a:xfrm>
          <a:prstGeom prst="rect">
            <a:avLst/>
          </a:prstGeom>
          <a:noFill/>
          <a:ln/>
        </p:spPr>
        <p:txBody>
          <a:bodyPr wrap="square" lIns="0" tIns="0" rIns="0" bIns="0" rtlCol="0" anchor="ctr"/>
          <a:lstStyle/>
          <a:p>
            <a:pPr indent="0" marL="0">
              <a:buNone/>
            </a:pPr>
            <a:r>
              <a:rPr lang="en-US" sz="1050" dirty="0">
                <a:solidFill>
                  <a:srgbClr val="F39C12"/>
                </a:solidFill>
                <a:latin typeface="Consolas" pitchFamily="34" charset="0"/>
                <a:ea typeface="Consolas" pitchFamily="34" charset="-122"/>
                <a:cs typeface="Consolas" pitchFamily="34" charset="-120"/>
              </a:rPr>
              <a:t>DR ~72%   FPR ~5%   Evasion ~28%</a:t>
            </a:r>
            <a:endParaRPr lang="en-US" sz="1050" dirty="0"/>
          </a:p>
        </p:txBody>
      </p:sp>
      <p:sp>
        <p:nvSpPr>
          <p:cNvPr id="50" name="Text 48"/>
          <p:cNvSpPr/>
          <p:nvPr/>
        </p:nvSpPr>
        <p:spPr>
          <a:xfrm>
            <a:off x="6126480" y="4169664"/>
            <a:ext cx="2651760" cy="182880"/>
          </a:xfrm>
          <a:prstGeom prst="rect">
            <a:avLst/>
          </a:prstGeom>
          <a:noFill/>
          <a:ln/>
        </p:spPr>
        <p:txBody>
          <a:bodyPr wrap="square" lIns="0" tIns="0" rIns="0" bIns="0" rtlCol="0" anchor="ctr"/>
          <a:lstStyle/>
          <a:p>
            <a:pPr indent="0" marL="0">
              <a:buNone/>
            </a:pPr>
            <a:r>
              <a:rPr lang="en-US" sz="1100" b="1" dirty="0">
                <a:solidFill>
                  <a:srgbClr val="E8EEF4"/>
                </a:solidFill>
                <a:latin typeface="Calibri" pitchFamily="34" charset="0"/>
                <a:ea typeface="Calibri" pitchFamily="34" charset="-122"/>
                <a:cs typeface="Calibri" pitchFamily="34" charset="-120"/>
              </a:rPr>
              <a:t>Hybrid (expected)</a:t>
            </a:r>
            <a:endParaRPr lang="en-US" sz="1100" dirty="0"/>
          </a:p>
        </p:txBody>
      </p:sp>
      <p:sp>
        <p:nvSpPr>
          <p:cNvPr id="51" name="Text 49"/>
          <p:cNvSpPr/>
          <p:nvPr/>
        </p:nvSpPr>
        <p:spPr>
          <a:xfrm>
            <a:off x="6126480" y="4361688"/>
            <a:ext cx="2651760" cy="219456"/>
          </a:xfrm>
          <a:prstGeom prst="rect">
            <a:avLst/>
          </a:prstGeom>
          <a:noFill/>
          <a:ln/>
        </p:spPr>
        <p:txBody>
          <a:bodyPr wrap="square" lIns="0" tIns="0" rIns="0" bIns="0" rtlCol="0" anchor="ctr"/>
          <a:lstStyle/>
          <a:p>
            <a:pPr indent="0" marL="0">
              <a:buNone/>
            </a:pPr>
            <a:r>
              <a:rPr lang="en-US" sz="1050" dirty="0">
                <a:solidFill>
                  <a:srgbClr val="F39C12"/>
                </a:solidFill>
                <a:latin typeface="Consolas" pitchFamily="34" charset="0"/>
                <a:ea typeface="Consolas" pitchFamily="34" charset="-122"/>
                <a:cs typeface="Consolas" pitchFamily="34" charset="-120"/>
              </a:rPr>
              <a:t>DR &gt;95%   FPR &lt;3%   Evasion &lt;5%</a:t>
            </a:r>
            <a:endParaRPr lang="en-US" sz="1050" dirty="0"/>
          </a:p>
        </p:txBody>
      </p:sp>
      <p:sp>
        <p:nvSpPr>
          <p:cNvPr id="52" name="Shape 50"/>
          <p:cNvSpPr/>
          <p:nvPr/>
        </p:nvSpPr>
        <p:spPr>
          <a:xfrm>
            <a:off x="0" y="4754880"/>
            <a:ext cx="9144000" cy="384048"/>
          </a:xfrm>
          <a:prstGeom prst="rect">
            <a:avLst/>
          </a:prstGeom>
          <a:solidFill>
            <a:srgbClr val="1B3A5C"/>
          </a:solidFill>
          <a:ln w="12700">
            <a:solidFill>
              <a:srgbClr val="1B3A5C"/>
            </a:solidFill>
            <a:prstDash val="solid"/>
          </a:ln>
        </p:spPr>
      </p:sp>
      <p:sp>
        <p:nvSpPr>
          <p:cNvPr id="53" name="Text 51"/>
          <p:cNvSpPr/>
          <p:nvPr/>
        </p:nvSpPr>
        <p:spPr>
          <a:xfrm>
            <a:off x="274320" y="4754880"/>
            <a:ext cx="8595360" cy="38404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Defense  ·  Implementation &amp; Evaluation</a:t>
            </a:r>
            <a:endParaRPr lang="en-US" sz="1000" dirty="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8FA3B1"/>
          </a:solidFill>
          <a:ln w="12700">
            <a:solidFill>
              <a:srgbClr val="8FA3B1"/>
            </a:solidFill>
            <a:prstDash val="solid"/>
          </a:ln>
        </p:spPr>
      </p:sp>
      <p:sp>
        <p:nvSpPr>
          <p:cNvPr id="3" name="Text 1"/>
          <p:cNvSpPr/>
          <p:nvPr/>
        </p:nvSpPr>
        <p:spPr>
          <a:xfrm>
            <a:off x="365760" y="128016"/>
            <a:ext cx="8229600" cy="420624"/>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References</a:t>
            </a:r>
            <a:endParaRPr lang="en-US" sz="2600" dirty="0"/>
          </a:p>
        </p:txBody>
      </p:sp>
      <p:sp>
        <p:nvSpPr>
          <p:cNvPr id="4" name="Shape 2"/>
          <p:cNvSpPr/>
          <p:nvPr/>
        </p:nvSpPr>
        <p:spPr>
          <a:xfrm>
            <a:off x="228600" y="621792"/>
            <a:ext cx="402336" cy="512064"/>
          </a:xfrm>
          <a:prstGeom prst="rect">
            <a:avLst/>
          </a:prstGeom>
          <a:solidFill>
            <a:srgbClr val="1B3A5C"/>
          </a:solidFill>
          <a:ln w="12700">
            <a:solidFill>
              <a:srgbClr val="1B3A5C"/>
            </a:solidFill>
            <a:prstDash val="solid"/>
          </a:ln>
        </p:spPr>
      </p:sp>
      <p:sp>
        <p:nvSpPr>
          <p:cNvPr id="5" name="Text 3"/>
          <p:cNvSpPr/>
          <p:nvPr/>
        </p:nvSpPr>
        <p:spPr>
          <a:xfrm>
            <a:off x="228600" y="621792"/>
            <a:ext cx="402336" cy="512064"/>
          </a:xfrm>
          <a:prstGeom prst="rect">
            <a:avLst/>
          </a:prstGeom>
          <a:noFill/>
          <a:ln/>
        </p:spPr>
        <p:txBody>
          <a:bodyPr wrap="square" lIns="0" tIns="0" rIns="0" bIns="0" rtlCol="0" anchor="ctr"/>
          <a:lstStyle/>
          <a:p>
            <a:pPr algn="ctr" indent="0" marL="0">
              <a:buNone/>
            </a:pPr>
            <a:r>
              <a:rPr lang="en-US" sz="1000" b="1" dirty="0">
                <a:solidFill>
                  <a:srgbClr val="2ECC71"/>
                </a:solidFill>
                <a:latin typeface="Calibri" pitchFamily="34" charset="0"/>
                <a:ea typeface="Calibri" pitchFamily="34" charset="-122"/>
                <a:cs typeface="Calibri" pitchFamily="34" charset="-120"/>
              </a:rPr>
              <a:t>[1]</a:t>
            </a:r>
            <a:endParaRPr lang="en-US" sz="1000" dirty="0"/>
          </a:p>
        </p:txBody>
      </p:sp>
      <p:sp>
        <p:nvSpPr>
          <p:cNvPr id="6" name="Text 4"/>
          <p:cNvSpPr/>
          <p:nvPr/>
        </p:nvSpPr>
        <p:spPr>
          <a:xfrm>
            <a:off x="694944" y="640080"/>
            <a:ext cx="8138160" cy="164592"/>
          </a:xfrm>
          <a:prstGeom prst="rect">
            <a:avLst/>
          </a:prstGeom>
          <a:noFill/>
          <a:ln/>
        </p:spPr>
        <p:txBody>
          <a:bodyPr wrap="square" lIns="0" tIns="0" rIns="0" bIns="0" rtlCol="0" anchor="ctr"/>
          <a:lstStyle/>
          <a:p>
            <a:pPr indent="0" marL="0">
              <a:buNone/>
            </a:pPr>
            <a:r>
              <a:rPr lang="en-US" sz="900" i="1" dirty="0">
                <a:solidFill>
                  <a:srgbClr val="8FA3B1"/>
                </a:solidFill>
                <a:latin typeface="Calibri" pitchFamily="34" charset="0"/>
                <a:ea typeface="Calibri" pitchFamily="34" charset="-122"/>
                <a:cs typeface="Calibri" pitchFamily="34" charset="-120"/>
              </a:rPr>
              <a:t>S. Adepu and A. Mathur</a:t>
            </a:r>
            <a:endParaRPr lang="en-US" sz="900" dirty="0"/>
          </a:p>
        </p:txBody>
      </p:sp>
      <p:sp>
        <p:nvSpPr>
          <p:cNvPr id="7" name="Text 5"/>
          <p:cNvSpPr/>
          <p:nvPr/>
        </p:nvSpPr>
        <p:spPr>
          <a:xfrm>
            <a:off x="694944" y="804672"/>
            <a:ext cx="8138160" cy="182880"/>
          </a:xfrm>
          <a:prstGeom prst="rect">
            <a:avLst/>
          </a:prstGeom>
          <a:noFill/>
          <a:ln/>
        </p:spPr>
        <p:txBody>
          <a:bodyPr wrap="square" lIns="0" tIns="0" rIns="0" bIns="0" rtlCol="0" anchor="ctr"/>
          <a:lstStyle/>
          <a:p>
            <a:pPr indent="0" marL="0">
              <a:buNone/>
            </a:pPr>
            <a:r>
              <a:rPr lang="en-US" sz="1000" b="1" dirty="0">
                <a:solidFill>
                  <a:srgbClr val="E8EEF4"/>
                </a:solidFill>
                <a:latin typeface="Calibri" pitchFamily="34" charset="0"/>
                <a:ea typeface="Calibri" pitchFamily="34" charset="-122"/>
                <a:cs typeface="Calibri" pitchFamily="34" charset="-120"/>
              </a:rPr>
              <a:t>"Using Process Invariants to Detect Cyber Attacks on a Water Treatment System"</a:t>
            </a:r>
            <a:endParaRPr lang="en-US" sz="1000" dirty="0"/>
          </a:p>
        </p:txBody>
      </p:sp>
      <p:sp>
        <p:nvSpPr>
          <p:cNvPr id="8" name="Text 6"/>
          <p:cNvSpPr/>
          <p:nvPr/>
        </p:nvSpPr>
        <p:spPr>
          <a:xfrm>
            <a:off x="694944" y="987552"/>
            <a:ext cx="8138160" cy="146304"/>
          </a:xfrm>
          <a:prstGeom prst="rect">
            <a:avLst/>
          </a:prstGeom>
          <a:noFill/>
          <a:ln/>
        </p:spPr>
        <p:txBody>
          <a:bodyPr wrap="square" lIns="0" tIns="0" rIns="0" bIns="0" rtlCol="0" anchor="ctr"/>
          <a:lstStyle/>
          <a:p>
            <a:pPr indent="0" marL="0">
              <a:buNone/>
            </a:pPr>
            <a:r>
              <a:rPr lang="en-US" sz="850" dirty="0">
                <a:solidFill>
                  <a:srgbClr val="8FA3B1"/>
                </a:solidFill>
                <a:latin typeface="Calibri" pitchFamily="34" charset="0"/>
                <a:ea typeface="Calibri" pitchFamily="34" charset="-122"/>
                <a:cs typeface="Calibri" pitchFamily="34" charset="-120"/>
              </a:rPr>
              <a:t>IFIP SEC, Ghent, Belgium, 2016.   (Paper #88 — SWaT invariant baseline)</a:t>
            </a:r>
            <a:endParaRPr lang="en-US" sz="850" dirty="0"/>
          </a:p>
        </p:txBody>
      </p:sp>
      <p:sp>
        <p:nvSpPr>
          <p:cNvPr id="9" name="Shape 7"/>
          <p:cNvSpPr/>
          <p:nvPr/>
        </p:nvSpPr>
        <p:spPr>
          <a:xfrm>
            <a:off x="228600" y="1225296"/>
            <a:ext cx="402336" cy="512064"/>
          </a:xfrm>
          <a:prstGeom prst="rect">
            <a:avLst/>
          </a:prstGeom>
          <a:solidFill>
            <a:srgbClr val="1B3A5C"/>
          </a:solidFill>
          <a:ln w="12700">
            <a:solidFill>
              <a:srgbClr val="1B3A5C"/>
            </a:solidFill>
            <a:prstDash val="solid"/>
          </a:ln>
        </p:spPr>
      </p:sp>
      <p:sp>
        <p:nvSpPr>
          <p:cNvPr id="10" name="Text 8"/>
          <p:cNvSpPr/>
          <p:nvPr/>
        </p:nvSpPr>
        <p:spPr>
          <a:xfrm>
            <a:off x="228600" y="1225296"/>
            <a:ext cx="402336" cy="512064"/>
          </a:xfrm>
          <a:prstGeom prst="rect">
            <a:avLst/>
          </a:prstGeom>
          <a:noFill/>
          <a:ln/>
        </p:spPr>
        <p:txBody>
          <a:bodyPr wrap="square" lIns="0" tIns="0" rIns="0" bIns="0" rtlCol="0" anchor="ctr"/>
          <a:lstStyle/>
          <a:p>
            <a:pPr algn="ctr" indent="0" marL="0">
              <a:buNone/>
            </a:pPr>
            <a:r>
              <a:rPr lang="en-US" sz="1000" b="1" dirty="0">
                <a:solidFill>
                  <a:srgbClr val="2ECC71"/>
                </a:solidFill>
                <a:latin typeface="Calibri" pitchFamily="34" charset="0"/>
                <a:ea typeface="Calibri" pitchFamily="34" charset="-122"/>
                <a:cs typeface="Calibri" pitchFamily="34" charset="-120"/>
              </a:rPr>
              <a:t>[2]</a:t>
            </a:r>
            <a:endParaRPr lang="en-US" sz="1000" dirty="0"/>
          </a:p>
        </p:txBody>
      </p:sp>
      <p:sp>
        <p:nvSpPr>
          <p:cNvPr id="11" name="Text 9"/>
          <p:cNvSpPr/>
          <p:nvPr/>
        </p:nvSpPr>
        <p:spPr>
          <a:xfrm>
            <a:off x="694944" y="1243584"/>
            <a:ext cx="8138160" cy="164592"/>
          </a:xfrm>
          <a:prstGeom prst="rect">
            <a:avLst/>
          </a:prstGeom>
          <a:noFill/>
          <a:ln/>
        </p:spPr>
        <p:txBody>
          <a:bodyPr wrap="square" lIns="0" tIns="0" rIns="0" bIns="0" rtlCol="0" anchor="ctr"/>
          <a:lstStyle/>
          <a:p>
            <a:pPr indent="0" marL="0">
              <a:buNone/>
            </a:pPr>
            <a:r>
              <a:rPr lang="en-US" sz="900" i="1" dirty="0">
                <a:solidFill>
                  <a:srgbClr val="8FA3B1"/>
                </a:solidFill>
                <a:latin typeface="Calibri" pitchFamily="34" charset="0"/>
                <a:ea typeface="Calibri" pitchFamily="34" charset="-122"/>
                <a:cs typeface="Calibri" pitchFamily="34" charset="-120"/>
              </a:rPr>
              <a:t>S. Adepu and A. Mathur</a:t>
            </a:r>
            <a:endParaRPr lang="en-US" sz="900" dirty="0"/>
          </a:p>
        </p:txBody>
      </p:sp>
      <p:sp>
        <p:nvSpPr>
          <p:cNvPr id="12" name="Text 10"/>
          <p:cNvSpPr/>
          <p:nvPr/>
        </p:nvSpPr>
        <p:spPr>
          <a:xfrm>
            <a:off x="694944" y="1408176"/>
            <a:ext cx="8138160" cy="182880"/>
          </a:xfrm>
          <a:prstGeom prst="rect">
            <a:avLst/>
          </a:prstGeom>
          <a:noFill/>
          <a:ln/>
        </p:spPr>
        <p:txBody>
          <a:bodyPr wrap="square" lIns="0" tIns="0" rIns="0" bIns="0" rtlCol="0" anchor="ctr"/>
          <a:lstStyle/>
          <a:p>
            <a:pPr indent="0" marL="0">
              <a:buNone/>
            </a:pPr>
            <a:r>
              <a:rPr lang="en-US" sz="1000" b="1" dirty="0">
                <a:solidFill>
                  <a:srgbClr val="E8EEF4"/>
                </a:solidFill>
                <a:latin typeface="Calibri" pitchFamily="34" charset="0"/>
                <a:ea typeface="Calibri" pitchFamily="34" charset="-122"/>
                <a:cs typeface="Calibri" pitchFamily="34" charset="-120"/>
              </a:rPr>
              <a:t>"Distributed Detection of Single-Stage Multipoint Cyber Attacks in a Water Treatment Plant"</a:t>
            </a:r>
            <a:endParaRPr lang="en-US" sz="1000" dirty="0"/>
          </a:p>
        </p:txBody>
      </p:sp>
      <p:sp>
        <p:nvSpPr>
          <p:cNvPr id="13" name="Text 11"/>
          <p:cNvSpPr/>
          <p:nvPr/>
        </p:nvSpPr>
        <p:spPr>
          <a:xfrm>
            <a:off x="694944" y="1591056"/>
            <a:ext cx="8138160" cy="146304"/>
          </a:xfrm>
          <a:prstGeom prst="rect">
            <a:avLst/>
          </a:prstGeom>
          <a:noFill/>
          <a:ln/>
        </p:spPr>
        <p:txBody>
          <a:bodyPr wrap="square" lIns="0" tIns="0" rIns="0" bIns="0" rtlCol="0" anchor="ctr"/>
          <a:lstStyle/>
          <a:p>
            <a:pPr indent="0" marL="0">
              <a:buNone/>
            </a:pPr>
            <a:r>
              <a:rPr lang="en-US" sz="850" dirty="0">
                <a:solidFill>
                  <a:srgbClr val="8FA3B1"/>
                </a:solidFill>
                <a:latin typeface="Calibri" pitchFamily="34" charset="0"/>
                <a:ea typeface="Calibri" pitchFamily="34" charset="-122"/>
                <a:cs typeface="Calibri" pitchFamily="34" charset="-120"/>
              </a:rPr>
              <a:t>ACM AsiaCCS, Xi'an, China, 2016.   (DAD invariant design)</a:t>
            </a:r>
            <a:endParaRPr lang="en-US" sz="850" dirty="0"/>
          </a:p>
        </p:txBody>
      </p:sp>
      <p:sp>
        <p:nvSpPr>
          <p:cNvPr id="14" name="Shape 12"/>
          <p:cNvSpPr/>
          <p:nvPr/>
        </p:nvSpPr>
        <p:spPr>
          <a:xfrm>
            <a:off x="228600" y="1828800"/>
            <a:ext cx="402336" cy="512064"/>
          </a:xfrm>
          <a:prstGeom prst="rect">
            <a:avLst/>
          </a:prstGeom>
          <a:solidFill>
            <a:srgbClr val="1B3A5C"/>
          </a:solidFill>
          <a:ln w="12700">
            <a:solidFill>
              <a:srgbClr val="1B3A5C"/>
            </a:solidFill>
            <a:prstDash val="solid"/>
          </a:ln>
        </p:spPr>
      </p:sp>
      <p:sp>
        <p:nvSpPr>
          <p:cNvPr id="15" name="Text 13"/>
          <p:cNvSpPr/>
          <p:nvPr/>
        </p:nvSpPr>
        <p:spPr>
          <a:xfrm>
            <a:off x="228600" y="1828800"/>
            <a:ext cx="402336" cy="512064"/>
          </a:xfrm>
          <a:prstGeom prst="rect">
            <a:avLst/>
          </a:prstGeom>
          <a:noFill/>
          <a:ln/>
        </p:spPr>
        <p:txBody>
          <a:bodyPr wrap="square" lIns="0" tIns="0" rIns="0" bIns="0" rtlCol="0" anchor="ctr"/>
          <a:lstStyle/>
          <a:p>
            <a:pPr algn="ctr" indent="0" marL="0">
              <a:buNone/>
            </a:pPr>
            <a:r>
              <a:rPr lang="en-US" sz="1000" b="1" dirty="0">
                <a:solidFill>
                  <a:srgbClr val="F39C12"/>
                </a:solidFill>
                <a:latin typeface="Calibri" pitchFamily="34" charset="0"/>
                <a:ea typeface="Calibri" pitchFamily="34" charset="-122"/>
                <a:cs typeface="Calibri" pitchFamily="34" charset="-120"/>
              </a:rPr>
              <a:t>[3]</a:t>
            </a:r>
            <a:endParaRPr lang="en-US" sz="1000" dirty="0"/>
          </a:p>
        </p:txBody>
      </p:sp>
      <p:sp>
        <p:nvSpPr>
          <p:cNvPr id="16" name="Text 14"/>
          <p:cNvSpPr/>
          <p:nvPr/>
        </p:nvSpPr>
        <p:spPr>
          <a:xfrm>
            <a:off x="694944" y="1847088"/>
            <a:ext cx="8138160" cy="164592"/>
          </a:xfrm>
          <a:prstGeom prst="rect">
            <a:avLst/>
          </a:prstGeom>
          <a:noFill/>
          <a:ln/>
        </p:spPr>
        <p:txBody>
          <a:bodyPr wrap="square" lIns="0" tIns="0" rIns="0" bIns="0" rtlCol="0" anchor="ctr"/>
          <a:lstStyle/>
          <a:p>
            <a:pPr indent="0" marL="0">
              <a:buNone/>
            </a:pPr>
            <a:r>
              <a:rPr lang="en-US" sz="900" i="1" dirty="0">
                <a:solidFill>
                  <a:srgbClr val="8FA3B1"/>
                </a:solidFill>
                <a:latin typeface="Calibri" pitchFamily="34" charset="0"/>
                <a:ea typeface="Calibri" pitchFamily="34" charset="-122"/>
                <a:cs typeface="Calibri" pitchFamily="34" charset="-120"/>
              </a:rPr>
              <a:t>J. H. Castellanos, M. Ochoa, A. A. Cardenas, O. Arden, and J. Zhou</a:t>
            </a:r>
            <a:endParaRPr lang="en-US" sz="900" dirty="0"/>
          </a:p>
        </p:txBody>
      </p:sp>
      <p:sp>
        <p:nvSpPr>
          <p:cNvPr id="17" name="Text 15"/>
          <p:cNvSpPr/>
          <p:nvPr/>
        </p:nvSpPr>
        <p:spPr>
          <a:xfrm>
            <a:off x="694944" y="2011680"/>
            <a:ext cx="8138160" cy="182880"/>
          </a:xfrm>
          <a:prstGeom prst="rect">
            <a:avLst/>
          </a:prstGeom>
          <a:noFill/>
          <a:ln/>
        </p:spPr>
        <p:txBody>
          <a:bodyPr wrap="square" lIns="0" tIns="0" rIns="0" bIns="0" rtlCol="0" anchor="ctr"/>
          <a:lstStyle/>
          <a:p>
            <a:pPr indent="0" marL="0">
              <a:buNone/>
            </a:pPr>
            <a:r>
              <a:rPr lang="en-US" sz="1000" b="1" dirty="0">
                <a:solidFill>
                  <a:srgbClr val="E8EEF4"/>
                </a:solidFill>
                <a:latin typeface="Calibri" pitchFamily="34" charset="0"/>
                <a:ea typeface="Calibri" pitchFamily="34" charset="-122"/>
                <a:cs typeface="Calibri" pitchFamily="34" charset="-120"/>
              </a:rPr>
              <a:t>"Constrained Concealment Attacks against Reconstruction-based Anomaly Detectors in ICS"</a:t>
            </a:r>
            <a:endParaRPr lang="en-US" sz="1000" dirty="0"/>
          </a:p>
        </p:txBody>
      </p:sp>
      <p:sp>
        <p:nvSpPr>
          <p:cNvPr id="18" name="Text 16"/>
          <p:cNvSpPr/>
          <p:nvPr/>
        </p:nvSpPr>
        <p:spPr>
          <a:xfrm>
            <a:off x="694944" y="2194560"/>
            <a:ext cx="8138160" cy="146304"/>
          </a:xfrm>
          <a:prstGeom prst="rect">
            <a:avLst/>
          </a:prstGeom>
          <a:noFill/>
          <a:ln/>
        </p:spPr>
        <p:txBody>
          <a:bodyPr wrap="square" lIns="0" tIns="0" rIns="0" bIns="0" rtlCol="0" anchor="ctr"/>
          <a:lstStyle/>
          <a:p>
            <a:pPr indent="0" marL="0">
              <a:buNone/>
            </a:pPr>
            <a:r>
              <a:rPr lang="en-US" sz="850" dirty="0">
                <a:solidFill>
                  <a:srgbClr val="8FA3B1"/>
                </a:solidFill>
                <a:latin typeface="Calibri" pitchFamily="34" charset="0"/>
                <a:ea typeface="Calibri" pitchFamily="34" charset="-122"/>
                <a:cs typeface="Calibri" pitchFamily="34" charset="-120"/>
              </a:rPr>
              <a:t>ACM ACSAC, Austin, USA, 2020.   (Paper #31 — adversarial AE evasion)   github.com/scy-phy/ICS-Evasion-Attacks</a:t>
            </a:r>
            <a:endParaRPr lang="en-US" sz="850" dirty="0"/>
          </a:p>
        </p:txBody>
      </p:sp>
      <p:sp>
        <p:nvSpPr>
          <p:cNvPr id="19" name="Shape 17"/>
          <p:cNvSpPr/>
          <p:nvPr/>
        </p:nvSpPr>
        <p:spPr>
          <a:xfrm>
            <a:off x="228600" y="2432304"/>
            <a:ext cx="402336" cy="512064"/>
          </a:xfrm>
          <a:prstGeom prst="rect">
            <a:avLst/>
          </a:prstGeom>
          <a:solidFill>
            <a:srgbClr val="1B3A5C"/>
          </a:solidFill>
          <a:ln w="12700">
            <a:solidFill>
              <a:srgbClr val="1B3A5C"/>
            </a:solidFill>
            <a:prstDash val="solid"/>
          </a:ln>
        </p:spPr>
      </p:sp>
      <p:sp>
        <p:nvSpPr>
          <p:cNvPr id="20" name="Text 18"/>
          <p:cNvSpPr/>
          <p:nvPr/>
        </p:nvSpPr>
        <p:spPr>
          <a:xfrm>
            <a:off x="228600" y="2432304"/>
            <a:ext cx="402336" cy="512064"/>
          </a:xfrm>
          <a:prstGeom prst="rect">
            <a:avLst/>
          </a:prstGeom>
          <a:noFill/>
          <a:ln/>
        </p:spPr>
        <p:txBody>
          <a:bodyPr wrap="square" lIns="0" tIns="0" rIns="0" bIns="0" rtlCol="0" anchor="ctr"/>
          <a:lstStyle/>
          <a:p>
            <a:pPr algn="ctr" indent="0" marL="0">
              <a:buNone/>
            </a:pPr>
            <a:r>
              <a:rPr lang="en-US" sz="1000" b="1" dirty="0">
                <a:solidFill>
                  <a:srgbClr val="E74C3C"/>
                </a:solidFill>
                <a:latin typeface="Calibri" pitchFamily="34" charset="0"/>
                <a:ea typeface="Calibri" pitchFamily="34" charset="-122"/>
                <a:cs typeface="Calibri" pitchFamily="34" charset="-120"/>
              </a:rPr>
              <a:t>[4]</a:t>
            </a:r>
            <a:endParaRPr lang="en-US" sz="1000" dirty="0"/>
          </a:p>
        </p:txBody>
      </p:sp>
      <p:sp>
        <p:nvSpPr>
          <p:cNvPr id="21" name="Text 19"/>
          <p:cNvSpPr/>
          <p:nvPr/>
        </p:nvSpPr>
        <p:spPr>
          <a:xfrm>
            <a:off x="694944" y="2450592"/>
            <a:ext cx="8138160" cy="164592"/>
          </a:xfrm>
          <a:prstGeom prst="rect">
            <a:avLst/>
          </a:prstGeom>
          <a:noFill/>
          <a:ln/>
        </p:spPr>
        <p:txBody>
          <a:bodyPr wrap="square" lIns="0" tIns="0" rIns="0" bIns="0" rtlCol="0" anchor="ctr"/>
          <a:lstStyle/>
          <a:p>
            <a:pPr indent="0" marL="0">
              <a:buNone/>
            </a:pPr>
            <a:r>
              <a:rPr lang="en-US" sz="900" i="1" dirty="0">
                <a:solidFill>
                  <a:srgbClr val="8FA3B1"/>
                </a:solidFill>
                <a:latin typeface="Calibri" pitchFamily="34" charset="0"/>
                <a:ea typeface="Calibri" pitchFamily="34" charset="-122"/>
                <a:cs typeface="Calibri" pitchFamily="34" charset="-120"/>
              </a:rPr>
              <a:t>W. Alsabbagh, S. Amogbonjaye, D. Urrego, and P. Langendörfer</a:t>
            </a:r>
            <a:endParaRPr lang="en-US" sz="900" dirty="0"/>
          </a:p>
        </p:txBody>
      </p:sp>
      <p:sp>
        <p:nvSpPr>
          <p:cNvPr id="22" name="Text 20"/>
          <p:cNvSpPr/>
          <p:nvPr/>
        </p:nvSpPr>
        <p:spPr>
          <a:xfrm>
            <a:off x="694944" y="2615184"/>
            <a:ext cx="8138160" cy="182880"/>
          </a:xfrm>
          <a:prstGeom prst="rect">
            <a:avLst/>
          </a:prstGeom>
          <a:noFill/>
          <a:ln/>
        </p:spPr>
        <p:txBody>
          <a:bodyPr wrap="square" lIns="0" tIns="0" rIns="0" bIns="0" rtlCol="0" anchor="ctr"/>
          <a:lstStyle/>
          <a:p>
            <a:pPr indent="0" marL="0">
              <a:buNone/>
            </a:pPr>
            <a:r>
              <a:rPr lang="en-US" sz="1000" b="1" dirty="0">
                <a:solidFill>
                  <a:srgbClr val="E8EEF4"/>
                </a:solidFill>
                <a:latin typeface="Calibri" pitchFamily="34" charset="0"/>
                <a:ea typeface="Calibri" pitchFamily="34" charset="-122"/>
                <a:cs typeface="Calibri" pitchFamily="34" charset="-120"/>
              </a:rPr>
              <a:t>"A Stealthy False Command Injection Attack on Modbus based SCADA Systems"</a:t>
            </a:r>
            <a:endParaRPr lang="en-US" sz="1000" dirty="0"/>
          </a:p>
        </p:txBody>
      </p:sp>
      <p:sp>
        <p:nvSpPr>
          <p:cNvPr id="23" name="Text 21"/>
          <p:cNvSpPr/>
          <p:nvPr/>
        </p:nvSpPr>
        <p:spPr>
          <a:xfrm>
            <a:off x="694944" y="2798064"/>
            <a:ext cx="8138160" cy="146304"/>
          </a:xfrm>
          <a:prstGeom prst="rect">
            <a:avLst/>
          </a:prstGeom>
          <a:noFill/>
          <a:ln/>
        </p:spPr>
        <p:txBody>
          <a:bodyPr wrap="square" lIns="0" tIns="0" rIns="0" bIns="0" rtlCol="0" anchor="ctr"/>
          <a:lstStyle/>
          <a:p>
            <a:pPr indent="0" marL="0">
              <a:buNone/>
            </a:pPr>
            <a:r>
              <a:rPr lang="en-US" sz="850" dirty="0">
                <a:solidFill>
                  <a:srgbClr val="8FA3B1"/>
                </a:solidFill>
                <a:latin typeface="Calibri" pitchFamily="34" charset="0"/>
                <a:ea typeface="Calibri" pitchFamily="34" charset="-122"/>
                <a:cs typeface="Calibri" pitchFamily="34" charset="-120"/>
              </a:rPr>
              <a:t>IEEE CCNC, Las Vegas, USA, 2023.   (Paper #9 — Modbus FCI attack)</a:t>
            </a:r>
            <a:endParaRPr lang="en-US" sz="850" dirty="0"/>
          </a:p>
        </p:txBody>
      </p:sp>
      <p:sp>
        <p:nvSpPr>
          <p:cNvPr id="24" name="Shape 22"/>
          <p:cNvSpPr/>
          <p:nvPr/>
        </p:nvSpPr>
        <p:spPr>
          <a:xfrm>
            <a:off x="228600" y="3035808"/>
            <a:ext cx="402336" cy="512064"/>
          </a:xfrm>
          <a:prstGeom prst="rect">
            <a:avLst/>
          </a:prstGeom>
          <a:solidFill>
            <a:srgbClr val="1B3A5C"/>
          </a:solidFill>
          <a:ln w="12700">
            <a:solidFill>
              <a:srgbClr val="1B3A5C"/>
            </a:solidFill>
            <a:prstDash val="solid"/>
          </a:ln>
        </p:spPr>
      </p:sp>
      <p:sp>
        <p:nvSpPr>
          <p:cNvPr id="25" name="Text 23"/>
          <p:cNvSpPr/>
          <p:nvPr/>
        </p:nvSpPr>
        <p:spPr>
          <a:xfrm>
            <a:off x="228600" y="3035808"/>
            <a:ext cx="402336" cy="512064"/>
          </a:xfrm>
          <a:prstGeom prst="rect">
            <a:avLst/>
          </a:prstGeom>
          <a:noFill/>
          <a:ln/>
        </p:spPr>
        <p:txBody>
          <a:bodyPr wrap="square" lIns="0" tIns="0" rIns="0" bIns="0" rtlCol="0" anchor="ctr"/>
          <a:lstStyle/>
          <a:p>
            <a:pPr algn="ctr" indent="0" marL="0">
              <a:buNone/>
            </a:pPr>
            <a:r>
              <a:rPr lang="en-US" sz="1000" b="1" dirty="0">
                <a:solidFill>
                  <a:srgbClr val="2196F3"/>
                </a:solidFill>
                <a:latin typeface="Calibri" pitchFamily="34" charset="0"/>
                <a:ea typeface="Calibri" pitchFamily="34" charset="-122"/>
                <a:cs typeface="Calibri" pitchFamily="34" charset="-120"/>
              </a:rPr>
              <a:t>[5]</a:t>
            </a:r>
            <a:endParaRPr lang="en-US" sz="1000" dirty="0"/>
          </a:p>
        </p:txBody>
      </p:sp>
      <p:sp>
        <p:nvSpPr>
          <p:cNvPr id="26" name="Text 24"/>
          <p:cNvSpPr/>
          <p:nvPr/>
        </p:nvSpPr>
        <p:spPr>
          <a:xfrm>
            <a:off x="694944" y="3054096"/>
            <a:ext cx="8138160" cy="164592"/>
          </a:xfrm>
          <a:prstGeom prst="rect">
            <a:avLst/>
          </a:prstGeom>
          <a:noFill/>
          <a:ln/>
        </p:spPr>
        <p:txBody>
          <a:bodyPr wrap="square" lIns="0" tIns="0" rIns="0" bIns="0" rtlCol="0" anchor="ctr"/>
          <a:lstStyle/>
          <a:p>
            <a:pPr indent="0" marL="0">
              <a:buNone/>
            </a:pPr>
            <a:r>
              <a:rPr lang="en-US" sz="900" i="1" dirty="0">
                <a:solidFill>
                  <a:srgbClr val="8FA3B1"/>
                </a:solidFill>
                <a:latin typeface="Calibri" pitchFamily="34" charset="0"/>
                <a:ea typeface="Calibri" pitchFamily="34" charset="-122"/>
                <a:cs typeface="Calibri" pitchFamily="34" charset="-120"/>
              </a:rPr>
              <a:t>A. Carcano, A. Coletta, M. Guglielmi, M. Masera, I. N. Fovino, and A. Trombetta</a:t>
            </a:r>
            <a:endParaRPr lang="en-US" sz="900" dirty="0"/>
          </a:p>
        </p:txBody>
      </p:sp>
      <p:sp>
        <p:nvSpPr>
          <p:cNvPr id="27" name="Text 25"/>
          <p:cNvSpPr/>
          <p:nvPr/>
        </p:nvSpPr>
        <p:spPr>
          <a:xfrm>
            <a:off x="694944" y="3218688"/>
            <a:ext cx="8138160" cy="182880"/>
          </a:xfrm>
          <a:prstGeom prst="rect">
            <a:avLst/>
          </a:prstGeom>
          <a:noFill/>
          <a:ln/>
        </p:spPr>
        <p:txBody>
          <a:bodyPr wrap="square" lIns="0" tIns="0" rIns="0" bIns="0" rtlCol="0" anchor="ctr"/>
          <a:lstStyle/>
          <a:p>
            <a:pPr indent="0" marL="0">
              <a:buNone/>
            </a:pPr>
            <a:r>
              <a:rPr lang="en-US" sz="1000" b="1" dirty="0">
                <a:solidFill>
                  <a:srgbClr val="E8EEF4"/>
                </a:solidFill>
                <a:latin typeface="Calibri" pitchFamily="34" charset="0"/>
                <a:ea typeface="Calibri" pitchFamily="34" charset="-122"/>
                <a:cs typeface="Calibri" pitchFamily="34" charset="-120"/>
              </a:rPr>
              <a:t>"A Multidimensional Critical State Analysis for Detecting Intrusions in SCADA Systems"</a:t>
            </a:r>
            <a:endParaRPr lang="en-US" sz="1000" dirty="0"/>
          </a:p>
        </p:txBody>
      </p:sp>
      <p:sp>
        <p:nvSpPr>
          <p:cNvPr id="28" name="Text 26"/>
          <p:cNvSpPr/>
          <p:nvPr/>
        </p:nvSpPr>
        <p:spPr>
          <a:xfrm>
            <a:off x="694944" y="3401568"/>
            <a:ext cx="8138160" cy="146304"/>
          </a:xfrm>
          <a:prstGeom prst="rect">
            <a:avLst/>
          </a:prstGeom>
          <a:noFill/>
          <a:ln/>
        </p:spPr>
        <p:txBody>
          <a:bodyPr wrap="square" lIns="0" tIns="0" rIns="0" bIns="0" rtlCol="0" anchor="ctr"/>
          <a:lstStyle/>
          <a:p>
            <a:pPr indent="0" marL="0">
              <a:buNone/>
            </a:pPr>
            <a:r>
              <a:rPr lang="en-US" sz="850" dirty="0">
                <a:solidFill>
                  <a:srgbClr val="8FA3B1"/>
                </a:solidFill>
                <a:latin typeface="Calibri" pitchFamily="34" charset="0"/>
                <a:ea typeface="Calibri" pitchFamily="34" charset="-122"/>
                <a:cs typeface="Calibri" pitchFamily="34" charset="-120"/>
              </a:rPr>
              <a:t>IEEE Trans. Industrial Informatics, vol. 7, no. 2, pp. 179–186, May 2011.   DOI: 10.1109/TII.2010.2098415</a:t>
            </a:r>
            <a:endParaRPr lang="en-US" sz="850" dirty="0"/>
          </a:p>
        </p:txBody>
      </p:sp>
      <p:sp>
        <p:nvSpPr>
          <p:cNvPr id="29" name="Shape 27"/>
          <p:cNvSpPr/>
          <p:nvPr/>
        </p:nvSpPr>
        <p:spPr>
          <a:xfrm>
            <a:off x="228600" y="3639312"/>
            <a:ext cx="402336" cy="512064"/>
          </a:xfrm>
          <a:prstGeom prst="rect">
            <a:avLst/>
          </a:prstGeom>
          <a:solidFill>
            <a:srgbClr val="1B3A5C"/>
          </a:solidFill>
          <a:ln w="12700">
            <a:solidFill>
              <a:srgbClr val="1B3A5C"/>
            </a:solidFill>
            <a:prstDash val="solid"/>
          </a:ln>
        </p:spPr>
      </p:sp>
      <p:sp>
        <p:nvSpPr>
          <p:cNvPr id="30" name="Text 28"/>
          <p:cNvSpPr/>
          <p:nvPr/>
        </p:nvSpPr>
        <p:spPr>
          <a:xfrm>
            <a:off x="228600" y="3639312"/>
            <a:ext cx="402336" cy="512064"/>
          </a:xfrm>
          <a:prstGeom prst="rect">
            <a:avLst/>
          </a:prstGeom>
          <a:noFill/>
          <a:ln/>
        </p:spPr>
        <p:txBody>
          <a:bodyPr wrap="square" lIns="0" tIns="0" rIns="0" bIns="0" rtlCol="0" anchor="ctr"/>
          <a:lstStyle/>
          <a:p>
            <a:pPr algn="ctr" indent="0" marL="0">
              <a:buNone/>
            </a:pPr>
            <a:r>
              <a:rPr lang="en-US" sz="1000" b="1" dirty="0">
                <a:solidFill>
                  <a:srgbClr val="2196F3"/>
                </a:solidFill>
                <a:latin typeface="Calibri" pitchFamily="34" charset="0"/>
                <a:ea typeface="Calibri" pitchFamily="34" charset="-122"/>
                <a:cs typeface="Calibri" pitchFamily="34" charset="-120"/>
              </a:rPr>
              <a:t>[6]</a:t>
            </a:r>
            <a:endParaRPr lang="en-US" sz="1000" dirty="0"/>
          </a:p>
        </p:txBody>
      </p:sp>
      <p:sp>
        <p:nvSpPr>
          <p:cNvPr id="31" name="Text 29"/>
          <p:cNvSpPr/>
          <p:nvPr/>
        </p:nvSpPr>
        <p:spPr>
          <a:xfrm>
            <a:off x="694944" y="3657600"/>
            <a:ext cx="8138160" cy="164592"/>
          </a:xfrm>
          <a:prstGeom prst="rect">
            <a:avLst/>
          </a:prstGeom>
          <a:noFill/>
          <a:ln/>
        </p:spPr>
        <p:txBody>
          <a:bodyPr wrap="square" lIns="0" tIns="0" rIns="0" bIns="0" rtlCol="0" anchor="ctr"/>
          <a:lstStyle/>
          <a:p>
            <a:pPr indent="0" marL="0">
              <a:buNone/>
            </a:pPr>
            <a:r>
              <a:rPr lang="en-US" sz="900" i="1" dirty="0">
                <a:solidFill>
                  <a:srgbClr val="8FA3B1"/>
                </a:solidFill>
                <a:latin typeface="Calibri" pitchFamily="34" charset="0"/>
                <a:ea typeface="Calibri" pitchFamily="34" charset="-122"/>
                <a:cs typeface="Calibri" pitchFamily="34" charset="-120"/>
              </a:rPr>
              <a:t>D. I. Buzhinsky and V. Vyatkin</a:t>
            </a:r>
            <a:endParaRPr lang="en-US" sz="900" dirty="0"/>
          </a:p>
        </p:txBody>
      </p:sp>
      <p:sp>
        <p:nvSpPr>
          <p:cNvPr id="32" name="Text 30"/>
          <p:cNvSpPr/>
          <p:nvPr/>
        </p:nvSpPr>
        <p:spPr>
          <a:xfrm>
            <a:off x="694944" y="3822192"/>
            <a:ext cx="8138160" cy="182880"/>
          </a:xfrm>
          <a:prstGeom prst="rect">
            <a:avLst/>
          </a:prstGeom>
          <a:noFill/>
          <a:ln/>
        </p:spPr>
        <p:txBody>
          <a:bodyPr wrap="square" lIns="0" tIns="0" rIns="0" bIns="0" rtlCol="0" anchor="ctr"/>
          <a:lstStyle/>
          <a:p>
            <a:pPr indent="0" marL="0">
              <a:buNone/>
            </a:pPr>
            <a:r>
              <a:rPr lang="en-US" sz="1000" b="1" dirty="0">
                <a:solidFill>
                  <a:srgbClr val="E8EEF4"/>
                </a:solidFill>
                <a:latin typeface="Calibri" pitchFamily="34" charset="0"/>
                <a:ea typeface="Calibri" pitchFamily="34" charset="-122"/>
                <a:cs typeface="Calibri" pitchFamily="34" charset="-120"/>
              </a:rPr>
              <a:t>"Automatic Inference of Finite-State Plant Models from Traces and Temporal Properties"</a:t>
            </a:r>
            <a:endParaRPr lang="en-US" sz="1000" dirty="0"/>
          </a:p>
        </p:txBody>
      </p:sp>
      <p:sp>
        <p:nvSpPr>
          <p:cNvPr id="33" name="Text 31"/>
          <p:cNvSpPr/>
          <p:nvPr/>
        </p:nvSpPr>
        <p:spPr>
          <a:xfrm>
            <a:off x="694944" y="4005072"/>
            <a:ext cx="8138160" cy="146304"/>
          </a:xfrm>
          <a:prstGeom prst="rect">
            <a:avLst/>
          </a:prstGeom>
          <a:noFill/>
          <a:ln/>
        </p:spPr>
        <p:txBody>
          <a:bodyPr wrap="square" lIns="0" tIns="0" rIns="0" bIns="0" rtlCol="0" anchor="ctr"/>
          <a:lstStyle/>
          <a:p>
            <a:pPr indent="0" marL="0">
              <a:buNone/>
            </a:pPr>
            <a:r>
              <a:rPr lang="en-US" sz="850" dirty="0">
                <a:solidFill>
                  <a:srgbClr val="8FA3B1"/>
                </a:solidFill>
                <a:latin typeface="Calibri" pitchFamily="34" charset="0"/>
                <a:ea typeface="Calibri" pitchFamily="34" charset="-122"/>
                <a:cs typeface="Calibri" pitchFamily="34" charset="-120"/>
              </a:rPr>
              <a:t>IEEE Trans. Industrial Informatics, vol. 13, no. 4, pp. 1521–1530, Aug. 2017.   DOI: 10.1109/TII.2017.2670001</a:t>
            </a:r>
            <a:endParaRPr lang="en-US" sz="850" dirty="0"/>
          </a:p>
        </p:txBody>
      </p:sp>
      <p:sp>
        <p:nvSpPr>
          <p:cNvPr id="34" name="Shape 32"/>
          <p:cNvSpPr/>
          <p:nvPr/>
        </p:nvSpPr>
        <p:spPr>
          <a:xfrm>
            <a:off x="228600" y="4242816"/>
            <a:ext cx="402336" cy="512064"/>
          </a:xfrm>
          <a:prstGeom prst="rect">
            <a:avLst/>
          </a:prstGeom>
          <a:solidFill>
            <a:srgbClr val="1B3A5C"/>
          </a:solidFill>
          <a:ln w="12700">
            <a:solidFill>
              <a:srgbClr val="1B3A5C"/>
            </a:solidFill>
            <a:prstDash val="solid"/>
          </a:ln>
        </p:spPr>
      </p:sp>
      <p:sp>
        <p:nvSpPr>
          <p:cNvPr id="35" name="Text 33"/>
          <p:cNvSpPr/>
          <p:nvPr/>
        </p:nvSpPr>
        <p:spPr>
          <a:xfrm>
            <a:off x="228600" y="4242816"/>
            <a:ext cx="402336" cy="512064"/>
          </a:xfrm>
          <a:prstGeom prst="rect">
            <a:avLst/>
          </a:prstGeom>
          <a:noFill/>
          <a:ln/>
        </p:spPr>
        <p:txBody>
          <a:bodyPr wrap="square" lIns="0" tIns="0" rIns="0" bIns="0" rtlCol="0" anchor="ctr"/>
          <a:lstStyle/>
          <a:p>
            <a:pPr algn="ctr" indent="0" marL="0">
              <a:buNone/>
            </a:pPr>
            <a:r>
              <a:rPr lang="en-US" sz="1000" b="1" dirty="0">
                <a:solidFill>
                  <a:srgbClr val="8FA3B1"/>
                </a:solidFill>
                <a:latin typeface="Calibri" pitchFamily="34" charset="0"/>
                <a:ea typeface="Calibri" pitchFamily="34" charset="-122"/>
                <a:cs typeface="Calibri" pitchFamily="34" charset="-120"/>
              </a:rPr>
              <a:t>[7]</a:t>
            </a:r>
            <a:endParaRPr lang="en-US" sz="1000" dirty="0"/>
          </a:p>
        </p:txBody>
      </p:sp>
      <p:sp>
        <p:nvSpPr>
          <p:cNvPr id="36" name="Text 34"/>
          <p:cNvSpPr/>
          <p:nvPr/>
        </p:nvSpPr>
        <p:spPr>
          <a:xfrm>
            <a:off x="694944" y="4261104"/>
            <a:ext cx="8138160" cy="164592"/>
          </a:xfrm>
          <a:prstGeom prst="rect">
            <a:avLst/>
          </a:prstGeom>
          <a:noFill/>
          <a:ln/>
        </p:spPr>
        <p:txBody>
          <a:bodyPr wrap="square" lIns="0" tIns="0" rIns="0" bIns="0" rtlCol="0" anchor="ctr"/>
          <a:lstStyle/>
          <a:p>
            <a:pPr indent="0" marL="0">
              <a:buNone/>
            </a:pPr>
            <a:r>
              <a:rPr lang="en-US" sz="900" i="1" dirty="0">
                <a:solidFill>
                  <a:srgbClr val="8FA3B1"/>
                </a:solidFill>
                <a:latin typeface="Calibri" pitchFamily="34" charset="0"/>
                <a:ea typeface="Calibri" pitchFamily="34" charset="-122"/>
                <a:cs typeface="Calibri" pitchFamily="34" charset="-120"/>
              </a:rPr>
              <a:t>iTrust, Centre for Research in Cyber Security, SUTD</a:t>
            </a:r>
            <a:endParaRPr lang="en-US" sz="900" dirty="0"/>
          </a:p>
        </p:txBody>
      </p:sp>
      <p:sp>
        <p:nvSpPr>
          <p:cNvPr id="37" name="Text 35"/>
          <p:cNvSpPr/>
          <p:nvPr/>
        </p:nvSpPr>
        <p:spPr>
          <a:xfrm>
            <a:off x="694944" y="4425696"/>
            <a:ext cx="8138160" cy="182880"/>
          </a:xfrm>
          <a:prstGeom prst="rect">
            <a:avLst/>
          </a:prstGeom>
          <a:noFill/>
          <a:ln/>
        </p:spPr>
        <p:txBody>
          <a:bodyPr wrap="square" lIns="0" tIns="0" rIns="0" bIns="0" rtlCol="0" anchor="ctr"/>
          <a:lstStyle/>
          <a:p>
            <a:pPr indent="0" marL="0">
              <a:buNone/>
            </a:pPr>
            <a:r>
              <a:rPr lang="en-US" sz="1000" b="1" dirty="0">
                <a:solidFill>
                  <a:srgbClr val="E8EEF4"/>
                </a:solidFill>
                <a:latin typeface="Calibri" pitchFamily="34" charset="0"/>
                <a:ea typeface="Calibri" pitchFamily="34" charset="-122"/>
                <a:cs typeface="Calibri" pitchFamily="34" charset="-120"/>
              </a:rPr>
              <a:t>"SWaT: Secure Water Treatment Testbed"</a:t>
            </a:r>
            <a:endParaRPr lang="en-US" sz="1000" dirty="0"/>
          </a:p>
        </p:txBody>
      </p:sp>
      <p:sp>
        <p:nvSpPr>
          <p:cNvPr id="38" name="Text 36"/>
          <p:cNvSpPr/>
          <p:nvPr/>
        </p:nvSpPr>
        <p:spPr>
          <a:xfrm>
            <a:off x="694944" y="4608576"/>
            <a:ext cx="8138160" cy="146304"/>
          </a:xfrm>
          <a:prstGeom prst="rect">
            <a:avLst/>
          </a:prstGeom>
          <a:noFill/>
          <a:ln/>
        </p:spPr>
        <p:txBody>
          <a:bodyPr wrap="square" lIns="0" tIns="0" rIns="0" bIns="0" rtlCol="0" anchor="ctr"/>
          <a:lstStyle/>
          <a:p>
            <a:pPr indent="0" marL="0">
              <a:buNone/>
            </a:pPr>
            <a:r>
              <a:rPr lang="en-US" sz="850" dirty="0">
                <a:solidFill>
                  <a:srgbClr val="8FA3B1"/>
                </a:solidFill>
                <a:latin typeface="Calibri" pitchFamily="34" charset="0"/>
                <a:ea typeface="Calibri" pitchFamily="34" charset="-122"/>
                <a:cs typeface="Calibri" pitchFamily="34" charset="-120"/>
              </a:rPr>
              <a:t>Singapore University of Technology and Design.   https://itrust.sutd.edu.sg/testbeds/secure-water-treatment-swat/</a:t>
            </a:r>
            <a:endParaRPr lang="en-US" sz="850" dirty="0"/>
          </a:p>
        </p:txBody>
      </p:sp>
      <p:sp>
        <p:nvSpPr>
          <p:cNvPr id="39" name="Shape 37"/>
          <p:cNvSpPr/>
          <p:nvPr/>
        </p:nvSpPr>
        <p:spPr>
          <a:xfrm>
            <a:off x="0" y="4809744"/>
            <a:ext cx="9144000" cy="338328"/>
          </a:xfrm>
          <a:prstGeom prst="rect">
            <a:avLst/>
          </a:prstGeom>
          <a:solidFill>
            <a:srgbClr val="1B3A5C"/>
          </a:solidFill>
          <a:ln w="12700">
            <a:solidFill>
              <a:srgbClr val="1B3A5C"/>
            </a:solidFill>
            <a:prstDash val="solid"/>
          </a:ln>
        </p:spPr>
      </p:sp>
      <p:sp>
        <p:nvSpPr>
          <p:cNvPr id="40" name="Text 38"/>
          <p:cNvSpPr/>
          <p:nvPr/>
        </p:nvSpPr>
        <p:spPr>
          <a:xfrm>
            <a:off x="457200" y="4809744"/>
            <a:ext cx="8229600" cy="33832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Cyber Physical Systems  |  SWaT Defense  |  References</a:t>
            </a:r>
            <a:endParaRPr lang="en-US" sz="1000" dirty="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109728" cy="5148072"/>
          </a:xfrm>
          <a:prstGeom prst="rect">
            <a:avLst/>
          </a:prstGeom>
          <a:solidFill>
            <a:srgbClr val="0A7E8C"/>
          </a:solidFill>
          <a:ln w="12700">
            <a:solidFill>
              <a:srgbClr val="0A7E8C"/>
            </a:solidFill>
            <a:prstDash val="solid"/>
          </a:ln>
        </p:spPr>
      </p:sp>
      <p:sp>
        <p:nvSpPr>
          <p:cNvPr id="3" name="Text 1"/>
          <p:cNvSpPr/>
          <p:nvPr/>
        </p:nvSpPr>
        <p:spPr>
          <a:xfrm>
            <a:off x="320040" y="411480"/>
            <a:ext cx="8503920" cy="749808"/>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CPS Cyber Attack Recovery</a:t>
            </a:r>
            <a:endParaRPr lang="en-US" sz="4400" dirty="0"/>
          </a:p>
        </p:txBody>
      </p:sp>
      <p:sp>
        <p:nvSpPr>
          <p:cNvPr id="4" name="Text 2"/>
          <p:cNvSpPr/>
          <p:nvPr/>
        </p:nvSpPr>
        <p:spPr>
          <a:xfrm>
            <a:off x="320040" y="1170432"/>
            <a:ext cx="8503920" cy="457200"/>
          </a:xfrm>
          <a:prstGeom prst="rect">
            <a:avLst/>
          </a:prstGeom>
          <a:noFill/>
          <a:ln/>
        </p:spPr>
        <p:txBody>
          <a:bodyPr wrap="square" lIns="0" tIns="0" rIns="0" bIns="0" rtlCol="0" anchor="ctr"/>
          <a:lstStyle/>
          <a:p>
            <a:pPr indent="0" marL="0">
              <a:buNone/>
            </a:pPr>
            <a:r>
              <a:rPr lang="en-US" sz="2200" i="1" dirty="0">
                <a:solidFill>
                  <a:srgbClr val="12B5C8"/>
                </a:solidFill>
                <a:latin typeface="Calibri" pitchFamily="34" charset="0"/>
                <a:ea typeface="Calibri" pitchFamily="34" charset="-122"/>
                <a:cs typeface="Calibri" pitchFamily="34" charset="-120"/>
              </a:rPr>
              <a:t>Methods, Taxonomy &amp; Application to SWaT</a:t>
            </a:r>
            <a:endParaRPr lang="en-US" sz="2200" dirty="0"/>
          </a:p>
        </p:txBody>
      </p:sp>
      <p:sp>
        <p:nvSpPr>
          <p:cNvPr id="5" name="Shape 3"/>
          <p:cNvSpPr/>
          <p:nvPr/>
        </p:nvSpPr>
        <p:spPr>
          <a:xfrm>
            <a:off x="274320" y="1901952"/>
            <a:ext cx="2029968" cy="658368"/>
          </a:xfrm>
          <a:prstGeom prst="rect">
            <a:avLst/>
          </a:prstGeom>
          <a:solidFill>
            <a:srgbClr val="27AE60"/>
          </a:solidFill>
          <a:ln w="12700">
            <a:solidFill>
              <a:srgbClr val="27AE60"/>
            </a:solidFill>
            <a:prstDash val="solid"/>
          </a:ln>
        </p:spPr>
      </p:sp>
      <p:sp>
        <p:nvSpPr>
          <p:cNvPr id="6" name="Text 4"/>
          <p:cNvSpPr/>
          <p:nvPr/>
        </p:nvSpPr>
        <p:spPr>
          <a:xfrm>
            <a:off x="274320" y="1920240"/>
            <a:ext cx="202996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Shallow Recovery</a:t>
            </a:r>
            <a:endParaRPr lang="en-US" sz="1200" dirty="0"/>
          </a:p>
        </p:txBody>
      </p:sp>
      <p:sp>
        <p:nvSpPr>
          <p:cNvPr id="7" name="Text 5"/>
          <p:cNvSpPr/>
          <p:nvPr/>
        </p:nvSpPr>
        <p:spPr>
          <a:xfrm>
            <a:off x="274320" y="2212848"/>
            <a:ext cx="2029968" cy="310896"/>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Safe-state + failover</a:t>
            </a:r>
            <a:endParaRPr lang="en-US" sz="950" dirty="0"/>
          </a:p>
        </p:txBody>
      </p:sp>
      <p:sp>
        <p:nvSpPr>
          <p:cNvPr id="8" name="Shape 6"/>
          <p:cNvSpPr/>
          <p:nvPr/>
        </p:nvSpPr>
        <p:spPr>
          <a:xfrm>
            <a:off x="2441448" y="1901952"/>
            <a:ext cx="2029968" cy="658368"/>
          </a:xfrm>
          <a:prstGeom prst="rect">
            <a:avLst/>
          </a:prstGeom>
          <a:solidFill>
            <a:srgbClr val="2980B9"/>
          </a:solidFill>
          <a:ln w="12700">
            <a:solidFill>
              <a:srgbClr val="2980B9"/>
            </a:solidFill>
            <a:prstDash val="solid"/>
          </a:ln>
        </p:spPr>
      </p:sp>
      <p:sp>
        <p:nvSpPr>
          <p:cNvPr id="9" name="Text 7"/>
          <p:cNvSpPr/>
          <p:nvPr/>
        </p:nvSpPr>
        <p:spPr>
          <a:xfrm>
            <a:off x="2441448" y="1920240"/>
            <a:ext cx="202996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Deep Recovery</a:t>
            </a:r>
            <a:endParaRPr lang="en-US" sz="1200" dirty="0"/>
          </a:p>
        </p:txBody>
      </p:sp>
      <p:sp>
        <p:nvSpPr>
          <p:cNvPr id="10" name="Text 8"/>
          <p:cNvSpPr/>
          <p:nvPr/>
        </p:nvSpPr>
        <p:spPr>
          <a:xfrm>
            <a:off x="2441448" y="2212848"/>
            <a:ext cx="2029968" cy="310896"/>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Dedicated recovery controller</a:t>
            </a:r>
            <a:endParaRPr lang="en-US" sz="950" dirty="0"/>
          </a:p>
        </p:txBody>
      </p:sp>
      <p:sp>
        <p:nvSpPr>
          <p:cNvPr id="11" name="Shape 9"/>
          <p:cNvSpPr/>
          <p:nvPr/>
        </p:nvSpPr>
        <p:spPr>
          <a:xfrm>
            <a:off x="4608576" y="1901952"/>
            <a:ext cx="2029968" cy="658368"/>
          </a:xfrm>
          <a:prstGeom prst="rect">
            <a:avLst/>
          </a:prstGeom>
          <a:solidFill>
            <a:srgbClr val="7D3C98"/>
          </a:solidFill>
          <a:ln w="12700">
            <a:solidFill>
              <a:srgbClr val="7D3C98"/>
            </a:solidFill>
            <a:prstDash val="solid"/>
          </a:ln>
        </p:spPr>
      </p:sp>
      <p:sp>
        <p:nvSpPr>
          <p:cNvPr id="12" name="Text 10"/>
          <p:cNvSpPr/>
          <p:nvPr/>
        </p:nvSpPr>
        <p:spPr>
          <a:xfrm>
            <a:off x="4608576" y="1920240"/>
            <a:ext cx="202996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State Estimation</a:t>
            </a:r>
            <a:endParaRPr lang="en-US" sz="1200" dirty="0"/>
          </a:p>
        </p:txBody>
      </p:sp>
      <p:sp>
        <p:nvSpPr>
          <p:cNvPr id="13" name="Text 11"/>
          <p:cNvSpPr/>
          <p:nvPr/>
        </p:nvSpPr>
        <p:spPr>
          <a:xfrm>
            <a:off x="4608576" y="2212848"/>
            <a:ext cx="2029968" cy="310896"/>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Kalman / Luenberger observers</a:t>
            </a:r>
            <a:endParaRPr lang="en-US" sz="950" dirty="0"/>
          </a:p>
        </p:txBody>
      </p:sp>
      <p:sp>
        <p:nvSpPr>
          <p:cNvPr id="14" name="Shape 12"/>
          <p:cNvSpPr/>
          <p:nvPr/>
        </p:nvSpPr>
        <p:spPr>
          <a:xfrm>
            <a:off x="6775704" y="1901952"/>
            <a:ext cx="2029968" cy="658368"/>
          </a:xfrm>
          <a:prstGeom prst="rect">
            <a:avLst/>
          </a:prstGeom>
          <a:solidFill>
            <a:srgbClr val="E67E22"/>
          </a:solidFill>
          <a:ln w="12700">
            <a:solidFill>
              <a:srgbClr val="E67E22"/>
            </a:solidFill>
            <a:prstDash val="solid"/>
          </a:ln>
        </p:spPr>
      </p:sp>
      <p:sp>
        <p:nvSpPr>
          <p:cNvPr id="15" name="Text 13"/>
          <p:cNvSpPr/>
          <p:nvPr/>
        </p:nvSpPr>
        <p:spPr>
          <a:xfrm>
            <a:off x="6775704" y="1920240"/>
            <a:ext cx="202996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NIST SP 800-82r3</a:t>
            </a:r>
            <a:endParaRPr lang="en-US" sz="1200" dirty="0"/>
          </a:p>
        </p:txBody>
      </p:sp>
      <p:sp>
        <p:nvSpPr>
          <p:cNvPr id="16" name="Text 14"/>
          <p:cNvSpPr/>
          <p:nvPr/>
        </p:nvSpPr>
        <p:spPr>
          <a:xfrm>
            <a:off x="6775704" y="2212848"/>
            <a:ext cx="2029968" cy="310896"/>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OT incident response framework</a:t>
            </a:r>
            <a:endParaRPr lang="en-US" sz="950" dirty="0"/>
          </a:p>
        </p:txBody>
      </p:sp>
      <p:sp>
        <p:nvSpPr>
          <p:cNvPr id="17" name="Shape 15"/>
          <p:cNvSpPr/>
          <p:nvPr/>
        </p:nvSpPr>
        <p:spPr>
          <a:xfrm>
            <a:off x="320040" y="2761488"/>
            <a:ext cx="8503920" cy="512064"/>
          </a:xfrm>
          <a:prstGeom prst="rect">
            <a:avLst/>
          </a:prstGeom>
          <a:solidFill>
            <a:srgbClr val="1B3A5C"/>
          </a:solidFill>
          <a:ln w="12700">
            <a:solidFill>
              <a:srgbClr val="1B3A5C"/>
            </a:solidFill>
            <a:prstDash val="solid"/>
          </a:ln>
        </p:spPr>
      </p:sp>
      <p:sp>
        <p:nvSpPr>
          <p:cNvPr id="18" name="Shape 16"/>
          <p:cNvSpPr/>
          <p:nvPr/>
        </p:nvSpPr>
        <p:spPr>
          <a:xfrm>
            <a:off x="320040" y="2761488"/>
            <a:ext cx="64008" cy="512064"/>
          </a:xfrm>
          <a:prstGeom prst="rect">
            <a:avLst/>
          </a:prstGeom>
          <a:solidFill>
            <a:srgbClr val="0A7E8C"/>
          </a:solidFill>
          <a:ln w="12700">
            <a:solidFill>
              <a:srgbClr val="0A7E8C"/>
            </a:solidFill>
            <a:prstDash val="solid"/>
          </a:ln>
        </p:spPr>
      </p:sp>
      <p:sp>
        <p:nvSpPr>
          <p:cNvPr id="19" name="Text 17"/>
          <p:cNvSpPr/>
          <p:nvPr/>
        </p:nvSpPr>
        <p:spPr>
          <a:xfrm>
            <a:off x="502920" y="2779776"/>
            <a:ext cx="8183880" cy="475488"/>
          </a:xfrm>
          <a:prstGeom prst="rect">
            <a:avLst/>
          </a:prstGeom>
          <a:noFill/>
          <a:ln/>
        </p:spPr>
        <p:txBody>
          <a:bodyPr wrap="square" lIns="0" tIns="0" rIns="0" bIns="0" rtlCol="0" anchor="ctr"/>
          <a:lstStyle/>
          <a:p>
            <a:pPr indent="0" marL="0">
              <a:buNone/>
            </a:pPr>
            <a:r>
              <a:rPr lang="en-US" sz="1050" b="1" dirty="0">
                <a:solidFill>
                  <a:srgbClr val="12B5C8"/>
                </a:solidFill>
                <a:latin typeface="Calibri" pitchFamily="34" charset="0"/>
                <a:ea typeface="Calibri" pitchFamily="34" charset="-122"/>
                <a:cs typeface="Calibri" pitchFamily="34" charset="-120"/>
              </a:rPr>
              <a:t xml:space="preserve">Key finding (ACM Survey 2024):  </a:t>
            </a:r>
            <a:pPr indent="0" marL="0">
              <a:buNone/>
            </a:pPr>
            <a:r>
              <a:rPr lang="en-US" sz="1050" dirty="0">
                <a:solidFill>
                  <a:srgbClr val="E8EEF4"/>
                </a:solidFill>
                <a:latin typeface="Calibri" pitchFamily="34" charset="0"/>
                <a:ea typeface="Calibri" pitchFamily="34" charset="-122"/>
                <a:cs typeface="Calibri" pitchFamily="34" charset="-120"/>
              </a:rPr>
              <a:t>Most CPS security research focuses on detection — recovery is the least studied phase. Shallow recovery (safe state + PLC failover) is deployable in SWaT immediately; deep recovery via secure state estimation is the research frontier.</a:t>
            </a:r>
            <a:endParaRPr lang="en-US" sz="1050" dirty="0"/>
          </a:p>
        </p:txBody>
      </p:sp>
      <p:sp>
        <p:nvSpPr>
          <p:cNvPr id="20" name="Text 18"/>
          <p:cNvSpPr/>
          <p:nvPr/>
        </p:nvSpPr>
        <p:spPr>
          <a:xfrm>
            <a:off x="320040" y="3493008"/>
            <a:ext cx="8503920" cy="256032"/>
          </a:xfrm>
          <a:prstGeom prst="rect">
            <a:avLst/>
          </a:prstGeom>
          <a:noFill/>
          <a:ln/>
        </p:spPr>
        <p:txBody>
          <a:bodyPr wrap="square" lIns="0" tIns="0" rIns="0" bIns="0" rtlCol="0" anchor="ctr"/>
          <a:lstStyle/>
          <a:p>
            <a:pPr indent="0" marL="0">
              <a:buNone/>
            </a:pPr>
            <a:r>
              <a:rPr lang="en-US" sz="1100" dirty="0">
                <a:solidFill>
                  <a:srgbClr val="8FA3B1"/>
                </a:solidFill>
                <a:latin typeface="Calibri" pitchFamily="34" charset="0"/>
                <a:ea typeface="Calibri" pitchFamily="34" charset="-122"/>
                <a:cs typeface="Calibri" pitchFamily="34" charset="-120"/>
              </a:rPr>
              <a:t>51.508 Secure Cyber Physical Systems  |  iTrust Lab, SUTD  |  AY2025/26 Term 2</a:t>
            </a:r>
            <a:endParaRPr lang="en-US" sz="1100" dirty="0"/>
          </a:p>
        </p:txBody>
      </p:sp>
      <p:sp>
        <p:nvSpPr>
          <p:cNvPr id="21" name="Shape 19"/>
          <p:cNvSpPr/>
          <p:nvPr/>
        </p:nvSpPr>
        <p:spPr>
          <a:xfrm>
            <a:off x="0" y="4809744"/>
            <a:ext cx="9144000" cy="338328"/>
          </a:xfrm>
          <a:prstGeom prst="rect">
            <a:avLst/>
          </a:prstGeom>
          <a:solidFill>
            <a:srgbClr val="1B3A5C"/>
          </a:solidFill>
          <a:ln w="12700">
            <a:solidFill>
              <a:srgbClr val="1B3A5C"/>
            </a:solidFill>
            <a:prstDash val="solid"/>
          </a:ln>
        </p:spPr>
      </p:sp>
      <p:sp>
        <p:nvSpPr>
          <p:cNvPr id="22" name="Text 20"/>
          <p:cNvSpPr/>
          <p:nvPr/>
        </p:nvSpPr>
        <p:spPr>
          <a:xfrm>
            <a:off x="274320" y="4809744"/>
            <a:ext cx="8595360" cy="33832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Recovery Research</a:t>
            </a:r>
            <a:endParaRPr lang="en-US" sz="1000" dirty="0"/>
          </a:p>
        </p:txBody>
      </p:sp>
      <p:pic>
        <p:nvPicPr>
          <p:cNvPr id="23" name="Picture 22" descr="img_swat_physical.png"/>
          <p:cNvPicPr>
            <a:picLocks noChangeAspect="1"/>
          </p:cNvPicPr>
          <p:nvPr/>
        </p:nvPicPr>
        <p:blipFill>
          <a:blip r:embed="rId2"/>
          <a:stretch>
            <a:fillRect/>
          </a:stretch>
        </p:blipFill>
        <p:spPr>
          <a:xfrm>
            <a:off x="182880" y="3474720"/>
            <a:ext cx="8778240" cy="3200400"/>
          </a:xfrm>
          <a:prstGeom prst="rect">
            <a:avLst/>
          </a:prstGeom>
        </p:spPr>
      </p:pic>
      <p:sp>
        <p:nvSpPr>
          <p:cNvPr id="24" name="TextBox 23"/>
          <p:cNvSpPr txBox="1"/>
          <p:nvPr/>
        </p:nvSpPr>
        <p:spPr>
          <a:xfrm>
            <a:off x="182880" y="6629400"/>
            <a:ext cx="8778240" cy="274320"/>
          </a:xfrm>
          <a:prstGeom prst="rect">
            <a:avLst/>
          </a:prstGeom>
          <a:noFill/>
        </p:spPr>
        <p:txBody>
          <a:bodyPr wrap="square">
            <a:spAutoFit/>
          </a:bodyPr>
          <a:lstStyle/>
          <a:p>
            <a:pPr algn="ctr"/>
            <a:r>
              <a:rPr sz="1000" i="1">
                <a:solidFill>
                  <a:srgbClr val="90B4CE"/>
                </a:solidFill>
              </a:rPr>
              <a:t>SWaT testbed: 6-stage water treatment system targeted in this research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A7E8C"/>
          </a:solidFill>
          <a:ln w="12700">
            <a:solidFill>
              <a:srgbClr val="0A7E8C"/>
            </a:solidFill>
            <a:prstDash val="solid"/>
          </a:ln>
        </p:spPr>
      </p:sp>
      <p:sp>
        <p:nvSpPr>
          <p:cNvPr id="3" name="Text 1"/>
          <p:cNvSpPr/>
          <p:nvPr/>
        </p:nvSpPr>
        <p:spPr>
          <a:xfrm>
            <a:off x="365760" y="164592"/>
            <a:ext cx="8412480" cy="457200"/>
          </a:xfrm>
          <a:prstGeom prst="rect">
            <a:avLst/>
          </a:prstGeom>
          <a:noFill/>
          <a:ln/>
        </p:spPr>
        <p:txBody>
          <a:bodyPr wrap="square" lIns="0" tIns="0" rIns="0" bIns="0" rtlCol="0" anchor="ctr"/>
          <a:lstStyle/>
          <a:p>
            <a:pPr indent="0" marL="0">
              <a:buNone/>
            </a:pPr>
            <a:r>
              <a:rPr lang="en-US" sz="2700" b="1" dirty="0">
                <a:solidFill>
                  <a:srgbClr val="0A1628"/>
                </a:solidFill>
                <a:latin typeface="Calibri" pitchFamily="34" charset="0"/>
                <a:ea typeface="Calibri" pitchFamily="34" charset="-122"/>
                <a:cs typeface="Calibri" pitchFamily="34" charset="-120"/>
              </a:rPr>
              <a:t>Recovery Taxonomy: Shallow vs Deep</a:t>
            </a:r>
            <a:endParaRPr lang="en-US" sz="2700" dirty="0"/>
          </a:p>
        </p:txBody>
      </p:sp>
      <p:sp>
        <p:nvSpPr>
          <p:cNvPr id="4" name="Text 2"/>
          <p:cNvSpPr/>
          <p:nvPr/>
        </p:nvSpPr>
        <p:spPr>
          <a:xfrm>
            <a:off x="365760" y="640080"/>
            <a:ext cx="8412480" cy="237744"/>
          </a:xfrm>
          <a:prstGeom prst="rect">
            <a:avLst/>
          </a:prstGeom>
          <a:noFill/>
          <a:ln/>
        </p:spPr>
        <p:txBody>
          <a:bodyPr wrap="square" lIns="0" tIns="0" rIns="0" bIns="0" rtlCol="0" anchor="ctr"/>
          <a:lstStyle/>
          <a:p>
            <a:pPr indent="0" marL="0">
              <a:buNone/>
            </a:pPr>
            <a:r>
              <a:rPr lang="en-US" sz="1150" i="1" dirty="0">
                <a:solidFill>
                  <a:srgbClr val="8FA3B1"/>
                </a:solidFill>
                <a:latin typeface="Calibri" pitchFamily="34" charset="0"/>
                <a:ea typeface="Calibri" pitchFamily="34" charset="-122"/>
                <a:cs typeface="Calibri" pitchFamily="34" charset="-120"/>
              </a:rPr>
              <a:t>ACM Computing Surveys (2024) surveyed 30 CPS recovery papers — two fundamental strategies identified</a:t>
            </a:r>
            <a:endParaRPr lang="en-US" sz="1150" dirty="0"/>
          </a:p>
        </p:txBody>
      </p:sp>
      <p:sp>
        <p:nvSpPr>
          <p:cNvPr id="5" name="Shape 3"/>
          <p:cNvSpPr/>
          <p:nvPr/>
        </p:nvSpPr>
        <p:spPr>
          <a:xfrm>
            <a:off x="228600" y="969264"/>
            <a:ext cx="4160520" cy="3749040"/>
          </a:xfrm>
          <a:prstGeom prst="rect">
            <a:avLst/>
          </a:prstGeom>
          <a:solidFill>
            <a:srgbClr val="FFFFFF"/>
          </a:solidFill>
          <a:ln w="12700">
            <a:solidFill>
              <a:srgbClr val="FFFFFF"/>
            </a:solidFill>
            <a:prstDash val="solid"/>
          </a:ln>
        </p:spPr>
      </p:sp>
      <p:sp>
        <p:nvSpPr>
          <p:cNvPr id="6" name="Shape 4"/>
          <p:cNvSpPr/>
          <p:nvPr/>
        </p:nvSpPr>
        <p:spPr>
          <a:xfrm>
            <a:off x="228600" y="969264"/>
            <a:ext cx="64008" cy="3749040"/>
          </a:xfrm>
          <a:prstGeom prst="rect">
            <a:avLst/>
          </a:prstGeom>
          <a:solidFill>
            <a:srgbClr val="27AE60"/>
          </a:solidFill>
          <a:ln w="12700">
            <a:solidFill>
              <a:srgbClr val="27AE60"/>
            </a:solidFill>
            <a:prstDash val="solid"/>
          </a:ln>
        </p:spPr>
      </p:sp>
      <p:sp>
        <p:nvSpPr>
          <p:cNvPr id="7" name="Text 5"/>
          <p:cNvSpPr/>
          <p:nvPr/>
        </p:nvSpPr>
        <p:spPr>
          <a:xfrm>
            <a:off x="411480" y="1033272"/>
            <a:ext cx="3840480" cy="329184"/>
          </a:xfrm>
          <a:prstGeom prst="rect">
            <a:avLst/>
          </a:prstGeom>
          <a:noFill/>
          <a:ln/>
        </p:spPr>
        <p:txBody>
          <a:bodyPr wrap="square" lIns="0" tIns="0" rIns="0" bIns="0" rtlCol="0" anchor="ctr"/>
          <a:lstStyle/>
          <a:p>
            <a:pPr indent="0" marL="0">
              <a:buNone/>
            </a:pPr>
            <a:r>
              <a:rPr lang="en-US" sz="1700" b="1" dirty="0">
                <a:solidFill>
                  <a:srgbClr val="1A7A42"/>
                </a:solidFill>
                <a:latin typeface="Calibri" pitchFamily="34" charset="0"/>
                <a:ea typeface="Calibri" pitchFamily="34" charset="-122"/>
                <a:cs typeface="Calibri" pitchFamily="34" charset="-120"/>
              </a:rPr>
              <a:t>Shallow Recovery</a:t>
            </a:r>
            <a:endParaRPr lang="en-US" sz="1700" dirty="0"/>
          </a:p>
        </p:txBody>
      </p:sp>
      <p:sp>
        <p:nvSpPr>
          <p:cNvPr id="8" name="Text 6"/>
          <p:cNvSpPr/>
          <p:nvPr/>
        </p:nvSpPr>
        <p:spPr>
          <a:xfrm>
            <a:off x="411480" y="1371600"/>
            <a:ext cx="3840480" cy="402336"/>
          </a:xfrm>
          <a:prstGeom prst="rect">
            <a:avLst/>
          </a:prstGeom>
          <a:noFill/>
          <a:ln/>
        </p:spPr>
        <p:txBody>
          <a:bodyPr wrap="square" lIns="0" tIns="0" rIns="0" bIns="0" rtlCol="0" anchor="ctr"/>
          <a:lstStyle/>
          <a:p>
            <a:pPr indent="0" marL="0">
              <a:buNone/>
            </a:pPr>
            <a:r>
              <a:rPr lang="en-US" sz="1050" i="1" dirty="0">
                <a:solidFill>
                  <a:srgbClr val="8FA3B1"/>
                </a:solidFill>
                <a:latin typeface="Calibri" pitchFamily="34" charset="0"/>
                <a:ea typeface="Calibri" pitchFamily="34" charset="-122"/>
                <a:cs typeface="Calibri" pitchFamily="34" charset="-120"/>
              </a:rPr>
              <a:t>Does NOT require a dedicated recovery controller.</a:t>
            </a:r>
            <a:endParaRPr lang="en-US" sz="1050" dirty="0"/>
          </a:p>
          <a:p>
            <a:pPr indent="0" marL="0">
              <a:buNone/>
            </a:pPr>
            <a:r>
              <a:rPr lang="en-US" sz="1050" i="1" dirty="0">
                <a:solidFill>
                  <a:srgbClr val="8FA3B1"/>
                </a:solidFill>
                <a:latin typeface="Calibri" pitchFamily="34" charset="0"/>
                <a:ea typeface="Calibri" pitchFamily="34" charset="-122"/>
                <a:cs typeface="Calibri" pitchFamily="34" charset="-120"/>
              </a:rPr>
              <a:t>Uses pre-designed safe states &amp; redundancy.</a:t>
            </a:r>
            <a:endParaRPr lang="en-US" sz="1050" dirty="0"/>
          </a:p>
        </p:txBody>
      </p:sp>
      <p:sp>
        <p:nvSpPr>
          <p:cNvPr id="9" name="Shape 7"/>
          <p:cNvSpPr/>
          <p:nvPr/>
        </p:nvSpPr>
        <p:spPr>
          <a:xfrm>
            <a:off x="365760" y="1874520"/>
            <a:ext cx="256032" cy="256032"/>
          </a:xfrm>
          <a:prstGeom prst="rect">
            <a:avLst/>
          </a:prstGeom>
          <a:solidFill>
            <a:srgbClr val="27AE60"/>
          </a:solidFill>
          <a:ln w="12700">
            <a:solidFill>
              <a:srgbClr val="27AE60"/>
            </a:solidFill>
            <a:prstDash val="solid"/>
          </a:ln>
        </p:spPr>
      </p:sp>
      <p:sp>
        <p:nvSpPr>
          <p:cNvPr id="10" name="Text 8"/>
          <p:cNvSpPr/>
          <p:nvPr/>
        </p:nvSpPr>
        <p:spPr>
          <a:xfrm>
            <a:off x="365760" y="187452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9"/>
          <p:cNvSpPr/>
          <p:nvPr/>
        </p:nvSpPr>
        <p:spPr>
          <a:xfrm>
            <a:off x="694944" y="1883664"/>
            <a:ext cx="3566160" cy="201168"/>
          </a:xfrm>
          <a:prstGeom prst="rect">
            <a:avLst/>
          </a:prstGeom>
          <a:noFill/>
          <a:ln/>
        </p:spPr>
        <p:txBody>
          <a:bodyPr wrap="square" lIns="0" tIns="0" rIns="0" bIns="0" rtlCol="0" anchor="ctr"/>
          <a:lstStyle/>
          <a:p>
            <a:pPr indent="0" marL="0">
              <a:buNone/>
            </a:pPr>
            <a:r>
              <a:rPr lang="en-US" sz="1100" b="1" dirty="0">
                <a:solidFill>
                  <a:srgbClr val="1A7A42"/>
                </a:solidFill>
                <a:latin typeface="Calibri" pitchFamily="34" charset="0"/>
                <a:ea typeface="Calibri" pitchFamily="34" charset="-122"/>
                <a:cs typeface="Calibri" pitchFamily="34" charset="-120"/>
              </a:rPr>
              <a:t>Safe-State Transition</a:t>
            </a:r>
            <a:endParaRPr lang="en-US" sz="1100" dirty="0"/>
          </a:p>
        </p:txBody>
      </p:sp>
      <p:sp>
        <p:nvSpPr>
          <p:cNvPr id="12" name="Text 10"/>
          <p:cNvSpPr/>
          <p:nvPr/>
        </p:nvSpPr>
        <p:spPr>
          <a:xfrm>
            <a:off x="411480" y="2093976"/>
            <a:ext cx="3840480" cy="329184"/>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Pre-defined fail-safe actuator values per stage written to PLC registers immediately on alert. No computation required — purely deterministic lookup.</a:t>
            </a:r>
            <a:endParaRPr lang="en-US" sz="950" dirty="0"/>
          </a:p>
        </p:txBody>
      </p:sp>
      <p:sp>
        <p:nvSpPr>
          <p:cNvPr id="13" name="Shape 11"/>
          <p:cNvSpPr/>
          <p:nvPr/>
        </p:nvSpPr>
        <p:spPr>
          <a:xfrm>
            <a:off x="365760" y="2441448"/>
            <a:ext cx="256032" cy="256032"/>
          </a:xfrm>
          <a:prstGeom prst="rect">
            <a:avLst/>
          </a:prstGeom>
          <a:solidFill>
            <a:srgbClr val="27AE60"/>
          </a:solidFill>
          <a:ln w="12700">
            <a:solidFill>
              <a:srgbClr val="27AE60"/>
            </a:solidFill>
            <a:prstDash val="solid"/>
          </a:ln>
        </p:spPr>
      </p:sp>
      <p:sp>
        <p:nvSpPr>
          <p:cNvPr id="14" name="Text 12"/>
          <p:cNvSpPr/>
          <p:nvPr/>
        </p:nvSpPr>
        <p:spPr>
          <a:xfrm>
            <a:off x="365760" y="2441448"/>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694944" y="2450592"/>
            <a:ext cx="3566160" cy="201168"/>
          </a:xfrm>
          <a:prstGeom prst="rect">
            <a:avLst/>
          </a:prstGeom>
          <a:noFill/>
          <a:ln/>
        </p:spPr>
        <p:txBody>
          <a:bodyPr wrap="square" lIns="0" tIns="0" rIns="0" bIns="0" rtlCol="0" anchor="ctr"/>
          <a:lstStyle/>
          <a:p>
            <a:pPr indent="0" marL="0">
              <a:buNone/>
            </a:pPr>
            <a:r>
              <a:rPr lang="en-US" sz="1100" b="1" dirty="0">
                <a:solidFill>
                  <a:srgbClr val="1A7A42"/>
                </a:solidFill>
                <a:latin typeface="Calibri" pitchFamily="34" charset="0"/>
                <a:ea typeface="Calibri" pitchFamily="34" charset="-122"/>
                <a:cs typeface="Calibri" pitchFamily="34" charset="-120"/>
              </a:rPr>
              <a:t>Hot-Standby PLC Failover</a:t>
            </a:r>
            <a:endParaRPr lang="en-US" sz="1100" dirty="0"/>
          </a:p>
        </p:txBody>
      </p:sp>
      <p:sp>
        <p:nvSpPr>
          <p:cNvPr id="16" name="Text 14"/>
          <p:cNvSpPr/>
          <p:nvPr/>
        </p:nvSpPr>
        <p:spPr>
          <a:xfrm>
            <a:off x="411480" y="2660904"/>
            <a:ext cx="3840480" cy="329184"/>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Primary PLC1A isolated; EtherNet/IP handshake activates PLC1B (mirror image of ladder logic + last safe register state). &lt;3 s switchover.</a:t>
            </a:r>
            <a:endParaRPr lang="en-US" sz="950" dirty="0"/>
          </a:p>
        </p:txBody>
      </p:sp>
      <p:sp>
        <p:nvSpPr>
          <p:cNvPr id="17" name="Shape 15"/>
          <p:cNvSpPr/>
          <p:nvPr/>
        </p:nvSpPr>
        <p:spPr>
          <a:xfrm>
            <a:off x="365760" y="3008376"/>
            <a:ext cx="256032" cy="256032"/>
          </a:xfrm>
          <a:prstGeom prst="rect">
            <a:avLst/>
          </a:prstGeom>
          <a:solidFill>
            <a:srgbClr val="27AE60"/>
          </a:solidFill>
          <a:ln w="12700">
            <a:solidFill>
              <a:srgbClr val="27AE60"/>
            </a:solidFill>
            <a:prstDash val="solid"/>
          </a:ln>
        </p:spPr>
      </p:sp>
      <p:sp>
        <p:nvSpPr>
          <p:cNvPr id="18" name="Text 16"/>
          <p:cNvSpPr/>
          <p:nvPr/>
        </p:nvSpPr>
        <p:spPr>
          <a:xfrm>
            <a:off x="365760" y="300837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7"/>
          <p:cNvSpPr/>
          <p:nvPr/>
        </p:nvSpPr>
        <p:spPr>
          <a:xfrm>
            <a:off x="694944" y="3017520"/>
            <a:ext cx="3566160" cy="201168"/>
          </a:xfrm>
          <a:prstGeom prst="rect">
            <a:avLst/>
          </a:prstGeom>
          <a:noFill/>
          <a:ln/>
        </p:spPr>
        <p:txBody>
          <a:bodyPr wrap="square" lIns="0" tIns="0" rIns="0" bIns="0" rtlCol="0" anchor="ctr"/>
          <a:lstStyle/>
          <a:p>
            <a:pPr indent="0" marL="0">
              <a:buNone/>
            </a:pPr>
            <a:r>
              <a:rPr lang="en-US" sz="1100" b="1" dirty="0">
                <a:solidFill>
                  <a:srgbClr val="1A7A42"/>
                </a:solidFill>
                <a:latin typeface="Calibri" pitchFamily="34" charset="0"/>
                <a:ea typeface="Calibri" pitchFamily="34" charset="-122"/>
                <a:cs typeface="Calibri" pitchFamily="34" charset="-120"/>
              </a:rPr>
              <a:t>Network Isolation (Containment)</a:t>
            </a:r>
            <a:endParaRPr lang="en-US" sz="1100" dirty="0"/>
          </a:p>
        </p:txBody>
      </p:sp>
      <p:sp>
        <p:nvSpPr>
          <p:cNvPr id="20" name="Text 18"/>
          <p:cNvSpPr/>
          <p:nvPr/>
        </p:nvSpPr>
        <p:spPr>
          <a:xfrm>
            <a:off x="411480" y="3227832"/>
            <a:ext cx="3840480" cy="329184"/>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iptables rules drop all Modbus TCP port 502 traffic from attacker MAC. VLAN isolation enforced at L2 switch within seconds of alert.</a:t>
            </a:r>
            <a:endParaRPr lang="en-US" sz="950" dirty="0"/>
          </a:p>
        </p:txBody>
      </p:sp>
      <p:sp>
        <p:nvSpPr>
          <p:cNvPr id="21" name="Shape 19"/>
          <p:cNvSpPr/>
          <p:nvPr/>
        </p:nvSpPr>
        <p:spPr>
          <a:xfrm>
            <a:off x="365760" y="3575304"/>
            <a:ext cx="256032" cy="256032"/>
          </a:xfrm>
          <a:prstGeom prst="rect">
            <a:avLst/>
          </a:prstGeom>
          <a:solidFill>
            <a:srgbClr val="27AE60"/>
          </a:solidFill>
          <a:ln w="12700">
            <a:solidFill>
              <a:srgbClr val="27AE60"/>
            </a:solidFill>
            <a:prstDash val="solid"/>
          </a:ln>
        </p:spPr>
      </p:sp>
      <p:sp>
        <p:nvSpPr>
          <p:cNvPr id="22" name="Text 20"/>
          <p:cNvSpPr/>
          <p:nvPr/>
        </p:nvSpPr>
        <p:spPr>
          <a:xfrm>
            <a:off x="365760" y="357530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3" name="Text 21"/>
          <p:cNvSpPr/>
          <p:nvPr/>
        </p:nvSpPr>
        <p:spPr>
          <a:xfrm>
            <a:off x="694944" y="3584448"/>
            <a:ext cx="3566160" cy="201168"/>
          </a:xfrm>
          <a:prstGeom prst="rect">
            <a:avLst/>
          </a:prstGeom>
          <a:noFill/>
          <a:ln/>
        </p:spPr>
        <p:txBody>
          <a:bodyPr wrap="square" lIns="0" tIns="0" rIns="0" bIns="0" rtlCol="0" anchor="ctr"/>
          <a:lstStyle/>
          <a:p>
            <a:pPr indent="0" marL="0">
              <a:buNone/>
            </a:pPr>
            <a:r>
              <a:rPr lang="en-US" sz="1100" b="1" dirty="0">
                <a:solidFill>
                  <a:srgbClr val="1A7A42"/>
                </a:solidFill>
                <a:latin typeface="Calibri" pitchFamily="34" charset="0"/>
                <a:ea typeface="Calibri" pitchFamily="34" charset="-122"/>
                <a:cs typeface="Calibri" pitchFamily="34" charset="-120"/>
              </a:rPr>
              <a:t>Checkpoint &amp; Restore</a:t>
            </a:r>
            <a:endParaRPr lang="en-US" sz="1100" dirty="0"/>
          </a:p>
        </p:txBody>
      </p:sp>
      <p:sp>
        <p:nvSpPr>
          <p:cNvPr id="24" name="Text 22"/>
          <p:cNvSpPr/>
          <p:nvPr/>
        </p:nvSpPr>
        <p:spPr>
          <a:xfrm>
            <a:off x="411480" y="3794760"/>
            <a:ext cx="3840480" cy="329184"/>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Kong et al. (ICCPS 2018): periodic system state snapshots to trusted storage; rollback to last valid checkpoint post-attack. Applicable to SWaT HMI + historian.</a:t>
            </a:r>
            <a:endParaRPr lang="en-US" sz="950" dirty="0"/>
          </a:p>
        </p:txBody>
      </p:sp>
      <p:sp>
        <p:nvSpPr>
          <p:cNvPr id="25" name="Shape 23"/>
          <p:cNvSpPr/>
          <p:nvPr/>
        </p:nvSpPr>
        <p:spPr>
          <a:xfrm>
            <a:off x="365760" y="4142232"/>
            <a:ext cx="256032" cy="256032"/>
          </a:xfrm>
          <a:prstGeom prst="rect">
            <a:avLst/>
          </a:prstGeom>
          <a:solidFill>
            <a:srgbClr val="27AE60"/>
          </a:solidFill>
          <a:ln w="12700">
            <a:solidFill>
              <a:srgbClr val="27AE60"/>
            </a:solidFill>
            <a:prstDash val="solid"/>
          </a:ln>
        </p:spPr>
      </p:sp>
      <p:sp>
        <p:nvSpPr>
          <p:cNvPr id="26" name="Text 24"/>
          <p:cNvSpPr/>
          <p:nvPr/>
        </p:nvSpPr>
        <p:spPr>
          <a:xfrm>
            <a:off x="365760" y="414223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694944" y="4151376"/>
            <a:ext cx="3566160" cy="201168"/>
          </a:xfrm>
          <a:prstGeom prst="rect">
            <a:avLst/>
          </a:prstGeom>
          <a:noFill/>
          <a:ln/>
        </p:spPr>
        <p:txBody>
          <a:bodyPr wrap="square" lIns="0" tIns="0" rIns="0" bIns="0" rtlCol="0" anchor="ctr"/>
          <a:lstStyle/>
          <a:p>
            <a:pPr indent="0" marL="0">
              <a:buNone/>
            </a:pPr>
            <a:r>
              <a:rPr lang="en-US" sz="1100" b="1" dirty="0">
                <a:solidFill>
                  <a:srgbClr val="1A7A42"/>
                </a:solidFill>
                <a:latin typeface="Calibri" pitchFamily="34" charset="0"/>
                <a:ea typeface="Calibri" pitchFamily="34" charset="-122"/>
                <a:cs typeface="Calibri" pitchFamily="34" charset="-120"/>
              </a:rPr>
              <a:t>Manual Operator Override</a:t>
            </a:r>
            <a:endParaRPr lang="en-US" sz="1100" dirty="0"/>
          </a:p>
        </p:txBody>
      </p:sp>
      <p:sp>
        <p:nvSpPr>
          <p:cNvPr id="28" name="Text 26"/>
          <p:cNvSpPr/>
          <p:nvPr/>
        </p:nvSpPr>
        <p:spPr>
          <a:xfrm>
            <a:off x="411480" y="4361688"/>
            <a:ext cx="3840480" cy="329184"/>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Physical bypass of all digital commands; local operator restores process using P&amp;ID reference. Last resort — used if PLC1B failover also compromised.</a:t>
            </a:r>
            <a:endParaRPr lang="en-US" sz="950" dirty="0"/>
          </a:p>
        </p:txBody>
      </p:sp>
      <p:sp>
        <p:nvSpPr>
          <p:cNvPr id="29" name="Shape 27"/>
          <p:cNvSpPr/>
          <p:nvPr/>
        </p:nvSpPr>
        <p:spPr>
          <a:xfrm>
            <a:off x="4617720" y="969264"/>
            <a:ext cx="4297680" cy="3749040"/>
          </a:xfrm>
          <a:prstGeom prst="rect">
            <a:avLst/>
          </a:prstGeom>
          <a:solidFill>
            <a:srgbClr val="FFFFFF"/>
          </a:solidFill>
          <a:ln w="12700">
            <a:solidFill>
              <a:srgbClr val="FFFFFF"/>
            </a:solidFill>
            <a:prstDash val="solid"/>
          </a:ln>
        </p:spPr>
      </p:sp>
      <p:sp>
        <p:nvSpPr>
          <p:cNvPr id="30" name="Shape 28"/>
          <p:cNvSpPr/>
          <p:nvPr/>
        </p:nvSpPr>
        <p:spPr>
          <a:xfrm>
            <a:off x="4617720" y="969264"/>
            <a:ext cx="64008" cy="3749040"/>
          </a:xfrm>
          <a:prstGeom prst="rect">
            <a:avLst/>
          </a:prstGeom>
          <a:solidFill>
            <a:srgbClr val="2980B9"/>
          </a:solidFill>
          <a:ln w="12700">
            <a:solidFill>
              <a:srgbClr val="2980B9"/>
            </a:solidFill>
            <a:prstDash val="solid"/>
          </a:ln>
        </p:spPr>
      </p:sp>
      <p:sp>
        <p:nvSpPr>
          <p:cNvPr id="31" name="Text 29"/>
          <p:cNvSpPr/>
          <p:nvPr/>
        </p:nvSpPr>
        <p:spPr>
          <a:xfrm>
            <a:off x="4800600" y="1033272"/>
            <a:ext cx="3931920" cy="329184"/>
          </a:xfrm>
          <a:prstGeom prst="rect">
            <a:avLst/>
          </a:prstGeom>
          <a:noFill/>
          <a:ln/>
        </p:spPr>
        <p:txBody>
          <a:bodyPr wrap="square" lIns="0" tIns="0" rIns="0" bIns="0" rtlCol="0" anchor="ctr"/>
          <a:lstStyle/>
          <a:p>
            <a:pPr indent="0" marL="0">
              <a:buNone/>
            </a:pPr>
            <a:r>
              <a:rPr lang="en-US" sz="1700" b="1" dirty="0">
                <a:solidFill>
                  <a:srgbClr val="2980B9"/>
                </a:solidFill>
                <a:latin typeface="Calibri" pitchFamily="34" charset="0"/>
                <a:ea typeface="Calibri" pitchFamily="34" charset="-122"/>
                <a:cs typeface="Calibri" pitchFamily="34" charset="-120"/>
              </a:rPr>
              <a:t>Deep Recovery</a:t>
            </a:r>
            <a:endParaRPr lang="en-US" sz="1700" dirty="0"/>
          </a:p>
        </p:txBody>
      </p:sp>
      <p:sp>
        <p:nvSpPr>
          <p:cNvPr id="32" name="Text 30"/>
          <p:cNvSpPr/>
          <p:nvPr/>
        </p:nvSpPr>
        <p:spPr>
          <a:xfrm>
            <a:off x="4800600" y="1371600"/>
            <a:ext cx="3931920" cy="402336"/>
          </a:xfrm>
          <a:prstGeom prst="rect">
            <a:avLst/>
          </a:prstGeom>
          <a:noFill/>
          <a:ln/>
        </p:spPr>
        <p:txBody>
          <a:bodyPr wrap="square" lIns="0" tIns="0" rIns="0" bIns="0" rtlCol="0" anchor="ctr"/>
          <a:lstStyle/>
          <a:p>
            <a:pPr indent="0" marL="0">
              <a:buNone/>
            </a:pPr>
            <a:r>
              <a:rPr lang="en-US" sz="1050" i="1" dirty="0">
                <a:solidFill>
                  <a:srgbClr val="8FA3B1"/>
                </a:solidFill>
                <a:latin typeface="Calibri" pitchFamily="34" charset="0"/>
                <a:ea typeface="Calibri" pitchFamily="34" charset="-122"/>
                <a:cs typeface="Calibri" pitchFamily="34" charset="-120"/>
              </a:rPr>
              <a:t>Requires a dedicated recovery controller that</a:t>
            </a:r>
            <a:endParaRPr lang="en-US" sz="1050" dirty="0"/>
          </a:p>
          <a:p>
            <a:pPr indent="0" marL="0">
              <a:buNone/>
            </a:pPr>
            <a:r>
              <a:rPr lang="en-US" sz="1050" i="1" dirty="0">
                <a:solidFill>
                  <a:srgbClr val="8FA3B1"/>
                </a:solidFill>
                <a:latin typeface="Calibri" pitchFamily="34" charset="0"/>
                <a:ea typeface="Calibri" pitchFamily="34" charset="-122"/>
                <a:cs typeface="Calibri" pitchFamily="34" charset="-120"/>
              </a:rPr>
              <a:t>runs in parallel and actively restores the system.</a:t>
            </a:r>
            <a:endParaRPr lang="en-US" sz="1050" dirty="0"/>
          </a:p>
        </p:txBody>
      </p:sp>
      <p:sp>
        <p:nvSpPr>
          <p:cNvPr id="33" name="Shape 31"/>
          <p:cNvSpPr/>
          <p:nvPr/>
        </p:nvSpPr>
        <p:spPr>
          <a:xfrm>
            <a:off x="4754880" y="1874520"/>
            <a:ext cx="256032" cy="256032"/>
          </a:xfrm>
          <a:prstGeom prst="rect">
            <a:avLst/>
          </a:prstGeom>
          <a:solidFill>
            <a:srgbClr val="2980B9"/>
          </a:solidFill>
          <a:ln w="12700">
            <a:solidFill>
              <a:srgbClr val="2980B9"/>
            </a:solidFill>
            <a:prstDash val="solid"/>
          </a:ln>
        </p:spPr>
      </p:sp>
      <p:sp>
        <p:nvSpPr>
          <p:cNvPr id="34" name="Text 32"/>
          <p:cNvSpPr/>
          <p:nvPr/>
        </p:nvSpPr>
        <p:spPr>
          <a:xfrm>
            <a:off x="4754880" y="187452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5" name="Text 33"/>
          <p:cNvSpPr/>
          <p:nvPr/>
        </p:nvSpPr>
        <p:spPr>
          <a:xfrm>
            <a:off x="5084064" y="1883664"/>
            <a:ext cx="3703320" cy="201168"/>
          </a:xfrm>
          <a:prstGeom prst="rect">
            <a:avLst/>
          </a:prstGeom>
          <a:noFill/>
          <a:ln/>
        </p:spPr>
        <p:txBody>
          <a:bodyPr wrap="square" lIns="0" tIns="0" rIns="0" bIns="0" rtlCol="0" anchor="ctr"/>
          <a:lstStyle/>
          <a:p>
            <a:pPr indent="0" marL="0">
              <a:buNone/>
            </a:pPr>
            <a:r>
              <a:rPr lang="en-US" sz="1100" b="1" dirty="0">
                <a:solidFill>
                  <a:srgbClr val="2980B9"/>
                </a:solidFill>
                <a:latin typeface="Calibri" pitchFamily="34" charset="0"/>
                <a:ea typeface="Calibri" pitchFamily="34" charset="-122"/>
                <a:cs typeface="Calibri" pitchFamily="34" charset="-120"/>
              </a:rPr>
              <a:t>Secure State Estimation (SSE)</a:t>
            </a:r>
            <a:endParaRPr lang="en-US" sz="1100" dirty="0"/>
          </a:p>
        </p:txBody>
      </p:sp>
      <p:sp>
        <p:nvSpPr>
          <p:cNvPr id="36" name="Text 34"/>
          <p:cNvSpPr/>
          <p:nvPr/>
        </p:nvSpPr>
        <p:spPr>
          <a:xfrm>
            <a:off x="4800600" y="2093976"/>
            <a:ext cx="4023360" cy="329184"/>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Luenberger / Kalman observers reconstruct true plant state from uncorrupted sensor subsets during the attack window. Bridges the gap between alert and verified safe state.</a:t>
            </a:r>
            <a:endParaRPr lang="en-US" sz="950" dirty="0"/>
          </a:p>
        </p:txBody>
      </p:sp>
      <p:sp>
        <p:nvSpPr>
          <p:cNvPr id="37" name="Shape 35"/>
          <p:cNvSpPr/>
          <p:nvPr/>
        </p:nvSpPr>
        <p:spPr>
          <a:xfrm>
            <a:off x="4754880" y="2441448"/>
            <a:ext cx="256032" cy="256032"/>
          </a:xfrm>
          <a:prstGeom prst="rect">
            <a:avLst/>
          </a:prstGeom>
          <a:solidFill>
            <a:srgbClr val="2980B9"/>
          </a:solidFill>
          <a:ln w="12700">
            <a:solidFill>
              <a:srgbClr val="2980B9"/>
            </a:solidFill>
            <a:prstDash val="solid"/>
          </a:ln>
        </p:spPr>
      </p:sp>
      <p:sp>
        <p:nvSpPr>
          <p:cNvPr id="38" name="Text 36"/>
          <p:cNvSpPr/>
          <p:nvPr/>
        </p:nvSpPr>
        <p:spPr>
          <a:xfrm>
            <a:off x="4754880" y="2441448"/>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9" name="Text 37"/>
          <p:cNvSpPr/>
          <p:nvPr/>
        </p:nvSpPr>
        <p:spPr>
          <a:xfrm>
            <a:off x="5084064" y="2450592"/>
            <a:ext cx="3703320" cy="201168"/>
          </a:xfrm>
          <a:prstGeom prst="rect">
            <a:avLst/>
          </a:prstGeom>
          <a:noFill/>
          <a:ln/>
        </p:spPr>
        <p:txBody>
          <a:bodyPr wrap="square" lIns="0" tIns="0" rIns="0" bIns="0" rtlCol="0" anchor="ctr"/>
          <a:lstStyle/>
          <a:p>
            <a:pPr indent="0" marL="0">
              <a:buNone/>
            </a:pPr>
            <a:r>
              <a:rPr lang="en-US" sz="1100" b="1" dirty="0">
                <a:solidFill>
                  <a:srgbClr val="2980B9"/>
                </a:solidFill>
                <a:latin typeface="Calibri" pitchFamily="34" charset="0"/>
                <a:ea typeface="Calibri" pitchFamily="34" charset="-122"/>
                <a:cs typeface="Calibri" pitchFamily="34" charset="-120"/>
              </a:rPr>
              <a:t>Model Predictive Control (MPC) Recovery</a:t>
            </a:r>
            <a:endParaRPr lang="en-US" sz="1100" dirty="0"/>
          </a:p>
        </p:txBody>
      </p:sp>
      <p:sp>
        <p:nvSpPr>
          <p:cNvPr id="40" name="Text 38"/>
          <p:cNvSpPr/>
          <p:nvPr/>
        </p:nvSpPr>
        <p:spPr>
          <a:xfrm>
            <a:off x="4800600" y="2660904"/>
            <a:ext cx="4023360" cy="329184"/>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He et al. (2021): resilient self-triggered MPC adjusts update frequency and reconstructs input signals during FDI attacks. Proven input-to-state stability.</a:t>
            </a:r>
            <a:endParaRPr lang="en-US" sz="950" dirty="0"/>
          </a:p>
        </p:txBody>
      </p:sp>
      <p:sp>
        <p:nvSpPr>
          <p:cNvPr id="41" name="Shape 39"/>
          <p:cNvSpPr/>
          <p:nvPr/>
        </p:nvSpPr>
        <p:spPr>
          <a:xfrm>
            <a:off x="4754880" y="3008376"/>
            <a:ext cx="256032" cy="256032"/>
          </a:xfrm>
          <a:prstGeom prst="rect">
            <a:avLst/>
          </a:prstGeom>
          <a:solidFill>
            <a:srgbClr val="2980B9"/>
          </a:solidFill>
          <a:ln w="12700">
            <a:solidFill>
              <a:srgbClr val="2980B9"/>
            </a:solidFill>
            <a:prstDash val="solid"/>
          </a:ln>
        </p:spPr>
      </p:sp>
      <p:sp>
        <p:nvSpPr>
          <p:cNvPr id="42" name="Text 40"/>
          <p:cNvSpPr/>
          <p:nvPr/>
        </p:nvSpPr>
        <p:spPr>
          <a:xfrm>
            <a:off x="4754880" y="300837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3" name="Text 41"/>
          <p:cNvSpPr/>
          <p:nvPr/>
        </p:nvSpPr>
        <p:spPr>
          <a:xfrm>
            <a:off x="5084064" y="3017520"/>
            <a:ext cx="3703320" cy="201168"/>
          </a:xfrm>
          <a:prstGeom prst="rect">
            <a:avLst/>
          </a:prstGeom>
          <a:noFill/>
          <a:ln/>
        </p:spPr>
        <p:txBody>
          <a:bodyPr wrap="square" lIns="0" tIns="0" rIns="0" bIns="0" rtlCol="0" anchor="ctr"/>
          <a:lstStyle/>
          <a:p>
            <a:pPr indent="0" marL="0">
              <a:buNone/>
            </a:pPr>
            <a:r>
              <a:rPr lang="en-US" sz="1100" b="1" dirty="0">
                <a:solidFill>
                  <a:srgbClr val="2980B9"/>
                </a:solidFill>
                <a:latin typeface="Calibri" pitchFamily="34" charset="0"/>
                <a:ea typeface="Calibri" pitchFamily="34" charset="-122"/>
                <a:cs typeface="Calibri" pitchFamily="34" charset="-120"/>
              </a:rPr>
              <a:t>Sliding Mode Observer (SMO)</a:t>
            </a:r>
            <a:endParaRPr lang="en-US" sz="1100" dirty="0"/>
          </a:p>
        </p:txBody>
      </p:sp>
      <p:sp>
        <p:nvSpPr>
          <p:cNvPr id="44" name="Text 42"/>
          <p:cNvSpPr/>
          <p:nvPr/>
        </p:nvSpPr>
        <p:spPr>
          <a:xfrm>
            <a:off x="4800600" y="3227832"/>
            <a:ext cx="4023360" cy="329184"/>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Adaptive-gain SMO reconstructs sensor and actuator attacks online in real time; cleans corrupted measurements before feeding back to controller.</a:t>
            </a:r>
            <a:endParaRPr lang="en-US" sz="950" dirty="0"/>
          </a:p>
        </p:txBody>
      </p:sp>
      <p:sp>
        <p:nvSpPr>
          <p:cNvPr id="45" name="Shape 43"/>
          <p:cNvSpPr/>
          <p:nvPr/>
        </p:nvSpPr>
        <p:spPr>
          <a:xfrm>
            <a:off x="4754880" y="3575304"/>
            <a:ext cx="256032" cy="256032"/>
          </a:xfrm>
          <a:prstGeom prst="rect">
            <a:avLst/>
          </a:prstGeom>
          <a:solidFill>
            <a:srgbClr val="2980B9"/>
          </a:solidFill>
          <a:ln w="12700">
            <a:solidFill>
              <a:srgbClr val="2980B9"/>
            </a:solidFill>
            <a:prstDash val="solid"/>
          </a:ln>
        </p:spPr>
      </p:sp>
      <p:sp>
        <p:nvSpPr>
          <p:cNvPr id="46" name="Text 44"/>
          <p:cNvSpPr/>
          <p:nvPr/>
        </p:nvSpPr>
        <p:spPr>
          <a:xfrm>
            <a:off x="4754880" y="357530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7" name="Text 45"/>
          <p:cNvSpPr/>
          <p:nvPr/>
        </p:nvSpPr>
        <p:spPr>
          <a:xfrm>
            <a:off x="5084064" y="3584448"/>
            <a:ext cx="3703320" cy="201168"/>
          </a:xfrm>
          <a:prstGeom prst="rect">
            <a:avLst/>
          </a:prstGeom>
          <a:noFill/>
          <a:ln/>
        </p:spPr>
        <p:txBody>
          <a:bodyPr wrap="square" lIns="0" tIns="0" rIns="0" bIns="0" rtlCol="0" anchor="ctr"/>
          <a:lstStyle/>
          <a:p>
            <a:pPr indent="0" marL="0">
              <a:buNone/>
            </a:pPr>
            <a:r>
              <a:rPr lang="en-US" sz="1100" b="1" dirty="0">
                <a:solidFill>
                  <a:srgbClr val="2980B9"/>
                </a:solidFill>
                <a:latin typeface="Calibri" pitchFamily="34" charset="0"/>
                <a:ea typeface="Calibri" pitchFamily="34" charset="-122"/>
                <a:cs typeface="Calibri" pitchFamily="34" charset="-120"/>
              </a:rPr>
              <a:t>Learn-to-Respond (RL-based)</a:t>
            </a:r>
            <a:endParaRPr lang="en-US" sz="1100" dirty="0"/>
          </a:p>
        </p:txBody>
      </p:sp>
      <p:sp>
        <p:nvSpPr>
          <p:cNvPr id="48" name="Text 46"/>
          <p:cNvSpPr/>
          <p:nvPr/>
        </p:nvSpPr>
        <p:spPr>
          <a:xfrm>
            <a:off x="4800600" y="3794760"/>
            <a:ext cx="4023360" cy="329184"/>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Liu et al. (RTSS 2023): sequence-predictive recovery uses RL to learn optimal recovery sequences from attack scenarios. Suited for novel/unseen attack patterns.</a:t>
            </a:r>
            <a:endParaRPr lang="en-US" sz="950" dirty="0"/>
          </a:p>
        </p:txBody>
      </p:sp>
      <p:sp>
        <p:nvSpPr>
          <p:cNvPr id="49" name="Shape 47"/>
          <p:cNvSpPr/>
          <p:nvPr/>
        </p:nvSpPr>
        <p:spPr>
          <a:xfrm>
            <a:off x="4754880" y="4142232"/>
            <a:ext cx="256032" cy="256032"/>
          </a:xfrm>
          <a:prstGeom prst="rect">
            <a:avLst/>
          </a:prstGeom>
          <a:solidFill>
            <a:srgbClr val="2980B9"/>
          </a:solidFill>
          <a:ln w="12700">
            <a:solidFill>
              <a:srgbClr val="2980B9"/>
            </a:solidFill>
            <a:prstDash val="solid"/>
          </a:ln>
        </p:spPr>
      </p:sp>
      <p:sp>
        <p:nvSpPr>
          <p:cNvPr id="50" name="Text 48"/>
          <p:cNvSpPr/>
          <p:nvPr/>
        </p:nvSpPr>
        <p:spPr>
          <a:xfrm>
            <a:off x="4754880" y="414223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51" name="Text 49"/>
          <p:cNvSpPr/>
          <p:nvPr/>
        </p:nvSpPr>
        <p:spPr>
          <a:xfrm>
            <a:off x="5084064" y="4151376"/>
            <a:ext cx="3703320" cy="201168"/>
          </a:xfrm>
          <a:prstGeom prst="rect">
            <a:avLst/>
          </a:prstGeom>
          <a:noFill/>
          <a:ln/>
        </p:spPr>
        <p:txBody>
          <a:bodyPr wrap="square" lIns="0" tIns="0" rIns="0" bIns="0" rtlCol="0" anchor="ctr"/>
          <a:lstStyle/>
          <a:p>
            <a:pPr indent="0" marL="0">
              <a:buNone/>
            </a:pPr>
            <a:r>
              <a:rPr lang="en-US" sz="1100" b="1" dirty="0">
                <a:solidFill>
                  <a:srgbClr val="2980B9"/>
                </a:solidFill>
                <a:latin typeface="Calibri" pitchFamily="34" charset="0"/>
                <a:ea typeface="Calibri" pitchFamily="34" charset="-122"/>
                <a:cs typeface="Calibri" pitchFamily="34" charset="-120"/>
              </a:rPr>
              <a:t>Invariant-Guided Reconstruction</a:t>
            </a:r>
            <a:endParaRPr lang="en-US" sz="1100" dirty="0"/>
          </a:p>
        </p:txBody>
      </p:sp>
      <p:sp>
        <p:nvSpPr>
          <p:cNvPr id="52" name="Text 50"/>
          <p:cNvSpPr/>
          <p:nvPr/>
        </p:nvSpPr>
        <p:spPr>
          <a:xfrm>
            <a:off x="4800600" y="4361688"/>
            <a:ext cx="4023360" cy="329184"/>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After safe state confirmed, re-enable sensors one at a time; accept reading only if all P1 invariants are satisfied with new value. Physics-constrained re-entry.</a:t>
            </a:r>
            <a:endParaRPr lang="en-US" sz="950" dirty="0"/>
          </a:p>
        </p:txBody>
      </p:sp>
      <p:sp>
        <p:nvSpPr>
          <p:cNvPr id="53" name="Shape 51"/>
          <p:cNvSpPr/>
          <p:nvPr/>
        </p:nvSpPr>
        <p:spPr>
          <a:xfrm>
            <a:off x="0" y="4773168"/>
            <a:ext cx="9144000" cy="374904"/>
          </a:xfrm>
          <a:prstGeom prst="rect">
            <a:avLst/>
          </a:prstGeom>
          <a:solidFill>
            <a:srgbClr val="1B3A5C"/>
          </a:solidFill>
          <a:ln w="12700">
            <a:solidFill>
              <a:srgbClr val="1B3A5C"/>
            </a:solidFill>
            <a:prstDash val="solid"/>
          </a:ln>
        </p:spPr>
      </p:sp>
      <p:sp>
        <p:nvSpPr>
          <p:cNvPr id="54" name="Text 52"/>
          <p:cNvSpPr/>
          <p:nvPr/>
        </p:nvSpPr>
        <p:spPr>
          <a:xfrm>
            <a:off x="274320" y="4773168"/>
            <a:ext cx="8595360" cy="374904"/>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Recovery Research  ·  Recovery Taxonomy</a:t>
            </a:r>
            <a:endParaRPr lang="en-US" sz="1000" dirty="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7D3C98"/>
          </a:solidFill>
          <a:ln w="12700">
            <a:solidFill>
              <a:srgbClr val="7D3C98"/>
            </a:solidFill>
            <a:prstDash val="solid"/>
          </a:ln>
        </p:spPr>
      </p:sp>
      <p:sp>
        <p:nvSpPr>
          <p:cNvPr id="3" name="Text 1"/>
          <p:cNvSpPr/>
          <p:nvPr/>
        </p:nvSpPr>
        <p:spPr>
          <a:xfrm>
            <a:off x="365760" y="91440"/>
            <a:ext cx="8412480" cy="45720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Secure State Estimation (SSE) Methods</a:t>
            </a:r>
            <a:endParaRPr lang="en-US" sz="2700" dirty="0"/>
          </a:p>
        </p:txBody>
      </p:sp>
      <p:sp>
        <p:nvSpPr>
          <p:cNvPr id="4" name="Text 2"/>
          <p:cNvSpPr/>
          <p:nvPr/>
        </p:nvSpPr>
        <p:spPr>
          <a:xfrm>
            <a:off x="365760" y="566928"/>
            <a:ext cx="8412480" cy="237744"/>
          </a:xfrm>
          <a:prstGeom prst="rect">
            <a:avLst/>
          </a:prstGeom>
          <a:noFill/>
          <a:ln/>
        </p:spPr>
        <p:txBody>
          <a:bodyPr wrap="square" lIns="0" tIns="0" rIns="0" bIns="0" rtlCol="0" anchor="ctr"/>
          <a:lstStyle/>
          <a:p>
            <a:pPr indent="0" marL="0">
              <a:buNone/>
            </a:pPr>
            <a:r>
              <a:rPr lang="en-US" sz="1150" i="1" dirty="0">
                <a:solidFill>
                  <a:srgbClr val="8FA3B1"/>
                </a:solidFill>
                <a:latin typeface="Calibri" pitchFamily="34" charset="0"/>
                <a:ea typeface="Calibri" pitchFamily="34" charset="-122"/>
                <a:cs typeface="Calibri" pitchFamily="34" charset="-120"/>
              </a:rPr>
              <a:t>Core academic methods for reconstructing plant state when sensors are under attack</a:t>
            </a:r>
            <a:endParaRPr lang="en-US" sz="1150" dirty="0"/>
          </a:p>
        </p:txBody>
      </p:sp>
      <p:sp>
        <p:nvSpPr>
          <p:cNvPr id="5" name="Shape 3"/>
          <p:cNvSpPr/>
          <p:nvPr/>
        </p:nvSpPr>
        <p:spPr>
          <a:xfrm>
            <a:off x="228600" y="914400"/>
            <a:ext cx="2743200" cy="384048"/>
          </a:xfrm>
          <a:prstGeom prst="rect">
            <a:avLst/>
          </a:prstGeom>
          <a:solidFill>
            <a:srgbClr val="7D3C98"/>
          </a:solidFill>
          <a:ln w="12700">
            <a:solidFill>
              <a:srgbClr val="7D3C98"/>
            </a:solidFill>
            <a:prstDash val="solid"/>
          </a:ln>
        </p:spPr>
      </p:sp>
      <p:sp>
        <p:nvSpPr>
          <p:cNvPr id="6" name="Text 4"/>
          <p:cNvSpPr/>
          <p:nvPr/>
        </p:nvSpPr>
        <p:spPr>
          <a:xfrm>
            <a:off x="320040" y="950976"/>
            <a:ext cx="2560320" cy="1828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Luenberger Observer</a:t>
            </a:r>
            <a:endParaRPr lang="en-US" sz="1200" dirty="0"/>
          </a:p>
        </p:txBody>
      </p:sp>
      <p:sp>
        <p:nvSpPr>
          <p:cNvPr id="7" name="Text 5"/>
          <p:cNvSpPr/>
          <p:nvPr/>
        </p:nvSpPr>
        <p:spPr>
          <a:xfrm>
            <a:off x="320040" y="1133856"/>
            <a:ext cx="2560320" cy="146304"/>
          </a:xfrm>
          <a:prstGeom prst="rect">
            <a:avLst/>
          </a:prstGeom>
          <a:noFill/>
          <a:ln/>
        </p:spPr>
        <p:txBody>
          <a:bodyPr wrap="square" lIns="0" tIns="0" rIns="0" bIns="0" rtlCol="0" anchor="ctr"/>
          <a:lstStyle/>
          <a:p>
            <a:pPr indent="0" marL="0">
              <a:buNone/>
            </a:pPr>
            <a:r>
              <a:rPr lang="en-US" sz="850" i="1" dirty="0">
                <a:solidFill>
                  <a:srgbClr val="FFFFFF"/>
                </a:solidFill>
                <a:latin typeface="Calibri" pitchFamily="34" charset="0"/>
                <a:ea typeface="Calibri" pitchFamily="34" charset="-122"/>
                <a:cs typeface="Calibri" pitchFamily="34" charset="-120"/>
              </a:rPr>
              <a:t>Lu &amp; Yang, Info. Sci. 2017</a:t>
            </a:r>
            <a:endParaRPr lang="en-US" sz="850" dirty="0"/>
          </a:p>
        </p:txBody>
      </p:sp>
      <p:sp>
        <p:nvSpPr>
          <p:cNvPr id="8" name="Shape 6"/>
          <p:cNvSpPr/>
          <p:nvPr/>
        </p:nvSpPr>
        <p:spPr>
          <a:xfrm>
            <a:off x="228600" y="1316736"/>
            <a:ext cx="2743200" cy="658368"/>
          </a:xfrm>
          <a:prstGeom prst="rect">
            <a:avLst/>
          </a:prstGeom>
          <a:solidFill>
            <a:srgbClr val="1B3A5C"/>
          </a:solidFill>
          <a:ln w="12700">
            <a:solidFill>
              <a:srgbClr val="1B3A5C"/>
            </a:solidFill>
            <a:prstDash val="solid"/>
          </a:ln>
        </p:spPr>
      </p:sp>
      <p:sp>
        <p:nvSpPr>
          <p:cNvPr id="9" name="Text 7"/>
          <p:cNvSpPr/>
          <p:nvPr/>
        </p:nvSpPr>
        <p:spPr>
          <a:xfrm>
            <a:off x="338328" y="1353312"/>
            <a:ext cx="2542032" cy="603504"/>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Augments system state with attack signals as extra states. Switched observer selects attack-free sensor subsets per cycle. Guarantees exponential convergence to true state under sparse attacks.</a:t>
            </a:r>
            <a:endParaRPr lang="en-US" sz="950" dirty="0"/>
          </a:p>
        </p:txBody>
      </p:sp>
      <p:sp>
        <p:nvSpPr>
          <p:cNvPr id="10" name="Shape 8"/>
          <p:cNvSpPr/>
          <p:nvPr/>
        </p:nvSpPr>
        <p:spPr>
          <a:xfrm>
            <a:off x="228600" y="1993392"/>
            <a:ext cx="2743200" cy="914400"/>
          </a:xfrm>
          <a:prstGeom prst="rect">
            <a:avLst/>
          </a:prstGeom>
          <a:solidFill>
            <a:srgbClr val="0D2B12"/>
          </a:solidFill>
          <a:ln w="12700">
            <a:solidFill>
              <a:srgbClr val="0D2B12"/>
            </a:solidFill>
            <a:prstDash val="solid"/>
          </a:ln>
        </p:spPr>
      </p:sp>
      <p:sp>
        <p:nvSpPr>
          <p:cNvPr id="11" name="Text 9"/>
          <p:cNvSpPr/>
          <p:nvPr/>
        </p:nvSpPr>
        <p:spPr>
          <a:xfrm>
            <a:off x="320040" y="2029968"/>
            <a:ext cx="2560320" cy="201168"/>
          </a:xfrm>
          <a:prstGeom prst="rect">
            <a:avLst/>
          </a:prstGeom>
          <a:noFill/>
          <a:ln/>
        </p:spPr>
        <p:txBody>
          <a:bodyPr wrap="square" lIns="0" tIns="0" rIns="0" bIns="0" rtlCol="0" anchor="ctr"/>
          <a:lstStyle/>
          <a:p>
            <a:pPr indent="0" marL="0">
              <a:buNone/>
            </a:pPr>
            <a:r>
              <a:rPr lang="en-US" sz="1000" b="1" dirty="0">
                <a:solidFill>
                  <a:srgbClr val="27AE60"/>
                </a:solidFill>
                <a:latin typeface="Calibri" pitchFamily="34" charset="0"/>
                <a:ea typeface="Calibri" pitchFamily="34" charset="-122"/>
                <a:cs typeface="Calibri" pitchFamily="34" charset="-120"/>
              </a:rPr>
              <a:t>✓ Strengths</a:t>
            </a:r>
            <a:endParaRPr lang="en-US" sz="1000" dirty="0"/>
          </a:p>
        </p:txBody>
      </p:sp>
      <p:sp>
        <p:nvSpPr>
          <p:cNvPr id="12" name="Text 10"/>
          <p:cNvSpPr/>
          <p:nvPr/>
        </p:nvSpPr>
        <p:spPr>
          <a:xfrm>
            <a:off x="338328" y="2249424"/>
            <a:ext cx="2542032" cy="201168"/>
          </a:xfrm>
          <a:prstGeom prst="rect">
            <a:avLst/>
          </a:prstGeom>
          <a:noFill/>
          <a:ln/>
        </p:spPr>
        <p:txBody>
          <a:bodyPr wrap="square" lIns="0" tIns="0" rIns="0" bIns="0" rtlCol="0" anchor="ctr"/>
          <a:lstStyle/>
          <a:p>
            <a:pPr indent="0" marL="0">
              <a:buNone/>
            </a:pPr>
            <a:r>
              <a:rPr lang="en-US" sz="900" dirty="0">
                <a:solidFill>
                  <a:srgbClr val="E8EEF4"/>
                </a:solidFill>
                <a:latin typeface="Calibri" pitchFamily="34" charset="0"/>
                <a:ea typeface="Calibri" pitchFamily="34" charset="-122"/>
                <a:cs typeface="Calibri" pitchFamily="34" charset="-120"/>
              </a:rPr>
              <a:t>▸  Provably stable (LMI conditions)</a:t>
            </a:r>
            <a:endParaRPr lang="en-US" sz="900" dirty="0"/>
          </a:p>
        </p:txBody>
      </p:sp>
      <p:sp>
        <p:nvSpPr>
          <p:cNvPr id="13" name="Text 11"/>
          <p:cNvSpPr/>
          <p:nvPr/>
        </p:nvSpPr>
        <p:spPr>
          <a:xfrm>
            <a:off x="338328" y="2468880"/>
            <a:ext cx="2542032" cy="201168"/>
          </a:xfrm>
          <a:prstGeom prst="rect">
            <a:avLst/>
          </a:prstGeom>
          <a:noFill/>
          <a:ln/>
        </p:spPr>
        <p:txBody>
          <a:bodyPr wrap="square" lIns="0" tIns="0" rIns="0" bIns="0" rtlCol="0" anchor="ctr"/>
          <a:lstStyle/>
          <a:p>
            <a:pPr indent="0" marL="0">
              <a:buNone/>
            </a:pPr>
            <a:r>
              <a:rPr lang="en-US" sz="900" dirty="0">
                <a:solidFill>
                  <a:srgbClr val="E8EEF4"/>
                </a:solidFill>
                <a:latin typeface="Calibri" pitchFamily="34" charset="0"/>
                <a:ea typeface="Calibri" pitchFamily="34" charset="-122"/>
                <a:cs typeface="Calibri" pitchFamily="34" charset="-120"/>
              </a:rPr>
              <a:t>▸  Handles time-varying attack locations</a:t>
            </a:r>
            <a:endParaRPr lang="en-US" sz="900" dirty="0"/>
          </a:p>
        </p:txBody>
      </p:sp>
      <p:sp>
        <p:nvSpPr>
          <p:cNvPr id="14" name="Text 12"/>
          <p:cNvSpPr/>
          <p:nvPr/>
        </p:nvSpPr>
        <p:spPr>
          <a:xfrm>
            <a:off x="338328" y="2688336"/>
            <a:ext cx="2542032" cy="201168"/>
          </a:xfrm>
          <a:prstGeom prst="rect">
            <a:avLst/>
          </a:prstGeom>
          <a:noFill/>
          <a:ln/>
        </p:spPr>
        <p:txBody>
          <a:bodyPr wrap="square" lIns="0" tIns="0" rIns="0" bIns="0" rtlCol="0" anchor="ctr"/>
          <a:lstStyle/>
          <a:p>
            <a:pPr indent="0" marL="0">
              <a:buNone/>
            </a:pPr>
            <a:r>
              <a:rPr lang="en-US" sz="900" dirty="0">
                <a:solidFill>
                  <a:srgbClr val="E8EEF4"/>
                </a:solidFill>
                <a:latin typeface="Calibri" pitchFamily="34" charset="0"/>
                <a:ea typeface="Calibri" pitchFamily="34" charset="-122"/>
                <a:cs typeface="Calibri" pitchFamily="34" charset="-120"/>
              </a:rPr>
              <a:t>▸  Low computation — suitable for PLC timing</a:t>
            </a:r>
            <a:endParaRPr lang="en-US" sz="900" dirty="0"/>
          </a:p>
        </p:txBody>
      </p:sp>
      <p:sp>
        <p:nvSpPr>
          <p:cNvPr id="15" name="Shape 13"/>
          <p:cNvSpPr/>
          <p:nvPr/>
        </p:nvSpPr>
        <p:spPr>
          <a:xfrm>
            <a:off x="228600" y="2926080"/>
            <a:ext cx="2743200" cy="658368"/>
          </a:xfrm>
          <a:prstGeom prst="rect">
            <a:avLst/>
          </a:prstGeom>
          <a:solidFill>
            <a:srgbClr val="2A1010"/>
          </a:solidFill>
          <a:ln w="12700">
            <a:solidFill>
              <a:srgbClr val="2A1010"/>
            </a:solidFill>
            <a:prstDash val="solid"/>
          </a:ln>
        </p:spPr>
      </p:sp>
      <p:sp>
        <p:nvSpPr>
          <p:cNvPr id="16" name="Text 14"/>
          <p:cNvSpPr/>
          <p:nvPr/>
        </p:nvSpPr>
        <p:spPr>
          <a:xfrm>
            <a:off x="320040" y="2962656"/>
            <a:ext cx="2560320" cy="201168"/>
          </a:xfrm>
          <a:prstGeom prst="rect">
            <a:avLst/>
          </a:prstGeom>
          <a:noFill/>
          <a:ln/>
        </p:spPr>
        <p:txBody>
          <a:bodyPr wrap="square" lIns="0" tIns="0" rIns="0" bIns="0" rtlCol="0" anchor="ctr"/>
          <a:lstStyle/>
          <a:p>
            <a:pPr indent="0" marL="0">
              <a:buNone/>
            </a:pPr>
            <a:r>
              <a:rPr lang="en-US" sz="1000" b="1" dirty="0">
                <a:solidFill>
                  <a:srgbClr val="E74C3C"/>
                </a:solidFill>
                <a:latin typeface="Calibri" pitchFamily="34" charset="0"/>
                <a:ea typeface="Calibri" pitchFamily="34" charset="-122"/>
                <a:cs typeface="Calibri" pitchFamily="34" charset="-120"/>
              </a:rPr>
              <a:t>✗ Limitations</a:t>
            </a:r>
            <a:endParaRPr lang="en-US" sz="1000" dirty="0"/>
          </a:p>
        </p:txBody>
      </p:sp>
      <p:sp>
        <p:nvSpPr>
          <p:cNvPr id="17" name="Text 15"/>
          <p:cNvSpPr/>
          <p:nvPr/>
        </p:nvSpPr>
        <p:spPr>
          <a:xfrm>
            <a:off x="338328" y="3182112"/>
            <a:ext cx="2542032" cy="182880"/>
          </a:xfrm>
          <a:prstGeom prst="rect">
            <a:avLst/>
          </a:prstGeom>
          <a:noFill/>
          <a:ln/>
        </p:spPr>
        <p:txBody>
          <a:bodyPr wrap="square" lIns="0" tIns="0" rIns="0" bIns="0" rtlCol="0" anchor="ctr"/>
          <a:lstStyle/>
          <a:p>
            <a:pPr indent="0" marL="0">
              <a:buNone/>
            </a:pPr>
            <a:r>
              <a:rPr lang="en-US" sz="900" dirty="0">
                <a:solidFill>
                  <a:srgbClr val="E8EEF4"/>
                </a:solidFill>
                <a:latin typeface="Calibri" pitchFamily="34" charset="0"/>
                <a:ea typeface="Calibri" pitchFamily="34" charset="-122"/>
                <a:cs typeface="Calibri" pitchFamily="34" charset="-120"/>
              </a:rPr>
              <a:t>▸  Requires linear system model of SWaT P1 hydraulics</a:t>
            </a:r>
            <a:endParaRPr lang="en-US" sz="900" dirty="0"/>
          </a:p>
        </p:txBody>
      </p:sp>
      <p:sp>
        <p:nvSpPr>
          <p:cNvPr id="18" name="Text 16"/>
          <p:cNvSpPr/>
          <p:nvPr/>
        </p:nvSpPr>
        <p:spPr>
          <a:xfrm>
            <a:off x="338328" y="3383280"/>
            <a:ext cx="2542032" cy="182880"/>
          </a:xfrm>
          <a:prstGeom prst="rect">
            <a:avLst/>
          </a:prstGeom>
          <a:noFill/>
          <a:ln/>
        </p:spPr>
        <p:txBody>
          <a:bodyPr wrap="square" lIns="0" tIns="0" rIns="0" bIns="0" rtlCol="0" anchor="ctr"/>
          <a:lstStyle/>
          <a:p>
            <a:pPr indent="0" marL="0">
              <a:buNone/>
            </a:pPr>
            <a:r>
              <a:rPr lang="en-US" sz="900" dirty="0">
                <a:solidFill>
                  <a:srgbClr val="E8EEF4"/>
                </a:solidFill>
                <a:latin typeface="Calibri" pitchFamily="34" charset="0"/>
                <a:ea typeface="Calibri" pitchFamily="34" charset="-122"/>
                <a:cs typeface="Calibri" pitchFamily="34" charset="-120"/>
              </a:rPr>
              <a:t>▸  Degrades if &gt; p/2 sensors attacked</a:t>
            </a:r>
            <a:endParaRPr lang="en-US" sz="900" dirty="0"/>
          </a:p>
        </p:txBody>
      </p:sp>
      <p:sp>
        <p:nvSpPr>
          <p:cNvPr id="19" name="Shape 17"/>
          <p:cNvSpPr/>
          <p:nvPr/>
        </p:nvSpPr>
        <p:spPr>
          <a:xfrm>
            <a:off x="228600" y="3602736"/>
            <a:ext cx="2743200" cy="731520"/>
          </a:xfrm>
          <a:prstGeom prst="rect">
            <a:avLst/>
          </a:prstGeom>
          <a:solidFill>
            <a:srgbClr val="1A2A3A"/>
          </a:solidFill>
          <a:ln w="12700">
            <a:solidFill>
              <a:srgbClr val="1A2A3A"/>
            </a:solidFill>
            <a:prstDash val="solid"/>
          </a:ln>
        </p:spPr>
      </p:sp>
      <p:sp>
        <p:nvSpPr>
          <p:cNvPr id="20" name="Shape 18"/>
          <p:cNvSpPr/>
          <p:nvPr/>
        </p:nvSpPr>
        <p:spPr>
          <a:xfrm>
            <a:off x="228600" y="3602736"/>
            <a:ext cx="54864" cy="731520"/>
          </a:xfrm>
          <a:prstGeom prst="rect">
            <a:avLst/>
          </a:prstGeom>
          <a:solidFill>
            <a:srgbClr val="7D3C98"/>
          </a:solidFill>
          <a:ln w="12700">
            <a:solidFill>
              <a:srgbClr val="7D3C98"/>
            </a:solidFill>
            <a:prstDash val="solid"/>
          </a:ln>
        </p:spPr>
      </p:sp>
      <p:sp>
        <p:nvSpPr>
          <p:cNvPr id="21" name="Text 19"/>
          <p:cNvSpPr/>
          <p:nvPr/>
        </p:nvSpPr>
        <p:spPr>
          <a:xfrm>
            <a:off x="374904" y="3639312"/>
            <a:ext cx="2542032" cy="182880"/>
          </a:xfrm>
          <a:prstGeom prst="rect">
            <a:avLst/>
          </a:prstGeom>
          <a:noFill/>
          <a:ln/>
        </p:spPr>
        <p:txBody>
          <a:bodyPr wrap="square" lIns="0" tIns="0" rIns="0" bIns="0" rtlCol="0" anchor="ctr"/>
          <a:lstStyle/>
          <a:p>
            <a:pPr indent="0" marL="0">
              <a:buNone/>
            </a:pPr>
            <a:r>
              <a:rPr lang="en-US" sz="950" b="1" dirty="0">
                <a:solidFill>
                  <a:srgbClr val="7D3C98"/>
                </a:solidFill>
                <a:latin typeface="Calibri" pitchFamily="34" charset="0"/>
                <a:ea typeface="Calibri" pitchFamily="34" charset="-122"/>
                <a:cs typeface="Calibri" pitchFamily="34" charset="-120"/>
              </a:rPr>
              <a:t>SWaT applicability</a:t>
            </a:r>
            <a:endParaRPr lang="en-US" sz="950" dirty="0"/>
          </a:p>
        </p:txBody>
      </p:sp>
      <p:sp>
        <p:nvSpPr>
          <p:cNvPr id="22" name="Text 20"/>
          <p:cNvSpPr/>
          <p:nvPr/>
        </p:nvSpPr>
        <p:spPr>
          <a:xfrm>
            <a:off x="374904" y="3840480"/>
            <a:ext cx="2542032" cy="457200"/>
          </a:xfrm>
          <a:prstGeom prst="rect">
            <a:avLst/>
          </a:prstGeom>
          <a:noFill/>
          <a:ln/>
        </p:spPr>
        <p:txBody>
          <a:bodyPr wrap="square" lIns="0" tIns="0" rIns="0" bIns="0" rtlCol="0" anchor="ctr"/>
          <a:lstStyle/>
          <a:p>
            <a:pPr indent="0" marL="0">
              <a:buNone/>
            </a:pPr>
            <a:r>
              <a:rPr lang="en-US" sz="900" dirty="0">
                <a:solidFill>
                  <a:srgbClr val="C9D6DF"/>
                </a:solidFill>
                <a:latin typeface="Calibri" pitchFamily="34" charset="0"/>
                <a:ea typeface="Calibri" pitchFamily="34" charset="-122"/>
                <a:cs typeface="Calibri" pitchFamily="34" charset="-120"/>
              </a:rPr>
              <a:t>SWaT P1 linearises well around operating point. FIT101, LIT101 are the key sensors — SSE can reconstruct from pressure/flow cross-readings.</a:t>
            </a:r>
            <a:endParaRPr lang="en-US" sz="900" dirty="0"/>
          </a:p>
        </p:txBody>
      </p:sp>
      <p:sp>
        <p:nvSpPr>
          <p:cNvPr id="23" name="Shape 21"/>
          <p:cNvSpPr/>
          <p:nvPr/>
        </p:nvSpPr>
        <p:spPr>
          <a:xfrm>
            <a:off x="3200400" y="914400"/>
            <a:ext cx="2743200" cy="384048"/>
          </a:xfrm>
          <a:prstGeom prst="rect">
            <a:avLst/>
          </a:prstGeom>
          <a:solidFill>
            <a:srgbClr val="2980B9"/>
          </a:solidFill>
          <a:ln w="12700">
            <a:solidFill>
              <a:srgbClr val="2980B9"/>
            </a:solidFill>
            <a:prstDash val="solid"/>
          </a:ln>
        </p:spPr>
      </p:sp>
      <p:sp>
        <p:nvSpPr>
          <p:cNvPr id="24" name="Text 22"/>
          <p:cNvSpPr/>
          <p:nvPr/>
        </p:nvSpPr>
        <p:spPr>
          <a:xfrm>
            <a:off x="3291840" y="950976"/>
            <a:ext cx="2560320" cy="1828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Kalman-based Secure Estimator</a:t>
            </a:r>
            <a:endParaRPr lang="en-US" sz="1200" dirty="0"/>
          </a:p>
        </p:txBody>
      </p:sp>
      <p:sp>
        <p:nvSpPr>
          <p:cNvPr id="25" name="Text 23"/>
          <p:cNvSpPr/>
          <p:nvPr/>
        </p:nvSpPr>
        <p:spPr>
          <a:xfrm>
            <a:off x="3291840" y="1133856"/>
            <a:ext cx="2560320" cy="146304"/>
          </a:xfrm>
          <a:prstGeom prst="rect">
            <a:avLst/>
          </a:prstGeom>
          <a:noFill/>
          <a:ln/>
        </p:spPr>
        <p:txBody>
          <a:bodyPr wrap="square" lIns="0" tIns="0" rIns="0" bIns="0" rtlCol="0" anchor="ctr"/>
          <a:lstStyle/>
          <a:p>
            <a:pPr indent="0" marL="0">
              <a:buNone/>
            </a:pPr>
            <a:r>
              <a:rPr lang="en-US" sz="850" i="1" dirty="0">
                <a:solidFill>
                  <a:srgbClr val="FFFFFF"/>
                </a:solidFill>
                <a:latin typeface="Calibri" pitchFamily="34" charset="0"/>
                <a:ea typeface="Calibri" pitchFamily="34" charset="-122"/>
                <a:cs typeface="Calibri" pitchFamily="34" charset="-120"/>
              </a:rPr>
              <a:t>Chang, Hu &amp; Tomlin, ArXiv 2015</a:t>
            </a:r>
            <a:endParaRPr lang="en-US" sz="850" dirty="0"/>
          </a:p>
        </p:txBody>
      </p:sp>
      <p:sp>
        <p:nvSpPr>
          <p:cNvPr id="26" name="Shape 24"/>
          <p:cNvSpPr/>
          <p:nvPr/>
        </p:nvSpPr>
        <p:spPr>
          <a:xfrm>
            <a:off x="3200400" y="1316736"/>
            <a:ext cx="2743200" cy="658368"/>
          </a:xfrm>
          <a:prstGeom prst="rect">
            <a:avLst/>
          </a:prstGeom>
          <a:solidFill>
            <a:srgbClr val="1B3A5C"/>
          </a:solidFill>
          <a:ln w="12700">
            <a:solidFill>
              <a:srgbClr val="1B3A5C"/>
            </a:solidFill>
            <a:prstDash val="solid"/>
          </a:ln>
        </p:spPr>
      </p:sp>
      <p:sp>
        <p:nvSpPr>
          <p:cNvPr id="27" name="Text 25"/>
          <p:cNvSpPr/>
          <p:nvPr/>
        </p:nvSpPr>
        <p:spPr>
          <a:xfrm>
            <a:off x="3310128" y="1353312"/>
            <a:ext cx="2542032" cy="603504"/>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Combines classical error-correction (decoding from corrupted codewords) with Kalman filter. Treats attack as sparse coding error; recovers true state if system is 2s-sparse observable.</a:t>
            </a:r>
            <a:endParaRPr lang="en-US" sz="950" dirty="0"/>
          </a:p>
        </p:txBody>
      </p:sp>
      <p:sp>
        <p:nvSpPr>
          <p:cNvPr id="28" name="Shape 26"/>
          <p:cNvSpPr/>
          <p:nvPr/>
        </p:nvSpPr>
        <p:spPr>
          <a:xfrm>
            <a:off x="3200400" y="1993392"/>
            <a:ext cx="2743200" cy="914400"/>
          </a:xfrm>
          <a:prstGeom prst="rect">
            <a:avLst/>
          </a:prstGeom>
          <a:solidFill>
            <a:srgbClr val="0D2B12"/>
          </a:solidFill>
          <a:ln w="12700">
            <a:solidFill>
              <a:srgbClr val="0D2B12"/>
            </a:solidFill>
            <a:prstDash val="solid"/>
          </a:ln>
        </p:spPr>
      </p:sp>
      <p:sp>
        <p:nvSpPr>
          <p:cNvPr id="29" name="Text 27"/>
          <p:cNvSpPr/>
          <p:nvPr/>
        </p:nvSpPr>
        <p:spPr>
          <a:xfrm>
            <a:off x="3291840" y="2029968"/>
            <a:ext cx="2560320" cy="201168"/>
          </a:xfrm>
          <a:prstGeom prst="rect">
            <a:avLst/>
          </a:prstGeom>
          <a:noFill/>
          <a:ln/>
        </p:spPr>
        <p:txBody>
          <a:bodyPr wrap="square" lIns="0" tIns="0" rIns="0" bIns="0" rtlCol="0" anchor="ctr"/>
          <a:lstStyle/>
          <a:p>
            <a:pPr indent="0" marL="0">
              <a:buNone/>
            </a:pPr>
            <a:r>
              <a:rPr lang="en-US" sz="1000" b="1" dirty="0">
                <a:solidFill>
                  <a:srgbClr val="27AE60"/>
                </a:solidFill>
                <a:latin typeface="Calibri" pitchFamily="34" charset="0"/>
                <a:ea typeface="Calibri" pitchFamily="34" charset="-122"/>
                <a:cs typeface="Calibri" pitchFamily="34" charset="-120"/>
              </a:rPr>
              <a:t>✓ Strengths</a:t>
            </a:r>
            <a:endParaRPr lang="en-US" sz="1000" dirty="0"/>
          </a:p>
        </p:txBody>
      </p:sp>
      <p:sp>
        <p:nvSpPr>
          <p:cNvPr id="30" name="Text 28"/>
          <p:cNvSpPr/>
          <p:nvPr/>
        </p:nvSpPr>
        <p:spPr>
          <a:xfrm>
            <a:off x="3310128" y="2249424"/>
            <a:ext cx="2542032" cy="201168"/>
          </a:xfrm>
          <a:prstGeom prst="rect">
            <a:avLst/>
          </a:prstGeom>
          <a:noFill/>
          <a:ln/>
        </p:spPr>
        <p:txBody>
          <a:bodyPr wrap="square" lIns="0" tIns="0" rIns="0" bIns="0" rtlCol="0" anchor="ctr"/>
          <a:lstStyle/>
          <a:p>
            <a:pPr indent="0" marL="0">
              <a:buNone/>
            </a:pPr>
            <a:r>
              <a:rPr lang="en-US" sz="900" dirty="0">
                <a:solidFill>
                  <a:srgbClr val="E8EEF4"/>
                </a:solidFill>
                <a:latin typeface="Calibri" pitchFamily="34" charset="0"/>
                <a:ea typeface="Calibri" pitchFamily="34" charset="-122"/>
                <a:cs typeface="Calibri" pitchFamily="34" charset="-120"/>
              </a:rPr>
              <a:t>▸  Handles Gaussian noise naturally</a:t>
            </a:r>
            <a:endParaRPr lang="en-US" sz="900" dirty="0"/>
          </a:p>
        </p:txBody>
      </p:sp>
      <p:sp>
        <p:nvSpPr>
          <p:cNvPr id="31" name="Text 29"/>
          <p:cNvSpPr/>
          <p:nvPr/>
        </p:nvSpPr>
        <p:spPr>
          <a:xfrm>
            <a:off x="3310128" y="2468880"/>
            <a:ext cx="2542032" cy="201168"/>
          </a:xfrm>
          <a:prstGeom prst="rect">
            <a:avLst/>
          </a:prstGeom>
          <a:noFill/>
          <a:ln/>
        </p:spPr>
        <p:txBody>
          <a:bodyPr wrap="square" lIns="0" tIns="0" rIns="0" bIns="0" rtlCol="0" anchor="ctr"/>
          <a:lstStyle/>
          <a:p>
            <a:pPr indent="0" marL="0">
              <a:buNone/>
            </a:pPr>
            <a:r>
              <a:rPr lang="en-US" sz="900" dirty="0">
                <a:solidFill>
                  <a:srgbClr val="E8EEF4"/>
                </a:solidFill>
                <a:latin typeface="Calibri" pitchFamily="34" charset="0"/>
                <a:ea typeface="Calibri" pitchFamily="34" charset="-122"/>
                <a:cs typeface="Calibri" pitchFamily="34" charset="-120"/>
              </a:rPr>
              <a:t>▸  Optimal for stochastic systems</a:t>
            </a:r>
            <a:endParaRPr lang="en-US" sz="900" dirty="0"/>
          </a:p>
        </p:txBody>
      </p:sp>
      <p:sp>
        <p:nvSpPr>
          <p:cNvPr id="32" name="Text 30"/>
          <p:cNvSpPr/>
          <p:nvPr/>
        </p:nvSpPr>
        <p:spPr>
          <a:xfrm>
            <a:off x="3310128" y="2688336"/>
            <a:ext cx="2542032" cy="201168"/>
          </a:xfrm>
          <a:prstGeom prst="rect">
            <a:avLst/>
          </a:prstGeom>
          <a:noFill/>
          <a:ln/>
        </p:spPr>
        <p:txBody>
          <a:bodyPr wrap="square" lIns="0" tIns="0" rIns="0" bIns="0" rtlCol="0" anchor="ctr"/>
          <a:lstStyle/>
          <a:p>
            <a:pPr indent="0" marL="0">
              <a:buNone/>
            </a:pPr>
            <a:r>
              <a:rPr lang="en-US" sz="900" dirty="0">
                <a:solidFill>
                  <a:srgbClr val="E8EEF4"/>
                </a:solidFill>
                <a:latin typeface="Calibri" pitchFamily="34" charset="0"/>
                <a:ea typeface="Calibri" pitchFamily="34" charset="-122"/>
                <a:cs typeface="Calibri" pitchFamily="34" charset="-120"/>
              </a:rPr>
              <a:t>▸  Extended Kalman generalises to nonlinear</a:t>
            </a:r>
            <a:endParaRPr lang="en-US" sz="900" dirty="0"/>
          </a:p>
        </p:txBody>
      </p:sp>
      <p:sp>
        <p:nvSpPr>
          <p:cNvPr id="33" name="Shape 31"/>
          <p:cNvSpPr/>
          <p:nvPr/>
        </p:nvSpPr>
        <p:spPr>
          <a:xfrm>
            <a:off x="3200400" y="2926080"/>
            <a:ext cx="2743200" cy="658368"/>
          </a:xfrm>
          <a:prstGeom prst="rect">
            <a:avLst/>
          </a:prstGeom>
          <a:solidFill>
            <a:srgbClr val="2A1010"/>
          </a:solidFill>
          <a:ln w="12700">
            <a:solidFill>
              <a:srgbClr val="2A1010"/>
            </a:solidFill>
            <a:prstDash val="solid"/>
          </a:ln>
        </p:spPr>
      </p:sp>
      <p:sp>
        <p:nvSpPr>
          <p:cNvPr id="34" name="Text 32"/>
          <p:cNvSpPr/>
          <p:nvPr/>
        </p:nvSpPr>
        <p:spPr>
          <a:xfrm>
            <a:off x="3291840" y="2962656"/>
            <a:ext cx="2560320" cy="201168"/>
          </a:xfrm>
          <a:prstGeom prst="rect">
            <a:avLst/>
          </a:prstGeom>
          <a:noFill/>
          <a:ln/>
        </p:spPr>
        <p:txBody>
          <a:bodyPr wrap="square" lIns="0" tIns="0" rIns="0" bIns="0" rtlCol="0" anchor="ctr"/>
          <a:lstStyle/>
          <a:p>
            <a:pPr indent="0" marL="0">
              <a:buNone/>
            </a:pPr>
            <a:r>
              <a:rPr lang="en-US" sz="1000" b="1" dirty="0">
                <a:solidFill>
                  <a:srgbClr val="E74C3C"/>
                </a:solidFill>
                <a:latin typeface="Calibri" pitchFamily="34" charset="0"/>
                <a:ea typeface="Calibri" pitchFamily="34" charset="-122"/>
                <a:cs typeface="Calibri" pitchFamily="34" charset="-120"/>
              </a:rPr>
              <a:t>✗ Limitations</a:t>
            </a:r>
            <a:endParaRPr lang="en-US" sz="1000" dirty="0"/>
          </a:p>
        </p:txBody>
      </p:sp>
      <p:sp>
        <p:nvSpPr>
          <p:cNvPr id="35" name="Text 33"/>
          <p:cNvSpPr/>
          <p:nvPr/>
        </p:nvSpPr>
        <p:spPr>
          <a:xfrm>
            <a:off x="3310128" y="3182112"/>
            <a:ext cx="2542032" cy="182880"/>
          </a:xfrm>
          <a:prstGeom prst="rect">
            <a:avLst/>
          </a:prstGeom>
          <a:noFill/>
          <a:ln/>
        </p:spPr>
        <p:txBody>
          <a:bodyPr wrap="square" lIns="0" tIns="0" rIns="0" bIns="0" rtlCol="0" anchor="ctr"/>
          <a:lstStyle/>
          <a:p>
            <a:pPr indent="0" marL="0">
              <a:buNone/>
            </a:pPr>
            <a:r>
              <a:rPr lang="en-US" sz="900" dirty="0">
                <a:solidFill>
                  <a:srgbClr val="E8EEF4"/>
                </a:solidFill>
                <a:latin typeface="Calibri" pitchFamily="34" charset="0"/>
                <a:ea typeface="Calibri" pitchFamily="34" charset="-122"/>
                <a:cs typeface="Calibri" pitchFamily="34" charset="-120"/>
              </a:rPr>
              <a:t>▸  Computationally heavier than Luenberger</a:t>
            </a:r>
            <a:endParaRPr lang="en-US" sz="900" dirty="0"/>
          </a:p>
        </p:txBody>
      </p:sp>
      <p:sp>
        <p:nvSpPr>
          <p:cNvPr id="36" name="Text 34"/>
          <p:cNvSpPr/>
          <p:nvPr/>
        </p:nvSpPr>
        <p:spPr>
          <a:xfrm>
            <a:off x="3310128" y="3383280"/>
            <a:ext cx="2542032" cy="182880"/>
          </a:xfrm>
          <a:prstGeom prst="rect">
            <a:avLst/>
          </a:prstGeom>
          <a:noFill/>
          <a:ln/>
        </p:spPr>
        <p:txBody>
          <a:bodyPr wrap="square" lIns="0" tIns="0" rIns="0" bIns="0" rtlCol="0" anchor="ctr"/>
          <a:lstStyle/>
          <a:p>
            <a:pPr indent="0" marL="0">
              <a:buNone/>
            </a:pPr>
            <a:r>
              <a:rPr lang="en-US" sz="900" dirty="0">
                <a:solidFill>
                  <a:srgbClr val="E8EEF4"/>
                </a:solidFill>
                <a:latin typeface="Calibri" pitchFamily="34" charset="0"/>
                <a:ea typeface="Calibri" pitchFamily="34" charset="-122"/>
                <a:cs typeface="Calibri" pitchFamily="34" charset="-120"/>
              </a:rPr>
              <a:t>▸  Requires accurate noise covariance matrices</a:t>
            </a:r>
            <a:endParaRPr lang="en-US" sz="900" dirty="0"/>
          </a:p>
        </p:txBody>
      </p:sp>
      <p:sp>
        <p:nvSpPr>
          <p:cNvPr id="37" name="Shape 35"/>
          <p:cNvSpPr/>
          <p:nvPr/>
        </p:nvSpPr>
        <p:spPr>
          <a:xfrm>
            <a:off x="3200400" y="3602736"/>
            <a:ext cx="2743200" cy="731520"/>
          </a:xfrm>
          <a:prstGeom prst="rect">
            <a:avLst/>
          </a:prstGeom>
          <a:solidFill>
            <a:srgbClr val="1A2A3A"/>
          </a:solidFill>
          <a:ln w="12700">
            <a:solidFill>
              <a:srgbClr val="1A2A3A"/>
            </a:solidFill>
            <a:prstDash val="solid"/>
          </a:ln>
        </p:spPr>
      </p:sp>
      <p:sp>
        <p:nvSpPr>
          <p:cNvPr id="38" name="Shape 36"/>
          <p:cNvSpPr/>
          <p:nvPr/>
        </p:nvSpPr>
        <p:spPr>
          <a:xfrm>
            <a:off x="3200400" y="3602736"/>
            <a:ext cx="54864" cy="731520"/>
          </a:xfrm>
          <a:prstGeom prst="rect">
            <a:avLst/>
          </a:prstGeom>
          <a:solidFill>
            <a:srgbClr val="2980B9"/>
          </a:solidFill>
          <a:ln w="12700">
            <a:solidFill>
              <a:srgbClr val="2980B9"/>
            </a:solidFill>
            <a:prstDash val="solid"/>
          </a:ln>
        </p:spPr>
      </p:sp>
      <p:sp>
        <p:nvSpPr>
          <p:cNvPr id="39" name="Text 37"/>
          <p:cNvSpPr/>
          <p:nvPr/>
        </p:nvSpPr>
        <p:spPr>
          <a:xfrm>
            <a:off x="3346704" y="3639312"/>
            <a:ext cx="2542032" cy="182880"/>
          </a:xfrm>
          <a:prstGeom prst="rect">
            <a:avLst/>
          </a:prstGeom>
          <a:noFill/>
          <a:ln/>
        </p:spPr>
        <p:txBody>
          <a:bodyPr wrap="square" lIns="0" tIns="0" rIns="0" bIns="0" rtlCol="0" anchor="ctr"/>
          <a:lstStyle/>
          <a:p>
            <a:pPr indent="0" marL="0">
              <a:buNone/>
            </a:pPr>
            <a:r>
              <a:rPr lang="en-US" sz="950" b="1" dirty="0">
                <a:solidFill>
                  <a:srgbClr val="2980B9"/>
                </a:solidFill>
                <a:latin typeface="Calibri" pitchFamily="34" charset="0"/>
                <a:ea typeface="Calibri" pitchFamily="34" charset="-122"/>
                <a:cs typeface="Calibri" pitchFamily="34" charset="-120"/>
              </a:rPr>
              <a:t>SWaT applicability</a:t>
            </a:r>
            <a:endParaRPr lang="en-US" sz="950" dirty="0"/>
          </a:p>
        </p:txBody>
      </p:sp>
      <p:sp>
        <p:nvSpPr>
          <p:cNvPr id="40" name="Text 38"/>
          <p:cNvSpPr/>
          <p:nvPr/>
        </p:nvSpPr>
        <p:spPr>
          <a:xfrm>
            <a:off x="3346704" y="3840480"/>
            <a:ext cx="2542032" cy="457200"/>
          </a:xfrm>
          <a:prstGeom prst="rect">
            <a:avLst/>
          </a:prstGeom>
          <a:noFill/>
          <a:ln/>
        </p:spPr>
        <p:txBody>
          <a:bodyPr wrap="square" lIns="0" tIns="0" rIns="0" bIns="0" rtlCol="0" anchor="ctr"/>
          <a:lstStyle/>
          <a:p>
            <a:pPr indent="0" marL="0">
              <a:buNone/>
            </a:pPr>
            <a:r>
              <a:rPr lang="en-US" sz="900" dirty="0">
                <a:solidFill>
                  <a:srgbClr val="C9D6DF"/>
                </a:solidFill>
                <a:latin typeface="Calibri" pitchFamily="34" charset="0"/>
                <a:ea typeface="Calibri" pitchFamily="34" charset="-122"/>
                <a:cs typeface="Calibri" pitchFamily="34" charset="-120"/>
              </a:rPr>
              <a:t>Extended Kalman filter applicable to nonlinear SWaT tank dynamics (LIT101 ODE). Well-suited for Paper #31 sensor spoofing scenario.</a:t>
            </a:r>
            <a:endParaRPr lang="en-US" sz="900" dirty="0"/>
          </a:p>
        </p:txBody>
      </p:sp>
      <p:sp>
        <p:nvSpPr>
          <p:cNvPr id="41" name="Shape 39"/>
          <p:cNvSpPr/>
          <p:nvPr/>
        </p:nvSpPr>
        <p:spPr>
          <a:xfrm>
            <a:off x="6172200" y="914400"/>
            <a:ext cx="2743200" cy="384048"/>
          </a:xfrm>
          <a:prstGeom prst="rect">
            <a:avLst/>
          </a:prstGeom>
          <a:solidFill>
            <a:srgbClr val="E67E22"/>
          </a:solidFill>
          <a:ln w="12700">
            <a:solidFill>
              <a:srgbClr val="E67E22"/>
            </a:solidFill>
            <a:prstDash val="solid"/>
          </a:ln>
        </p:spPr>
      </p:sp>
      <p:sp>
        <p:nvSpPr>
          <p:cNvPr id="42" name="Text 40"/>
          <p:cNvSpPr/>
          <p:nvPr/>
        </p:nvSpPr>
        <p:spPr>
          <a:xfrm>
            <a:off x="6263640" y="950976"/>
            <a:ext cx="2560320" cy="1828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Sliding Mode Observer (SMO)</a:t>
            </a:r>
            <a:endParaRPr lang="en-US" sz="1200" dirty="0"/>
          </a:p>
        </p:txBody>
      </p:sp>
      <p:sp>
        <p:nvSpPr>
          <p:cNvPr id="43" name="Text 41"/>
          <p:cNvSpPr/>
          <p:nvPr/>
        </p:nvSpPr>
        <p:spPr>
          <a:xfrm>
            <a:off x="6263640" y="1133856"/>
            <a:ext cx="2560320" cy="146304"/>
          </a:xfrm>
          <a:prstGeom prst="rect">
            <a:avLst/>
          </a:prstGeom>
          <a:noFill/>
          <a:ln/>
        </p:spPr>
        <p:txBody>
          <a:bodyPr wrap="square" lIns="0" tIns="0" rIns="0" bIns="0" rtlCol="0" anchor="ctr"/>
          <a:lstStyle/>
          <a:p>
            <a:pPr indent="0" marL="0">
              <a:buNone/>
            </a:pPr>
            <a:r>
              <a:rPr lang="en-US" sz="850" i="1" dirty="0">
                <a:solidFill>
                  <a:srgbClr val="FFFFFF"/>
                </a:solidFill>
                <a:latin typeface="Calibri" pitchFamily="34" charset="0"/>
                <a:ea typeface="Calibri" pitchFamily="34" charset="-122"/>
                <a:cs typeface="Calibri" pitchFamily="34" charset="-120"/>
              </a:rPr>
              <a:t>IntechOpen 2019; AdaptiveCPS 2016</a:t>
            </a:r>
            <a:endParaRPr lang="en-US" sz="850" dirty="0"/>
          </a:p>
        </p:txBody>
      </p:sp>
      <p:sp>
        <p:nvSpPr>
          <p:cNvPr id="44" name="Shape 42"/>
          <p:cNvSpPr/>
          <p:nvPr/>
        </p:nvSpPr>
        <p:spPr>
          <a:xfrm>
            <a:off x="6172200" y="1316736"/>
            <a:ext cx="2743200" cy="658368"/>
          </a:xfrm>
          <a:prstGeom prst="rect">
            <a:avLst/>
          </a:prstGeom>
          <a:solidFill>
            <a:srgbClr val="1B3A5C"/>
          </a:solidFill>
          <a:ln w="12700">
            <a:solidFill>
              <a:srgbClr val="1B3A5C"/>
            </a:solidFill>
            <a:prstDash val="solid"/>
          </a:ln>
        </p:spPr>
      </p:sp>
      <p:sp>
        <p:nvSpPr>
          <p:cNvPr id="45" name="Text 43"/>
          <p:cNvSpPr/>
          <p:nvPr/>
        </p:nvSpPr>
        <p:spPr>
          <a:xfrm>
            <a:off x="6281928" y="1353312"/>
            <a:ext cx="2542032" cy="603504"/>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Finite-time convergent observer using sliding mode theory. Reconstructs both sensor and actuator attacks online. Super-twisting variant handles time-varying attacks without a priori knowledge of attack waveform.</a:t>
            </a:r>
            <a:endParaRPr lang="en-US" sz="950" dirty="0"/>
          </a:p>
        </p:txBody>
      </p:sp>
      <p:sp>
        <p:nvSpPr>
          <p:cNvPr id="46" name="Shape 44"/>
          <p:cNvSpPr/>
          <p:nvPr/>
        </p:nvSpPr>
        <p:spPr>
          <a:xfrm>
            <a:off x="6172200" y="1993392"/>
            <a:ext cx="2743200" cy="914400"/>
          </a:xfrm>
          <a:prstGeom prst="rect">
            <a:avLst/>
          </a:prstGeom>
          <a:solidFill>
            <a:srgbClr val="0D2B12"/>
          </a:solidFill>
          <a:ln w="12700">
            <a:solidFill>
              <a:srgbClr val="0D2B12"/>
            </a:solidFill>
            <a:prstDash val="solid"/>
          </a:ln>
        </p:spPr>
      </p:sp>
      <p:sp>
        <p:nvSpPr>
          <p:cNvPr id="47" name="Text 45"/>
          <p:cNvSpPr/>
          <p:nvPr/>
        </p:nvSpPr>
        <p:spPr>
          <a:xfrm>
            <a:off x="6263640" y="2029968"/>
            <a:ext cx="2560320" cy="201168"/>
          </a:xfrm>
          <a:prstGeom prst="rect">
            <a:avLst/>
          </a:prstGeom>
          <a:noFill/>
          <a:ln/>
        </p:spPr>
        <p:txBody>
          <a:bodyPr wrap="square" lIns="0" tIns="0" rIns="0" bIns="0" rtlCol="0" anchor="ctr"/>
          <a:lstStyle/>
          <a:p>
            <a:pPr indent="0" marL="0">
              <a:buNone/>
            </a:pPr>
            <a:r>
              <a:rPr lang="en-US" sz="1000" b="1" dirty="0">
                <a:solidFill>
                  <a:srgbClr val="27AE60"/>
                </a:solidFill>
                <a:latin typeface="Calibri" pitchFamily="34" charset="0"/>
                <a:ea typeface="Calibri" pitchFamily="34" charset="-122"/>
                <a:cs typeface="Calibri" pitchFamily="34" charset="-120"/>
              </a:rPr>
              <a:t>✓ Strengths</a:t>
            </a:r>
            <a:endParaRPr lang="en-US" sz="1000" dirty="0"/>
          </a:p>
        </p:txBody>
      </p:sp>
      <p:sp>
        <p:nvSpPr>
          <p:cNvPr id="48" name="Text 46"/>
          <p:cNvSpPr/>
          <p:nvPr/>
        </p:nvSpPr>
        <p:spPr>
          <a:xfrm>
            <a:off x="6281928" y="2249424"/>
            <a:ext cx="2542032" cy="201168"/>
          </a:xfrm>
          <a:prstGeom prst="rect">
            <a:avLst/>
          </a:prstGeom>
          <a:noFill/>
          <a:ln/>
        </p:spPr>
        <p:txBody>
          <a:bodyPr wrap="square" lIns="0" tIns="0" rIns="0" bIns="0" rtlCol="0" anchor="ctr"/>
          <a:lstStyle/>
          <a:p>
            <a:pPr indent="0" marL="0">
              <a:buNone/>
            </a:pPr>
            <a:r>
              <a:rPr lang="en-US" sz="900" dirty="0">
                <a:solidFill>
                  <a:srgbClr val="E8EEF4"/>
                </a:solidFill>
                <a:latin typeface="Calibri" pitchFamily="34" charset="0"/>
                <a:ea typeface="Calibri" pitchFamily="34" charset="-122"/>
                <a:cs typeface="Calibri" pitchFamily="34" charset="-120"/>
              </a:rPr>
              <a:t>▸  Reconstructs attack signal explicitly</a:t>
            </a:r>
            <a:endParaRPr lang="en-US" sz="900" dirty="0"/>
          </a:p>
        </p:txBody>
      </p:sp>
      <p:sp>
        <p:nvSpPr>
          <p:cNvPr id="49" name="Text 47"/>
          <p:cNvSpPr/>
          <p:nvPr/>
        </p:nvSpPr>
        <p:spPr>
          <a:xfrm>
            <a:off x="6281928" y="2468880"/>
            <a:ext cx="2542032" cy="201168"/>
          </a:xfrm>
          <a:prstGeom prst="rect">
            <a:avLst/>
          </a:prstGeom>
          <a:noFill/>
          <a:ln/>
        </p:spPr>
        <p:txBody>
          <a:bodyPr wrap="square" lIns="0" tIns="0" rIns="0" bIns="0" rtlCol="0" anchor="ctr"/>
          <a:lstStyle/>
          <a:p>
            <a:pPr indent="0" marL="0">
              <a:buNone/>
            </a:pPr>
            <a:r>
              <a:rPr lang="en-US" sz="900" dirty="0">
                <a:solidFill>
                  <a:srgbClr val="E8EEF4"/>
                </a:solidFill>
                <a:latin typeface="Calibri" pitchFamily="34" charset="0"/>
                <a:ea typeface="Calibri" pitchFamily="34" charset="-122"/>
                <a:cs typeface="Calibri" pitchFamily="34" charset="-120"/>
              </a:rPr>
              <a:t>▸  No system model of attack required</a:t>
            </a:r>
            <a:endParaRPr lang="en-US" sz="900" dirty="0"/>
          </a:p>
        </p:txBody>
      </p:sp>
      <p:sp>
        <p:nvSpPr>
          <p:cNvPr id="50" name="Text 48"/>
          <p:cNvSpPr/>
          <p:nvPr/>
        </p:nvSpPr>
        <p:spPr>
          <a:xfrm>
            <a:off x="6281928" y="2688336"/>
            <a:ext cx="2542032" cy="201168"/>
          </a:xfrm>
          <a:prstGeom prst="rect">
            <a:avLst/>
          </a:prstGeom>
          <a:noFill/>
          <a:ln/>
        </p:spPr>
        <p:txBody>
          <a:bodyPr wrap="square" lIns="0" tIns="0" rIns="0" bIns="0" rtlCol="0" anchor="ctr"/>
          <a:lstStyle/>
          <a:p>
            <a:pPr indent="0" marL="0">
              <a:buNone/>
            </a:pPr>
            <a:r>
              <a:rPr lang="en-US" sz="900" dirty="0">
                <a:solidFill>
                  <a:srgbClr val="E8EEF4"/>
                </a:solidFill>
                <a:latin typeface="Calibri" pitchFamily="34" charset="0"/>
                <a:ea typeface="Calibri" pitchFamily="34" charset="-122"/>
                <a:cs typeface="Calibri" pitchFamily="34" charset="-120"/>
              </a:rPr>
              <a:t>▸  Fast — finite-time convergence</a:t>
            </a:r>
            <a:endParaRPr lang="en-US" sz="900" dirty="0"/>
          </a:p>
        </p:txBody>
      </p:sp>
      <p:sp>
        <p:nvSpPr>
          <p:cNvPr id="51" name="Shape 49"/>
          <p:cNvSpPr/>
          <p:nvPr/>
        </p:nvSpPr>
        <p:spPr>
          <a:xfrm>
            <a:off x="6172200" y="2926080"/>
            <a:ext cx="2743200" cy="658368"/>
          </a:xfrm>
          <a:prstGeom prst="rect">
            <a:avLst/>
          </a:prstGeom>
          <a:solidFill>
            <a:srgbClr val="2A1010"/>
          </a:solidFill>
          <a:ln w="12700">
            <a:solidFill>
              <a:srgbClr val="2A1010"/>
            </a:solidFill>
            <a:prstDash val="solid"/>
          </a:ln>
        </p:spPr>
      </p:sp>
      <p:sp>
        <p:nvSpPr>
          <p:cNvPr id="52" name="Text 50"/>
          <p:cNvSpPr/>
          <p:nvPr/>
        </p:nvSpPr>
        <p:spPr>
          <a:xfrm>
            <a:off x="6263640" y="2962656"/>
            <a:ext cx="2560320" cy="201168"/>
          </a:xfrm>
          <a:prstGeom prst="rect">
            <a:avLst/>
          </a:prstGeom>
          <a:noFill/>
          <a:ln/>
        </p:spPr>
        <p:txBody>
          <a:bodyPr wrap="square" lIns="0" tIns="0" rIns="0" bIns="0" rtlCol="0" anchor="ctr"/>
          <a:lstStyle/>
          <a:p>
            <a:pPr indent="0" marL="0">
              <a:buNone/>
            </a:pPr>
            <a:r>
              <a:rPr lang="en-US" sz="1000" b="1" dirty="0">
                <a:solidFill>
                  <a:srgbClr val="E74C3C"/>
                </a:solidFill>
                <a:latin typeface="Calibri" pitchFamily="34" charset="0"/>
                <a:ea typeface="Calibri" pitchFamily="34" charset="-122"/>
                <a:cs typeface="Calibri" pitchFamily="34" charset="-120"/>
              </a:rPr>
              <a:t>✗ Limitations</a:t>
            </a:r>
            <a:endParaRPr lang="en-US" sz="1000" dirty="0"/>
          </a:p>
        </p:txBody>
      </p:sp>
      <p:sp>
        <p:nvSpPr>
          <p:cNvPr id="53" name="Text 51"/>
          <p:cNvSpPr/>
          <p:nvPr/>
        </p:nvSpPr>
        <p:spPr>
          <a:xfrm>
            <a:off x="6281928" y="3182112"/>
            <a:ext cx="2542032" cy="182880"/>
          </a:xfrm>
          <a:prstGeom prst="rect">
            <a:avLst/>
          </a:prstGeom>
          <a:noFill/>
          <a:ln/>
        </p:spPr>
        <p:txBody>
          <a:bodyPr wrap="square" lIns="0" tIns="0" rIns="0" bIns="0" rtlCol="0" anchor="ctr"/>
          <a:lstStyle/>
          <a:p>
            <a:pPr indent="0" marL="0">
              <a:buNone/>
            </a:pPr>
            <a:r>
              <a:rPr lang="en-US" sz="900" dirty="0">
                <a:solidFill>
                  <a:srgbClr val="E8EEF4"/>
                </a:solidFill>
                <a:latin typeface="Calibri" pitchFamily="34" charset="0"/>
                <a:ea typeface="Calibri" pitchFamily="34" charset="-122"/>
                <a:cs typeface="Calibri" pitchFamily="34" charset="-120"/>
              </a:rPr>
              <a:t>▸  Chattering effect needs damping</a:t>
            </a:r>
            <a:endParaRPr lang="en-US" sz="900" dirty="0"/>
          </a:p>
        </p:txBody>
      </p:sp>
      <p:sp>
        <p:nvSpPr>
          <p:cNvPr id="54" name="Text 52"/>
          <p:cNvSpPr/>
          <p:nvPr/>
        </p:nvSpPr>
        <p:spPr>
          <a:xfrm>
            <a:off x="6281928" y="3383280"/>
            <a:ext cx="2542032" cy="182880"/>
          </a:xfrm>
          <a:prstGeom prst="rect">
            <a:avLst/>
          </a:prstGeom>
          <a:noFill/>
          <a:ln/>
        </p:spPr>
        <p:txBody>
          <a:bodyPr wrap="square" lIns="0" tIns="0" rIns="0" bIns="0" rtlCol="0" anchor="ctr"/>
          <a:lstStyle/>
          <a:p>
            <a:pPr indent="0" marL="0">
              <a:buNone/>
            </a:pPr>
            <a:r>
              <a:rPr lang="en-US" sz="900" dirty="0">
                <a:solidFill>
                  <a:srgbClr val="E8EEF4"/>
                </a:solidFill>
                <a:latin typeface="Calibri" pitchFamily="34" charset="0"/>
                <a:ea typeface="Calibri" pitchFamily="34" charset="-122"/>
                <a:cs typeface="Calibri" pitchFamily="34" charset="-120"/>
              </a:rPr>
              <a:t>▸  Requires continuous sensor availability</a:t>
            </a:r>
            <a:endParaRPr lang="en-US" sz="900" dirty="0"/>
          </a:p>
        </p:txBody>
      </p:sp>
      <p:sp>
        <p:nvSpPr>
          <p:cNvPr id="55" name="Shape 53"/>
          <p:cNvSpPr/>
          <p:nvPr/>
        </p:nvSpPr>
        <p:spPr>
          <a:xfrm>
            <a:off x="6172200" y="3602736"/>
            <a:ext cx="2743200" cy="731520"/>
          </a:xfrm>
          <a:prstGeom prst="rect">
            <a:avLst/>
          </a:prstGeom>
          <a:solidFill>
            <a:srgbClr val="1A2A3A"/>
          </a:solidFill>
          <a:ln w="12700">
            <a:solidFill>
              <a:srgbClr val="1A2A3A"/>
            </a:solidFill>
            <a:prstDash val="solid"/>
          </a:ln>
        </p:spPr>
      </p:sp>
      <p:sp>
        <p:nvSpPr>
          <p:cNvPr id="56" name="Shape 54"/>
          <p:cNvSpPr/>
          <p:nvPr/>
        </p:nvSpPr>
        <p:spPr>
          <a:xfrm>
            <a:off x="6172200" y="3602736"/>
            <a:ext cx="54864" cy="731520"/>
          </a:xfrm>
          <a:prstGeom prst="rect">
            <a:avLst/>
          </a:prstGeom>
          <a:solidFill>
            <a:srgbClr val="E67E22"/>
          </a:solidFill>
          <a:ln w="12700">
            <a:solidFill>
              <a:srgbClr val="E67E22"/>
            </a:solidFill>
            <a:prstDash val="solid"/>
          </a:ln>
        </p:spPr>
      </p:sp>
      <p:sp>
        <p:nvSpPr>
          <p:cNvPr id="57" name="Text 55"/>
          <p:cNvSpPr/>
          <p:nvPr/>
        </p:nvSpPr>
        <p:spPr>
          <a:xfrm>
            <a:off x="6318504" y="3639312"/>
            <a:ext cx="2542032" cy="182880"/>
          </a:xfrm>
          <a:prstGeom prst="rect">
            <a:avLst/>
          </a:prstGeom>
          <a:noFill/>
          <a:ln/>
        </p:spPr>
        <p:txBody>
          <a:bodyPr wrap="square" lIns="0" tIns="0" rIns="0" bIns="0" rtlCol="0" anchor="ctr"/>
          <a:lstStyle/>
          <a:p>
            <a:pPr indent="0" marL="0">
              <a:buNone/>
            </a:pPr>
            <a:r>
              <a:rPr lang="en-US" sz="950" b="1" dirty="0">
                <a:solidFill>
                  <a:srgbClr val="E67E22"/>
                </a:solidFill>
                <a:latin typeface="Calibri" pitchFamily="34" charset="0"/>
                <a:ea typeface="Calibri" pitchFamily="34" charset="-122"/>
                <a:cs typeface="Calibri" pitchFamily="34" charset="-120"/>
              </a:rPr>
              <a:t>SWaT applicability</a:t>
            </a:r>
            <a:endParaRPr lang="en-US" sz="950" dirty="0"/>
          </a:p>
        </p:txBody>
      </p:sp>
      <p:sp>
        <p:nvSpPr>
          <p:cNvPr id="58" name="Text 56"/>
          <p:cNvSpPr/>
          <p:nvPr/>
        </p:nvSpPr>
        <p:spPr>
          <a:xfrm>
            <a:off x="6318504" y="3840480"/>
            <a:ext cx="2542032" cy="457200"/>
          </a:xfrm>
          <a:prstGeom prst="rect">
            <a:avLst/>
          </a:prstGeom>
          <a:noFill/>
          <a:ln/>
        </p:spPr>
        <p:txBody>
          <a:bodyPr wrap="square" lIns="0" tIns="0" rIns="0" bIns="0" rtlCol="0" anchor="ctr"/>
          <a:lstStyle/>
          <a:p>
            <a:pPr indent="0" marL="0">
              <a:buNone/>
            </a:pPr>
            <a:r>
              <a:rPr lang="en-US" sz="900" dirty="0">
                <a:solidFill>
                  <a:srgbClr val="C9D6DF"/>
                </a:solidFill>
                <a:latin typeface="Calibri" pitchFamily="34" charset="0"/>
                <a:ea typeface="Calibri" pitchFamily="34" charset="-122"/>
                <a:cs typeface="Calibri" pitchFamily="34" charset="-120"/>
              </a:rPr>
              <a:t>Directly estimates the δ injected by Paper #31's adversarial AE. Reconstructed δ can be subtracted from readings to recover clean sensor values.</a:t>
            </a:r>
            <a:endParaRPr lang="en-US" sz="900" dirty="0"/>
          </a:p>
        </p:txBody>
      </p:sp>
      <p:sp>
        <p:nvSpPr>
          <p:cNvPr id="59" name="Shape 57"/>
          <p:cNvSpPr/>
          <p:nvPr/>
        </p:nvSpPr>
        <p:spPr>
          <a:xfrm>
            <a:off x="0" y="4773168"/>
            <a:ext cx="9144000" cy="374904"/>
          </a:xfrm>
          <a:prstGeom prst="rect">
            <a:avLst/>
          </a:prstGeom>
          <a:solidFill>
            <a:srgbClr val="1B3A5C"/>
          </a:solidFill>
          <a:ln w="12700">
            <a:solidFill>
              <a:srgbClr val="1B3A5C"/>
            </a:solidFill>
            <a:prstDash val="solid"/>
          </a:ln>
        </p:spPr>
      </p:sp>
      <p:sp>
        <p:nvSpPr>
          <p:cNvPr id="60" name="Text 58"/>
          <p:cNvSpPr/>
          <p:nvPr/>
        </p:nvSpPr>
        <p:spPr>
          <a:xfrm>
            <a:off x="274320" y="4773168"/>
            <a:ext cx="8595360" cy="374904"/>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Recovery Research  ·  SSE Methods</a:t>
            </a:r>
            <a:endParaRPr lang="en-US" sz="1000" dirty="0"/>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7D3C98"/>
          </a:solidFill>
          <a:ln w="12700">
            <a:solidFill>
              <a:srgbClr val="7D3C98"/>
            </a:solidFill>
            <a:prstDash val="solid"/>
          </a:ln>
        </p:spPr>
      </p:sp>
      <p:sp>
        <p:nvSpPr>
          <p:cNvPr id="3" name="Text 1"/>
          <p:cNvSpPr/>
          <p:nvPr/>
        </p:nvSpPr>
        <p:spPr>
          <a:xfrm>
            <a:off x="365760" y="91440"/>
            <a:ext cx="8412480" cy="457200"/>
          </a:xfrm>
          <a:prstGeom prst="rect">
            <a:avLst/>
          </a:prstGeom>
          <a:noFill/>
          <a:ln/>
        </p:spPr>
        <p:txBody>
          <a:bodyPr wrap="square" lIns="0" tIns="0" rIns="0" bIns="0" rtlCol="0" anchor="ctr"/>
          <a:lstStyle/>
          <a:p>
            <a:pPr indent="0" marL="0">
              <a:buNone/>
            </a:pPr>
            <a:r>
              <a:rPr lang="en-US" sz="2600" b="1" dirty="0">
                <a:solidFill>
                  <a:srgbClr val="0A1628"/>
                </a:solidFill>
                <a:latin typeface="Calibri" pitchFamily="34" charset="0"/>
                <a:ea typeface="Calibri" pitchFamily="34" charset="-122"/>
                <a:cs typeface="Calibri" pitchFamily="34" charset="-120"/>
              </a:rPr>
              <a:t>Fundamental Limit: 2s-Sparse Observability</a:t>
            </a:r>
            <a:endParaRPr lang="en-US" sz="2600" dirty="0"/>
          </a:p>
        </p:txBody>
      </p:sp>
      <p:sp>
        <p:nvSpPr>
          <p:cNvPr id="4" name="Text 2"/>
          <p:cNvSpPr/>
          <p:nvPr/>
        </p:nvSpPr>
        <p:spPr>
          <a:xfrm>
            <a:off x="365760" y="566928"/>
            <a:ext cx="8412480" cy="237744"/>
          </a:xfrm>
          <a:prstGeom prst="rect">
            <a:avLst/>
          </a:prstGeom>
          <a:noFill/>
          <a:ln/>
        </p:spPr>
        <p:txBody>
          <a:bodyPr wrap="square" lIns="0" tIns="0" rIns="0" bIns="0" rtlCol="0" anchor="ctr"/>
          <a:lstStyle/>
          <a:p>
            <a:pPr indent="0" marL="0">
              <a:buNone/>
            </a:pPr>
            <a:r>
              <a:rPr lang="en-US" sz="1150" i="1" dirty="0">
                <a:solidFill>
                  <a:srgbClr val="8FA3B1"/>
                </a:solidFill>
                <a:latin typeface="Calibri" pitchFamily="34" charset="0"/>
                <a:ea typeface="Calibri" pitchFamily="34" charset="-122"/>
                <a:cs typeface="Calibri" pitchFamily="34" charset="-120"/>
              </a:rPr>
              <a:t>How many sensors can be corrupted before state reconstruction becomes impossible?</a:t>
            </a:r>
            <a:endParaRPr lang="en-US" sz="1150" dirty="0"/>
          </a:p>
        </p:txBody>
      </p:sp>
      <p:sp>
        <p:nvSpPr>
          <p:cNvPr id="5" name="Shape 3"/>
          <p:cNvSpPr/>
          <p:nvPr/>
        </p:nvSpPr>
        <p:spPr>
          <a:xfrm>
            <a:off x="228600" y="896112"/>
            <a:ext cx="8686800" cy="987552"/>
          </a:xfrm>
          <a:prstGeom prst="rect">
            <a:avLst/>
          </a:prstGeom>
          <a:solidFill>
            <a:srgbClr val="0A1628"/>
          </a:solidFill>
          <a:ln w="12700">
            <a:solidFill>
              <a:srgbClr val="0A1628"/>
            </a:solidFill>
            <a:prstDash val="solid"/>
          </a:ln>
        </p:spPr>
      </p:sp>
      <p:sp>
        <p:nvSpPr>
          <p:cNvPr id="6" name="Shape 4"/>
          <p:cNvSpPr/>
          <p:nvPr/>
        </p:nvSpPr>
        <p:spPr>
          <a:xfrm>
            <a:off x="228600" y="896112"/>
            <a:ext cx="64008" cy="987552"/>
          </a:xfrm>
          <a:prstGeom prst="rect">
            <a:avLst/>
          </a:prstGeom>
          <a:solidFill>
            <a:srgbClr val="7D3C98"/>
          </a:solidFill>
          <a:ln w="12700">
            <a:solidFill>
              <a:srgbClr val="7D3C98"/>
            </a:solidFill>
            <a:prstDash val="solid"/>
          </a:ln>
        </p:spPr>
      </p:sp>
      <p:sp>
        <p:nvSpPr>
          <p:cNvPr id="7" name="Text 5"/>
          <p:cNvSpPr/>
          <p:nvPr/>
        </p:nvSpPr>
        <p:spPr>
          <a:xfrm>
            <a:off x="411480" y="932688"/>
            <a:ext cx="8321040" cy="256032"/>
          </a:xfrm>
          <a:prstGeom prst="rect">
            <a:avLst/>
          </a:prstGeom>
          <a:noFill/>
          <a:ln/>
        </p:spPr>
        <p:txBody>
          <a:bodyPr wrap="square" lIns="0" tIns="0" rIns="0" bIns="0" rtlCol="0" anchor="ctr"/>
          <a:lstStyle/>
          <a:p>
            <a:pPr indent="0" marL="0">
              <a:buNone/>
            </a:pPr>
            <a:r>
              <a:rPr lang="en-US" sz="1200" b="1" dirty="0">
                <a:solidFill>
                  <a:srgbClr val="A569BD"/>
                </a:solidFill>
                <a:latin typeface="Calibri" pitchFamily="34" charset="0"/>
                <a:ea typeface="Calibri" pitchFamily="34" charset="-122"/>
                <a:cs typeface="Calibri" pitchFamily="34" charset="-120"/>
              </a:rPr>
              <a:t>Theorem (Shoukry &amp; Tabuada, IEEE TAC 2016)</a:t>
            </a:r>
            <a:endParaRPr lang="en-US" sz="1200" dirty="0"/>
          </a:p>
        </p:txBody>
      </p:sp>
      <p:sp>
        <p:nvSpPr>
          <p:cNvPr id="8" name="Text 6"/>
          <p:cNvSpPr/>
          <p:nvPr/>
        </p:nvSpPr>
        <p:spPr>
          <a:xfrm>
            <a:off x="411480" y="1188720"/>
            <a:ext cx="8321040" cy="640080"/>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The true state of a CPS can be uniquely recovered despite sensor attacks on at most s sensors IF AND ONLY IF the system remains observable after removing any 2s sensor rows from the output matrix C. This is called 2s-sparse observability.</a:t>
            </a:r>
            <a:endParaRPr lang="en-US" sz="1100" dirty="0"/>
          </a:p>
        </p:txBody>
      </p:sp>
      <p:sp>
        <p:nvSpPr>
          <p:cNvPr id="9" name="Shape 7"/>
          <p:cNvSpPr/>
          <p:nvPr/>
        </p:nvSpPr>
        <p:spPr>
          <a:xfrm>
            <a:off x="228600" y="1956816"/>
            <a:ext cx="8686800" cy="329184"/>
          </a:xfrm>
          <a:prstGeom prst="rect">
            <a:avLst/>
          </a:prstGeom>
          <a:solidFill>
            <a:srgbClr val="1B3A5C"/>
          </a:solidFill>
          <a:ln w="12700">
            <a:solidFill>
              <a:srgbClr val="1B3A5C"/>
            </a:solidFill>
            <a:prstDash val="solid"/>
          </a:ln>
        </p:spPr>
      </p:sp>
      <p:sp>
        <p:nvSpPr>
          <p:cNvPr id="10" name="Text 8"/>
          <p:cNvSpPr/>
          <p:nvPr/>
        </p:nvSpPr>
        <p:spPr>
          <a:xfrm>
            <a:off x="411480" y="1993392"/>
            <a:ext cx="83210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SWaT P1 Sensors — Sparse Observability Analysis</a:t>
            </a:r>
            <a:endParaRPr lang="en-US" sz="1200" dirty="0"/>
          </a:p>
        </p:txBody>
      </p:sp>
      <p:sp>
        <p:nvSpPr>
          <p:cNvPr id="11" name="Shape 9"/>
          <p:cNvSpPr/>
          <p:nvPr/>
        </p:nvSpPr>
        <p:spPr>
          <a:xfrm>
            <a:off x="274320" y="2304288"/>
            <a:ext cx="1051560" cy="274320"/>
          </a:xfrm>
          <a:prstGeom prst="rect">
            <a:avLst/>
          </a:prstGeom>
          <a:solidFill>
            <a:srgbClr val="1B3A5C"/>
          </a:solidFill>
          <a:ln w="12700">
            <a:solidFill>
              <a:srgbClr val="1B3A5C"/>
            </a:solidFill>
            <a:prstDash val="solid"/>
          </a:ln>
        </p:spPr>
      </p:sp>
      <p:sp>
        <p:nvSpPr>
          <p:cNvPr id="12" name="Text 10"/>
          <p:cNvSpPr/>
          <p:nvPr/>
        </p:nvSpPr>
        <p:spPr>
          <a:xfrm>
            <a:off x="329184" y="2331720"/>
            <a:ext cx="1051560"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Sensor</a:t>
            </a:r>
            <a:endParaRPr lang="en-US" sz="1000" dirty="0"/>
          </a:p>
        </p:txBody>
      </p:sp>
      <p:sp>
        <p:nvSpPr>
          <p:cNvPr id="13" name="Shape 11"/>
          <p:cNvSpPr/>
          <p:nvPr/>
        </p:nvSpPr>
        <p:spPr>
          <a:xfrm>
            <a:off x="1371600" y="2304288"/>
            <a:ext cx="2057400" cy="274320"/>
          </a:xfrm>
          <a:prstGeom prst="rect">
            <a:avLst/>
          </a:prstGeom>
          <a:solidFill>
            <a:srgbClr val="1B3A5C"/>
          </a:solidFill>
          <a:ln w="12700">
            <a:solidFill>
              <a:srgbClr val="1B3A5C"/>
            </a:solidFill>
            <a:prstDash val="solid"/>
          </a:ln>
        </p:spPr>
      </p:sp>
      <p:sp>
        <p:nvSpPr>
          <p:cNvPr id="14" name="Text 12"/>
          <p:cNvSpPr/>
          <p:nvPr/>
        </p:nvSpPr>
        <p:spPr>
          <a:xfrm>
            <a:off x="1426464" y="2331720"/>
            <a:ext cx="2057400"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Physical Role</a:t>
            </a:r>
            <a:endParaRPr lang="en-US" sz="1000" dirty="0"/>
          </a:p>
        </p:txBody>
      </p:sp>
      <p:sp>
        <p:nvSpPr>
          <p:cNvPr id="15" name="Shape 13"/>
          <p:cNvSpPr/>
          <p:nvPr/>
        </p:nvSpPr>
        <p:spPr>
          <a:xfrm>
            <a:off x="3474720" y="2304288"/>
            <a:ext cx="1600200" cy="274320"/>
          </a:xfrm>
          <a:prstGeom prst="rect">
            <a:avLst/>
          </a:prstGeom>
          <a:solidFill>
            <a:srgbClr val="1B3A5C"/>
          </a:solidFill>
          <a:ln w="12700">
            <a:solidFill>
              <a:srgbClr val="1B3A5C"/>
            </a:solidFill>
            <a:prstDash val="solid"/>
          </a:ln>
        </p:spPr>
      </p:sp>
      <p:sp>
        <p:nvSpPr>
          <p:cNvPr id="16" name="Text 14"/>
          <p:cNvSpPr/>
          <p:nvPr/>
        </p:nvSpPr>
        <p:spPr>
          <a:xfrm>
            <a:off x="3529584" y="2331720"/>
            <a:ext cx="1600200"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Criticality</a:t>
            </a:r>
            <a:endParaRPr lang="en-US" sz="1000" dirty="0"/>
          </a:p>
        </p:txBody>
      </p:sp>
      <p:sp>
        <p:nvSpPr>
          <p:cNvPr id="17" name="Shape 15"/>
          <p:cNvSpPr/>
          <p:nvPr/>
        </p:nvSpPr>
        <p:spPr>
          <a:xfrm>
            <a:off x="5120640" y="2304288"/>
            <a:ext cx="1371600" cy="274320"/>
          </a:xfrm>
          <a:prstGeom prst="rect">
            <a:avLst/>
          </a:prstGeom>
          <a:solidFill>
            <a:srgbClr val="1B3A5C"/>
          </a:solidFill>
          <a:ln w="12700">
            <a:solidFill>
              <a:srgbClr val="1B3A5C"/>
            </a:solidFill>
            <a:prstDash val="solid"/>
          </a:ln>
        </p:spPr>
      </p:sp>
      <p:sp>
        <p:nvSpPr>
          <p:cNvPr id="18" name="Text 16"/>
          <p:cNvSpPr/>
          <p:nvPr/>
        </p:nvSpPr>
        <p:spPr>
          <a:xfrm>
            <a:off x="5175504" y="2331720"/>
            <a:ext cx="1371600"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Standalone?</a:t>
            </a:r>
            <a:endParaRPr lang="en-US" sz="1000" dirty="0"/>
          </a:p>
        </p:txBody>
      </p:sp>
      <p:sp>
        <p:nvSpPr>
          <p:cNvPr id="19" name="Shape 17"/>
          <p:cNvSpPr/>
          <p:nvPr/>
        </p:nvSpPr>
        <p:spPr>
          <a:xfrm>
            <a:off x="6537960" y="2304288"/>
            <a:ext cx="2286000" cy="274320"/>
          </a:xfrm>
          <a:prstGeom prst="rect">
            <a:avLst/>
          </a:prstGeom>
          <a:solidFill>
            <a:srgbClr val="1B3A5C"/>
          </a:solidFill>
          <a:ln w="12700">
            <a:solidFill>
              <a:srgbClr val="1B3A5C"/>
            </a:solidFill>
            <a:prstDash val="solid"/>
          </a:ln>
        </p:spPr>
      </p:sp>
      <p:sp>
        <p:nvSpPr>
          <p:cNvPr id="20" name="Text 18"/>
          <p:cNvSpPr/>
          <p:nvPr/>
        </p:nvSpPr>
        <p:spPr>
          <a:xfrm>
            <a:off x="6592824" y="2331720"/>
            <a:ext cx="2286000"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Recovery Approach</a:t>
            </a:r>
            <a:endParaRPr lang="en-US" sz="1000" dirty="0"/>
          </a:p>
        </p:txBody>
      </p:sp>
      <p:sp>
        <p:nvSpPr>
          <p:cNvPr id="21" name="Shape 19"/>
          <p:cNvSpPr/>
          <p:nvPr/>
        </p:nvSpPr>
        <p:spPr>
          <a:xfrm>
            <a:off x="274320" y="2596896"/>
            <a:ext cx="1051560" cy="274320"/>
          </a:xfrm>
          <a:prstGeom prst="rect">
            <a:avLst/>
          </a:prstGeom>
          <a:solidFill>
            <a:srgbClr val="FFFFFF"/>
          </a:solidFill>
          <a:ln w="12700">
            <a:solidFill>
              <a:srgbClr val="FFFFFF"/>
            </a:solidFill>
            <a:prstDash val="solid"/>
          </a:ln>
        </p:spPr>
      </p:sp>
      <p:sp>
        <p:nvSpPr>
          <p:cNvPr id="22" name="Shape 20"/>
          <p:cNvSpPr/>
          <p:nvPr/>
        </p:nvSpPr>
        <p:spPr>
          <a:xfrm>
            <a:off x="1371600" y="2596896"/>
            <a:ext cx="2057400" cy="274320"/>
          </a:xfrm>
          <a:prstGeom prst="rect">
            <a:avLst/>
          </a:prstGeom>
          <a:solidFill>
            <a:srgbClr val="FFFFFF"/>
          </a:solidFill>
          <a:ln w="12700">
            <a:solidFill>
              <a:srgbClr val="FFFFFF"/>
            </a:solidFill>
            <a:prstDash val="solid"/>
          </a:ln>
        </p:spPr>
      </p:sp>
      <p:sp>
        <p:nvSpPr>
          <p:cNvPr id="23" name="Shape 21"/>
          <p:cNvSpPr/>
          <p:nvPr/>
        </p:nvSpPr>
        <p:spPr>
          <a:xfrm>
            <a:off x="3474720" y="2596896"/>
            <a:ext cx="1600200" cy="274320"/>
          </a:xfrm>
          <a:prstGeom prst="rect">
            <a:avLst/>
          </a:prstGeom>
          <a:solidFill>
            <a:srgbClr val="FFFFFF"/>
          </a:solidFill>
          <a:ln w="12700">
            <a:solidFill>
              <a:srgbClr val="FFFFFF"/>
            </a:solidFill>
            <a:prstDash val="solid"/>
          </a:ln>
        </p:spPr>
      </p:sp>
      <p:sp>
        <p:nvSpPr>
          <p:cNvPr id="24" name="Shape 22"/>
          <p:cNvSpPr/>
          <p:nvPr/>
        </p:nvSpPr>
        <p:spPr>
          <a:xfrm>
            <a:off x="5120640" y="2596896"/>
            <a:ext cx="1371600" cy="274320"/>
          </a:xfrm>
          <a:prstGeom prst="rect">
            <a:avLst/>
          </a:prstGeom>
          <a:solidFill>
            <a:srgbClr val="FFFFFF"/>
          </a:solidFill>
          <a:ln w="12700">
            <a:solidFill>
              <a:srgbClr val="FFFFFF"/>
            </a:solidFill>
            <a:prstDash val="solid"/>
          </a:ln>
        </p:spPr>
      </p:sp>
      <p:sp>
        <p:nvSpPr>
          <p:cNvPr id="25" name="Shape 23"/>
          <p:cNvSpPr/>
          <p:nvPr/>
        </p:nvSpPr>
        <p:spPr>
          <a:xfrm>
            <a:off x="6537960" y="2596896"/>
            <a:ext cx="2286000" cy="274320"/>
          </a:xfrm>
          <a:prstGeom prst="rect">
            <a:avLst/>
          </a:prstGeom>
          <a:solidFill>
            <a:srgbClr val="FFFFFF"/>
          </a:solidFill>
          <a:ln w="12700">
            <a:solidFill>
              <a:srgbClr val="FFFFFF"/>
            </a:solidFill>
            <a:prstDash val="solid"/>
          </a:ln>
        </p:spPr>
      </p:sp>
      <p:sp>
        <p:nvSpPr>
          <p:cNvPr id="26" name="Text 24"/>
          <p:cNvSpPr/>
          <p:nvPr/>
        </p:nvSpPr>
        <p:spPr>
          <a:xfrm>
            <a:off x="329184" y="2633472"/>
            <a:ext cx="1051560" cy="219456"/>
          </a:xfrm>
          <a:prstGeom prst="rect">
            <a:avLst/>
          </a:prstGeom>
          <a:noFill/>
          <a:ln/>
        </p:spPr>
        <p:txBody>
          <a:bodyPr wrap="square" lIns="0" tIns="0" rIns="0" bIns="0" rtlCol="0" anchor="ctr"/>
          <a:lstStyle/>
          <a:p>
            <a:pPr indent="0" marL="0">
              <a:buNone/>
            </a:pPr>
            <a:r>
              <a:rPr lang="en-US" sz="1000" b="1" dirty="0">
                <a:solidFill>
                  <a:srgbClr val="0A1628"/>
                </a:solidFill>
                <a:latin typeface="Consolas" pitchFamily="34" charset="0"/>
                <a:ea typeface="Consolas" pitchFamily="34" charset="-122"/>
                <a:cs typeface="Consolas" pitchFamily="34" charset="-120"/>
              </a:rPr>
              <a:t>FIT101</a:t>
            </a:r>
            <a:endParaRPr lang="en-US" sz="1000" dirty="0"/>
          </a:p>
        </p:txBody>
      </p:sp>
      <p:sp>
        <p:nvSpPr>
          <p:cNvPr id="27" name="Text 25"/>
          <p:cNvSpPr/>
          <p:nvPr/>
        </p:nvSpPr>
        <p:spPr>
          <a:xfrm>
            <a:off x="1426464" y="2633472"/>
            <a:ext cx="2057400" cy="219456"/>
          </a:xfrm>
          <a:prstGeom prst="rect">
            <a:avLst/>
          </a:prstGeom>
          <a:noFill/>
          <a:ln/>
        </p:spPr>
        <p:txBody>
          <a:bodyPr wrap="square" lIns="0" tIns="0" rIns="0" bIns="0" rtlCol="0" anchor="ctr"/>
          <a:lstStyle/>
          <a:p>
            <a:pPr indent="0" marL="0">
              <a:buNone/>
            </a:pPr>
            <a:r>
              <a:rPr lang="en-US" sz="1000" dirty="0">
                <a:solidFill>
                  <a:srgbClr val="0A1628"/>
                </a:solidFill>
                <a:latin typeface="Calibri" pitchFamily="34" charset="0"/>
                <a:ea typeface="Calibri" pitchFamily="34" charset="-122"/>
                <a:cs typeface="Calibri" pitchFamily="34" charset="-120"/>
              </a:rPr>
              <a:t>Raw water flow rate</a:t>
            </a:r>
            <a:endParaRPr lang="en-US" sz="1000" dirty="0"/>
          </a:p>
        </p:txBody>
      </p:sp>
      <p:sp>
        <p:nvSpPr>
          <p:cNvPr id="28" name="Text 26"/>
          <p:cNvSpPr/>
          <p:nvPr/>
        </p:nvSpPr>
        <p:spPr>
          <a:xfrm>
            <a:off x="3529584" y="2633472"/>
            <a:ext cx="1600200" cy="219456"/>
          </a:xfrm>
          <a:prstGeom prst="rect">
            <a:avLst/>
          </a:prstGeom>
          <a:noFill/>
          <a:ln/>
        </p:spPr>
        <p:txBody>
          <a:bodyPr wrap="square" lIns="0" tIns="0" rIns="0" bIns="0" rtlCol="0" anchor="ctr"/>
          <a:lstStyle/>
          <a:p>
            <a:pPr indent="0" marL="0">
              <a:buNone/>
            </a:pPr>
            <a:r>
              <a:rPr lang="en-US" sz="1000" b="1" dirty="0">
                <a:solidFill>
                  <a:srgbClr val="E74C3C"/>
                </a:solidFill>
                <a:latin typeface="Calibri" pitchFamily="34" charset="0"/>
                <a:ea typeface="Calibri" pitchFamily="34" charset="-122"/>
                <a:cs typeface="Calibri" pitchFamily="34" charset="-120"/>
              </a:rPr>
              <a:t>HIGH</a:t>
            </a:r>
            <a:endParaRPr lang="en-US" sz="1000" dirty="0"/>
          </a:p>
        </p:txBody>
      </p:sp>
      <p:sp>
        <p:nvSpPr>
          <p:cNvPr id="29" name="Text 27"/>
          <p:cNvSpPr/>
          <p:nvPr/>
        </p:nvSpPr>
        <p:spPr>
          <a:xfrm>
            <a:off x="6592824" y="2633472"/>
            <a:ext cx="2286000" cy="219456"/>
          </a:xfrm>
          <a:prstGeom prst="rect">
            <a:avLst/>
          </a:prstGeom>
          <a:noFill/>
          <a:ln/>
        </p:spPr>
        <p:txBody>
          <a:bodyPr wrap="square" lIns="0" tIns="0" rIns="0" bIns="0" rtlCol="0" anchor="ctr"/>
          <a:lstStyle/>
          <a:p>
            <a:pPr indent="0" marL="0">
              <a:buNone/>
            </a:pPr>
            <a:r>
              <a:rPr lang="en-US" sz="900" dirty="0">
                <a:solidFill>
                  <a:srgbClr val="444444"/>
                </a:solidFill>
                <a:latin typeface="Calibri" pitchFamily="34" charset="0"/>
                <a:ea typeface="Calibri" pitchFamily="34" charset="-122"/>
                <a:cs typeface="Calibri" pitchFamily="34" charset="-120"/>
              </a:rPr>
              <a:t>Derivable from P101 state + LIT101 Δ</a:t>
            </a:r>
            <a:endParaRPr lang="en-US" sz="900" dirty="0"/>
          </a:p>
        </p:txBody>
      </p:sp>
      <p:sp>
        <p:nvSpPr>
          <p:cNvPr id="30" name="Shape 28"/>
          <p:cNvSpPr/>
          <p:nvPr/>
        </p:nvSpPr>
        <p:spPr>
          <a:xfrm>
            <a:off x="274320" y="2889504"/>
            <a:ext cx="1051560" cy="274320"/>
          </a:xfrm>
          <a:prstGeom prst="rect">
            <a:avLst/>
          </a:prstGeom>
          <a:solidFill>
            <a:srgbClr val="EEF3F8"/>
          </a:solidFill>
          <a:ln w="12700">
            <a:solidFill>
              <a:srgbClr val="EEF3F8"/>
            </a:solidFill>
            <a:prstDash val="solid"/>
          </a:ln>
        </p:spPr>
      </p:sp>
      <p:sp>
        <p:nvSpPr>
          <p:cNvPr id="31" name="Shape 29"/>
          <p:cNvSpPr/>
          <p:nvPr/>
        </p:nvSpPr>
        <p:spPr>
          <a:xfrm>
            <a:off x="1371600" y="2889504"/>
            <a:ext cx="2057400" cy="274320"/>
          </a:xfrm>
          <a:prstGeom prst="rect">
            <a:avLst/>
          </a:prstGeom>
          <a:solidFill>
            <a:srgbClr val="EEF3F8"/>
          </a:solidFill>
          <a:ln w="12700">
            <a:solidFill>
              <a:srgbClr val="EEF3F8"/>
            </a:solidFill>
            <a:prstDash val="solid"/>
          </a:ln>
        </p:spPr>
      </p:sp>
      <p:sp>
        <p:nvSpPr>
          <p:cNvPr id="32" name="Shape 30"/>
          <p:cNvSpPr/>
          <p:nvPr/>
        </p:nvSpPr>
        <p:spPr>
          <a:xfrm>
            <a:off x="3474720" y="2889504"/>
            <a:ext cx="1600200" cy="274320"/>
          </a:xfrm>
          <a:prstGeom prst="rect">
            <a:avLst/>
          </a:prstGeom>
          <a:solidFill>
            <a:srgbClr val="EEF3F8"/>
          </a:solidFill>
          <a:ln w="12700">
            <a:solidFill>
              <a:srgbClr val="EEF3F8"/>
            </a:solidFill>
            <a:prstDash val="solid"/>
          </a:ln>
        </p:spPr>
      </p:sp>
      <p:sp>
        <p:nvSpPr>
          <p:cNvPr id="33" name="Shape 31"/>
          <p:cNvSpPr/>
          <p:nvPr/>
        </p:nvSpPr>
        <p:spPr>
          <a:xfrm>
            <a:off x="5120640" y="2889504"/>
            <a:ext cx="1371600" cy="274320"/>
          </a:xfrm>
          <a:prstGeom prst="rect">
            <a:avLst/>
          </a:prstGeom>
          <a:solidFill>
            <a:srgbClr val="EEF3F8"/>
          </a:solidFill>
          <a:ln w="12700">
            <a:solidFill>
              <a:srgbClr val="EEF3F8"/>
            </a:solidFill>
            <a:prstDash val="solid"/>
          </a:ln>
        </p:spPr>
      </p:sp>
      <p:sp>
        <p:nvSpPr>
          <p:cNvPr id="34" name="Shape 32"/>
          <p:cNvSpPr/>
          <p:nvPr/>
        </p:nvSpPr>
        <p:spPr>
          <a:xfrm>
            <a:off x="6537960" y="2889504"/>
            <a:ext cx="2286000" cy="274320"/>
          </a:xfrm>
          <a:prstGeom prst="rect">
            <a:avLst/>
          </a:prstGeom>
          <a:solidFill>
            <a:srgbClr val="EEF3F8"/>
          </a:solidFill>
          <a:ln w="12700">
            <a:solidFill>
              <a:srgbClr val="EEF3F8"/>
            </a:solidFill>
            <a:prstDash val="solid"/>
          </a:ln>
        </p:spPr>
      </p:sp>
      <p:sp>
        <p:nvSpPr>
          <p:cNvPr id="35" name="Text 33"/>
          <p:cNvSpPr/>
          <p:nvPr/>
        </p:nvSpPr>
        <p:spPr>
          <a:xfrm>
            <a:off x="329184" y="2926080"/>
            <a:ext cx="1051560" cy="219456"/>
          </a:xfrm>
          <a:prstGeom prst="rect">
            <a:avLst/>
          </a:prstGeom>
          <a:noFill/>
          <a:ln/>
        </p:spPr>
        <p:txBody>
          <a:bodyPr wrap="square" lIns="0" tIns="0" rIns="0" bIns="0" rtlCol="0" anchor="ctr"/>
          <a:lstStyle/>
          <a:p>
            <a:pPr indent="0" marL="0">
              <a:buNone/>
            </a:pPr>
            <a:r>
              <a:rPr lang="en-US" sz="1000" b="1" dirty="0">
                <a:solidFill>
                  <a:srgbClr val="0A1628"/>
                </a:solidFill>
                <a:latin typeface="Consolas" pitchFamily="34" charset="0"/>
                <a:ea typeface="Consolas" pitchFamily="34" charset="-122"/>
                <a:cs typeface="Consolas" pitchFamily="34" charset="-120"/>
              </a:rPr>
              <a:t>LIT101</a:t>
            </a:r>
            <a:endParaRPr lang="en-US" sz="1000" dirty="0"/>
          </a:p>
        </p:txBody>
      </p:sp>
      <p:sp>
        <p:nvSpPr>
          <p:cNvPr id="36" name="Text 34"/>
          <p:cNvSpPr/>
          <p:nvPr/>
        </p:nvSpPr>
        <p:spPr>
          <a:xfrm>
            <a:off x="1426464" y="2926080"/>
            <a:ext cx="2057400" cy="219456"/>
          </a:xfrm>
          <a:prstGeom prst="rect">
            <a:avLst/>
          </a:prstGeom>
          <a:noFill/>
          <a:ln/>
        </p:spPr>
        <p:txBody>
          <a:bodyPr wrap="square" lIns="0" tIns="0" rIns="0" bIns="0" rtlCol="0" anchor="ctr"/>
          <a:lstStyle/>
          <a:p>
            <a:pPr indent="0" marL="0">
              <a:buNone/>
            </a:pPr>
            <a:r>
              <a:rPr lang="en-US" sz="1000" dirty="0">
                <a:solidFill>
                  <a:srgbClr val="0A1628"/>
                </a:solidFill>
                <a:latin typeface="Calibri" pitchFamily="34" charset="0"/>
                <a:ea typeface="Calibri" pitchFamily="34" charset="-122"/>
                <a:cs typeface="Calibri" pitchFamily="34" charset="-120"/>
              </a:rPr>
              <a:t>Tank level</a:t>
            </a:r>
            <a:endParaRPr lang="en-US" sz="1000" dirty="0"/>
          </a:p>
        </p:txBody>
      </p:sp>
      <p:sp>
        <p:nvSpPr>
          <p:cNvPr id="37" name="Text 35"/>
          <p:cNvSpPr/>
          <p:nvPr/>
        </p:nvSpPr>
        <p:spPr>
          <a:xfrm>
            <a:off x="3529584" y="2926080"/>
            <a:ext cx="1600200" cy="219456"/>
          </a:xfrm>
          <a:prstGeom prst="rect">
            <a:avLst/>
          </a:prstGeom>
          <a:noFill/>
          <a:ln/>
        </p:spPr>
        <p:txBody>
          <a:bodyPr wrap="square" lIns="0" tIns="0" rIns="0" bIns="0" rtlCol="0" anchor="ctr"/>
          <a:lstStyle/>
          <a:p>
            <a:pPr indent="0" marL="0">
              <a:buNone/>
            </a:pPr>
            <a:r>
              <a:rPr lang="en-US" sz="1000" b="1" dirty="0">
                <a:solidFill>
                  <a:srgbClr val="E74C3C"/>
                </a:solidFill>
                <a:latin typeface="Calibri" pitchFamily="34" charset="0"/>
                <a:ea typeface="Calibri" pitchFamily="34" charset="-122"/>
                <a:cs typeface="Calibri" pitchFamily="34" charset="-120"/>
              </a:rPr>
              <a:t>HIGH</a:t>
            </a:r>
            <a:endParaRPr lang="en-US" sz="1000" dirty="0"/>
          </a:p>
        </p:txBody>
      </p:sp>
      <p:sp>
        <p:nvSpPr>
          <p:cNvPr id="38" name="Text 36"/>
          <p:cNvSpPr/>
          <p:nvPr/>
        </p:nvSpPr>
        <p:spPr>
          <a:xfrm>
            <a:off x="6592824" y="2926080"/>
            <a:ext cx="2286000" cy="219456"/>
          </a:xfrm>
          <a:prstGeom prst="rect">
            <a:avLst/>
          </a:prstGeom>
          <a:noFill/>
          <a:ln/>
        </p:spPr>
        <p:txBody>
          <a:bodyPr wrap="square" lIns="0" tIns="0" rIns="0" bIns="0" rtlCol="0" anchor="ctr"/>
          <a:lstStyle/>
          <a:p>
            <a:pPr indent="0" marL="0">
              <a:buNone/>
            </a:pPr>
            <a:r>
              <a:rPr lang="en-US" sz="900" dirty="0">
                <a:solidFill>
                  <a:srgbClr val="444444"/>
                </a:solidFill>
                <a:latin typeface="Calibri" pitchFamily="34" charset="0"/>
                <a:ea typeface="Calibri" pitchFamily="34" charset="-122"/>
                <a:cs typeface="Calibri" pitchFamily="34" charset="-120"/>
              </a:rPr>
              <a:t>No direct redundancy — physics model needed</a:t>
            </a:r>
            <a:endParaRPr lang="en-US" sz="900" dirty="0"/>
          </a:p>
        </p:txBody>
      </p:sp>
      <p:sp>
        <p:nvSpPr>
          <p:cNvPr id="39" name="Shape 37"/>
          <p:cNvSpPr/>
          <p:nvPr/>
        </p:nvSpPr>
        <p:spPr>
          <a:xfrm>
            <a:off x="274320" y="3182112"/>
            <a:ext cx="1051560" cy="274320"/>
          </a:xfrm>
          <a:prstGeom prst="rect">
            <a:avLst/>
          </a:prstGeom>
          <a:solidFill>
            <a:srgbClr val="FFFFFF"/>
          </a:solidFill>
          <a:ln w="12700">
            <a:solidFill>
              <a:srgbClr val="FFFFFF"/>
            </a:solidFill>
            <a:prstDash val="solid"/>
          </a:ln>
        </p:spPr>
      </p:sp>
      <p:sp>
        <p:nvSpPr>
          <p:cNvPr id="40" name="Shape 38"/>
          <p:cNvSpPr/>
          <p:nvPr/>
        </p:nvSpPr>
        <p:spPr>
          <a:xfrm>
            <a:off x="1371600" y="3182112"/>
            <a:ext cx="2057400" cy="274320"/>
          </a:xfrm>
          <a:prstGeom prst="rect">
            <a:avLst/>
          </a:prstGeom>
          <a:solidFill>
            <a:srgbClr val="FFFFFF"/>
          </a:solidFill>
          <a:ln w="12700">
            <a:solidFill>
              <a:srgbClr val="FFFFFF"/>
            </a:solidFill>
            <a:prstDash val="solid"/>
          </a:ln>
        </p:spPr>
      </p:sp>
      <p:sp>
        <p:nvSpPr>
          <p:cNvPr id="41" name="Shape 39"/>
          <p:cNvSpPr/>
          <p:nvPr/>
        </p:nvSpPr>
        <p:spPr>
          <a:xfrm>
            <a:off x="3474720" y="3182112"/>
            <a:ext cx="1600200" cy="274320"/>
          </a:xfrm>
          <a:prstGeom prst="rect">
            <a:avLst/>
          </a:prstGeom>
          <a:solidFill>
            <a:srgbClr val="FFFFFF"/>
          </a:solidFill>
          <a:ln w="12700">
            <a:solidFill>
              <a:srgbClr val="FFFFFF"/>
            </a:solidFill>
            <a:prstDash val="solid"/>
          </a:ln>
        </p:spPr>
      </p:sp>
      <p:sp>
        <p:nvSpPr>
          <p:cNvPr id="42" name="Shape 40"/>
          <p:cNvSpPr/>
          <p:nvPr/>
        </p:nvSpPr>
        <p:spPr>
          <a:xfrm>
            <a:off x="5120640" y="3182112"/>
            <a:ext cx="1371600" cy="274320"/>
          </a:xfrm>
          <a:prstGeom prst="rect">
            <a:avLst/>
          </a:prstGeom>
          <a:solidFill>
            <a:srgbClr val="FFFFFF"/>
          </a:solidFill>
          <a:ln w="12700">
            <a:solidFill>
              <a:srgbClr val="FFFFFF"/>
            </a:solidFill>
            <a:prstDash val="solid"/>
          </a:ln>
        </p:spPr>
      </p:sp>
      <p:sp>
        <p:nvSpPr>
          <p:cNvPr id="43" name="Shape 41"/>
          <p:cNvSpPr/>
          <p:nvPr/>
        </p:nvSpPr>
        <p:spPr>
          <a:xfrm>
            <a:off x="6537960" y="3182112"/>
            <a:ext cx="2286000" cy="274320"/>
          </a:xfrm>
          <a:prstGeom prst="rect">
            <a:avLst/>
          </a:prstGeom>
          <a:solidFill>
            <a:srgbClr val="FFFFFF"/>
          </a:solidFill>
          <a:ln w="12700">
            <a:solidFill>
              <a:srgbClr val="FFFFFF"/>
            </a:solidFill>
            <a:prstDash val="solid"/>
          </a:ln>
        </p:spPr>
      </p:sp>
      <p:sp>
        <p:nvSpPr>
          <p:cNvPr id="44" name="Text 42"/>
          <p:cNvSpPr/>
          <p:nvPr/>
        </p:nvSpPr>
        <p:spPr>
          <a:xfrm>
            <a:off x="329184" y="3218688"/>
            <a:ext cx="1051560" cy="219456"/>
          </a:xfrm>
          <a:prstGeom prst="rect">
            <a:avLst/>
          </a:prstGeom>
          <a:noFill/>
          <a:ln/>
        </p:spPr>
        <p:txBody>
          <a:bodyPr wrap="square" lIns="0" tIns="0" rIns="0" bIns="0" rtlCol="0" anchor="ctr"/>
          <a:lstStyle/>
          <a:p>
            <a:pPr indent="0" marL="0">
              <a:buNone/>
            </a:pPr>
            <a:r>
              <a:rPr lang="en-US" sz="1000" b="1" dirty="0">
                <a:solidFill>
                  <a:srgbClr val="0A1628"/>
                </a:solidFill>
                <a:latin typeface="Consolas" pitchFamily="34" charset="0"/>
                <a:ea typeface="Consolas" pitchFamily="34" charset="-122"/>
                <a:cs typeface="Consolas" pitchFamily="34" charset="-120"/>
              </a:rPr>
              <a:t>MV101</a:t>
            </a:r>
            <a:endParaRPr lang="en-US" sz="1000" dirty="0"/>
          </a:p>
        </p:txBody>
      </p:sp>
      <p:sp>
        <p:nvSpPr>
          <p:cNvPr id="45" name="Text 43"/>
          <p:cNvSpPr/>
          <p:nvPr/>
        </p:nvSpPr>
        <p:spPr>
          <a:xfrm>
            <a:off x="1426464" y="3218688"/>
            <a:ext cx="2057400" cy="219456"/>
          </a:xfrm>
          <a:prstGeom prst="rect">
            <a:avLst/>
          </a:prstGeom>
          <a:noFill/>
          <a:ln/>
        </p:spPr>
        <p:txBody>
          <a:bodyPr wrap="square" lIns="0" tIns="0" rIns="0" bIns="0" rtlCol="0" anchor="ctr"/>
          <a:lstStyle/>
          <a:p>
            <a:pPr indent="0" marL="0">
              <a:buNone/>
            </a:pPr>
            <a:r>
              <a:rPr lang="en-US" sz="1000" dirty="0">
                <a:solidFill>
                  <a:srgbClr val="0A1628"/>
                </a:solidFill>
                <a:latin typeface="Calibri" pitchFamily="34" charset="0"/>
                <a:ea typeface="Calibri" pitchFamily="34" charset="-122"/>
                <a:cs typeface="Calibri" pitchFamily="34" charset="-120"/>
              </a:rPr>
              <a:t>Motorised inlet valve (coil)</a:t>
            </a:r>
            <a:endParaRPr lang="en-US" sz="1000" dirty="0"/>
          </a:p>
        </p:txBody>
      </p:sp>
      <p:sp>
        <p:nvSpPr>
          <p:cNvPr id="46" name="Text 44"/>
          <p:cNvSpPr/>
          <p:nvPr/>
        </p:nvSpPr>
        <p:spPr>
          <a:xfrm>
            <a:off x="3529584" y="3218688"/>
            <a:ext cx="1600200" cy="219456"/>
          </a:xfrm>
          <a:prstGeom prst="rect">
            <a:avLst/>
          </a:prstGeom>
          <a:noFill/>
          <a:ln/>
        </p:spPr>
        <p:txBody>
          <a:bodyPr wrap="square" lIns="0" tIns="0" rIns="0" bIns="0" rtlCol="0" anchor="ctr"/>
          <a:lstStyle/>
          <a:p>
            <a:pPr indent="0" marL="0">
              <a:buNone/>
            </a:pPr>
            <a:r>
              <a:rPr lang="en-US" sz="1000" b="1" dirty="0">
                <a:solidFill>
                  <a:srgbClr val="E67E22"/>
                </a:solidFill>
                <a:latin typeface="Calibri" pitchFamily="34" charset="0"/>
                <a:ea typeface="Calibri" pitchFamily="34" charset="-122"/>
                <a:cs typeface="Calibri" pitchFamily="34" charset="-120"/>
              </a:rPr>
              <a:t>MEDIUM</a:t>
            </a:r>
            <a:endParaRPr lang="en-US" sz="1000" dirty="0"/>
          </a:p>
        </p:txBody>
      </p:sp>
      <p:sp>
        <p:nvSpPr>
          <p:cNvPr id="47" name="Text 45"/>
          <p:cNvSpPr/>
          <p:nvPr/>
        </p:nvSpPr>
        <p:spPr>
          <a:xfrm>
            <a:off x="6592824" y="3218688"/>
            <a:ext cx="2286000" cy="219456"/>
          </a:xfrm>
          <a:prstGeom prst="rect">
            <a:avLst/>
          </a:prstGeom>
          <a:noFill/>
          <a:ln/>
        </p:spPr>
        <p:txBody>
          <a:bodyPr wrap="square" lIns="0" tIns="0" rIns="0" bIns="0" rtlCol="0" anchor="ctr"/>
          <a:lstStyle/>
          <a:p>
            <a:pPr indent="0" marL="0">
              <a:buNone/>
            </a:pPr>
            <a:r>
              <a:rPr lang="en-US" sz="900" dirty="0">
                <a:solidFill>
                  <a:srgbClr val="444444"/>
                </a:solidFill>
                <a:latin typeface="Calibri" pitchFamily="34" charset="0"/>
                <a:ea typeface="Calibri" pitchFamily="34" charset="-122"/>
                <a:cs typeface="Calibri" pitchFamily="34" charset="-120"/>
              </a:rPr>
              <a:t>PLC register directly readable (not only sensor)</a:t>
            </a:r>
            <a:endParaRPr lang="en-US" sz="900" dirty="0"/>
          </a:p>
        </p:txBody>
      </p:sp>
      <p:sp>
        <p:nvSpPr>
          <p:cNvPr id="48" name="Shape 46"/>
          <p:cNvSpPr/>
          <p:nvPr/>
        </p:nvSpPr>
        <p:spPr>
          <a:xfrm>
            <a:off x="274320" y="3474720"/>
            <a:ext cx="1051560" cy="274320"/>
          </a:xfrm>
          <a:prstGeom prst="rect">
            <a:avLst/>
          </a:prstGeom>
          <a:solidFill>
            <a:srgbClr val="EEF3F8"/>
          </a:solidFill>
          <a:ln w="12700">
            <a:solidFill>
              <a:srgbClr val="EEF3F8"/>
            </a:solidFill>
            <a:prstDash val="solid"/>
          </a:ln>
        </p:spPr>
      </p:sp>
      <p:sp>
        <p:nvSpPr>
          <p:cNvPr id="49" name="Shape 47"/>
          <p:cNvSpPr/>
          <p:nvPr/>
        </p:nvSpPr>
        <p:spPr>
          <a:xfrm>
            <a:off x="1371600" y="3474720"/>
            <a:ext cx="2057400" cy="274320"/>
          </a:xfrm>
          <a:prstGeom prst="rect">
            <a:avLst/>
          </a:prstGeom>
          <a:solidFill>
            <a:srgbClr val="EEF3F8"/>
          </a:solidFill>
          <a:ln w="12700">
            <a:solidFill>
              <a:srgbClr val="EEF3F8"/>
            </a:solidFill>
            <a:prstDash val="solid"/>
          </a:ln>
        </p:spPr>
      </p:sp>
      <p:sp>
        <p:nvSpPr>
          <p:cNvPr id="50" name="Shape 48"/>
          <p:cNvSpPr/>
          <p:nvPr/>
        </p:nvSpPr>
        <p:spPr>
          <a:xfrm>
            <a:off x="3474720" y="3474720"/>
            <a:ext cx="1600200" cy="274320"/>
          </a:xfrm>
          <a:prstGeom prst="rect">
            <a:avLst/>
          </a:prstGeom>
          <a:solidFill>
            <a:srgbClr val="EEF3F8"/>
          </a:solidFill>
          <a:ln w="12700">
            <a:solidFill>
              <a:srgbClr val="EEF3F8"/>
            </a:solidFill>
            <a:prstDash val="solid"/>
          </a:ln>
        </p:spPr>
      </p:sp>
      <p:sp>
        <p:nvSpPr>
          <p:cNvPr id="51" name="Shape 49"/>
          <p:cNvSpPr/>
          <p:nvPr/>
        </p:nvSpPr>
        <p:spPr>
          <a:xfrm>
            <a:off x="5120640" y="3474720"/>
            <a:ext cx="1371600" cy="274320"/>
          </a:xfrm>
          <a:prstGeom prst="rect">
            <a:avLst/>
          </a:prstGeom>
          <a:solidFill>
            <a:srgbClr val="EEF3F8"/>
          </a:solidFill>
          <a:ln w="12700">
            <a:solidFill>
              <a:srgbClr val="EEF3F8"/>
            </a:solidFill>
            <a:prstDash val="solid"/>
          </a:ln>
        </p:spPr>
      </p:sp>
      <p:sp>
        <p:nvSpPr>
          <p:cNvPr id="52" name="Shape 50"/>
          <p:cNvSpPr/>
          <p:nvPr/>
        </p:nvSpPr>
        <p:spPr>
          <a:xfrm>
            <a:off x="6537960" y="3474720"/>
            <a:ext cx="2286000" cy="274320"/>
          </a:xfrm>
          <a:prstGeom prst="rect">
            <a:avLst/>
          </a:prstGeom>
          <a:solidFill>
            <a:srgbClr val="EEF3F8"/>
          </a:solidFill>
          <a:ln w="12700">
            <a:solidFill>
              <a:srgbClr val="EEF3F8"/>
            </a:solidFill>
            <a:prstDash val="solid"/>
          </a:ln>
        </p:spPr>
      </p:sp>
      <p:sp>
        <p:nvSpPr>
          <p:cNvPr id="53" name="Text 51"/>
          <p:cNvSpPr/>
          <p:nvPr/>
        </p:nvSpPr>
        <p:spPr>
          <a:xfrm>
            <a:off x="329184" y="3511296"/>
            <a:ext cx="1051560" cy="219456"/>
          </a:xfrm>
          <a:prstGeom prst="rect">
            <a:avLst/>
          </a:prstGeom>
          <a:noFill/>
          <a:ln/>
        </p:spPr>
        <p:txBody>
          <a:bodyPr wrap="square" lIns="0" tIns="0" rIns="0" bIns="0" rtlCol="0" anchor="ctr"/>
          <a:lstStyle/>
          <a:p>
            <a:pPr indent="0" marL="0">
              <a:buNone/>
            </a:pPr>
            <a:r>
              <a:rPr lang="en-US" sz="1000" b="1" dirty="0">
                <a:solidFill>
                  <a:srgbClr val="0A1628"/>
                </a:solidFill>
                <a:latin typeface="Consolas" pitchFamily="34" charset="0"/>
                <a:ea typeface="Consolas" pitchFamily="34" charset="-122"/>
                <a:cs typeface="Consolas" pitchFamily="34" charset="-120"/>
              </a:rPr>
              <a:t>P101</a:t>
            </a:r>
            <a:endParaRPr lang="en-US" sz="1000" dirty="0"/>
          </a:p>
        </p:txBody>
      </p:sp>
      <p:sp>
        <p:nvSpPr>
          <p:cNvPr id="54" name="Text 52"/>
          <p:cNvSpPr/>
          <p:nvPr/>
        </p:nvSpPr>
        <p:spPr>
          <a:xfrm>
            <a:off x="1426464" y="3511296"/>
            <a:ext cx="2057400" cy="219456"/>
          </a:xfrm>
          <a:prstGeom prst="rect">
            <a:avLst/>
          </a:prstGeom>
          <a:noFill/>
          <a:ln/>
        </p:spPr>
        <p:txBody>
          <a:bodyPr wrap="square" lIns="0" tIns="0" rIns="0" bIns="0" rtlCol="0" anchor="ctr"/>
          <a:lstStyle/>
          <a:p>
            <a:pPr indent="0" marL="0">
              <a:buNone/>
            </a:pPr>
            <a:r>
              <a:rPr lang="en-US" sz="1000" dirty="0">
                <a:solidFill>
                  <a:srgbClr val="0A1628"/>
                </a:solidFill>
                <a:latin typeface="Calibri" pitchFamily="34" charset="0"/>
                <a:ea typeface="Calibri" pitchFamily="34" charset="-122"/>
                <a:cs typeface="Calibri" pitchFamily="34" charset="-120"/>
              </a:rPr>
              <a:t>Primary pump (coil)</a:t>
            </a:r>
            <a:endParaRPr lang="en-US" sz="1000" dirty="0"/>
          </a:p>
        </p:txBody>
      </p:sp>
      <p:sp>
        <p:nvSpPr>
          <p:cNvPr id="55" name="Text 53"/>
          <p:cNvSpPr/>
          <p:nvPr/>
        </p:nvSpPr>
        <p:spPr>
          <a:xfrm>
            <a:off x="3529584" y="3511296"/>
            <a:ext cx="1600200" cy="219456"/>
          </a:xfrm>
          <a:prstGeom prst="rect">
            <a:avLst/>
          </a:prstGeom>
          <a:noFill/>
          <a:ln/>
        </p:spPr>
        <p:txBody>
          <a:bodyPr wrap="square" lIns="0" tIns="0" rIns="0" bIns="0" rtlCol="0" anchor="ctr"/>
          <a:lstStyle/>
          <a:p>
            <a:pPr indent="0" marL="0">
              <a:buNone/>
            </a:pPr>
            <a:r>
              <a:rPr lang="en-US" sz="1000" b="1" dirty="0">
                <a:solidFill>
                  <a:srgbClr val="E67E22"/>
                </a:solidFill>
                <a:latin typeface="Calibri" pitchFamily="34" charset="0"/>
                <a:ea typeface="Calibri" pitchFamily="34" charset="-122"/>
                <a:cs typeface="Calibri" pitchFamily="34" charset="-120"/>
              </a:rPr>
              <a:t>MEDIUM</a:t>
            </a:r>
            <a:endParaRPr lang="en-US" sz="1000" dirty="0"/>
          </a:p>
        </p:txBody>
      </p:sp>
      <p:sp>
        <p:nvSpPr>
          <p:cNvPr id="56" name="Text 54"/>
          <p:cNvSpPr/>
          <p:nvPr/>
        </p:nvSpPr>
        <p:spPr>
          <a:xfrm>
            <a:off x="6592824" y="3511296"/>
            <a:ext cx="2286000" cy="219456"/>
          </a:xfrm>
          <a:prstGeom prst="rect">
            <a:avLst/>
          </a:prstGeom>
          <a:noFill/>
          <a:ln/>
        </p:spPr>
        <p:txBody>
          <a:bodyPr wrap="square" lIns="0" tIns="0" rIns="0" bIns="0" rtlCol="0" anchor="ctr"/>
          <a:lstStyle/>
          <a:p>
            <a:pPr indent="0" marL="0">
              <a:buNone/>
            </a:pPr>
            <a:r>
              <a:rPr lang="en-US" sz="900" dirty="0">
                <a:solidFill>
                  <a:srgbClr val="444444"/>
                </a:solidFill>
                <a:latin typeface="Calibri" pitchFamily="34" charset="0"/>
                <a:ea typeface="Calibri" pitchFamily="34" charset="-122"/>
                <a:cs typeface="Calibri" pitchFamily="34" charset="-120"/>
              </a:rPr>
              <a:t>PLC register directly readable (not only sensor)</a:t>
            </a:r>
            <a:endParaRPr lang="en-US" sz="900" dirty="0"/>
          </a:p>
        </p:txBody>
      </p:sp>
      <p:sp>
        <p:nvSpPr>
          <p:cNvPr id="57" name="Shape 55"/>
          <p:cNvSpPr/>
          <p:nvPr/>
        </p:nvSpPr>
        <p:spPr>
          <a:xfrm>
            <a:off x="274320" y="3767328"/>
            <a:ext cx="1051560" cy="274320"/>
          </a:xfrm>
          <a:prstGeom prst="rect">
            <a:avLst/>
          </a:prstGeom>
          <a:solidFill>
            <a:srgbClr val="FFFFFF"/>
          </a:solidFill>
          <a:ln w="12700">
            <a:solidFill>
              <a:srgbClr val="FFFFFF"/>
            </a:solidFill>
            <a:prstDash val="solid"/>
          </a:ln>
        </p:spPr>
      </p:sp>
      <p:sp>
        <p:nvSpPr>
          <p:cNvPr id="58" name="Shape 56"/>
          <p:cNvSpPr/>
          <p:nvPr/>
        </p:nvSpPr>
        <p:spPr>
          <a:xfrm>
            <a:off x="1371600" y="3767328"/>
            <a:ext cx="2057400" cy="274320"/>
          </a:xfrm>
          <a:prstGeom prst="rect">
            <a:avLst/>
          </a:prstGeom>
          <a:solidFill>
            <a:srgbClr val="FFFFFF"/>
          </a:solidFill>
          <a:ln w="12700">
            <a:solidFill>
              <a:srgbClr val="FFFFFF"/>
            </a:solidFill>
            <a:prstDash val="solid"/>
          </a:ln>
        </p:spPr>
      </p:sp>
      <p:sp>
        <p:nvSpPr>
          <p:cNvPr id="59" name="Shape 57"/>
          <p:cNvSpPr/>
          <p:nvPr/>
        </p:nvSpPr>
        <p:spPr>
          <a:xfrm>
            <a:off x="3474720" y="3767328"/>
            <a:ext cx="1600200" cy="274320"/>
          </a:xfrm>
          <a:prstGeom prst="rect">
            <a:avLst/>
          </a:prstGeom>
          <a:solidFill>
            <a:srgbClr val="FFFFFF"/>
          </a:solidFill>
          <a:ln w="12700">
            <a:solidFill>
              <a:srgbClr val="FFFFFF"/>
            </a:solidFill>
            <a:prstDash val="solid"/>
          </a:ln>
        </p:spPr>
      </p:sp>
      <p:sp>
        <p:nvSpPr>
          <p:cNvPr id="60" name="Shape 58"/>
          <p:cNvSpPr/>
          <p:nvPr/>
        </p:nvSpPr>
        <p:spPr>
          <a:xfrm>
            <a:off x="5120640" y="3767328"/>
            <a:ext cx="1371600" cy="274320"/>
          </a:xfrm>
          <a:prstGeom prst="rect">
            <a:avLst/>
          </a:prstGeom>
          <a:solidFill>
            <a:srgbClr val="FFFFFF"/>
          </a:solidFill>
          <a:ln w="12700">
            <a:solidFill>
              <a:srgbClr val="FFFFFF"/>
            </a:solidFill>
            <a:prstDash val="solid"/>
          </a:ln>
        </p:spPr>
      </p:sp>
      <p:sp>
        <p:nvSpPr>
          <p:cNvPr id="61" name="Shape 59"/>
          <p:cNvSpPr/>
          <p:nvPr/>
        </p:nvSpPr>
        <p:spPr>
          <a:xfrm>
            <a:off x="6537960" y="3767328"/>
            <a:ext cx="2286000" cy="274320"/>
          </a:xfrm>
          <a:prstGeom prst="rect">
            <a:avLst/>
          </a:prstGeom>
          <a:solidFill>
            <a:srgbClr val="FFFFFF"/>
          </a:solidFill>
          <a:ln w="12700">
            <a:solidFill>
              <a:srgbClr val="FFFFFF"/>
            </a:solidFill>
            <a:prstDash val="solid"/>
          </a:ln>
        </p:spPr>
      </p:sp>
      <p:sp>
        <p:nvSpPr>
          <p:cNvPr id="62" name="Text 60"/>
          <p:cNvSpPr/>
          <p:nvPr/>
        </p:nvSpPr>
        <p:spPr>
          <a:xfrm>
            <a:off x="329184" y="3803904"/>
            <a:ext cx="1051560" cy="219456"/>
          </a:xfrm>
          <a:prstGeom prst="rect">
            <a:avLst/>
          </a:prstGeom>
          <a:noFill/>
          <a:ln/>
        </p:spPr>
        <p:txBody>
          <a:bodyPr wrap="square" lIns="0" tIns="0" rIns="0" bIns="0" rtlCol="0" anchor="ctr"/>
          <a:lstStyle/>
          <a:p>
            <a:pPr indent="0" marL="0">
              <a:buNone/>
            </a:pPr>
            <a:r>
              <a:rPr lang="en-US" sz="1000" b="1" dirty="0">
                <a:solidFill>
                  <a:srgbClr val="0A1628"/>
                </a:solidFill>
                <a:latin typeface="Consolas" pitchFamily="34" charset="0"/>
                <a:ea typeface="Consolas" pitchFamily="34" charset="-122"/>
                <a:cs typeface="Consolas" pitchFamily="34" charset="-120"/>
              </a:rPr>
              <a:t>P102</a:t>
            </a:r>
            <a:endParaRPr lang="en-US" sz="1000" dirty="0"/>
          </a:p>
        </p:txBody>
      </p:sp>
      <p:sp>
        <p:nvSpPr>
          <p:cNvPr id="63" name="Text 61"/>
          <p:cNvSpPr/>
          <p:nvPr/>
        </p:nvSpPr>
        <p:spPr>
          <a:xfrm>
            <a:off x="1426464" y="3803904"/>
            <a:ext cx="2057400" cy="219456"/>
          </a:xfrm>
          <a:prstGeom prst="rect">
            <a:avLst/>
          </a:prstGeom>
          <a:noFill/>
          <a:ln/>
        </p:spPr>
        <p:txBody>
          <a:bodyPr wrap="square" lIns="0" tIns="0" rIns="0" bIns="0" rtlCol="0" anchor="ctr"/>
          <a:lstStyle/>
          <a:p>
            <a:pPr indent="0" marL="0">
              <a:buNone/>
            </a:pPr>
            <a:r>
              <a:rPr lang="en-US" sz="1000" dirty="0">
                <a:solidFill>
                  <a:srgbClr val="0A1628"/>
                </a:solidFill>
                <a:latin typeface="Calibri" pitchFamily="34" charset="0"/>
                <a:ea typeface="Calibri" pitchFamily="34" charset="-122"/>
                <a:cs typeface="Calibri" pitchFamily="34" charset="-120"/>
              </a:rPr>
              <a:t>Backup pump (coil)</a:t>
            </a:r>
            <a:endParaRPr lang="en-US" sz="1000" dirty="0"/>
          </a:p>
        </p:txBody>
      </p:sp>
      <p:sp>
        <p:nvSpPr>
          <p:cNvPr id="64" name="Text 62"/>
          <p:cNvSpPr/>
          <p:nvPr/>
        </p:nvSpPr>
        <p:spPr>
          <a:xfrm>
            <a:off x="3529584" y="3803904"/>
            <a:ext cx="1600200" cy="219456"/>
          </a:xfrm>
          <a:prstGeom prst="rect">
            <a:avLst/>
          </a:prstGeom>
          <a:noFill/>
          <a:ln/>
        </p:spPr>
        <p:txBody>
          <a:bodyPr wrap="square" lIns="0" tIns="0" rIns="0" bIns="0" rtlCol="0" anchor="ctr"/>
          <a:lstStyle/>
          <a:p>
            <a:pPr indent="0" marL="0">
              <a:buNone/>
            </a:pPr>
            <a:r>
              <a:rPr lang="en-US" sz="1000" b="1" dirty="0">
                <a:solidFill>
                  <a:srgbClr val="27AE60"/>
                </a:solidFill>
                <a:latin typeface="Calibri" pitchFamily="34" charset="0"/>
                <a:ea typeface="Calibri" pitchFamily="34" charset="-122"/>
                <a:cs typeface="Calibri" pitchFamily="34" charset="-120"/>
              </a:rPr>
              <a:t>LOW</a:t>
            </a:r>
            <a:endParaRPr lang="en-US" sz="1000" dirty="0"/>
          </a:p>
        </p:txBody>
      </p:sp>
      <p:sp>
        <p:nvSpPr>
          <p:cNvPr id="65" name="Text 63"/>
          <p:cNvSpPr/>
          <p:nvPr/>
        </p:nvSpPr>
        <p:spPr>
          <a:xfrm>
            <a:off x="6592824" y="3803904"/>
            <a:ext cx="2286000" cy="219456"/>
          </a:xfrm>
          <a:prstGeom prst="rect">
            <a:avLst/>
          </a:prstGeom>
          <a:noFill/>
          <a:ln/>
        </p:spPr>
        <p:txBody>
          <a:bodyPr wrap="square" lIns="0" tIns="0" rIns="0" bIns="0" rtlCol="0" anchor="ctr"/>
          <a:lstStyle/>
          <a:p>
            <a:pPr indent="0" marL="0">
              <a:buNone/>
            </a:pPr>
            <a:r>
              <a:rPr lang="en-US" sz="900" dirty="0">
                <a:solidFill>
                  <a:srgbClr val="444444"/>
                </a:solidFill>
                <a:latin typeface="Calibri" pitchFamily="34" charset="0"/>
                <a:ea typeface="Calibri" pitchFamily="34" charset="-122"/>
                <a:cs typeface="Calibri" pitchFamily="34" charset="-120"/>
              </a:rPr>
              <a:t>Mirrors P101 state — 1-1 redundancy</a:t>
            </a:r>
            <a:endParaRPr lang="en-US" sz="900" dirty="0"/>
          </a:p>
        </p:txBody>
      </p:sp>
      <p:sp>
        <p:nvSpPr>
          <p:cNvPr id="66" name="Shape 64"/>
          <p:cNvSpPr/>
          <p:nvPr/>
        </p:nvSpPr>
        <p:spPr>
          <a:xfrm>
            <a:off x="228600" y="4105656"/>
            <a:ext cx="8686800" cy="621792"/>
          </a:xfrm>
          <a:prstGeom prst="rect">
            <a:avLst/>
          </a:prstGeom>
          <a:solidFill>
            <a:srgbClr val="0A1628"/>
          </a:solidFill>
          <a:ln w="12700">
            <a:solidFill>
              <a:srgbClr val="0A1628"/>
            </a:solidFill>
            <a:prstDash val="solid"/>
          </a:ln>
        </p:spPr>
      </p:sp>
      <p:sp>
        <p:nvSpPr>
          <p:cNvPr id="67" name="Shape 65"/>
          <p:cNvSpPr/>
          <p:nvPr/>
        </p:nvSpPr>
        <p:spPr>
          <a:xfrm>
            <a:off x="228600" y="4105656"/>
            <a:ext cx="64008" cy="621792"/>
          </a:xfrm>
          <a:prstGeom prst="rect">
            <a:avLst/>
          </a:prstGeom>
          <a:solidFill>
            <a:srgbClr val="7D3C98"/>
          </a:solidFill>
          <a:ln w="12700">
            <a:solidFill>
              <a:srgbClr val="7D3C98"/>
            </a:solidFill>
            <a:prstDash val="solid"/>
          </a:ln>
        </p:spPr>
      </p:sp>
      <p:sp>
        <p:nvSpPr>
          <p:cNvPr id="68" name="Text 66"/>
          <p:cNvSpPr/>
          <p:nvPr/>
        </p:nvSpPr>
        <p:spPr>
          <a:xfrm>
            <a:off x="411480" y="4142232"/>
            <a:ext cx="8321040" cy="566928"/>
          </a:xfrm>
          <a:prstGeom prst="rect">
            <a:avLst/>
          </a:prstGeom>
          <a:noFill/>
          <a:ln/>
        </p:spPr>
        <p:txBody>
          <a:bodyPr wrap="square" lIns="0" tIns="0" rIns="0" bIns="0" rtlCol="0" anchor="ctr"/>
          <a:lstStyle/>
          <a:p>
            <a:pPr indent="0" marL="0">
              <a:buNone/>
            </a:pPr>
            <a:r>
              <a:rPr lang="en-US" sz="1050" b="1" dirty="0">
                <a:solidFill>
                  <a:srgbClr val="A569BD"/>
                </a:solidFill>
                <a:latin typeface="Calibri" pitchFamily="34" charset="0"/>
                <a:ea typeface="Calibri" pitchFamily="34" charset="-122"/>
                <a:cs typeface="Calibri" pitchFamily="34" charset="-120"/>
              </a:rPr>
              <a:t xml:space="preserve">SWaT P1 conclusion:  </a:t>
            </a:r>
            <a:pPr indent="0" marL="0">
              <a:buNone/>
            </a:pPr>
            <a:r>
              <a:rPr lang="en-US" sz="1050" dirty="0">
                <a:solidFill>
                  <a:srgbClr val="E8EEF4"/>
                </a:solidFill>
                <a:latin typeface="Calibri" pitchFamily="34" charset="0"/>
                <a:ea typeface="Calibri" pitchFamily="34" charset="-122"/>
                <a:cs typeface="Calibri" pitchFamily="34" charset="-120"/>
              </a:rPr>
              <a:t>P1 has 5 sensors/actuators. For SSE to work under Paper #9's attack (which targets MV101 + P101 coils), we need the system to be 2×1 = 2-sparse observable — i.e. state recoverable after removing any 2 sensor rows. SWaT P1 satisfies this since FIT101 and LIT101 together with the process ODE fully determine the tank state even without actuator coil readings.</a:t>
            </a:r>
            <a:endParaRPr lang="en-US" sz="1050" dirty="0"/>
          </a:p>
        </p:txBody>
      </p:sp>
      <p:sp>
        <p:nvSpPr>
          <p:cNvPr id="69" name="Shape 67"/>
          <p:cNvSpPr/>
          <p:nvPr/>
        </p:nvSpPr>
        <p:spPr>
          <a:xfrm>
            <a:off x="0" y="4773168"/>
            <a:ext cx="9144000" cy="374904"/>
          </a:xfrm>
          <a:prstGeom prst="rect">
            <a:avLst/>
          </a:prstGeom>
          <a:solidFill>
            <a:srgbClr val="1B3A5C"/>
          </a:solidFill>
          <a:ln w="12700">
            <a:solidFill>
              <a:srgbClr val="1B3A5C"/>
            </a:solidFill>
            <a:prstDash val="solid"/>
          </a:ln>
        </p:spPr>
      </p:sp>
      <p:sp>
        <p:nvSpPr>
          <p:cNvPr id="70" name="Text 68"/>
          <p:cNvSpPr/>
          <p:nvPr/>
        </p:nvSpPr>
        <p:spPr>
          <a:xfrm>
            <a:off x="274320" y="4773168"/>
            <a:ext cx="8595360" cy="374904"/>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Recovery Research  ·  2s-Sparse Observability</a:t>
            </a:r>
            <a:endParaRPr lang="en-US" sz="1000" dirty="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A7E8C"/>
          </a:solidFill>
          <a:ln w="12700">
            <a:solidFill>
              <a:srgbClr val="0A7E8C"/>
            </a:solidFill>
            <a:prstDash val="solid"/>
          </a:ln>
        </p:spPr>
      </p:sp>
      <p:sp>
        <p:nvSpPr>
          <p:cNvPr id="3" name="Text 1"/>
          <p:cNvSpPr/>
          <p:nvPr/>
        </p:nvSpPr>
        <p:spPr>
          <a:xfrm>
            <a:off x="365760" y="91440"/>
            <a:ext cx="8412480" cy="457200"/>
          </a:xfrm>
          <a:prstGeom prst="rect">
            <a:avLst/>
          </a:prstGeom>
          <a:noFill/>
          <a:ln/>
        </p:spPr>
        <p:txBody>
          <a:bodyPr wrap="square" lIns="0" tIns="0" rIns="0" bIns="0" rtlCol="0" anchor="ctr"/>
          <a:lstStyle/>
          <a:p>
            <a:pPr indent="0" marL="0">
              <a:buNone/>
            </a:pPr>
            <a:r>
              <a:rPr lang="en-US" sz="2500" b="1" dirty="0">
                <a:solidFill>
                  <a:srgbClr val="FFFFFF"/>
                </a:solidFill>
                <a:latin typeface="Calibri" pitchFamily="34" charset="0"/>
                <a:ea typeface="Calibri" pitchFamily="34" charset="-122"/>
                <a:cs typeface="Calibri" pitchFamily="34" charset="-120"/>
              </a:rPr>
              <a:t>Proposed: Invariant-Guided Sensor Reconstruction</a:t>
            </a:r>
            <a:endParaRPr lang="en-US" sz="2500" dirty="0"/>
          </a:p>
        </p:txBody>
      </p:sp>
      <p:sp>
        <p:nvSpPr>
          <p:cNvPr id="4" name="Text 2"/>
          <p:cNvSpPr/>
          <p:nvPr/>
        </p:nvSpPr>
        <p:spPr>
          <a:xfrm>
            <a:off x="365760" y="566928"/>
            <a:ext cx="8412480" cy="237744"/>
          </a:xfrm>
          <a:prstGeom prst="rect">
            <a:avLst/>
          </a:prstGeom>
          <a:noFill/>
          <a:ln/>
        </p:spPr>
        <p:txBody>
          <a:bodyPr wrap="square" lIns="0" tIns="0" rIns="0" bIns="0" rtlCol="0" anchor="ctr"/>
          <a:lstStyle/>
          <a:p>
            <a:pPr indent="0" marL="0">
              <a:buNone/>
            </a:pPr>
            <a:r>
              <a:rPr lang="en-US" sz="1150" i="1" dirty="0">
                <a:solidFill>
                  <a:srgbClr val="8FA3B1"/>
                </a:solidFill>
                <a:latin typeface="Calibri" pitchFamily="34" charset="0"/>
                <a:ea typeface="Calibri" pitchFamily="34" charset="-122"/>
                <a:cs typeface="Calibri" pitchFamily="34" charset="-120"/>
              </a:rPr>
              <a:t>A SWaT-specific deep recovery method — physics-constrained re-entry after safe state is reached</a:t>
            </a:r>
            <a:endParaRPr lang="en-US" sz="1150" dirty="0"/>
          </a:p>
        </p:txBody>
      </p:sp>
      <p:sp>
        <p:nvSpPr>
          <p:cNvPr id="5" name="Shape 3"/>
          <p:cNvSpPr/>
          <p:nvPr/>
        </p:nvSpPr>
        <p:spPr>
          <a:xfrm>
            <a:off x="228600" y="914400"/>
            <a:ext cx="4160520" cy="3840480"/>
          </a:xfrm>
          <a:prstGeom prst="rect">
            <a:avLst/>
          </a:prstGeom>
          <a:solidFill>
            <a:srgbClr val="1B3A5C"/>
          </a:solidFill>
          <a:ln w="12700">
            <a:solidFill>
              <a:srgbClr val="1B3A5C"/>
            </a:solidFill>
            <a:prstDash val="solid"/>
          </a:ln>
        </p:spPr>
      </p:sp>
      <p:sp>
        <p:nvSpPr>
          <p:cNvPr id="6" name="Shape 4"/>
          <p:cNvSpPr/>
          <p:nvPr/>
        </p:nvSpPr>
        <p:spPr>
          <a:xfrm>
            <a:off x="228600" y="914400"/>
            <a:ext cx="64008" cy="3840480"/>
          </a:xfrm>
          <a:prstGeom prst="rect">
            <a:avLst/>
          </a:prstGeom>
          <a:solidFill>
            <a:srgbClr val="0A7E8C"/>
          </a:solidFill>
          <a:ln w="12700">
            <a:solidFill>
              <a:srgbClr val="0A7E8C"/>
            </a:solidFill>
            <a:prstDash val="solid"/>
          </a:ln>
        </p:spPr>
      </p:sp>
      <p:sp>
        <p:nvSpPr>
          <p:cNvPr id="7" name="Text 5"/>
          <p:cNvSpPr/>
          <p:nvPr/>
        </p:nvSpPr>
        <p:spPr>
          <a:xfrm>
            <a:off x="411480" y="978408"/>
            <a:ext cx="3840480" cy="292608"/>
          </a:xfrm>
          <a:prstGeom prst="rect">
            <a:avLst/>
          </a:prstGeom>
          <a:noFill/>
          <a:ln/>
        </p:spPr>
        <p:txBody>
          <a:bodyPr wrap="square" lIns="0" tIns="0" rIns="0" bIns="0" rtlCol="0" anchor="ctr"/>
          <a:lstStyle/>
          <a:p>
            <a:pPr indent="0" marL="0">
              <a:buNone/>
            </a:pPr>
            <a:r>
              <a:rPr lang="en-US" sz="1400" b="1" dirty="0">
                <a:solidFill>
                  <a:srgbClr val="12B5C8"/>
                </a:solidFill>
                <a:latin typeface="Calibri" pitchFamily="34" charset="0"/>
                <a:ea typeface="Calibri" pitchFamily="34" charset="-122"/>
                <a:cs typeface="Calibri" pitchFamily="34" charset="-120"/>
              </a:rPr>
              <a:t>Algorithm: Invariant-Guided Re-entry</a:t>
            </a:r>
            <a:endParaRPr lang="en-US" sz="1400" dirty="0"/>
          </a:p>
        </p:txBody>
      </p:sp>
      <p:sp>
        <p:nvSpPr>
          <p:cNvPr id="8" name="Shape 6"/>
          <p:cNvSpPr/>
          <p:nvPr/>
        </p:nvSpPr>
        <p:spPr>
          <a:xfrm>
            <a:off x="347472" y="1335024"/>
            <a:ext cx="274320" cy="274320"/>
          </a:xfrm>
          <a:prstGeom prst="rect">
            <a:avLst/>
          </a:prstGeom>
          <a:solidFill>
            <a:srgbClr val="27AE60"/>
          </a:solidFill>
          <a:ln w="12700">
            <a:solidFill>
              <a:srgbClr val="27AE60"/>
            </a:solidFill>
            <a:prstDash val="solid"/>
          </a:ln>
        </p:spPr>
      </p:sp>
      <p:sp>
        <p:nvSpPr>
          <p:cNvPr id="9" name="Text 7"/>
          <p:cNvSpPr/>
          <p:nvPr/>
        </p:nvSpPr>
        <p:spPr>
          <a:xfrm>
            <a:off x="347472" y="133502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676656" y="1344168"/>
            <a:ext cx="3566160" cy="201168"/>
          </a:xfrm>
          <a:prstGeom prst="rect">
            <a:avLst/>
          </a:prstGeom>
          <a:noFill/>
          <a:ln/>
        </p:spPr>
        <p:txBody>
          <a:bodyPr wrap="square" lIns="0" tIns="0" rIns="0" bIns="0" rtlCol="0" anchor="ctr"/>
          <a:lstStyle/>
          <a:p>
            <a:pPr indent="0" marL="0">
              <a:buNone/>
            </a:pPr>
            <a:r>
              <a:rPr lang="en-US" sz="1050" b="1" dirty="0">
                <a:solidFill>
                  <a:srgbClr val="E8EEF4"/>
                </a:solidFill>
                <a:latin typeface="Calibri" pitchFamily="34" charset="0"/>
                <a:ea typeface="Calibri" pitchFamily="34" charset="-122"/>
                <a:cs typeface="Calibri" pitchFamily="34" charset="-120"/>
              </a:rPr>
              <a:t>Reach Safe State</a:t>
            </a:r>
            <a:endParaRPr lang="en-US" sz="1050" dirty="0"/>
          </a:p>
        </p:txBody>
      </p:sp>
      <p:sp>
        <p:nvSpPr>
          <p:cNvPr id="11" name="Text 9"/>
          <p:cNvSpPr/>
          <p:nvPr/>
        </p:nvSpPr>
        <p:spPr>
          <a:xfrm>
            <a:off x="411480" y="1554480"/>
            <a:ext cx="3840480" cy="301752"/>
          </a:xfrm>
          <a:prstGeom prst="rect">
            <a:avLst/>
          </a:prstGeom>
          <a:noFill/>
          <a:ln/>
        </p:spPr>
        <p:txBody>
          <a:bodyPr wrap="square" lIns="0" tIns="0" rIns="0" bIns="0" rtlCol="0" anchor="ctr"/>
          <a:lstStyle/>
          <a:p>
            <a:pPr indent="0" marL="0">
              <a:buNone/>
            </a:pPr>
            <a:r>
              <a:rPr lang="en-US" sz="900" dirty="0">
                <a:solidFill>
                  <a:srgbClr val="C9D6DF"/>
                </a:solidFill>
                <a:latin typeface="Calibri" pitchFamily="34" charset="0"/>
                <a:ea typeface="Calibri" pitchFamily="34" charset="-122"/>
                <a:cs typeface="Calibri" pitchFamily="34" charset="-120"/>
              </a:rPr>
              <a:t>All P1 actuators driven to known-safe values (MV101 CLOSED, P101/102 OFF). Wait 2 PLC cycles for register confirmation.</a:t>
            </a:r>
            <a:endParaRPr lang="en-US" sz="900" dirty="0"/>
          </a:p>
        </p:txBody>
      </p:sp>
      <p:sp>
        <p:nvSpPr>
          <p:cNvPr id="12" name="Shape 10"/>
          <p:cNvSpPr/>
          <p:nvPr/>
        </p:nvSpPr>
        <p:spPr>
          <a:xfrm>
            <a:off x="347472" y="1883664"/>
            <a:ext cx="274320" cy="274320"/>
          </a:xfrm>
          <a:prstGeom prst="rect">
            <a:avLst/>
          </a:prstGeom>
          <a:solidFill>
            <a:srgbClr val="2980B9"/>
          </a:solidFill>
          <a:ln w="12700">
            <a:solidFill>
              <a:srgbClr val="2980B9"/>
            </a:solidFill>
            <a:prstDash val="solid"/>
          </a:ln>
        </p:spPr>
      </p:sp>
      <p:sp>
        <p:nvSpPr>
          <p:cNvPr id="13" name="Text 11"/>
          <p:cNvSpPr/>
          <p:nvPr/>
        </p:nvSpPr>
        <p:spPr>
          <a:xfrm>
            <a:off x="347472" y="188366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p:nvPr/>
        </p:nvSpPr>
        <p:spPr>
          <a:xfrm>
            <a:off x="676656" y="1892808"/>
            <a:ext cx="3566160" cy="201168"/>
          </a:xfrm>
          <a:prstGeom prst="rect">
            <a:avLst/>
          </a:prstGeom>
          <a:noFill/>
          <a:ln/>
        </p:spPr>
        <p:txBody>
          <a:bodyPr wrap="square" lIns="0" tIns="0" rIns="0" bIns="0" rtlCol="0" anchor="ctr"/>
          <a:lstStyle/>
          <a:p>
            <a:pPr indent="0" marL="0">
              <a:buNone/>
            </a:pPr>
            <a:r>
              <a:rPr lang="en-US" sz="1050" b="1" dirty="0">
                <a:solidFill>
                  <a:srgbClr val="E8EEF4"/>
                </a:solidFill>
                <a:latin typeface="Calibri" pitchFamily="34" charset="0"/>
                <a:ea typeface="Calibri" pitchFamily="34" charset="-122"/>
                <a:cs typeface="Calibri" pitchFamily="34" charset="-120"/>
              </a:rPr>
              <a:t>Isolate Attack Channel</a:t>
            </a:r>
            <a:endParaRPr lang="en-US" sz="1050" dirty="0"/>
          </a:p>
        </p:txBody>
      </p:sp>
      <p:sp>
        <p:nvSpPr>
          <p:cNvPr id="15" name="Text 13"/>
          <p:cNvSpPr/>
          <p:nvPr/>
        </p:nvSpPr>
        <p:spPr>
          <a:xfrm>
            <a:off x="411480" y="2103120"/>
            <a:ext cx="3840480" cy="301752"/>
          </a:xfrm>
          <a:prstGeom prst="rect">
            <a:avLst/>
          </a:prstGeom>
          <a:noFill/>
          <a:ln/>
        </p:spPr>
        <p:txBody>
          <a:bodyPr wrap="square" lIns="0" tIns="0" rIns="0" bIns="0" rtlCol="0" anchor="ctr"/>
          <a:lstStyle/>
          <a:p>
            <a:pPr indent="0" marL="0">
              <a:buNone/>
            </a:pPr>
            <a:r>
              <a:rPr lang="en-US" sz="900" dirty="0">
                <a:solidFill>
                  <a:srgbClr val="C9D6DF"/>
                </a:solidFill>
                <a:latin typeface="Calibri" pitchFamily="34" charset="0"/>
                <a:ea typeface="Calibri" pitchFamily="34" charset="-122"/>
                <a:cs typeface="Calibri" pitchFamily="34" charset="-120"/>
              </a:rPr>
              <a:t>Modbus TCP blocked. PLC1B is now primary. All Modbus traffic to PLC1A dropped at iptables.</a:t>
            </a:r>
            <a:endParaRPr lang="en-US" sz="900" dirty="0"/>
          </a:p>
        </p:txBody>
      </p:sp>
      <p:sp>
        <p:nvSpPr>
          <p:cNvPr id="16" name="Shape 14"/>
          <p:cNvSpPr/>
          <p:nvPr/>
        </p:nvSpPr>
        <p:spPr>
          <a:xfrm>
            <a:off x="347472" y="2432304"/>
            <a:ext cx="274320" cy="274320"/>
          </a:xfrm>
          <a:prstGeom prst="rect">
            <a:avLst/>
          </a:prstGeom>
          <a:solidFill>
            <a:srgbClr val="7D3C98"/>
          </a:solidFill>
          <a:ln w="12700">
            <a:solidFill>
              <a:srgbClr val="7D3C98"/>
            </a:solidFill>
            <a:prstDash val="solid"/>
          </a:ln>
        </p:spPr>
      </p:sp>
      <p:sp>
        <p:nvSpPr>
          <p:cNvPr id="17" name="Text 15"/>
          <p:cNvSpPr/>
          <p:nvPr/>
        </p:nvSpPr>
        <p:spPr>
          <a:xfrm>
            <a:off x="347472" y="243230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6"/>
          <p:cNvSpPr/>
          <p:nvPr/>
        </p:nvSpPr>
        <p:spPr>
          <a:xfrm>
            <a:off x="676656" y="2441448"/>
            <a:ext cx="3566160" cy="201168"/>
          </a:xfrm>
          <a:prstGeom prst="rect">
            <a:avLst/>
          </a:prstGeom>
          <a:noFill/>
          <a:ln/>
        </p:spPr>
        <p:txBody>
          <a:bodyPr wrap="square" lIns="0" tIns="0" rIns="0" bIns="0" rtlCol="0" anchor="ctr"/>
          <a:lstStyle/>
          <a:p>
            <a:pPr indent="0" marL="0">
              <a:buNone/>
            </a:pPr>
            <a:r>
              <a:rPr lang="en-US" sz="1050" b="1" dirty="0">
                <a:solidFill>
                  <a:srgbClr val="E8EEF4"/>
                </a:solidFill>
                <a:latin typeface="Calibri" pitchFamily="34" charset="0"/>
                <a:ea typeface="Calibri" pitchFamily="34" charset="-122"/>
                <a:cs typeface="Calibri" pitchFamily="34" charset="-120"/>
              </a:rPr>
              <a:t>Reconstruct LIT101 from ODE</a:t>
            </a:r>
            <a:endParaRPr lang="en-US" sz="1050" dirty="0"/>
          </a:p>
        </p:txBody>
      </p:sp>
      <p:sp>
        <p:nvSpPr>
          <p:cNvPr id="19" name="Text 17"/>
          <p:cNvSpPr/>
          <p:nvPr/>
        </p:nvSpPr>
        <p:spPr>
          <a:xfrm>
            <a:off x="411480" y="2651760"/>
            <a:ext cx="3840480" cy="301752"/>
          </a:xfrm>
          <a:prstGeom prst="rect">
            <a:avLst/>
          </a:prstGeom>
          <a:noFill/>
          <a:ln/>
        </p:spPr>
        <p:txBody>
          <a:bodyPr wrap="square" lIns="0" tIns="0" rIns="0" bIns="0" rtlCol="0" anchor="ctr"/>
          <a:lstStyle/>
          <a:p>
            <a:pPr indent="0" marL="0">
              <a:buNone/>
            </a:pPr>
            <a:r>
              <a:rPr lang="en-US" sz="900" dirty="0">
                <a:solidFill>
                  <a:srgbClr val="C9D6DF"/>
                </a:solidFill>
                <a:latin typeface="Calibri" pitchFamily="34" charset="0"/>
                <a:ea typeface="Calibri" pitchFamily="34" charset="-122"/>
                <a:cs typeface="Calibri" pitchFamily="34" charset="-120"/>
              </a:rPr>
              <a:t>Use process model: dL/dt = Q_in - Q_out. Since pumps are OFF, Q_in=Q_out=0, so LIT101 = last_valid_LIT101. Cross-check with historical trend.</a:t>
            </a:r>
            <a:endParaRPr lang="en-US" sz="900" dirty="0"/>
          </a:p>
        </p:txBody>
      </p:sp>
      <p:sp>
        <p:nvSpPr>
          <p:cNvPr id="20" name="Shape 18"/>
          <p:cNvSpPr/>
          <p:nvPr/>
        </p:nvSpPr>
        <p:spPr>
          <a:xfrm>
            <a:off x="347472" y="2980944"/>
            <a:ext cx="274320" cy="274320"/>
          </a:xfrm>
          <a:prstGeom prst="rect">
            <a:avLst/>
          </a:prstGeom>
          <a:solidFill>
            <a:srgbClr val="0A7E8C"/>
          </a:solidFill>
          <a:ln w="12700">
            <a:solidFill>
              <a:srgbClr val="0A7E8C"/>
            </a:solidFill>
            <a:prstDash val="solid"/>
          </a:ln>
        </p:spPr>
      </p:sp>
      <p:sp>
        <p:nvSpPr>
          <p:cNvPr id="21" name="Text 19"/>
          <p:cNvSpPr/>
          <p:nvPr/>
        </p:nvSpPr>
        <p:spPr>
          <a:xfrm>
            <a:off x="347472" y="298094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20"/>
          <p:cNvSpPr/>
          <p:nvPr/>
        </p:nvSpPr>
        <p:spPr>
          <a:xfrm>
            <a:off x="676656" y="2990088"/>
            <a:ext cx="3566160" cy="201168"/>
          </a:xfrm>
          <a:prstGeom prst="rect">
            <a:avLst/>
          </a:prstGeom>
          <a:noFill/>
          <a:ln/>
        </p:spPr>
        <p:txBody>
          <a:bodyPr wrap="square" lIns="0" tIns="0" rIns="0" bIns="0" rtlCol="0" anchor="ctr"/>
          <a:lstStyle/>
          <a:p>
            <a:pPr indent="0" marL="0">
              <a:buNone/>
            </a:pPr>
            <a:r>
              <a:rPr lang="en-US" sz="1050" b="1" dirty="0">
                <a:solidFill>
                  <a:srgbClr val="E8EEF4"/>
                </a:solidFill>
                <a:latin typeface="Calibri" pitchFamily="34" charset="0"/>
                <a:ea typeface="Calibri" pitchFamily="34" charset="-122"/>
                <a:cs typeface="Calibri" pitchFamily="34" charset="-120"/>
              </a:rPr>
              <a:t>Re-enable sensors sequentially</a:t>
            </a:r>
            <a:endParaRPr lang="en-US" sz="1050" dirty="0"/>
          </a:p>
        </p:txBody>
      </p:sp>
      <p:sp>
        <p:nvSpPr>
          <p:cNvPr id="23" name="Text 21"/>
          <p:cNvSpPr/>
          <p:nvPr/>
        </p:nvSpPr>
        <p:spPr>
          <a:xfrm>
            <a:off x="411480" y="3200400"/>
            <a:ext cx="3840480" cy="301752"/>
          </a:xfrm>
          <a:prstGeom prst="rect">
            <a:avLst/>
          </a:prstGeom>
          <a:noFill/>
          <a:ln/>
        </p:spPr>
        <p:txBody>
          <a:bodyPr wrap="square" lIns="0" tIns="0" rIns="0" bIns="0" rtlCol="0" anchor="ctr"/>
          <a:lstStyle/>
          <a:p>
            <a:pPr indent="0" marL="0">
              <a:buNone/>
            </a:pPr>
            <a:r>
              <a:rPr lang="en-US" sz="900" dirty="0">
                <a:solidFill>
                  <a:srgbClr val="C9D6DF"/>
                </a:solidFill>
                <a:latin typeface="Calibri" pitchFamily="34" charset="0"/>
                <a:ea typeface="Calibri" pitchFamily="34" charset="-122"/>
                <a:cs typeface="Calibri" pitchFamily="34" charset="-120"/>
              </a:rPr>
              <a:t>Enable FIT101 first (reads 0 — valve closed). Accept if consistent with I-6. Then enable MV101 coil read. Accept if FIT101 responds correctly on valve open.</a:t>
            </a:r>
            <a:endParaRPr lang="en-US" sz="900" dirty="0"/>
          </a:p>
        </p:txBody>
      </p:sp>
      <p:sp>
        <p:nvSpPr>
          <p:cNvPr id="24" name="Shape 22"/>
          <p:cNvSpPr/>
          <p:nvPr/>
        </p:nvSpPr>
        <p:spPr>
          <a:xfrm>
            <a:off x="347472" y="3529584"/>
            <a:ext cx="274320" cy="274320"/>
          </a:xfrm>
          <a:prstGeom prst="rect">
            <a:avLst/>
          </a:prstGeom>
          <a:solidFill>
            <a:srgbClr val="E67E22"/>
          </a:solidFill>
          <a:ln w="12700">
            <a:solidFill>
              <a:srgbClr val="E67E22"/>
            </a:solidFill>
            <a:prstDash val="solid"/>
          </a:ln>
        </p:spPr>
      </p:sp>
      <p:sp>
        <p:nvSpPr>
          <p:cNvPr id="25" name="Text 23"/>
          <p:cNvSpPr/>
          <p:nvPr/>
        </p:nvSpPr>
        <p:spPr>
          <a:xfrm>
            <a:off x="347472" y="352958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6" name="Text 24"/>
          <p:cNvSpPr/>
          <p:nvPr/>
        </p:nvSpPr>
        <p:spPr>
          <a:xfrm>
            <a:off x="676656" y="3538728"/>
            <a:ext cx="3566160" cy="201168"/>
          </a:xfrm>
          <a:prstGeom prst="rect">
            <a:avLst/>
          </a:prstGeom>
          <a:noFill/>
          <a:ln/>
        </p:spPr>
        <p:txBody>
          <a:bodyPr wrap="square" lIns="0" tIns="0" rIns="0" bIns="0" rtlCol="0" anchor="ctr"/>
          <a:lstStyle/>
          <a:p>
            <a:pPr indent="0" marL="0">
              <a:buNone/>
            </a:pPr>
            <a:r>
              <a:rPr lang="en-US" sz="1050" b="1" dirty="0">
                <a:solidFill>
                  <a:srgbClr val="E8EEF4"/>
                </a:solidFill>
                <a:latin typeface="Calibri" pitchFamily="34" charset="0"/>
                <a:ea typeface="Calibri" pitchFamily="34" charset="-122"/>
                <a:cs typeface="Calibri" pitchFamily="34" charset="-120"/>
              </a:rPr>
              <a:t>Invariant-gated acceptance</a:t>
            </a:r>
            <a:endParaRPr lang="en-US" sz="1050" dirty="0"/>
          </a:p>
        </p:txBody>
      </p:sp>
      <p:sp>
        <p:nvSpPr>
          <p:cNvPr id="27" name="Text 25"/>
          <p:cNvSpPr/>
          <p:nvPr/>
        </p:nvSpPr>
        <p:spPr>
          <a:xfrm>
            <a:off x="411480" y="3749040"/>
            <a:ext cx="3840480" cy="301752"/>
          </a:xfrm>
          <a:prstGeom prst="rect">
            <a:avLst/>
          </a:prstGeom>
          <a:noFill/>
          <a:ln/>
        </p:spPr>
        <p:txBody>
          <a:bodyPr wrap="square" lIns="0" tIns="0" rIns="0" bIns="0" rtlCol="0" anchor="ctr"/>
          <a:lstStyle/>
          <a:p>
            <a:pPr indent="0" marL="0">
              <a:buNone/>
            </a:pPr>
            <a:r>
              <a:rPr lang="en-US" sz="900" dirty="0">
                <a:solidFill>
                  <a:srgbClr val="C9D6DF"/>
                </a:solidFill>
                <a:latin typeface="Calibri" pitchFamily="34" charset="0"/>
                <a:ea typeface="Calibri" pitchFamily="34" charset="-122"/>
                <a:cs typeface="Calibri" pitchFamily="34" charset="-120"/>
              </a:rPr>
              <a:t>Each sensor reading accepted only if ALL 8 invariants remain satisfied for 5 consecutive cycles. Any violation → reject + hold last valid.</a:t>
            </a:r>
            <a:endParaRPr lang="en-US" sz="900" dirty="0"/>
          </a:p>
        </p:txBody>
      </p:sp>
      <p:sp>
        <p:nvSpPr>
          <p:cNvPr id="28" name="Shape 26"/>
          <p:cNvSpPr/>
          <p:nvPr/>
        </p:nvSpPr>
        <p:spPr>
          <a:xfrm>
            <a:off x="347472" y="4078224"/>
            <a:ext cx="274320" cy="274320"/>
          </a:xfrm>
          <a:prstGeom prst="rect">
            <a:avLst/>
          </a:prstGeom>
          <a:solidFill>
            <a:srgbClr val="27AE60"/>
          </a:solidFill>
          <a:ln w="12700">
            <a:solidFill>
              <a:srgbClr val="27AE60"/>
            </a:solidFill>
            <a:prstDash val="solid"/>
          </a:ln>
        </p:spPr>
      </p:sp>
      <p:sp>
        <p:nvSpPr>
          <p:cNvPr id="29" name="Text 27"/>
          <p:cNvSpPr/>
          <p:nvPr/>
        </p:nvSpPr>
        <p:spPr>
          <a:xfrm>
            <a:off x="347472" y="407822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0" name="Text 28"/>
          <p:cNvSpPr/>
          <p:nvPr/>
        </p:nvSpPr>
        <p:spPr>
          <a:xfrm>
            <a:off x="676656" y="4087368"/>
            <a:ext cx="3566160" cy="201168"/>
          </a:xfrm>
          <a:prstGeom prst="rect">
            <a:avLst/>
          </a:prstGeom>
          <a:noFill/>
          <a:ln/>
        </p:spPr>
        <p:txBody>
          <a:bodyPr wrap="square" lIns="0" tIns="0" rIns="0" bIns="0" rtlCol="0" anchor="ctr"/>
          <a:lstStyle/>
          <a:p>
            <a:pPr indent="0" marL="0">
              <a:buNone/>
            </a:pPr>
            <a:r>
              <a:rPr lang="en-US" sz="1050" b="1" dirty="0">
                <a:solidFill>
                  <a:srgbClr val="E8EEF4"/>
                </a:solidFill>
                <a:latin typeface="Calibri" pitchFamily="34" charset="0"/>
                <a:ea typeface="Calibri" pitchFamily="34" charset="-122"/>
                <a:cs typeface="Calibri" pitchFamily="34" charset="-120"/>
              </a:rPr>
              <a:t>Resume normal control</a:t>
            </a:r>
            <a:endParaRPr lang="en-US" sz="1050" dirty="0"/>
          </a:p>
        </p:txBody>
      </p:sp>
      <p:sp>
        <p:nvSpPr>
          <p:cNvPr id="31" name="Text 29"/>
          <p:cNvSpPr/>
          <p:nvPr/>
        </p:nvSpPr>
        <p:spPr>
          <a:xfrm>
            <a:off x="411480" y="4297680"/>
            <a:ext cx="3840480" cy="301752"/>
          </a:xfrm>
          <a:prstGeom prst="rect">
            <a:avLst/>
          </a:prstGeom>
          <a:noFill/>
          <a:ln/>
        </p:spPr>
        <p:txBody>
          <a:bodyPr wrap="square" lIns="0" tIns="0" rIns="0" bIns="0" rtlCol="0" anchor="ctr"/>
          <a:lstStyle/>
          <a:p>
            <a:pPr indent="0" marL="0">
              <a:buNone/>
            </a:pPr>
            <a:r>
              <a:rPr lang="en-US" sz="900" dirty="0">
                <a:solidFill>
                  <a:srgbClr val="C9D6DF"/>
                </a:solidFill>
                <a:latin typeface="Calibri" pitchFamily="34" charset="0"/>
                <a:ea typeface="Calibri" pitchFamily="34" charset="-122"/>
                <a:cs typeface="Calibri" pitchFamily="34" charset="-120"/>
              </a:rPr>
              <a:t>Transfer control back to full PLC1B ladder logic. Log full incident timeline. Notify security team for forensics.</a:t>
            </a:r>
            <a:endParaRPr lang="en-US" sz="900" dirty="0"/>
          </a:p>
        </p:txBody>
      </p:sp>
      <p:sp>
        <p:nvSpPr>
          <p:cNvPr id="32" name="Shape 30"/>
          <p:cNvSpPr/>
          <p:nvPr/>
        </p:nvSpPr>
        <p:spPr>
          <a:xfrm>
            <a:off x="4617720" y="914400"/>
            <a:ext cx="4297680" cy="1874520"/>
          </a:xfrm>
          <a:prstGeom prst="rect">
            <a:avLst/>
          </a:prstGeom>
          <a:solidFill>
            <a:srgbClr val="1B3A5C"/>
          </a:solidFill>
          <a:ln w="12700">
            <a:solidFill>
              <a:srgbClr val="1B3A5C"/>
            </a:solidFill>
            <a:prstDash val="solid"/>
          </a:ln>
        </p:spPr>
      </p:sp>
      <p:sp>
        <p:nvSpPr>
          <p:cNvPr id="33" name="Shape 31"/>
          <p:cNvSpPr/>
          <p:nvPr/>
        </p:nvSpPr>
        <p:spPr>
          <a:xfrm>
            <a:off x="4617720" y="914400"/>
            <a:ext cx="64008" cy="1874520"/>
          </a:xfrm>
          <a:prstGeom prst="rect">
            <a:avLst/>
          </a:prstGeom>
          <a:solidFill>
            <a:srgbClr val="27AE60"/>
          </a:solidFill>
          <a:ln w="12700">
            <a:solidFill>
              <a:srgbClr val="27AE60"/>
            </a:solidFill>
            <a:prstDash val="solid"/>
          </a:ln>
        </p:spPr>
      </p:sp>
      <p:sp>
        <p:nvSpPr>
          <p:cNvPr id="34" name="Text 32"/>
          <p:cNvSpPr/>
          <p:nvPr/>
        </p:nvSpPr>
        <p:spPr>
          <a:xfrm>
            <a:off x="4800600" y="978408"/>
            <a:ext cx="3931920" cy="292608"/>
          </a:xfrm>
          <a:prstGeom prst="rect">
            <a:avLst/>
          </a:prstGeom>
          <a:noFill/>
          <a:ln/>
        </p:spPr>
        <p:txBody>
          <a:bodyPr wrap="square" lIns="0" tIns="0" rIns="0" bIns="0" rtlCol="0" anchor="ctr"/>
          <a:lstStyle/>
          <a:p>
            <a:pPr indent="0" marL="0">
              <a:buNone/>
            </a:pPr>
            <a:r>
              <a:rPr lang="en-US" sz="1400" b="1" dirty="0">
                <a:solidFill>
                  <a:srgbClr val="27AE60"/>
                </a:solidFill>
                <a:latin typeface="Calibri" pitchFamily="34" charset="0"/>
                <a:ea typeface="Calibri" pitchFamily="34" charset="-122"/>
                <a:cs typeface="Calibri" pitchFamily="34" charset="-120"/>
              </a:rPr>
              <a:t>P1 Tank ODE Model</a:t>
            </a:r>
            <a:endParaRPr lang="en-US" sz="1400" dirty="0"/>
          </a:p>
        </p:txBody>
      </p:sp>
      <p:sp>
        <p:nvSpPr>
          <p:cNvPr id="35" name="Shape 33"/>
          <p:cNvSpPr/>
          <p:nvPr/>
        </p:nvSpPr>
        <p:spPr>
          <a:xfrm>
            <a:off x="4709160" y="1298448"/>
            <a:ext cx="4114800" cy="841248"/>
          </a:xfrm>
          <a:prstGeom prst="rect">
            <a:avLst/>
          </a:prstGeom>
          <a:solidFill>
            <a:srgbClr val="0A0F1A"/>
          </a:solidFill>
          <a:ln w="12700">
            <a:solidFill>
              <a:srgbClr val="0A0F1A"/>
            </a:solidFill>
            <a:prstDash val="solid"/>
          </a:ln>
        </p:spPr>
      </p:sp>
      <p:sp>
        <p:nvSpPr>
          <p:cNvPr id="36" name="Text 34"/>
          <p:cNvSpPr/>
          <p:nvPr/>
        </p:nvSpPr>
        <p:spPr>
          <a:xfrm>
            <a:off x="4800600" y="1335024"/>
            <a:ext cx="3931920" cy="786384"/>
          </a:xfrm>
          <a:prstGeom prst="rect">
            <a:avLst/>
          </a:prstGeom>
          <a:noFill/>
          <a:ln/>
        </p:spPr>
        <p:txBody>
          <a:bodyPr wrap="square" lIns="0" tIns="0" rIns="0" bIns="0" rtlCol="0" anchor="ctr"/>
          <a:lstStyle/>
          <a:p>
            <a:pPr indent="0" marL="0">
              <a:buNone/>
            </a:pPr>
            <a:r>
              <a:rPr lang="en-US" sz="1100" dirty="0">
                <a:solidFill>
                  <a:srgbClr val="12B5C8"/>
                </a:solidFill>
                <a:latin typeface="Consolas" pitchFamily="34" charset="0"/>
                <a:ea typeface="Consolas" pitchFamily="34" charset="-122"/>
                <a:cs typeface="Consolas" pitchFamily="34" charset="-120"/>
              </a:rPr>
              <a:t>dL/dt = (Q_in - Q_out) / A_tank
</a:t>
            </a:r>
            <a:pPr indent="0" marL="0">
              <a:buNone/>
            </a:pPr>
            <a:r>
              <a:rPr lang="en-US" sz="1100" dirty="0">
                <a:solidFill>
                  <a:srgbClr val="E8EEF4"/>
                </a:solidFill>
                <a:latin typeface="Consolas" pitchFamily="34" charset="0"/>
                <a:ea typeface="Consolas" pitchFamily="34" charset="-122"/>
                <a:cs typeface="Consolas" pitchFamily="34" charset="-120"/>
              </a:rPr>
              <a:t>Q_in  = MV101_state × FIT101_reading
</a:t>
            </a:r>
            <a:pPr indent="0" marL="0">
              <a:buNone/>
            </a:pPr>
            <a:r>
              <a:rPr lang="en-US" sz="1100" dirty="0">
                <a:solidFill>
                  <a:srgbClr val="E8EEF4"/>
                </a:solidFill>
                <a:latin typeface="Consolas" pitchFamily="34" charset="0"/>
                <a:ea typeface="Consolas" pitchFamily="34" charset="-122"/>
                <a:cs typeface="Consolas" pitchFamily="34" charset="-120"/>
              </a:rPr>
              <a:t>Q_out = P101_state × rated_flow
</a:t>
            </a:r>
            <a:pPr indent="0" marL="0">
              <a:buNone/>
            </a:pPr>
            <a:r>
              <a:rPr lang="en-US" sz="1100" dirty="0">
                <a:solidFill>
                  <a:srgbClr val="8FA3B1"/>
                </a:solidFill>
                <a:latin typeface="Consolas" pitchFamily="34" charset="0"/>
                <a:ea typeface="Consolas" pitchFamily="34" charset="-122"/>
                <a:cs typeface="Consolas" pitchFamily="34" charset="-120"/>
              </a:rPr>
              <a:t>A_tank ≈ 1.5 m²  (SWaT P1 spec)</a:t>
            </a:r>
            <a:endParaRPr lang="en-US" sz="1100" dirty="0"/>
          </a:p>
        </p:txBody>
      </p:sp>
      <p:sp>
        <p:nvSpPr>
          <p:cNvPr id="37" name="Text 35"/>
          <p:cNvSpPr/>
          <p:nvPr/>
        </p:nvSpPr>
        <p:spPr>
          <a:xfrm>
            <a:off x="4800600" y="2176272"/>
            <a:ext cx="3931920" cy="502920"/>
          </a:xfrm>
          <a:prstGeom prst="rect">
            <a:avLst/>
          </a:prstGeom>
          <a:noFill/>
          <a:ln/>
        </p:spPr>
        <p:txBody>
          <a:bodyPr wrap="square" lIns="0" tIns="0" rIns="0" bIns="0" rtlCol="0" anchor="ctr"/>
          <a:lstStyle/>
          <a:p>
            <a:pPr indent="0" marL="0">
              <a:buNone/>
            </a:pPr>
            <a:r>
              <a:rPr lang="en-US" sz="1050" i="1" dirty="0">
                <a:solidFill>
                  <a:srgbClr val="C9D6DF"/>
                </a:solidFill>
                <a:latin typeface="Calibri" pitchFamily="34" charset="0"/>
                <a:ea typeface="Calibri" pitchFamily="34" charset="-122"/>
                <a:cs typeface="Calibri" pitchFamily="34" charset="-120"/>
              </a:rPr>
              <a:t>In safe state: MV101=0, P101=0  →  dL/dt = 0</a:t>
            </a:r>
            <a:endParaRPr lang="en-US" sz="1050" dirty="0"/>
          </a:p>
          <a:p>
            <a:pPr indent="0" marL="0">
              <a:buNone/>
            </a:pPr>
            <a:r>
              <a:rPr lang="en-US" sz="1050" i="1" dirty="0">
                <a:solidFill>
                  <a:srgbClr val="C9D6DF"/>
                </a:solidFill>
                <a:latin typeface="Calibri" pitchFamily="34" charset="0"/>
                <a:ea typeface="Calibri" pitchFamily="34" charset="-122"/>
                <a:cs typeface="Calibri" pitchFamily="34" charset="-120"/>
              </a:rPr>
              <a:t>LIT101 is constant → predictable, verifiable.</a:t>
            </a:r>
            <a:endParaRPr lang="en-US" sz="1050" dirty="0"/>
          </a:p>
        </p:txBody>
      </p:sp>
      <p:sp>
        <p:nvSpPr>
          <p:cNvPr id="38" name="Shape 36"/>
          <p:cNvSpPr/>
          <p:nvPr/>
        </p:nvSpPr>
        <p:spPr>
          <a:xfrm>
            <a:off x="4617720" y="2834640"/>
            <a:ext cx="4297680" cy="1920240"/>
          </a:xfrm>
          <a:prstGeom prst="rect">
            <a:avLst/>
          </a:prstGeom>
          <a:solidFill>
            <a:srgbClr val="1B3A5C"/>
          </a:solidFill>
          <a:ln w="12700">
            <a:solidFill>
              <a:srgbClr val="1B3A5C"/>
            </a:solidFill>
            <a:prstDash val="solid"/>
          </a:ln>
        </p:spPr>
      </p:sp>
      <p:sp>
        <p:nvSpPr>
          <p:cNvPr id="39" name="Shape 37"/>
          <p:cNvSpPr/>
          <p:nvPr/>
        </p:nvSpPr>
        <p:spPr>
          <a:xfrm>
            <a:off x="4617720" y="2834640"/>
            <a:ext cx="64008" cy="1920240"/>
          </a:xfrm>
          <a:prstGeom prst="rect">
            <a:avLst/>
          </a:prstGeom>
          <a:solidFill>
            <a:srgbClr val="E67E22"/>
          </a:solidFill>
          <a:ln w="12700">
            <a:solidFill>
              <a:srgbClr val="E67E22"/>
            </a:solidFill>
            <a:prstDash val="solid"/>
          </a:ln>
        </p:spPr>
      </p:sp>
      <p:sp>
        <p:nvSpPr>
          <p:cNvPr id="40" name="Text 38"/>
          <p:cNvSpPr/>
          <p:nvPr/>
        </p:nvSpPr>
        <p:spPr>
          <a:xfrm>
            <a:off x="4800600" y="2898648"/>
            <a:ext cx="3931920" cy="292608"/>
          </a:xfrm>
          <a:prstGeom prst="rect">
            <a:avLst/>
          </a:prstGeom>
          <a:noFill/>
          <a:ln/>
        </p:spPr>
        <p:txBody>
          <a:bodyPr wrap="square" lIns="0" tIns="0" rIns="0" bIns="0" rtlCol="0" anchor="ctr"/>
          <a:lstStyle/>
          <a:p>
            <a:pPr indent="0" marL="0">
              <a:buNone/>
            </a:pPr>
            <a:r>
              <a:rPr lang="en-US" sz="1300" b="1" dirty="0">
                <a:solidFill>
                  <a:srgbClr val="E67E22"/>
                </a:solidFill>
                <a:latin typeface="Calibri" pitchFamily="34" charset="0"/>
                <a:ea typeface="Calibri" pitchFamily="34" charset="-122"/>
                <a:cs typeface="Calibri" pitchFamily="34" charset="-120"/>
              </a:rPr>
              <a:t>Why Physics-Constrained Re-entry Matters</a:t>
            </a:r>
            <a:endParaRPr lang="en-US" sz="1300" dirty="0"/>
          </a:p>
        </p:txBody>
      </p:sp>
      <p:sp>
        <p:nvSpPr>
          <p:cNvPr id="41" name="Text 39"/>
          <p:cNvSpPr/>
          <p:nvPr/>
        </p:nvSpPr>
        <p:spPr>
          <a:xfrm>
            <a:off x="4800600" y="3246120"/>
            <a:ext cx="3977640" cy="27432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  Attacker may still have Modbus MITM active — naively trusting sensor replies on resume would re-expose the system</a:t>
            </a:r>
            <a:endParaRPr lang="en-US" sz="950" dirty="0"/>
          </a:p>
        </p:txBody>
      </p:sp>
      <p:sp>
        <p:nvSpPr>
          <p:cNvPr id="42" name="Text 40"/>
          <p:cNvSpPr/>
          <p:nvPr/>
        </p:nvSpPr>
        <p:spPr>
          <a:xfrm>
            <a:off x="4800600" y="3538728"/>
            <a:ext cx="3977640" cy="27432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  Invariant-gated acceptance means a compromised sensor reading is rejected before it reaches the PLC control loop</a:t>
            </a:r>
            <a:endParaRPr lang="en-US" sz="950" dirty="0"/>
          </a:p>
        </p:txBody>
      </p:sp>
      <p:sp>
        <p:nvSpPr>
          <p:cNvPr id="43" name="Text 41"/>
          <p:cNvSpPr/>
          <p:nvPr/>
        </p:nvSpPr>
        <p:spPr>
          <a:xfrm>
            <a:off x="4800600" y="3831336"/>
            <a:ext cx="3977640" cy="27432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  Sequential re-enablement limits blast radius: if FIT101 alone is still spoofed, only FIT101 is rejected — P1 resumes partially</a:t>
            </a:r>
            <a:endParaRPr lang="en-US" sz="950" dirty="0"/>
          </a:p>
        </p:txBody>
      </p:sp>
      <p:sp>
        <p:nvSpPr>
          <p:cNvPr id="44" name="Text 42"/>
          <p:cNvSpPr/>
          <p:nvPr/>
        </p:nvSpPr>
        <p:spPr>
          <a:xfrm>
            <a:off x="4800600" y="4123944"/>
            <a:ext cx="3977640" cy="27432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  No external trusted sensor needed — the process ODE itself provides ground truth during the safe-state window</a:t>
            </a:r>
            <a:endParaRPr lang="en-US" sz="950" dirty="0"/>
          </a:p>
        </p:txBody>
      </p:sp>
      <p:sp>
        <p:nvSpPr>
          <p:cNvPr id="45" name="Text 43"/>
          <p:cNvSpPr/>
          <p:nvPr/>
        </p:nvSpPr>
        <p:spPr>
          <a:xfrm>
            <a:off x="4800600" y="4416552"/>
            <a:ext cx="3977640" cy="27432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  Matches ICS/OT incident response principle: 'verify before restore' (NIST SP 800-82r3 §6.3)</a:t>
            </a:r>
            <a:endParaRPr lang="en-US" sz="950" dirty="0"/>
          </a:p>
        </p:txBody>
      </p:sp>
      <p:sp>
        <p:nvSpPr>
          <p:cNvPr id="46" name="Shape 44"/>
          <p:cNvSpPr/>
          <p:nvPr/>
        </p:nvSpPr>
        <p:spPr>
          <a:xfrm>
            <a:off x="0" y="4773168"/>
            <a:ext cx="9144000" cy="374904"/>
          </a:xfrm>
          <a:prstGeom prst="rect">
            <a:avLst/>
          </a:prstGeom>
          <a:solidFill>
            <a:srgbClr val="1B3A5C"/>
          </a:solidFill>
          <a:ln w="12700">
            <a:solidFill>
              <a:srgbClr val="1B3A5C"/>
            </a:solidFill>
            <a:prstDash val="solid"/>
          </a:ln>
        </p:spPr>
      </p:sp>
      <p:sp>
        <p:nvSpPr>
          <p:cNvPr id="47" name="Text 45"/>
          <p:cNvSpPr/>
          <p:nvPr/>
        </p:nvSpPr>
        <p:spPr>
          <a:xfrm>
            <a:off x="274320" y="4773168"/>
            <a:ext cx="8595360" cy="374904"/>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Recovery Research  ·  Invariant-Guided Reconstruction</a:t>
            </a:r>
            <a:endParaRPr lang="en-US" sz="1000" dirty="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67E22"/>
          </a:solidFill>
          <a:ln w="12700">
            <a:solidFill>
              <a:srgbClr val="E67E22"/>
            </a:solidFill>
            <a:prstDash val="solid"/>
          </a:ln>
        </p:spPr>
      </p:sp>
      <p:sp>
        <p:nvSpPr>
          <p:cNvPr id="3" name="Text 1"/>
          <p:cNvSpPr/>
          <p:nvPr/>
        </p:nvSpPr>
        <p:spPr>
          <a:xfrm>
            <a:off x="365760" y="91440"/>
            <a:ext cx="8412480" cy="457200"/>
          </a:xfrm>
          <a:prstGeom prst="rect">
            <a:avLst/>
          </a:prstGeom>
          <a:noFill/>
          <a:ln/>
        </p:spPr>
        <p:txBody>
          <a:bodyPr wrap="square" lIns="0" tIns="0" rIns="0" bIns="0" rtlCol="0" anchor="ctr"/>
          <a:lstStyle/>
          <a:p>
            <a:pPr indent="0" marL="0">
              <a:buNone/>
            </a:pPr>
            <a:r>
              <a:rPr lang="en-US" sz="2700" b="1" dirty="0">
                <a:solidFill>
                  <a:srgbClr val="0A1628"/>
                </a:solidFill>
                <a:latin typeface="Calibri" pitchFamily="34" charset="0"/>
                <a:ea typeface="Calibri" pitchFamily="34" charset="-122"/>
                <a:cs typeface="Calibri" pitchFamily="34" charset="-120"/>
              </a:rPr>
              <a:t>Industry Framework: NIST SP 800-82r3</a:t>
            </a:r>
            <a:endParaRPr lang="en-US" sz="2700" dirty="0"/>
          </a:p>
        </p:txBody>
      </p:sp>
      <p:sp>
        <p:nvSpPr>
          <p:cNvPr id="4" name="Text 2"/>
          <p:cNvSpPr/>
          <p:nvPr/>
        </p:nvSpPr>
        <p:spPr>
          <a:xfrm>
            <a:off x="365760" y="566928"/>
            <a:ext cx="8412480" cy="237744"/>
          </a:xfrm>
          <a:prstGeom prst="rect">
            <a:avLst/>
          </a:prstGeom>
          <a:noFill/>
          <a:ln/>
        </p:spPr>
        <p:txBody>
          <a:bodyPr wrap="square" lIns="0" tIns="0" rIns="0" bIns="0" rtlCol="0" anchor="ctr"/>
          <a:lstStyle/>
          <a:p>
            <a:pPr indent="0" marL="0">
              <a:buNone/>
            </a:pPr>
            <a:r>
              <a:rPr lang="en-US" sz="1150" i="1" dirty="0">
                <a:solidFill>
                  <a:srgbClr val="8FA3B1"/>
                </a:solidFill>
                <a:latin typeface="Calibri" pitchFamily="34" charset="0"/>
                <a:ea typeface="Calibri" pitchFamily="34" charset="-122"/>
                <a:cs typeface="Calibri" pitchFamily="34" charset="-120"/>
              </a:rPr>
              <a:t>Guide to OT Security (Sep 2023) — our recovery design maps directly to its 5 recovery principles</a:t>
            </a:r>
            <a:endParaRPr lang="en-US" sz="1150" dirty="0"/>
          </a:p>
        </p:txBody>
      </p:sp>
      <p:sp>
        <p:nvSpPr>
          <p:cNvPr id="5" name="Shape 3"/>
          <p:cNvSpPr/>
          <p:nvPr/>
        </p:nvSpPr>
        <p:spPr>
          <a:xfrm>
            <a:off x="228600" y="914400"/>
            <a:ext cx="8686800" cy="292608"/>
          </a:xfrm>
          <a:prstGeom prst="rect">
            <a:avLst/>
          </a:prstGeom>
          <a:solidFill>
            <a:srgbClr val="4A2A00"/>
          </a:solidFill>
          <a:ln w="12700">
            <a:solidFill>
              <a:srgbClr val="4A2A00"/>
            </a:solidFill>
            <a:prstDash val="solid"/>
          </a:ln>
        </p:spPr>
      </p:sp>
      <p:sp>
        <p:nvSpPr>
          <p:cNvPr id="6" name="Text 4"/>
          <p:cNvSpPr/>
          <p:nvPr/>
        </p:nvSpPr>
        <p:spPr>
          <a:xfrm>
            <a:off x="320040" y="950976"/>
            <a:ext cx="4114800" cy="21945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NIST SP 800-82r3 Principle</a:t>
            </a:r>
            <a:endParaRPr lang="en-US" sz="1050" dirty="0"/>
          </a:p>
        </p:txBody>
      </p:sp>
      <p:sp>
        <p:nvSpPr>
          <p:cNvPr id="7" name="Text 5"/>
          <p:cNvSpPr/>
          <p:nvPr/>
        </p:nvSpPr>
        <p:spPr>
          <a:xfrm>
            <a:off x="4572000" y="950976"/>
            <a:ext cx="4114800" cy="21945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Our SWaT Recovery Implementation</a:t>
            </a:r>
            <a:endParaRPr lang="en-US" sz="1050" dirty="0"/>
          </a:p>
        </p:txBody>
      </p:sp>
      <p:sp>
        <p:nvSpPr>
          <p:cNvPr id="8" name="Shape 6"/>
          <p:cNvSpPr/>
          <p:nvPr/>
        </p:nvSpPr>
        <p:spPr>
          <a:xfrm>
            <a:off x="228600" y="1225296"/>
            <a:ext cx="8686800" cy="603504"/>
          </a:xfrm>
          <a:prstGeom prst="rect">
            <a:avLst/>
          </a:prstGeom>
          <a:solidFill>
            <a:srgbClr val="FFFBF0"/>
          </a:solidFill>
          <a:ln w="12700">
            <a:solidFill>
              <a:srgbClr val="FFFBF0"/>
            </a:solidFill>
            <a:prstDash val="solid"/>
          </a:ln>
        </p:spPr>
      </p:sp>
      <p:sp>
        <p:nvSpPr>
          <p:cNvPr id="9" name="Shape 7"/>
          <p:cNvSpPr/>
          <p:nvPr/>
        </p:nvSpPr>
        <p:spPr>
          <a:xfrm>
            <a:off x="228600" y="1225296"/>
            <a:ext cx="64008" cy="603504"/>
          </a:xfrm>
          <a:prstGeom prst="rect">
            <a:avLst/>
          </a:prstGeom>
          <a:solidFill>
            <a:srgbClr val="E67E22"/>
          </a:solidFill>
          <a:ln w="12700">
            <a:solidFill>
              <a:srgbClr val="E67E22"/>
            </a:solidFill>
            <a:prstDash val="solid"/>
          </a:ln>
        </p:spPr>
      </p:sp>
      <p:sp>
        <p:nvSpPr>
          <p:cNvPr id="10" name="Text 8"/>
          <p:cNvSpPr/>
          <p:nvPr/>
        </p:nvSpPr>
        <p:spPr>
          <a:xfrm>
            <a:off x="365760" y="1271016"/>
            <a:ext cx="4069080" cy="512064"/>
          </a:xfrm>
          <a:prstGeom prst="rect">
            <a:avLst/>
          </a:prstGeom>
          <a:noFill/>
          <a:ln/>
        </p:spPr>
        <p:txBody>
          <a:bodyPr wrap="square" lIns="0" tIns="0" rIns="0" bIns="0" rtlCol="0" anchor="ctr"/>
          <a:lstStyle/>
          <a:p>
            <a:pPr indent="0" marL="0">
              <a:buNone/>
            </a:pPr>
            <a:r>
              <a:rPr lang="en-US" sz="1000" i="1" dirty="0">
                <a:solidFill>
                  <a:srgbClr val="0A1628"/>
                </a:solidFill>
                <a:latin typeface="Calibri" pitchFamily="34" charset="0"/>
                <a:ea typeface="Calibri" pitchFamily="34" charset="-122"/>
                <a:cs typeface="Calibri" pitchFamily="34" charset="-120"/>
              </a:rPr>
              <a:t>RC.RP-1: Recovery plan executed during/after incident</a:t>
            </a:r>
            <a:endParaRPr lang="en-US" sz="1000" dirty="0"/>
          </a:p>
        </p:txBody>
      </p:sp>
      <p:sp>
        <p:nvSpPr>
          <p:cNvPr id="11" name="Shape 9"/>
          <p:cNvSpPr/>
          <p:nvPr/>
        </p:nvSpPr>
        <p:spPr>
          <a:xfrm>
            <a:off x="4480560" y="1261872"/>
            <a:ext cx="54864" cy="530352"/>
          </a:xfrm>
          <a:prstGeom prst="rect">
            <a:avLst/>
          </a:prstGeom>
          <a:solidFill>
            <a:srgbClr val="8FA3B1"/>
          </a:solidFill>
          <a:ln w="12700">
            <a:solidFill>
              <a:srgbClr val="8FA3B1"/>
            </a:solidFill>
            <a:prstDash val="solid"/>
          </a:ln>
        </p:spPr>
      </p:sp>
      <p:sp>
        <p:nvSpPr>
          <p:cNvPr id="12" name="Text 10"/>
          <p:cNvSpPr/>
          <p:nvPr/>
        </p:nvSpPr>
        <p:spPr>
          <a:xfrm>
            <a:off x="4626864" y="1271016"/>
            <a:ext cx="4069080" cy="512064"/>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Pre-coded recovery_agent.py executes automatically on ALERT — no human in the loop required for Phase 1 containment</a:t>
            </a:r>
            <a:endParaRPr lang="en-US" sz="1000" dirty="0"/>
          </a:p>
        </p:txBody>
      </p:sp>
      <p:sp>
        <p:nvSpPr>
          <p:cNvPr id="13" name="Shape 11"/>
          <p:cNvSpPr/>
          <p:nvPr/>
        </p:nvSpPr>
        <p:spPr>
          <a:xfrm>
            <a:off x="228600" y="1847088"/>
            <a:ext cx="8686800" cy="603504"/>
          </a:xfrm>
          <a:prstGeom prst="rect">
            <a:avLst/>
          </a:prstGeom>
          <a:solidFill>
            <a:srgbClr val="FFF8E8"/>
          </a:solidFill>
          <a:ln w="12700">
            <a:solidFill>
              <a:srgbClr val="FFF8E8"/>
            </a:solidFill>
            <a:prstDash val="solid"/>
          </a:ln>
        </p:spPr>
      </p:sp>
      <p:sp>
        <p:nvSpPr>
          <p:cNvPr id="14" name="Shape 12"/>
          <p:cNvSpPr/>
          <p:nvPr/>
        </p:nvSpPr>
        <p:spPr>
          <a:xfrm>
            <a:off x="228600" y="1847088"/>
            <a:ext cx="64008" cy="603504"/>
          </a:xfrm>
          <a:prstGeom prst="rect">
            <a:avLst/>
          </a:prstGeom>
          <a:solidFill>
            <a:srgbClr val="E67E22"/>
          </a:solidFill>
          <a:ln w="12700">
            <a:solidFill>
              <a:srgbClr val="E67E22"/>
            </a:solidFill>
            <a:prstDash val="solid"/>
          </a:ln>
        </p:spPr>
      </p:sp>
      <p:sp>
        <p:nvSpPr>
          <p:cNvPr id="15" name="Text 13"/>
          <p:cNvSpPr/>
          <p:nvPr/>
        </p:nvSpPr>
        <p:spPr>
          <a:xfrm>
            <a:off x="365760" y="1892808"/>
            <a:ext cx="4069080" cy="512064"/>
          </a:xfrm>
          <a:prstGeom prst="rect">
            <a:avLst/>
          </a:prstGeom>
          <a:noFill/>
          <a:ln/>
        </p:spPr>
        <p:txBody>
          <a:bodyPr wrap="square" lIns="0" tIns="0" rIns="0" bIns="0" rtlCol="0" anchor="ctr"/>
          <a:lstStyle/>
          <a:p>
            <a:pPr indent="0" marL="0">
              <a:buNone/>
            </a:pPr>
            <a:r>
              <a:rPr lang="en-US" sz="1000" i="1" dirty="0">
                <a:solidFill>
                  <a:srgbClr val="0A1628"/>
                </a:solidFill>
                <a:latin typeface="Calibri" pitchFamily="34" charset="0"/>
                <a:ea typeface="Calibri" pitchFamily="34" charset="-122"/>
                <a:cs typeface="Calibri" pitchFamily="34" charset="-120"/>
              </a:rPr>
              <a:t>RC.IM-1: Recovery strategies incorporate lessons learned</a:t>
            </a:r>
            <a:endParaRPr lang="en-US" sz="1000" dirty="0"/>
          </a:p>
        </p:txBody>
      </p:sp>
      <p:sp>
        <p:nvSpPr>
          <p:cNvPr id="16" name="Shape 14"/>
          <p:cNvSpPr/>
          <p:nvPr/>
        </p:nvSpPr>
        <p:spPr>
          <a:xfrm>
            <a:off x="4480560" y="1883664"/>
            <a:ext cx="54864" cy="530352"/>
          </a:xfrm>
          <a:prstGeom prst="rect">
            <a:avLst/>
          </a:prstGeom>
          <a:solidFill>
            <a:srgbClr val="8FA3B1"/>
          </a:solidFill>
          <a:ln w="12700">
            <a:solidFill>
              <a:srgbClr val="8FA3B1"/>
            </a:solidFill>
            <a:prstDash val="solid"/>
          </a:ln>
        </p:spPr>
      </p:sp>
      <p:sp>
        <p:nvSpPr>
          <p:cNvPr id="17" name="Text 15"/>
          <p:cNvSpPr/>
          <p:nvPr/>
        </p:nvSpPr>
        <p:spPr>
          <a:xfrm>
            <a:off x="4626864" y="1892808"/>
            <a:ext cx="4069080" cy="512064"/>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Full incident log written to tamper-evident WORM storage (historian); each attack-recovery cycle updates threshold for future detection</a:t>
            </a:r>
            <a:endParaRPr lang="en-US" sz="1000" dirty="0"/>
          </a:p>
        </p:txBody>
      </p:sp>
      <p:sp>
        <p:nvSpPr>
          <p:cNvPr id="18" name="Shape 16"/>
          <p:cNvSpPr/>
          <p:nvPr/>
        </p:nvSpPr>
        <p:spPr>
          <a:xfrm>
            <a:off x="228600" y="2468880"/>
            <a:ext cx="8686800" cy="603504"/>
          </a:xfrm>
          <a:prstGeom prst="rect">
            <a:avLst/>
          </a:prstGeom>
          <a:solidFill>
            <a:srgbClr val="FFFBF0"/>
          </a:solidFill>
          <a:ln w="12700">
            <a:solidFill>
              <a:srgbClr val="FFFBF0"/>
            </a:solidFill>
            <a:prstDash val="solid"/>
          </a:ln>
        </p:spPr>
      </p:sp>
      <p:sp>
        <p:nvSpPr>
          <p:cNvPr id="19" name="Shape 17"/>
          <p:cNvSpPr/>
          <p:nvPr/>
        </p:nvSpPr>
        <p:spPr>
          <a:xfrm>
            <a:off x="228600" y="2468880"/>
            <a:ext cx="64008" cy="603504"/>
          </a:xfrm>
          <a:prstGeom prst="rect">
            <a:avLst/>
          </a:prstGeom>
          <a:solidFill>
            <a:srgbClr val="E67E22"/>
          </a:solidFill>
          <a:ln w="12700">
            <a:solidFill>
              <a:srgbClr val="E67E22"/>
            </a:solidFill>
            <a:prstDash val="solid"/>
          </a:ln>
        </p:spPr>
      </p:sp>
      <p:sp>
        <p:nvSpPr>
          <p:cNvPr id="20" name="Text 18"/>
          <p:cNvSpPr/>
          <p:nvPr/>
        </p:nvSpPr>
        <p:spPr>
          <a:xfrm>
            <a:off x="365760" y="2514600"/>
            <a:ext cx="4069080" cy="512064"/>
          </a:xfrm>
          <a:prstGeom prst="rect">
            <a:avLst/>
          </a:prstGeom>
          <a:noFill/>
          <a:ln/>
        </p:spPr>
        <p:txBody>
          <a:bodyPr wrap="square" lIns="0" tIns="0" rIns="0" bIns="0" rtlCol="0" anchor="ctr"/>
          <a:lstStyle/>
          <a:p>
            <a:pPr indent="0" marL="0">
              <a:buNone/>
            </a:pPr>
            <a:r>
              <a:rPr lang="en-US" sz="1000" i="1" dirty="0">
                <a:solidFill>
                  <a:srgbClr val="0A1628"/>
                </a:solidFill>
                <a:latin typeface="Calibri" pitchFamily="34" charset="0"/>
                <a:ea typeface="Calibri" pitchFamily="34" charset="-122"/>
                <a:cs typeface="Calibri" pitchFamily="34" charset="-120"/>
              </a:rPr>
              <a:t>RS.CO-3: Information shared consistently with response plans</a:t>
            </a:r>
            <a:endParaRPr lang="en-US" sz="1000" dirty="0"/>
          </a:p>
        </p:txBody>
      </p:sp>
      <p:sp>
        <p:nvSpPr>
          <p:cNvPr id="21" name="Shape 19"/>
          <p:cNvSpPr/>
          <p:nvPr/>
        </p:nvSpPr>
        <p:spPr>
          <a:xfrm>
            <a:off x="4480560" y="2505456"/>
            <a:ext cx="54864" cy="530352"/>
          </a:xfrm>
          <a:prstGeom prst="rect">
            <a:avLst/>
          </a:prstGeom>
          <a:solidFill>
            <a:srgbClr val="8FA3B1"/>
          </a:solidFill>
          <a:ln w="12700">
            <a:solidFill>
              <a:srgbClr val="8FA3B1"/>
            </a:solidFill>
            <a:prstDash val="solid"/>
          </a:ln>
        </p:spPr>
      </p:sp>
      <p:sp>
        <p:nvSpPr>
          <p:cNvPr id="22" name="Text 20"/>
          <p:cNvSpPr/>
          <p:nvPr/>
        </p:nvSpPr>
        <p:spPr>
          <a:xfrm>
            <a:off x="4626864" y="2514600"/>
            <a:ext cx="4069080" cy="512064"/>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SCADA HMI alarm triggers email + SMS to iTrust lab engineer; PLC1B takeover reflected in all monitoring dashboards within 1 cycle</a:t>
            </a:r>
            <a:endParaRPr lang="en-US" sz="1000" dirty="0"/>
          </a:p>
        </p:txBody>
      </p:sp>
      <p:sp>
        <p:nvSpPr>
          <p:cNvPr id="23" name="Shape 21"/>
          <p:cNvSpPr/>
          <p:nvPr/>
        </p:nvSpPr>
        <p:spPr>
          <a:xfrm>
            <a:off x="228600" y="3090672"/>
            <a:ext cx="8686800" cy="603504"/>
          </a:xfrm>
          <a:prstGeom prst="rect">
            <a:avLst/>
          </a:prstGeom>
          <a:solidFill>
            <a:srgbClr val="FFF8E8"/>
          </a:solidFill>
          <a:ln w="12700">
            <a:solidFill>
              <a:srgbClr val="FFF8E8"/>
            </a:solidFill>
            <a:prstDash val="solid"/>
          </a:ln>
        </p:spPr>
      </p:sp>
      <p:sp>
        <p:nvSpPr>
          <p:cNvPr id="24" name="Shape 22"/>
          <p:cNvSpPr/>
          <p:nvPr/>
        </p:nvSpPr>
        <p:spPr>
          <a:xfrm>
            <a:off x="228600" y="3090672"/>
            <a:ext cx="64008" cy="603504"/>
          </a:xfrm>
          <a:prstGeom prst="rect">
            <a:avLst/>
          </a:prstGeom>
          <a:solidFill>
            <a:srgbClr val="E67E22"/>
          </a:solidFill>
          <a:ln w="12700">
            <a:solidFill>
              <a:srgbClr val="E67E22"/>
            </a:solidFill>
            <a:prstDash val="solid"/>
          </a:ln>
        </p:spPr>
      </p:sp>
      <p:sp>
        <p:nvSpPr>
          <p:cNvPr id="25" name="Text 23"/>
          <p:cNvSpPr/>
          <p:nvPr/>
        </p:nvSpPr>
        <p:spPr>
          <a:xfrm>
            <a:off x="365760" y="3136392"/>
            <a:ext cx="4069080" cy="512064"/>
          </a:xfrm>
          <a:prstGeom prst="rect">
            <a:avLst/>
          </a:prstGeom>
          <a:noFill/>
          <a:ln/>
        </p:spPr>
        <p:txBody>
          <a:bodyPr wrap="square" lIns="0" tIns="0" rIns="0" bIns="0" rtlCol="0" anchor="ctr"/>
          <a:lstStyle/>
          <a:p>
            <a:pPr indent="0" marL="0">
              <a:buNone/>
            </a:pPr>
            <a:r>
              <a:rPr lang="en-US" sz="1000" i="1" dirty="0">
                <a:solidFill>
                  <a:srgbClr val="0A1628"/>
                </a:solidFill>
                <a:latin typeface="Calibri" pitchFamily="34" charset="0"/>
                <a:ea typeface="Calibri" pitchFamily="34" charset="-122"/>
                <a:cs typeface="Calibri" pitchFamily="34" charset="-120"/>
              </a:rPr>
              <a:t>RS.AN-1: Notifications from detection systems investigated</a:t>
            </a:r>
            <a:endParaRPr lang="en-US" sz="1000" dirty="0"/>
          </a:p>
        </p:txBody>
      </p:sp>
      <p:sp>
        <p:nvSpPr>
          <p:cNvPr id="26" name="Shape 24"/>
          <p:cNvSpPr/>
          <p:nvPr/>
        </p:nvSpPr>
        <p:spPr>
          <a:xfrm>
            <a:off x="4480560" y="3127248"/>
            <a:ext cx="54864" cy="530352"/>
          </a:xfrm>
          <a:prstGeom prst="rect">
            <a:avLst/>
          </a:prstGeom>
          <a:solidFill>
            <a:srgbClr val="8FA3B1"/>
          </a:solidFill>
          <a:ln w="12700">
            <a:solidFill>
              <a:srgbClr val="8FA3B1"/>
            </a:solidFill>
            <a:prstDash val="solid"/>
          </a:ln>
        </p:spPr>
      </p:sp>
      <p:sp>
        <p:nvSpPr>
          <p:cNvPr id="27" name="Text 25"/>
          <p:cNvSpPr/>
          <p:nvPr/>
        </p:nvSpPr>
        <p:spPr>
          <a:xfrm>
            <a:off x="4626864" y="3136392"/>
            <a:ext cx="4069080" cy="512064"/>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Fusion engine logs: which layer fired, sensor snapshot at T=alert, ARP table state — sufficient for post-incident forensic root cause analysis</a:t>
            </a:r>
            <a:endParaRPr lang="en-US" sz="1000" dirty="0"/>
          </a:p>
        </p:txBody>
      </p:sp>
      <p:sp>
        <p:nvSpPr>
          <p:cNvPr id="28" name="Shape 26"/>
          <p:cNvSpPr/>
          <p:nvPr/>
        </p:nvSpPr>
        <p:spPr>
          <a:xfrm>
            <a:off x="228600" y="3712464"/>
            <a:ext cx="8686800" cy="603504"/>
          </a:xfrm>
          <a:prstGeom prst="rect">
            <a:avLst/>
          </a:prstGeom>
          <a:solidFill>
            <a:srgbClr val="FFFBF0"/>
          </a:solidFill>
          <a:ln w="12700">
            <a:solidFill>
              <a:srgbClr val="FFFBF0"/>
            </a:solidFill>
            <a:prstDash val="solid"/>
          </a:ln>
        </p:spPr>
      </p:sp>
      <p:sp>
        <p:nvSpPr>
          <p:cNvPr id="29" name="Shape 27"/>
          <p:cNvSpPr/>
          <p:nvPr/>
        </p:nvSpPr>
        <p:spPr>
          <a:xfrm>
            <a:off x="228600" y="3712464"/>
            <a:ext cx="64008" cy="603504"/>
          </a:xfrm>
          <a:prstGeom prst="rect">
            <a:avLst/>
          </a:prstGeom>
          <a:solidFill>
            <a:srgbClr val="E67E22"/>
          </a:solidFill>
          <a:ln w="12700">
            <a:solidFill>
              <a:srgbClr val="E67E22"/>
            </a:solidFill>
            <a:prstDash val="solid"/>
          </a:ln>
        </p:spPr>
      </p:sp>
      <p:sp>
        <p:nvSpPr>
          <p:cNvPr id="30" name="Text 28"/>
          <p:cNvSpPr/>
          <p:nvPr/>
        </p:nvSpPr>
        <p:spPr>
          <a:xfrm>
            <a:off x="365760" y="3758184"/>
            <a:ext cx="4069080" cy="512064"/>
          </a:xfrm>
          <a:prstGeom prst="rect">
            <a:avLst/>
          </a:prstGeom>
          <a:noFill/>
          <a:ln/>
        </p:spPr>
        <p:txBody>
          <a:bodyPr wrap="square" lIns="0" tIns="0" rIns="0" bIns="0" rtlCol="0" anchor="ctr"/>
          <a:lstStyle/>
          <a:p>
            <a:pPr indent="0" marL="0">
              <a:buNone/>
            </a:pPr>
            <a:r>
              <a:rPr lang="en-US" sz="1000" i="1" dirty="0">
                <a:solidFill>
                  <a:srgbClr val="0A1628"/>
                </a:solidFill>
                <a:latin typeface="Calibri" pitchFamily="34" charset="0"/>
                <a:ea typeface="Calibri" pitchFamily="34" charset="-122"/>
                <a:cs typeface="Calibri" pitchFamily="34" charset="-120"/>
              </a:rPr>
              <a:t>RC.CO-3: Recovery communicated to stakeholders/authorities</a:t>
            </a:r>
            <a:endParaRPr lang="en-US" sz="1000" dirty="0"/>
          </a:p>
        </p:txBody>
      </p:sp>
      <p:sp>
        <p:nvSpPr>
          <p:cNvPr id="31" name="Shape 29"/>
          <p:cNvSpPr/>
          <p:nvPr/>
        </p:nvSpPr>
        <p:spPr>
          <a:xfrm>
            <a:off x="4480560" y="3749040"/>
            <a:ext cx="54864" cy="530352"/>
          </a:xfrm>
          <a:prstGeom prst="rect">
            <a:avLst/>
          </a:prstGeom>
          <a:solidFill>
            <a:srgbClr val="8FA3B1"/>
          </a:solidFill>
          <a:ln w="12700">
            <a:solidFill>
              <a:srgbClr val="8FA3B1"/>
            </a:solidFill>
            <a:prstDash val="solid"/>
          </a:ln>
        </p:spPr>
      </p:sp>
      <p:sp>
        <p:nvSpPr>
          <p:cNvPr id="32" name="Text 30"/>
          <p:cNvSpPr/>
          <p:nvPr/>
        </p:nvSpPr>
        <p:spPr>
          <a:xfrm>
            <a:off x="4626864" y="3758184"/>
            <a:ext cx="4069080" cy="512064"/>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iTrust lab security coordinator notified automatically; full recovery event written to SWaT incident registry for research analysis</a:t>
            </a:r>
            <a:endParaRPr lang="en-US" sz="1000" dirty="0"/>
          </a:p>
        </p:txBody>
      </p:sp>
      <p:sp>
        <p:nvSpPr>
          <p:cNvPr id="33" name="Shape 31"/>
          <p:cNvSpPr/>
          <p:nvPr/>
        </p:nvSpPr>
        <p:spPr>
          <a:xfrm>
            <a:off x="228600" y="4370832"/>
            <a:ext cx="8686800" cy="384048"/>
          </a:xfrm>
          <a:prstGeom prst="rect">
            <a:avLst/>
          </a:prstGeom>
          <a:solidFill>
            <a:srgbClr val="0A1628"/>
          </a:solidFill>
          <a:ln w="12700">
            <a:solidFill>
              <a:srgbClr val="0A1628"/>
            </a:solidFill>
            <a:prstDash val="solid"/>
          </a:ln>
        </p:spPr>
      </p:sp>
      <p:sp>
        <p:nvSpPr>
          <p:cNvPr id="34" name="Text 32"/>
          <p:cNvSpPr/>
          <p:nvPr/>
        </p:nvSpPr>
        <p:spPr>
          <a:xfrm>
            <a:off x="411480" y="4389120"/>
            <a:ext cx="8321040" cy="347472"/>
          </a:xfrm>
          <a:prstGeom prst="rect">
            <a:avLst/>
          </a:prstGeom>
          <a:noFill/>
          <a:ln/>
        </p:spPr>
        <p:txBody>
          <a:bodyPr wrap="square" lIns="0" tIns="0" rIns="0" bIns="0" rtlCol="0" anchor="ctr"/>
          <a:lstStyle/>
          <a:p>
            <a:pPr indent="0" marL="0">
              <a:buNone/>
            </a:pPr>
            <a:r>
              <a:rPr lang="en-US" sz="1050" b="1" dirty="0">
                <a:solidFill>
                  <a:srgbClr val="F39C12"/>
                </a:solidFill>
                <a:latin typeface="Calibri" pitchFamily="34" charset="0"/>
                <a:ea typeface="Calibri" pitchFamily="34" charset="-122"/>
                <a:cs typeface="Calibri" pitchFamily="34" charset="-120"/>
              </a:rPr>
              <a:t xml:space="preserve">ICS/OT-specific principle (SANS 2024):  </a:t>
            </a:r>
            <a:pPr indent="0" marL="0">
              <a:buNone/>
            </a:pPr>
            <a:r>
              <a:rPr lang="en-US" sz="1050" dirty="0">
                <a:solidFill>
                  <a:srgbClr val="E8EEF4"/>
                </a:solidFill>
                <a:latin typeface="Calibri" pitchFamily="34" charset="0"/>
                <a:ea typeface="Calibri" pitchFamily="34" charset="-122"/>
                <a:cs typeface="Calibri" pitchFamily="34" charset="-120"/>
              </a:rPr>
              <a:t>Unlike IT incident response, OT recovery must be engineering-led and safety-first. Isolating a PLC at the wrong moment can cause immediate physical harm. Our recovery sequence respects this — containment is network-level first, PLC-level second, only after safe state is verified.</a:t>
            </a:r>
            <a:endParaRPr lang="en-US" sz="1050" dirty="0"/>
          </a:p>
        </p:txBody>
      </p:sp>
      <p:sp>
        <p:nvSpPr>
          <p:cNvPr id="35" name="Shape 33"/>
          <p:cNvSpPr/>
          <p:nvPr/>
        </p:nvSpPr>
        <p:spPr>
          <a:xfrm>
            <a:off x="0" y="4773168"/>
            <a:ext cx="9144000" cy="374904"/>
          </a:xfrm>
          <a:prstGeom prst="rect">
            <a:avLst/>
          </a:prstGeom>
          <a:solidFill>
            <a:srgbClr val="1B3A5C"/>
          </a:solidFill>
          <a:ln w="12700">
            <a:solidFill>
              <a:srgbClr val="1B3A5C"/>
            </a:solidFill>
            <a:prstDash val="solid"/>
          </a:ln>
        </p:spPr>
      </p:sp>
      <p:sp>
        <p:nvSpPr>
          <p:cNvPr id="36" name="Text 34"/>
          <p:cNvSpPr/>
          <p:nvPr/>
        </p:nvSpPr>
        <p:spPr>
          <a:xfrm>
            <a:off x="274320" y="4773168"/>
            <a:ext cx="8595360" cy="374904"/>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Recovery Research  ·  NIST SP 800-82r3 Alignment</a:t>
            </a:r>
            <a:endParaRPr lang="en-US" sz="1000" dirty="0"/>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74C3C"/>
          </a:solidFill>
          <a:ln w="12700">
            <a:solidFill>
              <a:srgbClr val="E74C3C"/>
            </a:solidFill>
            <a:prstDash val="solid"/>
          </a:ln>
        </p:spPr>
      </p:sp>
      <p:sp>
        <p:nvSpPr>
          <p:cNvPr id="3" name="Text 1"/>
          <p:cNvSpPr/>
          <p:nvPr/>
        </p:nvSpPr>
        <p:spPr>
          <a:xfrm>
            <a:off x="365760" y="91440"/>
            <a:ext cx="8412480" cy="45720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Real-World Recovery Case Studies</a:t>
            </a:r>
            <a:endParaRPr lang="en-US" sz="2700" dirty="0"/>
          </a:p>
        </p:txBody>
      </p:sp>
      <p:sp>
        <p:nvSpPr>
          <p:cNvPr id="4" name="Text 2"/>
          <p:cNvSpPr/>
          <p:nvPr/>
        </p:nvSpPr>
        <p:spPr>
          <a:xfrm>
            <a:off x="365760" y="566928"/>
            <a:ext cx="8412480" cy="237744"/>
          </a:xfrm>
          <a:prstGeom prst="rect">
            <a:avLst/>
          </a:prstGeom>
          <a:noFill/>
          <a:ln/>
        </p:spPr>
        <p:txBody>
          <a:bodyPr wrap="square" lIns="0" tIns="0" rIns="0" bIns="0" rtlCol="0" anchor="ctr"/>
          <a:lstStyle/>
          <a:p>
            <a:pPr indent="0" marL="0">
              <a:buNone/>
            </a:pPr>
            <a:r>
              <a:rPr lang="en-US" sz="1150" i="1" dirty="0">
                <a:solidFill>
                  <a:srgbClr val="8FA3B1"/>
                </a:solidFill>
                <a:latin typeface="Calibri" pitchFamily="34" charset="0"/>
                <a:ea typeface="Calibri" pitchFamily="34" charset="-122"/>
                <a:cs typeface="Calibri" pitchFamily="34" charset="-120"/>
              </a:rPr>
              <a:t>What actually happened in water/ICS attacks — and what recovery looked like</a:t>
            </a:r>
            <a:endParaRPr lang="en-US" sz="1150" dirty="0"/>
          </a:p>
        </p:txBody>
      </p:sp>
      <p:sp>
        <p:nvSpPr>
          <p:cNvPr id="5" name="Shape 3"/>
          <p:cNvSpPr/>
          <p:nvPr/>
        </p:nvSpPr>
        <p:spPr>
          <a:xfrm>
            <a:off x="228600" y="932688"/>
            <a:ext cx="8686800" cy="1298448"/>
          </a:xfrm>
          <a:prstGeom prst="rect">
            <a:avLst/>
          </a:prstGeom>
          <a:solidFill>
            <a:srgbClr val="1B3A5C"/>
          </a:solidFill>
          <a:ln w="12700">
            <a:solidFill>
              <a:srgbClr val="1B3A5C"/>
            </a:solidFill>
            <a:prstDash val="solid"/>
          </a:ln>
        </p:spPr>
      </p:sp>
      <p:sp>
        <p:nvSpPr>
          <p:cNvPr id="6" name="Shape 4"/>
          <p:cNvSpPr/>
          <p:nvPr/>
        </p:nvSpPr>
        <p:spPr>
          <a:xfrm>
            <a:off x="228600" y="932688"/>
            <a:ext cx="64008" cy="1298448"/>
          </a:xfrm>
          <a:prstGeom prst="rect">
            <a:avLst/>
          </a:prstGeom>
          <a:solidFill>
            <a:srgbClr val="E74C3C"/>
          </a:solidFill>
          <a:ln w="12700">
            <a:solidFill>
              <a:srgbClr val="E74C3C"/>
            </a:solidFill>
            <a:prstDash val="solid"/>
          </a:ln>
        </p:spPr>
      </p:sp>
      <p:sp>
        <p:nvSpPr>
          <p:cNvPr id="7" name="Shape 5"/>
          <p:cNvSpPr/>
          <p:nvPr/>
        </p:nvSpPr>
        <p:spPr>
          <a:xfrm>
            <a:off x="228600" y="932688"/>
            <a:ext cx="8686800" cy="310896"/>
          </a:xfrm>
          <a:prstGeom prst="rect">
            <a:avLst/>
          </a:prstGeom>
          <a:solidFill>
            <a:srgbClr val="1B3A5C"/>
          </a:solidFill>
          <a:ln w="12700">
            <a:solidFill>
              <a:srgbClr val="1B3A5C"/>
            </a:solidFill>
            <a:prstDash val="solid"/>
          </a:ln>
        </p:spPr>
      </p:sp>
      <p:sp>
        <p:nvSpPr>
          <p:cNvPr id="8" name="Text 6"/>
          <p:cNvSpPr/>
          <p:nvPr/>
        </p:nvSpPr>
        <p:spPr>
          <a:xfrm>
            <a:off x="384048" y="978408"/>
            <a:ext cx="5943600" cy="237744"/>
          </a:xfrm>
          <a:prstGeom prst="rect">
            <a:avLst/>
          </a:prstGeom>
          <a:noFill/>
          <a:ln/>
        </p:spPr>
        <p:txBody>
          <a:bodyPr wrap="square" lIns="0" tIns="0" rIns="0" bIns="0" rtlCol="0" anchor="ctr"/>
          <a:lstStyle/>
          <a:p>
            <a:pPr indent="0" marL="0">
              <a:buNone/>
            </a:pPr>
            <a:r>
              <a:rPr lang="en-US" sz="1250" b="1" dirty="0">
                <a:solidFill>
                  <a:srgbClr val="E74C3C"/>
                </a:solidFill>
                <a:latin typeface="Calibri" pitchFamily="34" charset="0"/>
                <a:ea typeface="Calibri" pitchFamily="34" charset="-122"/>
                <a:cs typeface="Calibri" pitchFamily="34" charset="-120"/>
              </a:rPr>
              <a:t>💧  Oldsmar, Florida Water Plant</a:t>
            </a:r>
            <a:endParaRPr lang="en-US" sz="1250" dirty="0"/>
          </a:p>
        </p:txBody>
      </p:sp>
      <p:sp>
        <p:nvSpPr>
          <p:cNvPr id="9" name="Text 7"/>
          <p:cNvSpPr/>
          <p:nvPr/>
        </p:nvSpPr>
        <p:spPr>
          <a:xfrm>
            <a:off x="7772400" y="978408"/>
            <a:ext cx="1051560" cy="237744"/>
          </a:xfrm>
          <a:prstGeom prst="rect">
            <a:avLst/>
          </a:prstGeom>
          <a:noFill/>
          <a:ln/>
        </p:spPr>
        <p:txBody>
          <a:bodyPr wrap="square" lIns="0" tIns="0" rIns="0" bIns="0" rtlCol="0" anchor="ctr"/>
          <a:lstStyle/>
          <a:p>
            <a:pPr algn="r" indent="0" marL="0">
              <a:buNone/>
            </a:pPr>
            <a:r>
              <a:rPr lang="en-US" sz="1200" b="1" dirty="0">
                <a:solidFill>
                  <a:srgbClr val="8FA3B1"/>
                </a:solidFill>
                <a:latin typeface="Calibri" pitchFamily="34" charset="0"/>
                <a:ea typeface="Calibri" pitchFamily="34" charset="-122"/>
                <a:cs typeface="Calibri" pitchFamily="34" charset="-120"/>
              </a:rPr>
              <a:t>Feb 2021</a:t>
            </a:r>
            <a:endParaRPr lang="en-US" sz="1200" dirty="0"/>
          </a:p>
        </p:txBody>
      </p:sp>
      <p:sp>
        <p:nvSpPr>
          <p:cNvPr id="10" name="Text 8"/>
          <p:cNvSpPr/>
          <p:nvPr/>
        </p:nvSpPr>
        <p:spPr>
          <a:xfrm>
            <a:off x="320040" y="1280160"/>
            <a:ext cx="2834640" cy="182880"/>
          </a:xfrm>
          <a:prstGeom prst="rect">
            <a:avLst/>
          </a:prstGeom>
          <a:noFill/>
          <a:ln/>
        </p:spPr>
        <p:txBody>
          <a:bodyPr wrap="square" lIns="0" tIns="0" rIns="0" bIns="0" rtlCol="0" anchor="ctr"/>
          <a:lstStyle/>
          <a:p>
            <a:pPr indent="0" marL="0">
              <a:buNone/>
            </a:pPr>
            <a:r>
              <a:rPr lang="en-US" sz="950" b="1" dirty="0">
                <a:solidFill>
                  <a:srgbClr val="E74C3C"/>
                </a:solidFill>
                <a:latin typeface="Calibri" pitchFamily="34" charset="0"/>
                <a:ea typeface="Calibri" pitchFamily="34" charset="-122"/>
                <a:cs typeface="Calibri" pitchFamily="34" charset="-120"/>
              </a:rPr>
              <a:t>Attack</a:t>
            </a:r>
            <a:endParaRPr lang="en-US" sz="950" dirty="0"/>
          </a:p>
        </p:txBody>
      </p:sp>
      <p:sp>
        <p:nvSpPr>
          <p:cNvPr id="11" name="Text 9"/>
          <p:cNvSpPr/>
          <p:nvPr/>
        </p:nvSpPr>
        <p:spPr>
          <a:xfrm>
            <a:off x="320040" y="1481328"/>
            <a:ext cx="2834640" cy="713232"/>
          </a:xfrm>
          <a:prstGeom prst="rect">
            <a:avLst/>
          </a:prstGeom>
          <a:noFill/>
          <a:ln/>
        </p:spPr>
        <p:txBody>
          <a:bodyPr wrap="square" lIns="0" tIns="0" rIns="0" bIns="0" rtlCol="0" anchor="ctr"/>
          <a:lstStyle/>
          <a:p>
            <a:pPr indent="0" marL="0">
              <a:buNone/>
            </a:pPr>
            <a:r>
              <a:rPr lang="en-US" sz="900" dirty="0">
                <a:solidFill>
                  <a:srgbClr val="C9D6DF"/>
                </a:solidFill>
                <a:latin typeface="Calibri" pitchFamily="34" charset="0"/>
                <a:ea typeface="Calibri" pitchFamily="34" charset="-122"/>
                <a:cs typeface="Calibri" pitchFamily="34" charset="-120"/>
              </a:rPr>
              <a:t>Attacker remotely modified NaOH level in SCADA to 111× normal via TeamViewer remote access.</a:t>
            </a:r>
            <a:endParaRPr lang="en-US" sz="900" dirty="0"/>
          </a:p>
        </p:txBody>
      </p:sp>
      <p:sp>
        <p:nvSpPr>
          <p:cNvPr id="12" name="Text 10"/>
          <p:cNvSpPr/>
          <p:nvPr/>
        </p:nvSpPr>
        <p:spPr>
          <a:xfrm>
            <a:off x="3291840" y="1280160"/>
            <a:ext cx="2834640" cy="182880"/>
          </a:xfrm>
          <a:prstGeom prst="rect">
            <a:avLst/>
          </a:prstGeom>
          <a:noFill/>
          <a:ln/>
        </p:spPr>
        <p:txBody>
          <a:bodyPr wrap="square" lIns="0" tIns="0" rIns="0" bIns="0" rtlCol="0" anchor="ctr"/>
          <a:lstStyle/>
          <a:p>
            <a:pPr indent="0" marL="0">
              <a:buNone/>
            </a:pPr>
            <a:r>
              <a:rPr lang="en-US" sz="950" b="1" dirty="0">
                <a:solidFill>
                  <a:srgbClr val="E74C3C"/>
                </a:solidFill>
                <a:latin typeface="Calibri" pitchFamily="34" charset="0"/>
                <a:ea typeface="Calibri" pitchFamily="34" charset="-122"/>
                <a:cs typeface="Calibri" pitchFamily="34" charset="-120"/>
              </a:rPr>
              <a:t>Recovery</a:t>
            </a:r>
            <a:endParaRPr lang="en-US" sz="950" dirty="0"/>
          </a:p>
        </p:txBody>
      </p:sp>
      <p:sp>
        <p:nvSpPr>
          <p:cNvPr id="13" name="Text 11"/>
          <p:cNvSpPr/>
          <p:nvPr/>
        </p:nvSpPr>
        <p:spPr>
          <a:xfrm>
            <a:off x="3291840" y="1481328"/>
            <a:ext cx="2834640" cy="713232"/>
          </a:xfrm>
          <a:prstGeom prst="rect">
            <a:avLst/>
          </a:prstGeom>
          <a:noFill/>
          <a:ln/>
        </p:spPr>
        <p:txBody>
          <a:bodyPr wrap="square" lIns="0" tIns="0" rIns="0" bIns="0" rtlCol="0" anchor="ctr"/>
          <a:lstStyle/>
          <a:p>
            <a:pPr indent="0" marL="0">
              <a:buNone/>
            </a:pPr>
            <a:r>
              <a:rPr lang="en-US" sz="900" dirty="0">
                <a:solidFill>
                  <a:srgbClr val="C9D6DF"/>
                </a:solidFill>
                <a:latin typeface="Calibri" pitchFamily="34" charset="0"/>
                <a:ea typeface="Calibri" pitchFamily="34" charset="-122"/>
                <a:cs typeface="Calibri" pitchFamily="34" charset="-120"/>
              </a:rPr>
              <a:t>Operator noticed HMI cursor moving unexpectedly — manually reverted setpoint within minutes. No physical damage. Highlights value of operator monitoring alongside automated systems.</a:t>
            </a:r>
            <a:endParaRPr lang="en-US" sz="900" dirty="0"/>
          </a:p>
        </p:txBody>
      </p:sp>
      <p:sp>
        <p:nvSpPr>
          <p:cNvPr id="14" name="Text 12"/>
          <p:cNvSpPr/>
          <p:nvPr/>
        </p:nvSpPr>
        <p:spPr>
          <a:xfrm>
            <a:off x="6172200" y="1280160"/>
            <a:ext cx="2834640" cy="182880"/>
          </a:xfrm>
          <a:prstGeom prst="rect">
            <a:avLst/>
          </a:prstGeom>
          <a:noFill/>
          <a:ln/>
        </p:spPr>
        <p:txBody>
          <a:bodyPr wrap="square" lIns="0" tIns="0" rIns="0" bIns="0" rtlCol="0" anchor="ctr"/>
          <a:lstStyle/>
          <a:p>
            <a:pPr indent="0" marL="0">
              <a:buNone/>
            </a:pPr>
            <a:r>
              <a:rPr lang="en-US" sz="950" b="1" dirty="0">
                <a:solidFill>
                  <a:srgbClr val="E74C3C"/>
                </a:solidFill>
                <a:latin typeface="Calibri" pitchFamily="34" charset="0"/>
                <a:ea typeface="Calibri" pitchFamily="34" charset="-122"/>
                <a:cs typeface="Calibri" pitchFamily="34" charset="-120"/>
              </a:rPr>
              <a:t>Lesson for SWaT</a:t>
            </a:r>
            <a:endParaRPr lang="en-US" sz="950" dirty="0"/>
          </a:p>
        </p:txBody>
      </p:sp>
      <p:sp>
        <p:nvSpPr>
          <p:cNvPr id="15" name="Text 13"/>
          <p:cNvSpPr/>
          <p:nvPr/>
        </p:nvSpPr>
        <p:spPr>
          <a:xfrm>
            <a:off x="6172200" y="1481328"/>
            <a:ext cx="2834640" cy="713232"/>
          </a:xfrm>
          <a:prstGeom prst="rect">
            <a:avLst/>
          </a:prstGeom>
          <a:noFill/>
          <a:ln/>
        </p:spPr>
        <p:txBody>
          <a:bodyPr wrap="square" lIns="0" tIns="0" rIns="0" bIns="0" rtlCol="0" anchor="ctr"/>
          <a:lstStyle/>
          <a:p>
            <a:pPr indent="0" marL="0">
              <a:buNone/>
            </a:pPr>
            <a:r>
              <a:rPr lang="en-US" sz="900" dirty="0">
                <a:solidFill>
                  <a:srgbClr val="C9D6DF"/>
                </a:solidFill>
                <a:latin typeface="Calibri" pitchFamily="34" charset="0"/>
                <a:ea typeface="Calibri" pitchFamily="34" charset="-122"/>
                <a:cs typeface="Calibri" pitchFamily="34" charset="-120"/>
              </a:rPr>
              <a:t>Human-in-the-loop recovery can be faster than automated if operator is trained and monitoring. But reliance on human observation alone is insufficient — automated alert would have fired before cursor movement.</a:t>
            </a:r>
            <a:endParaRPr lang="en-US" sz="900" dirty="0"/>
          </a:p>
        </p:txBody>
      </p:sp>
      <p:sp>
        <p:nvSpPr>
          <p:cNvPr id="16" name="Shape 14"/>
          <p:cNvSpPr/>
          <p:nvPr/>
        </p:nvSpPr>
        <p:spPr>
          <a:xfrm>
            <a:off x="228600" y="2304288"/>
            <a:ext cx="8686800" cy="1298448"/>
          </a:xfrm>
          <a:prstGeom prst="rect">
            <a:avLst/>
          </a:prstGeom>
          <a:solidFill>
            <a:srgbClr val="1B3A5C"/>
          </a:solidFill>
          <a:ln w="12700">
            <a:solidFill>
              <a:srgbClr val="1B3A5C"/>
            </a:solidFill>
            <a:prstDash val="solid"/>
          </a:ln>
        </p:spPr>
      </p:sp>
      <p:sp>
        <p:nvSpPr>
          <p:cNvPr id="17" name="Shape 15"/>
          <p:cNvSpPr/>
          <p:nvPr/>
        </p:nvSpPr>
        <p:spPr>
          <a:xfrm>
            <a:off x="228600" y="2304288"/>
            <a:ext cx="64008" cy="1298448"/>
          </a:xfrm>
          <a:prstGeom prst="rect">
            <a:avLst/>
          </a:prstGeom>
          <a:solidFill>
            <a:srgbClr val="E67E22"/>
          </a:solidFill>
          <a:ln w="12700">
            <a:solidFill>
              <a:srgbClr val="E67E22"/>
            </a:solidFill>
            <a:prstDash val="solid"/>
          </a:ln>
        </p:spPr>
      </p:sp>
      <p:sp>
        <p:nvSpPr>
          <p:cNvPr id="18" name="Shape 16"/>
          <p:cNvSpPr/>
          <p:nvPr/>
        </p:nvSpPr>
        <p:spPr>
          <a:xfrm>
            <a:off x="228600" y="2304288"/>
            <a:ext cx="8686800" cy="310896"/>
          </a:xfrm>
          <a:prstGeom prst="rect">
            <a:avLst/>
          </a:prstGeom>
          <a:solidFill>
            <a:srgbClr val="1B3A5C"/>
          </a:solidFill>
          <a:ln w="12700">
            <a:solidFill>
              <a:srgbClr val="1B3A5C"/>
            </a:solidFill>
            <a:prstDash val="solid"/>
          </a:ln>
        </p:spPr>
      </p:sp>
      <p:sp>
        <p:nvSpPr>
          <p:cNvPr id="19" name="Text 17"/>
          <p:cNvSpPr/>
          <p:nvPr/>
        </p:nvSpPr>
        <p:spPr>
          <a:xfrm>
            <a:off x="384048" y="2350008"/>
            <a:ext cx="5943600" cy="237744"/>
          </a:xfrm>
          <a:prstGeom prst="rect">
            <a:avLst/>
          </a:prstGeom>
          <a:noFill/>
          <a:ln/>
        </p:spPr>
        <p:txBody>
          <a:bodyPr wrap="square" lIns="0" tIns="0" rIns="0" bIns="0" rtlCol="0" anchor="ctr"/>
          <a:lstStyle/>
          <a:p>
            <a:pPr indent="0" marL="0">
              <a:buNone/>
            </a:pPr>
            <a:r>
              <a:rPr lang="en-US" sz="1250" b="1" dirty="0">
                <a:solidFill>
                  <a:srgbClr val="E67E22"/>
                </a:solidFill>
                <a:latin typeface="Calibri" pitchFamily="34" charset="0"/>
                <a:ea typeface="Calibri" pitchFamily="34" charset="-122"/>
                <a:cs typeface="Calibri" pitchFamily="34" charset="-120"/>
              </a:rPr>
              <a:t>🏭  Texas Water Utilities</a:t>
            </a:r>
            <a:endParaRPr lang="en-US" sz="1250" dirty="0"/>
          </a:p>
        </p:txBody>
      </p:sp>
      <p:sp>
        <p:nvSpPr>
          <p:cNvPr id="20" name="Text 18"/>
          <p:cNvSpPr/>
          <p:nvPr/>
        </p:nvSpPr>
        <p:spPr>
          <a:xfrm>
            <a:off x="7772400" y="2350008"/>
            <a:ext cx="1051560" cy="237744"/>
          </a:xfrm>
          <a:prstGeom prst="rect">
            <a:avLst/>
          </a:prstGeom>
          <a:noFill/>
          <a:ln/>
        </p:spPr>
        <p:txBody>
          <a:bodyPr wrap="square" lIns="0" tIns="0" rIns="0" bIns="0" rtlCol="0" anchor="ctr"/>
          <a:lstStyle/>
          <a:p>
            <a:pPr algn="r" indent="0" marL="0">
              <a:buNone/>
            </a:pPr>
            <a:r>
              <a:rPr lang="en-US" sz="1200" b="1" dirty="0">
                <a:solidFill>
                  <a:srgbClr val="8FA3B1"/>
                </a:solidFill>
                <a:latin typeface="Calibri" pitchFamily="34" charset="0"/>
                <a:ea typeface="Calibri" pitchFamily="34" charset="-122"/>
                <a:cs typeface="Calibri" pitchFamily="34" charset="-120"/>
              </a:rPr>
              <a:t>Apr 2024</a:t>
            </a:r>
            <a:endParaRPr lang="en-US" sz="1200" dirty="0"/>
          </a:p>
        </p:txBody>
      </p:sp>
      <p:sp>
        <p:nvSpPr>
          <p:cNvPr id="21" name="Text 19"/>
          <p:cNvSpPr/>
          <p:nvPr/>
        </p:nvSpPr>
        <p:spPr>
          <a:xfrm>
            <a:off x="320040" y="2651760"/>
            <a:ext cx="2834640" cy="182880"/>
          </a:xfrm>
          <a:prstGeom prst="rect">
            <a:avLst/>
          </a:prstGeom>
          <a:noFill/>
          <a:ln/>
        </p:spPr>
        <p:txBody>
          <a:bodyPr wrap="square" lIns="0" tIns="0" rIns="0" bIns="0" rtlCol="0" anchor="ctr"/>
          <a:lstStyle/>
          <a:p>
            <a:pPr indent="0" marL="0">
              <a:buNone/>
            </a:pPr>
            <a:r>
              <a:rPr lang="en-US" sz="950" b="1" dirty="0">
                <a:solidFill>
                  <a:srgbClr val="E67E22"/>
                </a:solidFill>
                <a:latin typeface="Calibri" pitchFamily="34" charset="0"/>
                <a:ea typeface="Calibri" pitchFamily="34" charset="-122"/>
                <a:cs typeface="Calibri" pitchFamily="34" charset="-120"/>
              </a:rPr>
              <a:t>Attack</a:t>
            </a:r>
            <a:endParaRPr lang="en-US" sz="950" dirty="0"/>
          </a:p>
        </p:txBody>
      </p:sp>
      <p:sp>
        <p:nvSpPr>
          <p:cNvPr id="22" name="Text 20"/>
          <p:cNvSpPr/>
          <p:nvPr/>
        </p:nvSpPr>
        <p:spPr>
          <a:xfrm>
            <a:off x="320040" y="2852928"/>
            <a:ext cx="2834640" cy="713232"/>
          </a:xfrm>
          <a:prstGeom prst="rect">
            <a:avLst/>
          </a:prstGeom>
          <a:noFill/>
          <a:ln/>
        </p:spPr>
        <p:txBody>
          <a:bodyPr wrap="square" lIns="0" tIns="0" rIns="0" bIns="0" rtlCol="0" anchor="ctr"/>
          <a:lstStyle/>
          <a:p>
            <a:pPr indent="0" marL="0">
              <a:buNone/>
            </a:pPr>
            <a:r>
              <a:rPr lang="en-US" sz="900" dirty="0">
                <a:solidFill>
                  <a:srgbClr val="C9D6DF"/>
                </a:solidFill>
                <a:latin typeface="Calibri" pitchFamily="34" charset="0"/>
                <a:ea typeface="Calibri" pitchFamily="34" charset="-122"/>
                <a:cs typeface="Calibri" pitchFamily="34" charset="-120"/>
              </a:rPr>
              <a:t>Russian-linked hackers targeted Unitronics PLCs (exposed SCADA). One plant tank overflowed; SCADA systems disrupted.</a:t>
            </a:r>
            <a:endParaRPr lang="en-US" sz="900" dirty="0"/>
          </a:p>
        </p:txBody>
      </p:sp>
      <p:sp>
        <p:nvSpPr>
          <p:cNvPr id="23" name="Text 21"/>
          <p:cNvSpPr/>
          <p:nvPr/>
        </p:nvSpPr>
        <p:spPr>
          <a:xfrm>
            <a:off x="3291840" y="2651760"/>
            <a:ext cx="2834640" cy="182880"/>
          </a:xfrm>
          <a:prstGeom prst="rect">
            <a:avLst/>
          </a:prstGeom>
          <a:noFill/>
          <a:ln/>
        </p:spPr>
        <p:txBody>
          <a:bodyPr wrap="square" lIns="0" tIns="0" rIns="0" bIns="0" rtlCol="0" anchor="ctr"/>
          <a:lstStyle/>
          <a:p>
            <a:pPr indent="0" marL="0">
              <a:buNone/>
            </a:pPr>
            <a:r>
              <a:rPr lang="en-US" sz="950" b="1" dirty="0">
                <a:solidFill>
                  <a:srgbClr val="E67E22"/>
                </a:solidFill>
                <a:latin typeface="Calibri" pitchFamily="34" charset="0"/>
                <a:ea typeface="Calibri" pitchFamily="34" charset="-122"/>
                <a:cs typeface="Calibri" pitchFamily="34" charset="-120"/>
              </a:rPr>
              <a:t>Recovery</a:t>
            </a:r>
            <a:endParaRPr lang="en-US" sz="950" dirty="0"/>
          </a:p>
        </p:txBody>
      </p:sp>
      <p:sp>
        <p:nvSpPr>
          <p:cNvPr id="24" name="Text 22"/>
          <p:cNvSpPr/>
          <p:nvPr/>
        </p:nvSpPr>
        <p:spPr>
          <a:xfrm>
            <a:off x="3291840" y="2852928"/>
            <a:ext cx="2834640" cy="713232"/>
          </a:xfrm>
          <a:prstGeom prst="rect">
            <a:avLst/>
          </a:prstGeom>
          <a:noFill/>
          <a:ln/>
        </p:spPr>
        <p:txBody>
          <a:bodyPr wrap="square" lIns="0" tIns="0" rIns="0" bIns="0" rtlCol="0" anchor="ctr"/>
          <a:lstStyle/>
          <a:p>
            <a:pPr indent="0" marL="0">
              <a:buNone/>
            </a:pPr>
            <a:r>
              <a:rPr lang="en-US" sz="900" dirty="0">
                <a:solidFill>
                  <a:srgbClr val="C9D6DF"/>
                </a:solidFill>
                <a:latin typeface="Calibri" pitchFamily="34" charset="0"/>
                <a:ea typeface="Calibri" pitchFamily="34" charset="-122"/>
                <a:cs typeface="Calibri" pitchFamily="34" charset="-120"/>
              </a:rPr>
              <a:t>Manual override to local control. Physical inspection of all actuator states. Took days to verify system integrity before resuming automated control. No cryptographic verification of PLC firmware.</a:t>
            </a:r>
            <a:endParaRPr lang="en-US" sz="900" dirty="0"/>
          </a:p>
        </p:txBody>
      </p:sp>
      <p:sp>
        <p:nvSpPr>
          <p:cNvPr id="25" name="Text 23"/>
          <p:cNvSpPr/>
          <p:nvPr/>
        </p:nvSpPr>
        <p:spPr>
          <a:xfrm>
            <a:off x="6172200" y="2651760"/>
            <a:ext cx="2834640" cy="182880"/>
          </a:xfrm>
          <a:prstGeom prst="rect">
            <a:avLst/>
          </a:prstGeom>
          <a:noFill/>
          <a:ln/>
        </p:spPr>
        <p:txBody>
          <a:bodyPr wrap="square" lIns="0" tIns="0" rIns="0" bIns="0" rtlCol="0" anchor="ctr"/>
          <a:lstStyle/>
          <a:p>
            <a:pPr indent="0" marL="0">
              <a:buNone/>
            </a:pPr>
            <a:r>
              <a:rPr lang="en-US" sz="950" b="1" dirty="0">
                <a:solidFill>
                  <a:srgbClr val="E67E22"/>
                </a:solidFill>
                <a:latin typeface="Calibri" pitchFamily="34" charset="0"/>
                <a:ea typeface="Calibri" pitchFamily="34" charset="-122"/>
                <a:cs typeface="Calibri" pitchFamily="34" charset="-120"/>
              </a:rPr>
              <a:t>Lesson for SWaT</a:t>
            </a:r>
            <a:endParaRPr lang="en-US" sz="950" dirty="0"/>
          </a:p>
        </p:txBody>
      </p:sp>
      <p:sp>
        <p:nvSpPr>
          <p:cNvPr id="26" name="Text 24"/>
          <p:cNvSpPr/>
          <p:nvPr/>
        </p:nvSpPr>
        <p:spPr>
          <a:xfrm>
            <a:off x="6172200" y="2852928"/>
            <a:ext cx="2834640" cy="713232"/>
          </a:xfrm>
          <a:prstGeom prst="rect">
            <a:avLst/>
          </a:prstGeom>
          <a:noFill/>
          <a:ln/>
        </p:spPr>
        <p:txBody>
          <a:bodyPr wrap="square" lIns="0" tIns="0" rIns="0" bIns="0" rtlCol="0" anchor="ctr"/>
          <a:lstStyle/>
          <a:p>
            <a:pPr indent="0" marL="0">
              <a:buNone/>
            </a:pPr>
            <a:r>
              <a:rPr lang="en-US" sz="900" dirty="0">
                <a:solidFill>
                  <a:srgbClr val="C9D6DF"/>
                </a:solidFill>
                <a:latin typeface="Calibri" pitchFamily="34" charset="0"/>
                <a:ea typeface="Calibri" pitchFamily="34" charset="-122"/>
                <a:cs typeface="Calibri" pitchFamily="34" charset="-120"/>
              </a:rPr>
              <a:t>No hot-standby PLC, no automated safe-state — recovery took days vs our target of &lt;15s. Firmware integrity checking post-incident critical. Our design adds cryptographic PLC1B verification step.</a:t>
            </a:r>
            <a:endParaRPr lang="en-US" sz="900" dirty="0"/>
          </a:p>
        </p:txBody>
      </p:sp>
      <p:sp>
        <p:nvSpPr>
          <p:cNvPr id="27" name="Shape 25"/>
          <p:cNvSpPr/>
          <p:nvPr/>
        </p:nvSpPr>
        <p:spPr>
          <a:xfrm>
            <a:off x="228600" y="3675888"/>
            <a:ext cx="8686800" cy="1298448"/>
          </a:xfrm>
          <a:prstGeom prst="rect">
            <a:avLst/>
          </a:prstGeom>
          <a:solidFill>
            <a:srgbClr val="1B3A5C"/>
          </a:solidFill>
          <a:ln w="12700">
            <a:solidFill>
              <a:srgbClr val="1B3A5C"/>
            </a:solidFill>
            <a:prstDash val="solid"/>
          </a:ln>
        </p:spPr>
      </p:sp>
      <p:sp>
        <p:nvSpPr>
          <p:cNvPr id="28" name="Shape 26"/>
          <p:cNvSpPr/>
          <p:nvPr/>
        </p:nvSpPr>
        <p:spPr>
          <a:xfrm>
            <a:off x="228600" y="3675888"/>
            <a:ext cx="64008" cy="1298448"/>
          </a:xfrm>
          <a:prstGeom prst="rect">
            <a:avLst/>
          </a:prstGeom>
          <a:solidFill>
            <a:srgbClr val="7D3C98"/>
          </a:solidFill>
          <a:ln w="12700">
            <a:solidFill>
              <a:srgbClr val="7D3C98"/>
            </a:solidFill>
            <a:prstDash val="solid"/>
          </a:ln>
        </p:spPr>
      </p:sp>
      <p:sp>
        <p:nvSpPr>
          <p:cNvPr id="29" name="Shape 27"/>
          <p:cNvSpPr/>
          <p:nvPr/>
        </p:nvSpPr>
        <p:spPr>
          <a:xfrm>
            <a:off x="228600" y="3675888"/>
            <a:ext cx="8686800" cy="310896"/>
          </a:xfrm>
          <a:prstGeom prst="rect">
            <a:avLst/>
          </a:prstGeom>
          <a:solidFill>
            <a:srgbClr val="1B3A5C"/>
          </a:solidFill>
          <a:ln w="12700">
            <a:solidFill>
              <a:srgbClr val="1B3A5C"/>
            </a:solidFill>
            <a:prstDash val="solid"/>
          </a:ln>
        </p:spPr>
      </p:sp>
      <p:sp>
        <p:nvSpPr>
          <p:cNvPr id="30" name="Text 28"/>
          <p:cNvSpPr/>
          <p:nvPr/>
        </p:nvSpPr>
        <p:spPr>
          <a:xfrm>
            <a:off x="384048" y="3721608"/>
            <a:ext cx="5943600" cy="237744"/>
          </a:xfrm>
          <a:prstGeom prst="rect">
            <a:avLst/>
          </a:prstGeom>
          <a:noFill/>
          <a:ln/>
        </p:spPr>
        <p:txBody>
          <a:bodyPr wrap="square" lIns="0" tIns="0" rIns="0" bIns="0" rtlCol="0" anchor="ctr"/>
          <a:lstStyle/>
          <a:p>
            <a:pPr indent="0" marL="0">
              <a:buNone/>
            </a:pPr>
            <a:r>
              <a:rPr lang="en-US" sz="1250" b="1" dirty="0">
                <a:solidFill>
                  <a:srgbClr val="7D3C98"/>
                </a:solidFill>
                <a:latin typeface="Calibri" pitchFamily="34" charset="0"/>
                <a:ea typeface="Calibri" pitchFamily="34" charset="-122"/>
                <a:cs typeface="Calibri" pitchFamily="34" charset="-120"/>
              </a:rPr>
              <a:t>⚛️  Stuxnet (Natanz, Iran)</a:t>
            </a:r>
            <a:endParaRPr lang="en-US" sz="1250" dirty="0"/>
          </a:p>
        </p:txBody>
      </p:sp>
      <p:sp>
        <p:nvSpPr>
          <p:cNvPr id="31" name="Text 29"/>
          <p:cNvSpPr/>
          <p:nvPr/>
        </p:nvSpPr>
        <p:spPr>
          <a:xfrm>
            <a:off x="7772400" y="3721608"/>
            <a:ext cx="1051560" cy="237744"/>
          </a:xfrm>
          <a:prstGeom prst="rect">
            <a:avLst/>
          </a:prstGeom>
          <a:noFill/>
          <a:ln/>
        </p:spPr>
        <p:txBody>
          <a:bodyPr wrap="square" lIns="0" tIns="0" rIns="0" bIns="0" rtlCol="0" anchor="ctr"/>
          <a:lstStyle/>
          <a:p>
            <a:pPr algn="r" indent="0" marL="0">
              <a:buNone/>
            </a:pPr>
            <a:r>
              <a:rPr lang="en-US" sz="1200" b="1" dirty="0">
                <a:solidFill>
                  <a:srgbClr val="8FA3B1"/>
                </a:solidFill>
                <a:latin typeface="Calibri" pitchFamily="34" charset="0"/>
                <a:ea typeface="Calibri" pitchFamily="34" charset="-122"/>
                <a:cs typeface="Calibri" pitchFamily="34" charset="-120"/>
              </a:rPr>
              <a:t>2009–2010</a:t>
            </a:r>
            <a:endParaRPr lang="en-US" sz="1200" dirty="0"/>
          </a:p>
        </p:txBody>
      </p:sp>
      <p:sp>
        <p:nvSpPr>
          <p:cNvPr id="32" name="Text 30"/>
          <p:cNvSpPr/>
          <p:nvPr/>
        </p:nvSpPr>
        <p:spPr>
          <a:xfrm>
            <a:off x="320040" y="4023360"/>
            <a:ext cx="2834640" cy="182880"/>
          </a:xfrm>
          <a:prstGeom prst="rect">
            <a:avLst/>
          </a:prstGeom>
          <a:noFill/>
          <a:ln/>
        </p:spPr>
        <p:txBody>
          <a:bodyPr wrap="square" lIns="0" tIns="0" rIns="0" bIns="0" rtlCol="0" anchor="ctr"/>
          <a:lstStyle/>
          <a:p>
            <a:pPr indent="0" marL="0">
              <a:buNone/>
            </a:pPr>
            <a:r>
              <a:rPr lang="en-US" sz="950" b="1" dirty="0">
                <a:solidFill>
                  <a:srgbClr val="7D3C98"/>
                </a:solidFill>
                <a:latin typeface="Calibri" pitchFamily="34" charset="0"/>
                <a:ea typeface="Calibri" pitchFamily="34" charset="-122"/>
                <a:cs typeface="Calibri" pitchFamily="34" charset="-120"/>
              </a:rPr>
              <a:t>Attack</a:t>
            </a:r>
            <a:endParaRPr lang="en-US" sz="950" dirty="0"/>
          </a:p>
        </p:txBody>
      </p:sp>
      <p:sp>
        <p:nvSpPr>
          <p:cNvPr id="33" name="Text 31"/>
          <p:cNvSpPr/>
          <p:nvPr/>
        </p:nvSpPr>
        <p:spPr>
          <a:xfrm>
            <a:off x="320040" y="4224528"/>
            <a:ext cx="2834640" cy="713232"/>
          </a:xfrm>
          <a:prstGeom prst="rect">
            <a:avLst/>
          </a:prstGeom>
          <a:noFill/>
          <a:ln/>
        </p:spPr>
        <p:txBody>
          <a:bodyPr wrap="square" lIns="0" tIns="0" rIns="0" bIns="0" rtlCol="0" anchor="ctr"/>
          <a:lstStyle/>
          <a:p>
            <a:pPr indent="0" marL="0">
              <a:buNone/>
            </a:pPr>
            <a:r>
              <a:rPr lang="en-US" sz="900" dirty="0">
                <a:solidFill>
                  <a:srgbClr val="C9D6DF"/>
                </a:solidFill>
                <a:latin typeface="Calibri" pitchFamily="34" charset="0"/>
                <a:ea typeface="Calibri" pitchFamily="34" charset="-122"/>
                <a:cs typeface="Calibri" pitchFamily="34" charset="-120"/>
              </a:rPr>
              <a:t>Centrifuge speed manipulation while spoofing normal readings to HMI. Classic Paper #9 + #31 combined in practice.</a:t>
            </a:r>
            <a:endParaRPr lang="en-US" sz="900" dirty="0"/>
          </a:p>
        </p:txBody>
      </p:sp>
      <p:sp>
        <p:nvSpPr>
          <p:cNvPr id="34" name="Text 32"/>
          <p:cNvSpPr/>
          <p:nvPr/>
        </p:nvSpPr>
        <p:spPr>
          <a:xfrm>
            <a:off x="3291840" y="4023360"/>
            <a:ext cx="2834640" cy="182880"/>
          </a:xfrm>
          <a:prstGeom prst="rect">
            <a:avLst/>
          </a:prstGeom>
          <a:noFill/>
          <a:ln/>
        </p:spPr>
        <p:txBody>
          <a:bodyPr wrap="square" lIns="0" tIns="0" rIns="0" bIns="0" rtlCol="0" anchor="ctr"/>
          <a:lstStyle/>
          <a:p>
            <a:pPr indent="0" marL="0">
              <a:buNone/>
            </a:pPr>
            <a:r>
              <a:rPr lang="en-US" sz="950" b="1" dirty="0">
                <a:solidFill>
                  <a:srgbClr val="7D3C98"/>
                </a:solidFill>
                <a:latin typeface="Calibri" pitchFamily="34" charset="0"/>
                <a:ea typeface="Calibri" pitchFamily="34" charset="-122"/>
                <a:cs typeface="Calibri" pitchFamily="34" charset="-120"/>
              </a:rPr>
              <a:t>Recovery</a:t>
            </a:r>
            <a:endParaRPr lang="en-US" sz="950" dirty="0"/>
          </a:p>
        </p:txBody>
      </p:sp>
      <p:sp>
        <p:nvSpPr>
          <p:cNvPr id="35" name="Text 33"/>
          <p:cNvSpPr/>
          <p:nvPr/>
        </p:nvSpPr>
        <p:spPr>
          <a:xfrm>
            <a:off x="3291840" y="4224528"/>
            <a:ext cx="2834640" cy="713232"/>
          </a:xfrm>
          <a:prstGeom prst="rect">
            <a:avLst/>
          </a:prstGeom>
          <a:noFill/>
          <a:ln/>
        </p:spPr>
        <p:txBody>
          <a:bodyPr wrap="square" lIns="0" tIns="0" rIns="0" bIns="0" rtlCol="0" anchor="ctr"/>
          <a:lstStyle/>
          <a:p>
            <a:pPr indent="0" marL="0">
              <a:buNone/>
            </a:pPr>
            <a:r>
              <a:rPr lang="en-US" sz="900" dirty="0">
                <a:solidFill>
                  <a:srgbClr val="C9D6DF"/>
                </a:solidFill>
                <a:latin typeface="Calibri" pitchFamily="34" charset="0"/>
                <a:ea typeface="Calibri" pitchFamily="34" charset="-122"/>
                <a:cs typeface="Calibri" pitchFamily="34" charset="-120"/>
              </a:rPr>
              <a:t>Operators unaware of attack for months — no process invariant checker existed. Physical centrifuge damage discovered only after fact. Forensic reconstruction of attack timeline took years.</a:t>
            </a:r>
            <a:endParaRPr lang="en-US" sz="900" dirty="0"/>
          </a:p>
        </p:txBody>
      </p:sp>
      <p:sp>
        <p:nvSpPr>
          <p:cNvPr id="36" name="Text 34"/>
          <p:cNvSpPr/>
          <p:nvPr/>
        </p:nvSpPr>
        <p:spPr>
          <a:xfrm>
            <a:off x="6172200" y="4023360"/>
            <a:ext cx="2834640" cy="182880"/>
          </a:xfrm>
          <a:prstGeom prst="rect">
            <a:avLst/>
          </a:prstGeom>
          <a:noFill/>
          <a:ln/>
        </p:spPr>
        <p:txBody>
          <a:bodyPr wrap="square" lIns="0" tIns="0" rIns="0" bIns="0" rtlCol="0" anchor="ctr"/>
          <a:lstStyle/>
          <a:p>
            <a:pPr indent="0" marL="0">
              <a:buNone/>
            </a:pPr>
            <a:r>
              <a:rPr lang="en-US" sz="950" b="1" dirty="0">
                <a:solidFill>
                  <a:srgbClr val="7D3C98"/>
                </a:solidFill>
                <a:latin typeface="Calibri" pitchFamily="34" charset="0"/>
                <a:ea typeface="Calibri" pitchFamily="34" charset="-122"/>
                <a:cs typeface="Calibri" pitchFamily="34" charset="-120"/>
              </a:rPr>
              <a:t>Lesson for SWaT</a:t>
            </a:r>
            <a:endParaRPr lang="en-US" sz="950" dirty="0"/>
          </a:p>
        </p:txBody>
      </p:sp>
      <p:sp>
        <p:nvSpPr>
          <p:cNvPr id="37" name="Text 35"/>
          <p:cNvSpPr/>
          <p:nvPr/>
        </p:nvSpPr>
        <p:spPr>
          <a:xfrm>
            <a:off x="6172200" y="4224528"/>
            <a:ext cx="2834640" cy="713232"/>
          </a:xfrm>
          <a:prstGeom prst="rect">
            <a:avLst/>
          </a:prstGeom>
          <a:noFill/>
          <a:ln/>
        </p:spPr>
        <p:txBody>
          <a:bodyPr wrap="square" lIns="0" tIns="0" rIns="0" bIns="0" rtlCol="0" anchor="ctr"/>
          <a:lstStyle/>
          <a:p>
            <a:pPr indent="0" marL="0">
              <a:buNone/>
            </a:pPr>
            <a:r>
              <a:rPr lang="en-US" sz="900" dirty="0">
                <a:solidFill>
                  <a:srgbClr val="C9D6DF"/>
                </a:solidFill>
                <a:latin typeface="Calibri" pitchFamily="34" charset="0"/>
                <a:ea typeface="Calibri" pitchFamily="34" charset="-122"/>
                <a:cs typeface="Calibri" pitchFamily="34" charset="-120"/>
              </a:rPr>
              <a:t>Invariant-based detection would have caught actuator/sensor inconsistency immediately. Our I-7 equivalent (pump ON + valve state mismatch) fires in &lt;3 cycles. Recovery plan must pre-exist attack — post-hoc is too late.</a:t>
            </a:r>
            <a:endParaRPr lang="en-US" sz="900" dirty="0"/>
          </a:p>
        </p:txBody>
      </p:sp>
      <p:sp>
        <p:nvSpPr>
          <p:cNvPr id="38" name="Shape 36"/>
          <p:cNvSpPr/>
          <p:nvPr/>
        </p:nvSpPr>
        <p:spPr>
          <a:xfrm>
            <a:off x="0" y="4773168"/>
            <a:ext cx="9144000" cy="374904"/>
          </a:xfrm>
          <a:prstGeom prst="rect">
            <a:avLst/>
          </a:prstGeom>
          <a:solidFill>
            <a:srgbClr val="1B3A5C"/>
          </a:solidFill>
          <a:ln w="12700">
            <a:solidFill>
              <a:srgbClr val="1B3A5C"/>
            </a:solidFill>
            <a:prstDash val="solid"/>
          </a:ln>
        </p:spPr>
      </p:sp>
      <p:sp>
        <p:nvSpPr>
          <p:cNvPr id="39" name="Text 37"/>
          <p:cNvSpPr/>
          <p:nvPr/>
        </p:nvSpPr>
        <p:spPr>
          <a:xfrm>
            <a:off x="274320" y="4773168"/>
            <a:ext cx="8595360" cy="374904"/>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Recovery Research  ·  Case Studies</a:t>
            </a:r>
            <a:endParaRPr lang="en-US" sz="1000" dirty="0"/>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A7E8C"/>
          </a:solidFill>
          <a:ln w="12700">
            <a:solidFill>
              <a:srgbClr val="0A7E8C"/>
            </a:solidFill>
            <a:prstDash val="solid"/>
          </a:ln>
        </p:spPr>
      </p:sp>
      <p:sp>
        <p:nvSpPr>
          <p:cNvPr id="3" name="Text 1"/>
          <p:cNvSpPr/>
          <p:nvPr/>
        </p:nvSpPr>
        <p:spPr>
          <a:xfrm>
            <a:off x="365760" y="91440"/>
            <a:ext cx="8412480" cy="457200"/>
          </a:xfrm>
          <a:prstGeom prst="rect">
            <a:avLst/>
          </a:prstGeom>
          <a:noFill/>
          <a:ln/>
        </p:spPr>
        <p:txBody>
          <a:bodyPr wrap="square" lIns="0" tIns="0" rIns="0" bIns="0" rtlCol="0" anchor="ctr"/>
          <a:lstStyle/>
          <a:p>
            <a:pPr indent="0" marL="0">
              <a:buNone/>
            </a:pPr>
            <a:r>
              <a:rPr lang="en-US" sz="2600" b="1" dirty="0">
                <a:solidFill>
                  <a:srgbClr val="0A1628"/>
                </a:solidFill>
                <a:latin typeface="Calibri" pitchFamily="34" charset="0"/>
                <a:ea typeface="Calibri" pitchFamily="34" charset="-122"/>
                <a:cs typeface="Calibri" pitchFamily="34" charset="-120"/>
              </a:rPr>
              <a:t>Recovery Methods — Comparison Matrix for SWaT</a:t>
            </a:r>
            <a:endParaRPr lang="en-US" sz="2600" dirty="0"/>
          </a:p>
        </p:txBody>
      </p:sp>
      <p:sp>
        <p:nvSpPr>
          <p:cNvPr id="4" name="Text 2"/>
          <p:cNvSpPr/>
          <p:nvPr/>
        </p:nvSpPr>
        <p:spPr>
          <a:xfrm>
            <a:off x="365760" y="566928"/>
            <a:ext cx="8412480" cy="237744"/>
          </a:xfrm>
          <a:prstGeom prst="rect">
            <a:avLst/>
          </a:prstGeom>
          <a:noFill/>
          <a:ln/>
        </p:spPr>
        <p:txBody>
          <a:bodyPr wrap="square" lIns="0" tIns="0" rIns="0" bIns="0" rtlCol="0" anchor="ctr"/>
          <a:lstStyle/>
          <a:p>
            <a:pPr indent="0" marL="0">
              <a:buNone/>
            </a:pPr>
            <a:r>
              <a:rPr lang="en-US" sz="1150" i="1" dirty="0">
                <a:solidFill>
                  <a:srgbClr val="8FA3B1"/>
                </a:solidFill>
                <a:latin typeface="Calibri" pitchFamily="34" charset="0"/>
                <a:ea typeface="Calibri" pitchFamily="34" charset="-122"/>
                <a:cs typeface="Calibri" pitchFamily="34" charset="-120"/>
              </a:rPr>
              <a:t>Evaluating each method against SWaT's specific constraints: real-time PLC timing, Modbus attack, sensor spoofing</a:t>
            </a:r>
            <a:endParaRPr lang="en-US" sz="1150" dirty="0"/>
          </a:p>
        </p:txBody>
      </p:sp>
      <p:sp>
        <p:nvSpPr>
          <p:cNvPr id="5" name="Shape 3"/>
          <p:cNvSpPr/>
          <p:nvPr/>
        </p:nvSpPr>
        <p:spPr>
          <a:xfrm>
            <a:off x="228600" y="914400"/>
            <a:ext cx="8686800" cy="438912"/>
          </a:xfrm>
          <a:prstGeom prst="rect">
            <a:avLst/>
          </a:prstGeom>
          <a:solidFill>
            <a:srgbClr val="1B3A5C"/>
          </a:solidFill>
          <a:ln w="12700">
            <a:solidFill>
              <a:srgbClr val="1B3A5C"/>
            </a:solidFill>
            <a:prstDash val="solid"/>
          </a:ln>
        </p:spPr>
      </p:sp>
      <p:sp>
        <p:nvSpPr>
          <p:cNvPr id="6" name="Text 4"/>
          <p:cNvSpPr/>
          <p:nvPr/>
        </p:nvSpPr>
        <p:spPr>
          <a:xfrm>
            <a:off x="283464" y="941832"/>
            <a:ext cx="1737360" cy="39319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Method</a:t>
            </a:r>
            <a:endParaRPr lang="en-US" sz="950" dirty="0"/>
          </a:p>
        </p:txBody>
      </p:sp>
      <p:sp>
        <p:nvSpPr>
          <p:cNvPr id="7" name="Text 5"/>
          <p:cNvSpPr/>
          <p:nvPr/>
        </p:nvSpPr>
        <p:spPr>
          <a:xfrm>
            <a:off x="2039112" y="941832"/>
            <a:ext cx="1325880" cy="39319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Recovery</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Time</a:t>
            </a:r>
            <a:endParaRPr lang="en-US" sz="950" dirty="0"/>
          </a:p>
        </p:txBody>
      </p:sp>
      <p:sp>
        <p:nvSpPr>
          <p:cNvPr id="8" name="Text 6"/>
          <p:cNvSpPr/>
          <p:nvPr/>
        </p:nvSpPr>
        <p:spPr>
          <a:xfrm>
            <a:off x="3383280" y="941832"/>
            <a:ext cx="1234440" cy="39319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Requires</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Model</a:t>
            </a:r>
            <a:endParaRPr lang="en-US" sz="950" dirty="0"/>
          </a:p>
        </p:txBody>
      </p:sp>
      <p:sp>
        <p:nvSpPr>
          <p:cNvPr id="9" name="Text 7"/>
          <p:cNvSpPr/>
          <p:nvPr/>
        </p:nvSpPr>
        <p:spPr>
          <a:xfrm>
            <a:off x="4636008" y="941832"/>
            <a:ext cx="1188720" cy="39319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Handles</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Spoofed Sensors</a:t>
            </a:r>
            <a:endParaRPr lang="en-US" sz="950" dirty="0"/>
          </a:p>
        </p:txBody>
      </p:sp>
      <p:sp>
        <p:nvSpPr>
          <p:cNvPr id="10" name="Text 8"/>
          <p:cNvSpPr/>
          <p:nvPr/>
        </p:nvSpPr>
        <p:spPr>
          <a:xfrm>
            <a:off x="5843016" y="941832"/>
            <a:ext cx="1325880" cy="39319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Deployable</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in SWaT</a:t>
            </a:r>
            <a:endParaRPr lang="en-US" sz="950" dirty="0"/>
          </a:p>
        </p:txBody>
      </p:sp>
      <p:sp>
        <p:nvSpPr>
          <p:cNvPr id="11" name="Text 9"/>
          <p:cNvSpPr/>
          <p:nvPr/>
        </p:nvSpPr>
        <p:spPr>
          <a:xfrm>
            <a:off x="7187184" y="941832"/>
            <a:ext cx="1188720" cy="39319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Paper #9</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Coverage</a:t>
            </a:r>
            <a:endParaRPr lang="en-US" sz="950" dirty="0"/>
          </a:p>
        </p:txBody>
      </p:sp>
      <p:sp>
        <p:nvSpPr>
          <p:cNvPr id="12" name="Text 10"/>
          <p:cNvSpPr/>
          <p:nvPr/>
        </p:nvSpPr>
        <p:spPr>
          <a:xfrm>
            <a:off x="8394192" y="941832"/>
            <a:ext cx="1234440" cy="39319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Paper #31</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Coverage</a:t>
            </a:r>
            <a:endParaRPr lang="en-US" sz="950" dirty="0"/>
          </a:p>
        </p:txBody>
      </p:sp>
      <p:sp>
        <p:nvSpPr>
          <p:cNvPr id="13" name="Shape 11"/>
          <p:cNvSpPr/>
          <p:nvPr/>
        </p:nvSpPr>
        <p:spPr>
          <a:xfrm>
            <a:off x="228600" y="1371600"/>
            <a:ext cx="8686800" cy="457200"/>
          </a:xfrm>
          <a:prstGeom prst="rect">
            <a:avLst/>
          </a:prstGeom>
          <a:solidFill>
            <a:srgbClr val="E8F5E9"/>
          </a:solidFill>
          <a:ln w="12700">
            <a:solidFill>
              <a:srgbClr val="E8F5E9"/>
            </a:solidFill>
            <a:prstDash val="solid"/>
          </a:ln>
        </p:spPr>
      </p:sp>
      <p:sp>
        <p:nvSpPr>
          <p:cNvPr id="14" name="Shape 12"/>
          <p:cNvSpPr/>
          <p:nvPr/>
        </p:nvSpPr>
        <p:spPr>
          <a:xfrm>
            <a:off x="228600" y="1371600"/>
            <a:ext cx="64008" cy="457200"/>
          </a:xfrm>
          <a:prstGeom prst="rect">
            <a:avLst/>
          </a:prstGeom>
          <a:solidFill>
            <a:srgbClr val="0A7E8C"/>
          </a:solidFill>
          <a:ln w="12700">
            <a:solidFill>
              <a:srgbClr val="0A7E8C"/>
            </a:solidFill>
            <a:prstDash val="solid"/>
          </a:ln>
        </p:spPr>
      </p:sp>
      <p:sp>
        <p:nvSpPr>
          <p:cNvPr id="15" name="Text 13"/>
          <p:cNvSpPr/>
          <p:nvPr/>
        </p:nvSpPr>
        <p:spPr>
          <a:xfrm>
            <a:off x="283464" y="1399032"/>
            <a:ext cx="1737360" cy="402336"/>
          </a:xfrm>
          <a:prstGeom prst="rect">
            <a:avLst/>
          </a:prstGeom>
          <a:noFill/>
          <a:ln/>
        </p:spPr>
        <p:txBody>
          <a:bodyPr wrap="square" lIns="0" tIns="0" rIns="0" bIns="0" rtlCol="0" anchor="ctr"/>
          <a:lstStyle/>
          <a:p>
            <a:pPr algn="l" indent="0" marL="0">
              <a:buNone/>
            </a:pPr>
            <a:r>
              <a:rPr lang="en-US" sz="950" b="1" dirty="0">
                <a:solidFill>
                  <a:srgbClr val="0A1628"/>
                </a:solidFill>
                <a:latin typeface="Calibri" pitchFamily="34" charset="0"/>
                <a:ea typeface="Calibri" pitchFamily="34" charset="-122"/>
                <a:cs typeface="Calibri" pitchFamily="34" charset="-120"/>
              </a:rPr>
              <a:t>Safe State + Failover</a:t>
            </a:r>
            <a:endParaRPr lang="en-US" sz="950" dirty="0"/>
          </a:p>
          <a:p>
            <a:pPr algn="l" indent="0" marL="0">
              <a:buNone/>
            </a:pPr>
            <a:r>
              <a:rPr lang="en-US" sz="950" b="1" dirty="0">
                <a:solidFill>
                  <a:srgbClr val="0A1628"/>
                </a:solidFill>
                <a:latin typeface="Calibri" pitchFamily="34" charset="0"/>
                <a:ea typeface="Calibri" pitchFamily="34" charset="-122"/>
                <a:cs typeface="Calibri" pitchFamily="34" charset="-120"/>
              </a:rPr>
              <a:t>(Shallow — Ours)</a:t>
            </a:r>
            <a:endParaRPr lang="en-US" sz="950" dirty="0"/>
          </a:p>
        </p:txBody>
      </p:sp>
      <p:sp>
        <p:nvSpPr>
          <p:cNvPr id="16" name="Text 14"/>
          <p:cNvSpPr/>
          <p:nvPr/>
        </p:nvSpPr>
        <p:spPr>
          <a:xfrm>
            <a:off x="2039112" y="1399032"/>
            <a:ext cx="132588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&lt; 15s</a:t>
            </a:r>
            <a:endParaRPr lang="en-US" sz="950" dirty="0"/>
          </a:p>
        </p:txBody>
      </p:sp>
      <p:sp>
        <p:nvSpPr>
          <p:cNvPr id="17" name="Text 15"/>
          <p:cNvSpPr/>
          <p:nvPr/>
        </p:nvSpPr>
        <p:spPr>
          <a:xfrm>
            <a:off x="3383280" y="1399032"/>
            <a:ext cx="123444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No</a:t>
            </a:r>
            <a:endParaRPr lang="en-US" sz="950" dirty="0"/>
          </a:p>
        </p:txBody>
      </p:sp>
      <p:sp>
        <p:nvSpPr>
          <p:cNvPr id="18" name="Text 16"/>
          <p:cNvSpPr/>
          <p:nvPr/>
        </p:nvSpPr>
        <p:spPr>
          <a:xfrm>
            <a:off x="4636008" y="1399032"/>
            <a:ext cx="1188720" cy="402336"/>
          </a:xfrm>
          <a:prstGeom prst="rect">
            <a:avLst/>
          </a:prstGeom>
          <a:noFill/>
          <a:ln/>
        </p:spPr>
        <p:txBody>
          <a:bodyPr wrap="square" lIns="0" tIns="0" rIns="0" bIns="0" rtlCol="0" anchor="ctr"/>
          <a:lstStyle/>
          <a:p>
            <a:pPr algn="ctr" indent="0" marL="0">
              <a:buNone/>
            </a:pPr>
            <a:r>
              <a:rPr lang="en-US" sz="950" dirty="0">
                <a:solidFill>
                  <a:srgbClr val="E67E22"/>
                </a:solidFill>
                <a:latin typeface="Calibri" pitchFamily="34" charset="0"/>
                <a:ea typeface="Calibri" pitchFamily="34" charset="-122"/>
                <a:cs typeface="Calibri" pitchFamily="34" charset="-120"/>
              </a:rPr>
              <a:t>Partial ⚠️</a:t>
            </a:r>
            <a:endParaRPr lang="en-US" sz="950" dirty="0"/>
          </a:p>
        </p:txBody>
      </p:sp>
      <p:sp>
        <p:nvSpPr>
          <p:cNvPr id="19" name="Text 17"/>
          <p:cNvSpPr/>
          <p:nvPr/>
        </p:nvSpPr>
        <p:spPr>
          <a:xfrm>
            <a:off x="5843016" y="1399032"/>
            <a:ext cx="132588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Yes</a:t>
            </a:r>
            <a:endParaRPr lang="en-US" sz="950" dirty="0"/>
          </a:p>
        </p:txBody>
      </p:sp>
      <p:sp>
        <p:nvSpPr>
          <p:cNvPr id="20" name="Text 18"/>
          <p:cNvSpPr/>
          <p:nvPr/>
        </p:nvSpPr>
        <p:spPr>
          <a:xfrm>
            <a:off x="7187184" y="1399032"/>
            <a:ext cx="118872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Full</a:t>
            </a:r>
            <a:endParaRPr lang="en-US" sz="950" dirty="0"/>
          </a:p>
        </p:txBody>
      </p:sp>
      <p:sp>
        <p:nvSpPr>
          <p:cNvPr id="21" name="Text 19"/>
          <p:cNvSpPr/>
          <p:nvPr/>
        </p:nvSpPr>
        <p:spPr>
          <a:xfrm>
            <a:off x="8394192" y="1399032"/>
            <a:ext cx="1234440" cy="402336"/>
          </a:xfrm>
          <a:prstGeom prst="rect">
            <a:avLst/>
          </a:prstGeom>
          <a:noFill/>
          <a:ln/>
        </p:spPr>
        <p:txBody>
          <a:bodyPr wrap="square" lIns="0" tIns="0" rIns="0" bIns="0" rtlCol="0" anchor="ctr"/>
          <a:lstStyle/>
          <a:p>
            <a:pPr algn="ctr" indent="0" marL="0">
              <a:buNone/>
            </a:pPr>
            <a:r>
              <a:rPr lang="en-US" sz="950" dirty="0">
                <a:solidFill>
                  <a:srgbClr val="E67E22"/>
                </a:solidFill>
                <a:latin typeface="Calibri" pitchFamily="34" charset="0"/>
                <a:ea typeface="Calibri" pitchFamily="34" charset="-122"/>
                <a:cs typeface="Calibri" pitchFamily="34" charset="-120"/>
              </a:rPr>
              <a:t>Partial ⚠️</a:t>
            </a:r>
            <a:endParaRPr lang="en-US" sz="950" dirty="0"/>
          </a:p>
        </p:txBody>
      </p:sp>
      <p:sp>
        <p:nvSpPr>
          <p:cNvPr id="22" name="Shape 20"/>
          <p:cNvSpPr/>
          <p:nvPr/>
        </p:nvSpPr>
        <p:spPr>
          <a:xfrm>
            <a:off x="228600" y="1847088"/>
            <a:ext cx="8686800" cy="457200"/>
          </a:xfrm>
          <a:prstGeom prst="rect">
            <a:avLst/>
          </a:prstGeom>
          <a:solidFill>
            <a:srgbClr val="F5F8FA"/>
          </a:solidFill>
          <a:ln w="12700">
            <a:solidFill>
              <a:srgbClr val="F5F8FA"/>
            </a:solidFill>
            <a:prstDash val="solid"/>
          </a:ln>
        </p:spPr>
      </p:sp>
      <p:sp>
        <p:nvSpPr>
          <p:cNvPr id="23" name="Text 21"/>
          <p:cNvSpPr/>
          <p:nvPr/>
        </p:nvSpPr>
        <p:spPr>
          <a:xfrm>
            <a:off x="283464" y="1874520"/>
            <a:ext cx="1737360" cy="402336"/>
          </a:xfrm>
          <a:prstGeom prst="rect">
            <a:avLst/>
          </a:prstGeom>
          <a:noFill/>
          <a:ln/>
        </p:spPr>
        <p:txBody>
          <a:bodyPr wrap="square" lIns="0" tIns="0" rIns="0" bIns="0" rtlCol="0" anchor="ctr"/>
          <a:lstStyle/>
          <a:p>
            <a:pPr algn="l" indent="0" marL="0">
              <a:buNone/>
            </a:pPr>
            <a:r>
              <a:rPr lang="en-US" sz="950" dirty="0">
                <a:solidFill>
                  <a:srgbClr val="0A1628"/>
                </a:solidFill>
                <a:latin typeface="Calibri" pitchFamily="34" charset="0"/>
                <a:ea typeface="Calibri" pitchFamily="34" charset="-122"/>
                <a:cs typeface="Calibri" pitchFamily="34" charset="-120"/>
              </a:rPr>
              <a:t>Checkpoint &amp; Restore</a:t>
            </a:r>
            <a:endParaRPr lang="en-US" sz="950" dirty="0"/>
          </a:p>
          <a:p>
            <a:pPr algn="l" indent="0" marL="0">
              <a:buNone/>
            </a:pPr>
            <a:r>
              <a:rPr lang="en-US" sz="950" dirty="0">
                <a:solidFill>
                  <a:srgbClr val="0A1628"/>
                </a:solidFill>
                <a:latin typeface="Calibri" pitchFamily="34" charset="0"/>
                <a:ea typeface="Calibri" pitchFamily="34" charset="-122"/>
                <a:cs typeface="Calibri" pitchFamily="34" charset="-120"/>
              </a:rPr>
              <a:t>(Kong et al. 2018)</a:t>
            </a:r>
            <a:endParaRPr lang="en-US" sz="950" dirty="0"/>
          </a:p>
        </p:txBody>
      </p:sp>
      <p:sp>
        <p:nvSpPr>
          <p:cNvPr id="24" name="Text 22"/>
          <p:cNvSpPr/>
          <p:nvPr/>
        </p:nvSpPr>
        <p:spPr>
          <a:xfrm>
            <a:off x="2039112" y="1874520"/>
            <a:ext cx="132588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Minutes</a:t>
            </a:r>
            <a:endParaRPr lang="en-US" sz="950" dirty="0"/>
          </a:p>
        </p:txBody>
      </p:sp>
      <p:sp>
        <p:nvSpPr>
          <p:cNvPr id="25" name="Text 23"/>
          <p:cNvSpPr/>
          <p:nvPr/>
        </p:nvSpPr>
        <p:spPr>
          <a:xfrm>
            <a:off x="3383280" y="1874520"/>
            <a:ext cx="123444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No</a:t>
            </a:r>
            <a:endParaRPr lang="en-US" sz="950" dirty="0"/>
          </a:p>
        </p:txBody>
      </p:sp>
      <p:sp>
        <p:nvSpPr>
          <p:cNvPr id="26" name="Text 24"/>
          <p:cNvSpPr/>
          <p:nvPr/>
        </p:nvSpPr>
        <p:spPr>
          <a:xfrm>
            <a:off x="4636008" y="1874520"/>
            <a:ext cx="1188720" cy="402336"/>
          </a:xfrm>
          <a:prstGeom prst="rect">
            <a:avLst/>
          </a:prstGeom>
          <a:noFill/>
          <a:ln/>
        </p:spPr>
        <p:txBody>
          <a:bodyPr wrap="square" lIns="0" tIns="0" rIns="0" bIns="0" rtlCol="0" anchor="ctr"/>
          <a:lstStyle/>
          <a:p>
            <a:pPr algn="ctr" indent="0" marL="0">
              <a:buNone/>
            </a:pPr>
            <a:r>
              <a:rPr lang="en-US" sz="950" dirty="0">
                <a:solidFill>
                  <a:srgbClr val="E74C3C"/>
                </a:solidFill>
                <a:latin typeface="Calibri" pitchFamily="34" charset="0"/>
                <a:ea typeface="Calibri" pitchFamily="34" charset="-122"/>
                <a:cs typeface="Calibri" pitchFamily="34" charset="-120"/>
              </a:rPr>
              <a:t>No ✗</a:t>
            </a:r>
            <a:endParaRPr lang="en-US" sz="950" dirty="0"/>
          </a:p>
        </p:txBody>
      </p:sp>
      <p:sp>
        <p:nvSpPr>
          <p:cNvPr id="27" name="Text 25"/>
          <p:cNvSpPr/>
          <p:nvPr/>
        </p:nvSpPr>
        <p:spPr>
          <a:xfrm>
            <a:off x="5843016" y="1874520"/>
            <a:ext cx="132588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HMI only</a:t>
            </a:r>
            <a:endParaRPr lang="en-US" sz="950" dirty="0"/>
          </a:p>
        </p:txBody>
      </p:sp>
      <p:sp>
        <p:nvSpPr>
          <p:cNvPr id="28" name="Text 26"/>
          <p:cNvSpPr/>
          <p:nvPr/>
        </p:nvSpPr>
        <p:spPr>
          <a:xfrm>
            <a:off x="7187184" y="1874520"/>
            <a:ext cx="118872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Full</a:t>
            </a:r>
            <a:endParaRPr lang="en-US" sz="950" dirty="0"/>
          </a:p>
        </p:txBody>
      </p:sp>
      <p:sp>
        <p:nvSpPr>
          <p:cNvPr id="29" name="Text 27"/>
          <p:cNvSpPr/>
          <p:nvPr/>
        </p:nvSpPr>
        <p:spPr>
          <a:xfrm>
            <a:off x="8394192" y="1874520"/>
            <a:ext cx="1234440" cy="402336"/>
          </a:xfrm>
          <a:prstGeom prst="rect">
            <a:avLst/>
          </a:prstGeom>
          <a:noFill/>
          <a:ln/>
        </p:spPr>
        <p:txBody>
          <a:bodyPr wrap="square" lIns="0" tIns="0" rIns="0" bIns="0" rtlCol="0" anchor="ctr"/>
          <a:lstStyle/>
          <a:p>
            <a:pPr algn="ctr" indent="0" marL="0">
              <a:buNone/>
            </a:pPr>
            <a:r>
              <a:rPr lang="en-US" sz="950" dirty="0">
                <a:solidFill>
                  <a:srgbClr val="E74C3C"/>
                </a:solidFill>
                <a:latin typeface="Calibri" pitchFamily="34" charset="0"/>
                <a:ea typeface="Calibri" pitchFamily="34" charset="-122"/>
                <a:cs typeface="Calibri" pitchFamily="34" charset="-120"/>
              </a:rPr>
              <a:t>No ✗</a:t>
            </a:r>
            <a:endParaRPr lang="en-US" sz="950" dirty="0"/>
          </a:p>
        </p:txBody>
      </p:sp>
      <p:sp>
        <p:nvSpPr>
          <p:cNvPr id="30" name="Shape 28"/>
          <p:cNvSpPr/>
          <p:nvPr/>
        </p:nvSpPr>
        <p:spPr>
          <a:xfrm>
            <a:off x="228600" y="2322576"/>
            <a:ext cx="8686800" cy="457200"/>
          </a:xfrm>
          <a:prstGeom prst="rect">
            <a:avLst/>
          </a:prstGeom>
          <a:solidFill>
            <a:srgbClr val="FFFFFF"/>
          </a:solidFill>
          <a:ln w="12700">
            <a:solidFill>
              <a:srgbClr val="FFFFFF"/>
            </a:solidFill>
            <a:prstDash val="solid"/>
          </a:ln>
        </p:spPr>
      </p:sp>
      <p:sp>
        <p:nvSpPr>
          <p:cNvPr id="31" name="Text 29"/>
          <p:cNvSpPr/>
          <p:nvPr/>
        </p:nvSpPr>
        <p:spPr>
          <a:xfrm>
            <a:off x="283464" y="2350008"/>
            <a:ext cx="1737360" cy="402336"/>
          </a:xfrm>
          <a:prstGeom prst="rect">
            <a:avLst/>
          </a:prstGeom>
          <a:noFill/>
          <a:ln/>
        </p:spPr>
        <p:txBody>
          <a:bodyPr wrap="square" lIns="0" tIns="0" rIns="0" bIns="0" rtlCol="0" anchor="ctr"/>
          <a:lstStyle/>
          <a:p>
            <a:pPr algn="l" indent="0" marL="0">
              <a:buNone/>
            </a:pPr>
            <a:r>
              <a:rPr lang="en-US" sz="950" dirty="0">
                <a:solidFill>
                  <a:srgbClr val="0A1628"/>
                </a:solidFill>
                <a:latin typeface="Calibri" pitchFamily="34" charset="0"/>
                <a:ea typeface="Calibri" pitchFamily="34" charset="-122"/>
                <a:cs typeface="Calibri" pitchFamily="34" charset="-120"/>
              </a:rPr>
              <a:t>Luenberger SSE</a:t>
            </a:r>
            <a:endParaRPr lang="en-US" sz="950" dirty="0"/>
          </a:p>
          <a:p>
            <a:pPr algn="l" indent="0" marL="0">
              <a:buNone/>
            </a:pPr>
            <a:r>
              <a:rPr lang="en-US" sz="950" dirty="0">
                <a:solidFill>
                  <a:srgbClr val="0A1628"/>
                </a:solidFill>
                <a:latin typeface="Calibri" pitchFamily="34" charset="0"/>
                <a:ea typeface="Calibri" pitchFamily="34" charset="-122"/>
                <a:cs typeface="Calibri" pitchFamily="34" charset="-120"/>
              </a:rPr>
              <a:t>(Lu &amp; Yang 2017)</a:t>
            </a:r>
            <a:endParaRPr lang="en-US" sz="950" dirty="0"/>
          </a:p>
        </p:txBody>
      </p:sp>
      <p:sp>
        <p:nvSpPr>
          <p:cNvPr id="32" name="Text 30"/>
          <p:cNvSpPr/>
          <p:nvPr/>
        </p:nvSpPr>
        <p:spPr>
          <a:xfrm>
            <a:off x="2039112" y="2350008"/>
            <a:ext cx="132588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1–3 cycles</a:t>
            </a:r>
            <a:endParaRPr lang="en-US" sz="950" dirty="0"/>
          </a:p>
        </p:txBody>
      </p:sp>
      <p:sp>
        <p:nvSpPr>
          <p:cNvPr id="33" name="Text 31"/>
          <p:cNvSpPr/>
          <p:nvPr/>
        </p:nvSpPr>
        <p:spPr>
          <a:xfrm>
            <a:off x="3383280" y="2350008"/>
            <a:ext cx="123444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Linear</a:t>
            </a:r>
            <a:endParaRPr lang="en-US" sz="950" dirty="0"/>
          </a:p>
        </p:txBody>
      </p:sp>
      <p:sp>
        <p:nvSpPr>
          <p:cNvPr id="34" name="Text 32"/>
          <p:cNvSpPr/>
          <p:nvPr/>
        </p:nvSpPr>
        <p:spPr>
          <a:xfrm>
            <a:off x="4636008" y="2350008"/>
            <a:ext cx="118872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Yes</a:t>
            </a:r>
            <a:endParaRPr lang="en-US" sz="950" dirty="0"/>
          </a:p>
        </p:txBody>
      </p:sp>
      <p:sp>
        <p:nvSpPr>
          <p:cNvPr id="35" name="Text 33"/>
          <p:cNvSpPr/>
          <p:nvPr/>
        </p:nvSpPr>
        <p:spPr>
          <a:xfrm>
            <a:off x="5843016" y="2350008"/>
            <a:ext cx="132588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Feasible</a:t>
            </a:r>
            <a:endParaRPr lang="en-US" sz="950" dirty="0"/>
          </a:p>
        </p:txBody>
      </p:sp>
      <p:sp>
        <p:nvSpPr>
          <p:cNvPr id="36" name="Text 34"/>
          <p:cNvSpPr/>
          <p:nvPr/>
        </p:nvSpPr>
        <p:spPr>
          <a:xfrm>
            <a:off x="7187184" y="2350008"/>
            <a:ext cx="118872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Full</a:t>
            </a:r>
            <a:endParaRPr lang="en-US" sz="950" dirty="0"/>
          </a:p>
        </p:txBody>
      </p:sp>
      <p:sp>
        <p:nvSpPr>
          <p:cNvPr id="37" name="Text 35"/>
          <p:cNvSpPr/>
          <p:nvPr/>
        </p:nvSpPr>
        <p:spPr>
          <a:xfrm>
            <a:off x="8394192" y="2350008"/>
            <a:ext cx="123444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Full</a:t>
            </a:r>
            <a:endParaRPr lang="en-US" sz="950" dirty="0"/>
          </a:p>
        </p:txBody>
      </p:sp>
      <p:sp>
        <p:nvSpPr>
          <p:cNvPr id="38" name="Shape 36"/>
          <p:cNvSpPr/>
          <p:nvPr/>
        </p:nvSpPr>
        <p:spPr>
          <a:xfrm>
            <a:off x="228600" y="2798064"/>
            <a:ext cx="8686800" cy="457200"/>
          </a:xfrm>
          <a:prstGeom prst="rect">
            <a:avLst/>
          </a:prstGeom>
          <a:solidFill>
            <a:srgbClr val="F5F8FA"/>
          </a:solidFill>
          <a:ln w="12700">
            <a:solidFill>
              <a:srgbClr val="F5F8FA"/>
            </a:solidFill>
            <a:prstDash val="solid"/>
          </a:ln>
        </p:spPr>
      </p:sp>
      <p:sp>
        <p:nvSpPr>
          <p:cNvPr id="39" name="Text 37"/>
          <p:cNvSpPr/>
          <p:nvPr/>
        </p:nvSpPr>
        <p:spPr>
          <a:xfrm>
            <a:off x="283464" y="2825496"/>
            <a:ext cx="1737360" cy="402336"/>
          </a:xfrm>
          <a:prstGeom prst="rect">
            <a:avLst/>
          </a:prstGeom>
          <a:noFill/>
          <a:ln/>
        </p:spPr>
        <p:txBody>
          <a:bodyPr wrap="square" lIns="0" tIns="0" rIns="0" bIns="0" rtlCol="0" anchor="ctr"/>
          <a:lstStyle/>
          <a:p>
            <a:pPr algn="l" indent="0" marL="0">
              <a:buNone/>
            </a:pPr>
            <a:r>
              <a:rPr lang="en-US" sz="950" dirty="0">
                <a:solidFill>
                  <a:srgbClr val="0A1628"/>
                </a:solidFill>
                <a:latin typeface="Calibri" pitchFamily="34" charset="0"/>
                <a:ea typeface="Calibri" pitchFamily="34" charset="-122"/>
                <a:cs typeface="Calibri" pitchFamily="34" charset="-120"/>
              </a:rPr>
              <a:t>Kalman Secure Est.</a:t>
            </a:r>
            <a:endParaRPr lang="en-US" sz="950" dirty="0"/>
          </a:p>
          <a:p>
            <a:pPr algn="l" indent="0" marL="0">
              <a:buNone/>
            </a:pPr>
            <a:r>
              <a:rPr lang="en-US" sz="950" dirty="0">
                <a:solidFill>
                  <a:srgbClr val="0A1628"/>
                </a:solidFill>
                <a:latin typeface="Calibri" pitchFamily="34" charset="0"/>
                <a:ea typeface="Calibri" pitchFamily="34" charset="-122"/>
                <a:cs typeface="Calibri" pitchFamily="34" charset="-120"/>
              </a:rPr>
              <a:t>(Chang et al. 2015)</a:t>
            </a:r>
            <a:endParaRPr lang="en-US" sz="950" dirty="0"/>
          </a:p>
        </p:txBody>
      </p:sp>
      <p:sp>
        <p:nvSpPr>
          <p:cNvPr id="40" name="Text 38"/>
          <p:cNvSpPr/>
          <p:nvPr/>
        </p:nvSpPr>
        <p:spPr>
          <a:xfrm>
            <a:off x="2039112" y="2825496"/>
            <a:ext cx="132588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1–3 cycles</a:t>
            </a:r>
            <a:endParaRPr lang="en-US" sz="950" dirty="0"/>
          </a:p>
        </p:txBody>
      </p:sp>
      <p:sp>
        <p:nvSpPr>
          <p:cNvPr id="41" name="Text 39"/>
          <p:cNvSpPr/>
          <p:nvPr/>
        </p:nvSpPr>
        <p:spPr>
          <a:xfrm>
            <a:off x="3383280" y="2825496"/>
            <a:ext cx="123444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Stochastic</a:t>
            </a:r>
            <a:endParaRPr lang="en-US" sz="950" dirty="0"/>
          </a:p>
        </p:txBody>
      </p:sp>
      <p:sp>
        <p:nvSpPr>
          <p:cNvPr id="42" name="Text 40"/>
          <p:cNvSpPr/>
          <p:nvPr/>
        </p:nvSpPr>
        <p:spPr>
          <a:xfrm>
            <a:off x="4636008" y="2825496"/>
            <a:ext cx="118872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Yes</a:t>
            </a:r>
            <a:endParaRPr lang="en-US" sz="950" dirty="0"/>
          </a:p>
        </p:txBody>
      </p:sp>
      <p:sp>
        <p:nvSpPr>
          <p:cNvPr id="43" name="Text 41"/>
          <p:cNvSpPr/>
          <p:nvPr/>
        </p:nvSpPr>
        <p:spPr>
          <a:xfrm>
            <a:off x="5843016" y="2825496"/>
            <a:ext cx="132588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Feasible</a:t>
            </a:r>
            <a:endParaRPr lang="en-US" sz="950" dirty="0"/>
          </a:p>
        </p:txBody>
      </p:sp>
      <p:sp>
        <p:nvSpPr>
          <p:cNvPr id="44" name="Text 42"/>
          <p:cNvSpPr/>
          <p:nvPr/>
        </p:nvSpPr>
        <p:spPr>
          <a:xfrm>
            <a:off x="7187184" y="2825496"/>
            <a:ext cx="118872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Full</a:t>
            </a:r>
            <a:endParaRPr lang="en-US" sz="950" dirty="0"/>
          </a:p>
        </p:txBody>
      </p:sp>
      <p:sp>
        <p:nvSpPr>
          <p:cNvPr id="45" name="Text 43"/>
          <p:cNvSpPr/>
          <p:nvPr/>
        </p:nvSpPr>
        <p:spPr>
          <a:xfrm>
            <a:off x="8394192" y="2825496"/>
            <a:ext cx="123444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Full</a:t>
            </a:r>
            <a:endParaRPr lang="en-US" sz="950" dirty="0"/>
          </a:p>
        </p:txBody>
      </p:sp>
      <p:sp>
        <p:nvSpPr>
          <p:cNvPr id="46" name="Shape 44"/>
          <p:cNvSpPr/>
          <p:nvPr/>
        </p:nvSpPr>
        <p:spPr>
          <a:xfrm>
            <a:off x="228600" y="3273552"/>
            <a:ext cx="8686800" cy="457200"/>
          </a:xfrm>
          <a:prstGeom prst="rect">
            <a:avLst/>
          </a:prstGeom>
          <a:solidFill>
            <a:srgbClr val="FFFFFF"/>
          </a:solidFill>
          <a:ln w="12700">
            <a:solidFill>
              <a:srgbClr val="FFFFFF"/>
            </a:solidFill>
            <a:prstDash val="solid"/>
          </a:ln>
        </p:spPr>
      </p:sp>
      <p:sp>
        <p:nvSpPr>
          <p:cNvPr id="47" name="Text 45"/>
          <p:cNvSpPr/>
          <p:nvPr/>
        </p:nvSpPr>
        <p:spPr>
          <a:xfrm>
            <a:off x="283464" y="3300984"/>
            <a:ext cx="1737360" cy="402336"/>
          </a:xfrm>
          <a:prstGeom prst="rect">
            <a:avLst/>
          </a:prstGeom>
          <a:noFill/>
          <a:ln/>
        </p:spPr>
        <p:txBody>
          <a:bodyPr wrap="square" lIns="0" tIns="0" rIns="0" bIns="0" rtlCol="0" anchor="ctr"/>
          <a:lstStyle/>
          <a:p>
            <a:pPr algn="l" indent="0" marL="0">
              <a:buNone/>
            </a:pPr>
            <a:r>
              <a:rPr lang="en-US" sz="950" dirty="0">
                <a:solidFill>
                  <a:srgbClr val="0A1628"/>
                </a:solidFill>
                <a:latin typeface="Calibri" pitchFamily="34" charset="0"/>
                <a:ea typeface="Calibri" pitchFamily="34" charset="-122"/>
                <a:cs typeface="Calibri" pitchFamily="34" charset="-120"/>
              </a:rPr>
              <a:t>Sliding Mode Obs.</a:t>
            </a:r>
            <a:endParaRPr lang="en-US" sz="950" dirty="0"/>
          </a:p>
          <a:p>
            <a:pPr algn="l" indent="0" marL="0">
              <a:buNone/>
            </a:pPr>
            <a:r>
              <a:rPr lang="en-US" sz="950" dirty="0">
                <a:solidFill>
                  <a:srgbClr val="0A1628"/>
                </a:solidFill>
                <a:latin typeface="Calibri" pitchFamily="34" charset="0"/>
                <a:ea typeface="Calibri" pitchFamily="34" charset="-122"/>
                <a:cs typeface="Calibri" pitchFamily="34" charset="-120"/>
              </a:rPr>
              <a:t>(Adaptive 2016)</a:t>
            </a:r>
            <a:endParaRPr lang="en-US" sz="950" dirty="0"/>
          </a:p>
        </p:txBody>
      </p:sp>
      <p:sp>
        <p:nvSpPr>
          <p:cNvPr id="48" name="Text 46"/>
          <p:cNvSpPr/>
          <p:nvPr/>
        </p:nvSpPr>
        <p:spPr>
          <a:xfrm>
            <a:off x="2039112" y="3300984"/>
            <a:ext cx="132588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&lt; 1 cycle</a:t>
            </a:r>
            <a:endParaRPr lang="en-US" sz="950" dirty="0"/>
          </a:p>
        </p:txBody>
      </p:sp>
      <p:sp>
        <p:nvSpPr>
          <p:cNvPr id="49" name="Text 47"/>
          <p:cNvSpPr/>
          <p:nvPr/>
        </p:nvSpPr>
        <p:spPr>
          <a:xfrm>
            <a:off x="3383280" y="3300984"/>
            <a:ext cx="123444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Partial</a:t>
            </a:r>
            <a:endParaRPr lang="en-US" sz="950" dirty="0"/>
          </a:p>
        </p:txBody>
      </p:sp>
      <p:sp>
        <p:nvSpPr>
          <p:cNvPr id="50" name="Text 48"/>
          <p:cNvSpPr/>
          <p:nvPr/>
        </p:nvSpPr>
        <p:spPr>
          <a:xfrm>
            <a:off x="4636008" y="3300984"/>
            <a:ext cx="118872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Explicit</a:t>
            </a:r>
            <a:endParaRPr lang="en-US" sz="950" dirty="0"/>
          </a:p>
        </p:txBody>
      </p:sp>
      <p:sp>
        <p:nvSpPr>
          <p:cNvPr id="51" name="Text 49"/>
          <p:cNvSpPr/>
          <p:nvPr/>
        </p:nvSpPr>
        <p:spPr>
          <a:xfrm>
            <a:off x="5843016" y="3300984"/>
            <a:ext cx="132588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Feasible</a:t>
            </a:r>
            <a:endParaRPr lang="en-US" sz="950" dirty="0"/>
          </a:p>
        </p:txBody>
      </p:sp>
      <p:sp>
        <p:nvSpPr>
          <p:cNvPr id="52" name="Text 50"/>
          <p:cNvSpPr/>
          <p:nvPr/>
        </p:nvSpPr>
        <p:spPr>
          <a:xfrm>
            <a:off x="7187184" y="3300984"/>
            <a:ext cx="118872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Full</a:t>
            </a:r>
            <a:endParaRPr lang="en-US" sz="950" dirty="0"/>
          </a:p>
        </p:txBody>
      </p:sp>
      <p:sp>
        <p:nvSpPr>
          <p:cNvPr id="53" name="Text 51"/>
          <p:cNvSpPr/>
          <p:nvPr/>
        </p:nvSpPr>
        <p:spPr>
          <a:xfrm>
            <a:off x="8394192" y="3300984"/>
            <a:ext cx="123444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Best</a:t>
            </a:r>
            <a:endParaRPr lang="en-US" sz="950" dirty="0"/>
          </a:p>
        </p:txBody>
      </p:sp>
      <p:sp>
        <p:nvSpPr>
          <p:cNvPr id="54" name="Shape 52"/>
          <p:cNvSpPr/>
          <p:nvPr/>
        </p:nvSpPr>
        <p:spPr>
          <a:xfrm>
            <a:off x="228600" y="3749040"/>
            <a:ext cx="8686800" cy="457200"/>
          </a:xfrm>
          <a:prstGeom prst="rect">
            <a:avLst/>
          </a:prstGeom>
          <a:solidFill>
            <a:srgbClr val="F5F8FA"/>
          </a:solidFill>
          <a:ln w="12700">
            <a:solidFill>
              <a:srgbClr val="F5F8FA"/>
            </a:solidFill>
            <a:prstDash val="solid"/>
          </a:ln>
        </p:spPr>
      </p:sp>
      <p:sp>
        <p:nvSpPr>
          <p:cNvPr id="55" name="Text 53"/>
          <p:cNvSpPr/>
          <p:nvPr/>
        </p:nvSpPr>
        <p:spPr>
          <a:xfrm>
            <a:off x="283464" y="3776472"/>
            <a:ext cx="1737360" cy="402336"/>
          </a:xfrm>
          <a:prstGeom prst="rect">
            <a:avLst/>
          </a:prstGeom>
          <a:noFill/>
          <a:ln/>
        </p:spPr>
        <p:txBody>
          <a:bodyPr wrap="square" lIns="0" tIns="0" rIns="0" bIns="0" rtlCol="0" anchor="ctr"/>
          <a:lstStyle/>
          <a:p>
            <a:pPr algn="l" indent="0" marL="0">
              <a:buNone/>
            </a:pPr>
            <a:r>
              <a:rPr lang="en-US" sz="950" dirty="0">
                <a:solidFill>
                  <a:srgbClr val="0A1628"/>
                </a:solidFill>
                <a:latin typeface="Calibri" pitchFamily="34" charset="0"/>
                <a:ea typeface="Calibri" pitchFamily="34" charset="-122"/>
                <a:cs typeface="Calibri" pitchFamily="34" charset="-120"/>
              </a:rPr>
              <a:t>MPC Recovery</a:t>
            </a:r>
            <a:endParaRPr lang="en-US" sz="950" dirty="0"/>
          </a:p>
          <a:p>
            <a:pPr algn="l" indent="0" marL="0">
              <a:buNone/>
            </a:pPr>
            <a:r>
              <a:rPr lang="en-US" sz="950" dirty="0">
                <a:solidFill>
                  <a:srgbClr val="0A1628"/>
                </a:solidFill>
                <a:latin typeface="Calibri" pitchFamily="34" charset="0"/>
                <a:ea typeface="Calibri" pitchFamily="34" charset="-122"/>
                <a:cs typeface="Calibri" pitchFamily="34" charset="-120"/>
              </a:rPr>
              <a:t>(He et al. 2021)</a:t>
            </a:r>
            <a:endParaRPr lang="en-US" sz="950" dirty="0"/>
          </a:p>
        </p:txBody>
      </p:sp>
      <p:sp>
        <p:nvSpPr>
          <p:cNvPr id="56" name="Text 54"/>
          <p:cNvSpPr/>
          <p:nvPr/>
        </p:nvSpPr>
        <p:spPr>
          <a:xfrm>
            <a:off x="2039112" y="3776472"/>
            <a:ext cx="132588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Multi-cycle</a:t>
            </a:r>
            <a:endParaRPr lang="en-US" sz="950" dirty="0"/>
          </a:p>
        </p:txBody>
      </p:sp>
      <p:sp>
        <p:nvSpPr>
          <p:cNvPr id="57" name="Text 55"/>
          <p:cNvSpPr/>
          <p:nvPr/>
        </p:nvSpPr>
        <p:spPr>
          <a:xfrm>
            <a:off x="3383280" y="3776472"/>
            <a:ext cx="123444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Full MPC</a:t>
            </a:r>
            <a:endParaRPr lang="en-US" sz="950" dirty="0"/>
          </a:p>
        </p:txBody>
      </p:sp>
      <p:sp>
        <p:nvSpPr>
          <p:cNvPr id="58" name="Text 56"/>
          <p:cNvSpPr/>
          <p:nvPr/>
        </p:nvSpPr>
        <p:spPr>
          <a:xfrm>
            <a:off x="4636008" y="3776472"/>
            <a:ext cx="118872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Yes</a:t>
            </a:r>
            <a:endParaRPr lang="en-US" sz="950" dirty="0"/>
          </a:p>
        </p:txBody>
      </p:sp>
      <p:sp>
        <p:nvSpPr>
          <p:cNvPr id="59" name="Text 57"/>
          <p:cNvSpPr/>
          <p:nvPr/>
        </p:nvSpPr>
        <p:spPr>
          <a:xfrm>
            <a:off x="5843016" y="3776472"/>
            <a:ext cx="132588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Complex</a:t>
            </a:r>
            <a:endParaRPr lang="en-US" sz="950" dirty="0"/>
          </a:p>
        </p:txBody>
      </p:sp>
      <p:sp>
        <p:nvSpPr>
          <p:cNvPr id="60" name="Text 58"/>
          <p:cNvSpPr/>
          <p:nvPr/>
        </p:nvSpPr>
        <p:spPr>
          <a:xfrm>
            <a:off x="7187184" y="3776472"/>
            <a:ext cx="118872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Partial</a:t>
            </a:r>
            <a:endParaRPr lang="en-US" sz="950" dirty="0"/>
          </a:p>
        </p:txBody>
      </p:sp>
      <p:sp>
        <p:nvSpPr>
          <p:cNvPr id="61" name="Text 59"/>
          <p:cNvSpPr/>
          <p:nvPr/>
        </p:nvSpPr>
        <p:spPr>
          <a:xfrm>
            <a:off x="8394192" y="3776472"/>
            <a:ext cx="123444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Full</a:t>
            </a:r>
            <a:endParaRPr lang="en-US" sz="950" dirty="0"/>
          </a:p>
        </p:txBody>
      </p:sp>
      <p:sp>
        <p:nvSpPr>
          <p:cNvPr id="62" name="Shape 60"/>
          <p:cNvSpPr/>
          <p:nvPr/>
        </p:nvSpPr>
        <p:spPr>
          <a:xfrm>
            <a:off x="228600" y="4224528"/>
            <a:ext cx="8686800" cy="457200"/>
          </a:xfrm>
          <a:prstGeom prst="rect">
            <a:avLst/>
          </a:prstGeom>
          <a:solidFill>
            <a:srgbClr val="E8F5E9"/>
          </a:solidFill>
          <a:ln w="12700">
            <a:solidFill>
              <a:srgbClr val="E8F5E9"/>
            </a:solidFill>
            <a:prstDash val="solid"/>
          </a:ln>
        </p:spPr>
      </p:sp>
      <p:sp>
        <p:nvSpPr>
          <p:cNvPr id="63" name="Shape 61"/>
          <p:cNvSpPr/>
          <p:nvPr/>
        </p:nvSpPr>
        <p:spPr>
          <a:xfrm>
            <a:off x="228600" y="4224528"/>
            <a:ext cx="64008" cy="457200"/>
          </a:xfrm>
          <a:prstGeom prst="rect">
            <a:avLst/>
          </a:prstGeom>
          <a:solidFill>
            <a:srgbClr val="0A7E8C"/>
          </a:solidFill>
          <a:ln w="12700">
            <a:solidFill>
              <a:srgbClr val="0A7E8C"/>
            </a:solidFill>
            <a:prstDash val="solid"/>
          </a:ln>
        </p:spPr>
      </p:sp>
      <p:sp>
        <p:nvSpPr>
          <p:cNvPr id="64" name="Text 62"/>
          <p:cNvSpPr/>
          <p:nvPr/>
        </p:nvSpPr>
        <p:spPr>
          <a:xfrm>
            <a:off x="283464" y="4251960"/>
            <a:ext cx="1737360" cy="402336"/>
          </a:xfrm>
          <a:prstGeom prst="rect">
            <a:avLst/>
          </a:prstGeom>
          <a:noFill/>
          <a:ln/>
        </p:spPr>
        <p:txBody>
          <a:bodyPr wrap="square" lIns="0" tIns="0" rIns="0" bIns="0" rtlCol="0" anchor="ctr"/>
          <a:lstStyle/>
          <a:p>
            <a:pPr algn="l" indent="0" marL="0">
              <a:buNone/>
            </a:pPr>
            <a:r>
              <a:rPr lang="en-US" sz="950" b="1" dirty="0">
                <a:solidFill>
                  <a:srgbClr val="0A1628"/>
                </a:solidFill>
                <a:latin typeface="Calibri" pitchFamily="34" charset="0"/>
                <a:ea typeface="Calibri" pitchFamily="34" charset="-122"/>
                <a:cs typeface="Calibri" pitchFamily="34" charset="-120"/>
              </a:rPr>
              <a:t>Inv-Guided Re-entry</a:t>
            </a:r>
            <a:endParaRPr lang="en-US" sz="950" dirty="0"/>
          </a:p>
          <a:p>
            <a:pPr algn="l" indent="0" marL="0">
              <a:buNone/>
            </a:pPr>
            <a:r>
              <a:rPr lang="en-US" sz="950" b="1" dirty="0">
                <a:solidFill>
                  <a:srgbClr val="0A1628"/>
                </a:solidFill>
                <a:latin typeface="Calibri" pitchFamily="34" charset="0"/>
                <a:ea typeface="Calibri" pitchFamily="34" charset="-122"/>
                <a:cs typeface="Calibri" pitchFamily="34" charset="-120"/>
              </a:rPr>
              <a:t>(Proposed — Ours)</a:t>
            </a:r>
            <a:endParaRPr lang="en-US" sz="950" dirty="0"/>
          </a:p>
        </p:txBody>
      </p:sp>
      <p:sp>
        <p:nvSpPr>
          <p:cNvPr id="65" name="Text 63"/>
          <p:cNvSpPr/>
          <p:nvPr/>
        </p:nvSpPr>
        <p:spPr>
          <a:xfrm>
            <a:off x="2039112" y="4251960"/>
            <a:ext cx="132588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&lt; 30s</a:t>
            </a:r>
            <a:endParaRPr lang="en-US" sz="950" dirty="0"/>
          </a:p>
        </p:txBody>
      </p:sp>
      <p:sp>
        <p:nvSpPr>
          <p:cNvPr id="66" name="Text 64"/>
          <p:cNvSpPr/>
          <p:nvPr/>
        </p:nvSpPr>
        <p:spPr>
          <a:xfrm>
            <a:off x="3383280" y="4251960"/>
            <a:ext cx="123444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ODE only</a:t>
            </a:r>
            <a:endParaRPr lang="en-US" sz="950" dirty="0"/>
          </a:p>
        </p:txBody>
      </p:sp>
      <p:sp>
        <p:nvSpPr>
          <p:cNvPr id="67" name="Text 65"/>
          <p:cNvSpPr/>
          <p:nvPr/>
        </p:nvSpPr>
        <p:spPr>
          <a:xfrm>
            <a:off x="4636008" y="4251960"/>
            <a:ext cx="118872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Yes</a:t>
            </a:r>
            <a:endParaRPr lang="en-US" sz="950" dirty="0"/>
          </a:p>
        </p:txBody>
      </p:sp>
      <p:sp>
        <p:nvSpPr>
          <p:cNvPr id="68" name="Text 66"/>
          <p:cNvSpPr/>
          <p:nvPr/>
        </p:nvSpPr>
        <p:spPr>
          <a:xfrm>
            <a:off x="5843016" y="4251960"/>
            <a:ext cx="132588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Yes</a:t>
            </a:r>
            <a:endParaRPr lang="en-US" sz="950" dirty="0"/>
          </a:p>
        </p:txBody>
      </p:sp>
      <p:sp>
        <p:nvSpPr>
          <p:cNvPr id="69" name="Text 67"/>
          <p:cNvSpPr/>
          <p:nvPr/>
        </p:nvSpPr>
        <p:spPr>
          <a:xfrm>
            <a:off x="7187184" y="4251960"/>
            <a:ext cx="118872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Full</a:t>
            </a:r>
            <a:endParaRPr lang="en-US" sz="950" dirty="0"/>
          </a:p>
        </p:txBody>
      </p:sp>
      <p:sp>
        <p:nvSpPr>
          <p:cNvPr id="70" name="Text 68"/>
          <p:cNvSpPr/>
          <p:nvPr/>
        </p:nvSpPr>
        <p:spPr>
          <a:xfrm>
            <a:off x="8394192" y="4251960"/>
            <a:ext cx="123444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Full</a:t>
            </a:r>
            <a:endParaRPr lang="en-US" sz="950" dirty="0"/>
          </a:p>
        </p:txBody>
      </p:sp>
      <p:sp>
        <p:nvSpPr>
          <p:cNvPr id="71" name="Shape 69"/>
          <p:cNvSpPr/>
          <p:nvPr/>
        </p:nvSpPr>
        <p:spPr>
          <a:xfrm>
            <a:off x="228600" y="4718304"/>
            <a:ext cx="8686800" cy="338328"/>
          </a:xfrm>
          <a:prstGeom prst="rect">
            <a:avLst/>
          </a:prstGeom>
          <a:solidFill>
            <a:srgbClr val="0A1628"/>
          </a:solidFill>
          <a:ln w="12700">
            <a:solidFill>
              <a:srgbClr val="0A1628"/>
            </a:solidFill>
            <a:prstDash val="solid"/>
          </a:ln>
        </p:spPr>
      </p:sp>
      <p:sp>
        <p:nvSpPr>
          <p:cNvPr id="72" name="Text 70"/>
          <p:cNvSpPr/>
          <p:nvPr/>
        </p:nvSpPr>
        <p:spPr>
          <a:xfrm>
            <a:off x="411480" y="4736592"/>
            <a:ext cx="8321040" cy="310896"/>
          </a:xfrm>
          <a:prstGeom prst="rect">
            <a:avLst/>
          </a:prstGeom>
          <a:noFill/>
          <a:ln/>
        </p:spPr>
        <p:txBody>
          <a:bodyPr wrap="square" lIns="0" tIns="0" rIns="0" bIns="0" rtlCol="0" anchor="ctr"/>
          <a:lstStyle/>
          <a:p>
            <a:pPr indent="0" marL="0">
              <a:buNone/>
            </a:pPr>
            <a:r>
              <a:rPr lang="en-US" sz="1050" b="1" dirty="0">
                <a:solidFill>
                  <a:srgbClr val="12B5C8"/>
                </a:solidFill>
                <a:latin typeface="Calibri" pitchFamily="34" charset="0"/>
                <a:ea typeface="Calibri" pitchFamily="34" charset="-122"/>
                <a:cs typeface="Calibri" pitchFamily="34" charset="-120"/>
              </a:rPr>
              <a:t xml:space="preserve">Recommended for SWaT:  </a:t>
            </a:r>
            <a:pPr indent="0" marL="0">
              <a:buNone/>
            </a:pPr>
            <a:r>
              <a:rPr lang="en-US" sz="1050" dirty="0">
                <a:solidFill>
                  <a:srgbClr val="E8EEF4"/>
                </a:solidFill>
                <a:latin typeface="Calibri" pitchFamily="34" charset="0"/>
                <a:ea typeface="Calibri" pitchFamily="34" charset="-122"/>
                <a:cs typeface="Calibri" pitchFamily="34" charset="-120"/>
              </a:rPr>
              <a:t>Deploy Shallow (Safe State + Failover) immediately — zero model requirements. Layer in Invariant-Guided Re-entry (proposed) for sensor-level recovery. Luenberger SSE is the academic stretch goal for full deep recovery.</a:t>
            </a:r>
            <a:endParaRPr lang="en-US" sz="1050" dirty="0"/>
          </a:p>
        </p:txBody>
      </p:sp>
      <p:sp>
        <p:nvSpPr>
          <p:cNvPr id="73" name="Shape 71"/>
          <p:cNvSpPr/>
          <p:nvPr/>
        </p:nvSpPr>
        <p:spPr>
          <a:xfrm>
            <a:off x="0" y="4773168"/>
            <a:ext cx="9144000" cy="374904"/>
          </a:xfrm>
          <a:prstGeom prst="rect">
            <a:avLst/>
          </a:prstGeom>
          <a:solidFill>
            <a:srgbClr val="1B3A5C"/>
          </a:solidFill>
          <a:ln w="12700">
            <a:solidFill>
              <a:srgbClr val="1B3A5C"/>
            </a:solidFill>
            <a:prstDash val="solid"/>
          </a:ln>
        </p:spPr>
      </p:sp>
      <p:sp>
        <p:nvSpPr>
          <p:cNvPr id="74" name="Text 72"/>
          <p:cNvSpPr/>
          <p:nvPr/>
        </p:nvSpPr>
        <p:spPr>
          <a:xfrm>
            <a:off x="274320" y="4773168"/>
            <a:ext cx="8595360" cy="374904"/>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Recovery Research  ·  Comparison Matrix</a:t>
            </a:r>
            <a:endParaRPr lang="en-US" sz="1000" dirty="0"/>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7AE60"/>
          </a:solidFill>
          <a:ln w="12700">
            <a:solidFill>
              <a:srgbClr val="27AE60"/>
            </a:solidFill>
            <a:prstDash val="solid"/>
          </a:ln>
        </p:spPr>
      </p:sp>
      <p:sp>
        <p:nvSpPr>
          <p:cNvPr id="3" name="Text 1"/>
          <p:cNvSpPr/>
          <p:nvPr/>
        </p:nvSpPr>
        <p:spPr>
          <a:xfrm>
            <a:off x="365760" y="91440"/>
            <a:ext cx="8412480" cy="4572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Integrated Recovery Architecture — SWaT</a:t>
            </a:r>
            <a:endParaRPr lang="en-US" sz="2600" dirty="0"/>
          </a:p>
        </p:txBody>
      </p:sp>
      <p:sp>
        <p:nvSpPr>
          <p:cNvPr id="4" name="Text 2"/>
          <p:cNvSpPr/>
          <p:nvPr/>
        </p:nvSpPr>
        <p:spPr>
          <a:xfrm>
            <a:off x="365760" y="566928"/>
            <a:ext cx="8412480" cy="237744"/>
          </a:xfrm>
          <a:prstGeom prst="rect">
            <a:avLst/>
          </a:prstGeom>
          <a:noFill/>
          <a:ln/>
        </p:spPr>
        <p:txBody>
          <a:bodyPr wrap="square" lIns="0" tIns="0" rIns="0" bIns="0" rtlCol="0" anchor="ctr"/>
          <a:lstStyle/>
          <a:p>
            <a:pPr indent="0" marL="0">
              <a:buNone/>
            </a:pPr>
            <a:r>
              <a:rPr lang="en-US" sz="1150" i="1" dirty="0">
                <a:solidFill>
                  <a:srgbClr val="8FA3B1"/>
                </a:solidFill>
                <a:latin typeface="Calibri" pitchFamily="34" charset="0"/>
                <a:ea typeface="Calibri" pitchFamily="34" charset="-122"/>
                <a:cs typeface="Calibri" pitchFamily="34" charset="-120"/>
              </a:rPr>
              <a:t>Combining shallow + deep recovery in a single automated pipeline triggered by the hybrid detector</a:t>
            </a:r>
            <a:endParaRPr lang="en-US" sz="1150" dirty="0"/>
          </a:p>
        </p:txBody>
      </p:sp>
      <p:sp>
        <p:nvSpPr>
          <p:cNvPr id="5" name="Shape 3"/>
          <p:cNvSpPr/>
          <p:nvPr/>
        </p:nvSpPr>
        <p:spPr>
          <a:xfrm>
            <a:off x="201168" y="987552"/>
            <a:ext cx="1325880" cy="457200"/>
          </a:xfrm>
          <a:prstGeom prst="rect">
            <a:avLst/>
          </a:prstGeom>
          <a:solidFill>
            <a:srgbClr val="E74C3C"/>
          </a:solidFill>
          <a:ln w="12700">
            <a:solidFill>
              <a:srgbClr val="E74C3C"/>
            </a:solidFill>
            <a:prstDash val="solid"/>
          </a:ln>
        </p:spPr>
      </p:sp>
      <p:sp>
        <p:nvSpPr>
          <p:cNvPr id="6" name="Text 4"/>
          <p:cNvSpPr/>
          <p:nvPr/>
        </p:nvSpPr>
        <p:spPr>
          <a:xfrm>
            <a:off x="201168" y="1005840"/>
            <a:ext cx="132588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DETECT</a:t>
            </a:r>
            <a:endParaRPr lang="en-US" sz="1100" dirty="0"/>
          </a:p>
        </p:txBody>
      </p:sp>
      <p:sp>
        <p:nvSpPr>
          <p:cNvPr id="7" name="Text 5"/>
          <p:cNvSpPr/>
          <p:nvPr/>
        </p:nvSpPr>
        <p:spPr>
          <a:xfrm>
            <a:off x="1545336" y="1069848"/>
            <a:ext cx="237744" cy="310896"/>
          </a:xfrm>
          <a:prstGeom prst="rect">
            <a:avLst/>
          </a:prstGeom>
          <a:noFill/>
          <a:ln/>
        </p:spPr>
        <p:txBody>
          <a:bodyPr wrap="square" lIns="0" tIns="0" rIns="0" bIns="0" rtlCol="0" anchor="ctr"/>
          <a:lstStyle/>
          <a:p>
            <a:pPr algn="ctr" indent="0" marL="0">
              <a:buNone/>
            </a:pPr>
            <a:r>
              <a:rPr lang="en-US" sz="1800" b="1" dirty="0">
                <a:solidFill>
                  <a:srgbClr val="8FA3B1"/>
                </a:solidFill>
                <a:latin typeface="Calibri" pitchFamily="34" charset="0"/>
                <a:ea typeface="Calibri" pitchFamily="34" charset="-122"/>
                <a:cs typeface="Calibri" pitchFamily="34" charset="-120"/>
              </a:rPr>
              <a:t>→</a:t>
            </a:r>
            <a:endParaRPr lang="en-US" sz="1800" dirty="0"/>
          </a:p>
        </p:txBody>
      </p:sp>
      <p:sp>
        <p:nvSpPr>
          <p:cNvPr id="8" name="Text 6"/>
          <p:cNvSpPr/>
          <p:nvPr/>
        </p:nvSpPr>
        <p:spPr>
          <a:xfrm>
            <a:off x="201168" y="1463040"/>
            <a:ext cx="1325880" cy="402336"/>
          </a:xfrm>
          <a:prstGeom prst="rect">
            <a:avLst/>
          </a:prstGeom>
          <a:noFill/>
          <a:ln/>
        </p:spPr>
        <p:txBody>
          <a:bodyPr wrap="square" lIns="0" tIns="0" rIns="0" bIns="0" rtlCol="0" anchor="ctr"/>
          <a:lstStyle/>
          <a:p>
            <a:pPr algn="ctr" indent="0" marL="0">
              <a:buNone/>
            </a:pPr>
            <a:r>
              <a:rPr lang="en-US" sz="850" dirty="0">
                <a:solidFill>
                  <a:srgbClr val="C9D6DF"/>
                </a:solidFill>
                <a:latin typeface="Calibri" pitchFamily="34" charset="0"/>
                <a:ea typeface="Calibri" pitchFamily="34" charset="-122"/>
                <a:cs typeface="Calibri" pitchFamily="34" charset="-120"/>
              </a:rPr>
              <a:t>Hybrid detector</a:t>
            </a:r>
            <a:endParaRPr lang="en-US" sz="850" dirty="0"/>
          </a:p>
          <a:p>
            <a:pPr algn="ctr" indent="0" marL="0">
              <a:buNone/>
            </a:pPr>
            <a:r>
              <a:rPr lang="en-US" sz="850" dirty="0">
                <a:solidFill>
                  <a:srgbClr val="C9D6DF"/>
                </a:solidFill>
                <a:latin typeface="Calibri" pitchFamily="34" charset="0"/>
                <a:ea typeface="Calibri" pitchFamily="34" charset="-122"/>
                <a:cs typeface="Calibri" pitchFamily="34" charset="-120"/>
              </a:rPr>
              <a:t>fusion score ≥ 1.5</a:t>
            </a:r>
            <a:endParaRPr lang="en-US" sz="850" dirty="0"/>
          </a:p>
        </p:txBody>
      </p:sp>
      <p:sp>
        <p:nvSpPr>
          <p:cNvPr id="9" name="Shape 7"/>
          <p:cNvSpPr/>
          <p:nvPr/>
        </p:nvSpPr>
        <p:spPr>
          <a:xfrm>
            <a:off x="521208" y="1883664"/>
            <a:ext cx="685800" cy="219456"/>
          </a:xfrm>
          <a:prstGeom prst="rect">
            <a:avLst/>
          </a:prstGeom>
          <a:solidFill>
            <a:srgbClr val="1A3A1A"/>
          </a:solidFill>
          <a:ln w="12700">
            <a:solidFill>
              <a:srgbClr val="1A3A1A"/>
            </a:solidFill>
            <a:prstDash val="solid"/>
          </a:ln>
        </p:spPr>
      </p:sp>
      <p:sp>
        <p:nvSpPr>
          <p:cNvPr id="10" name="Text 8"/>
          <p:cNvSpPr/>
          <p:nvPr/>
        </p:nvSpPr>
        <p:spPr>
          <a:xfrm>
            <a:off x="521208" y="1901952"/>
            <a:ext cx="685800" cy="201168"/>
          </a:xfrm>
          <a:prstGeom prst="rect">
            <a:avLst/>
          </a:prstGeom>
          <a:noFill/>
          <a:ln/>
        </p:spPr>
        <p:txBody>
          <a:bodyPr wrap="square" lIns="0" tIns="0" rIns="0" bIns="0" rtlCol="0" anchor="ctr"/>
          <a:lstStyle/>
          <a:p>
            <a:pPr algn="ctr" indent="0" marL="0">
              <a:buNone/>
            </a:pPr>
            <a:r>
              <a:rPr lang="en-US" sz="900" b="1" dirty="0">
                <a:solidFill>
                  <a:srgbClr val="27AE60"/>
                </a:solidFill>
                <a:latin typeface="Calibri" pitchFamily="34" charset="0"/>
                <a:ea typeface="Calibri" pitchFamily="34" charset="-122"/>
                <a:cs typeface="Calibri" pitchFamily="34" charset="-120"/>
              </a:rPr>
              <a:t>0s</a:t>
            </a:r>
            <a:endParaRPr lang="en-US" sz="900" dirty="0"/>
          </a:p>
        </p:txBody>
      </p:sp>
      <p:sp>
        <p:nvSpPr>
          <p:cNvPr id="11" name="Shape 9"/>
          <p:cNvSpPr/>
          <p:nvPr/>
        </p:nvSpPr>
        <p:spPr>
          <a:xfrm>
            <a:off x="1682496" y="987552"/>
            <a:ext cx="1325880" cy="457200"/>
          </a:xfrm>
          <a:prstGeom prst="rect">
            <a:avLst/>
          </a:prstGeom>
          <a:solidFill>
            <a:srgbClr val="E67E22"/>
          </a:solidFill>
          <a:ln w="12700">
            <a:solidFill>
              <a:srgbClr val="E67E22"/>
            </a:solidFill>
            <a:prstDash val="solid"/>
          </a:ln>
        </p:spPr>
      </p:sp>
      <p:sp>
        <p:nvSpPr>
          <p:cNvPr id="12" name="Text 10"/>
          <p:cNvSpPr/>
          <p:nvPr/>
        </p:nvSpPr>
        <p:spPr>
          <a:xfrm>
            <a:off x="1682496" y="1005840"/>
            <a:ext cx="132588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CONTAIN</a:t>
            </a:r>
            <a:endParaRPr lang="en-US" sz="1100" dirty="0"/>
          </a:p>
        </p:txBody>
      </p:sp>
      <p:sp>
        <p:nvSpPr>
          <p:cNvPr id="13" name="Text 11"/>
          <p:cNvSpPr/>
          <p:nvPr/>
        </p:nvSpPr>
        <p:spPr>
          <a:xfrm>
            <a:off x="3026664" y="1069848"/>
            <a:ext cx="237744" cy="310896"/>
          </a:xfrm>
          <a:prstGeom prst="rect">
            <a:avLst/>
          </a:prstGeom>
          <a:noFill/>
          <a:ln/>
        </p:spPr>
        <p:txBody>
          <a:bodyPr wrap="square" lIns="0" tIns="0" rIns="0" bIns="0" rtlCol="0" anchor="ctr"/>
          <a:lstStyle/>
          <a:p>
            <a:pPr algn="ctr" indent="0" marL="0">
              <a:buNone/>
            </a:pPr>
            <a:r>
              <a:rPr lang="en-US" sz="1800" b="1" dirty="0">
                <a:solidFill>
                  <a:srgbClr val="8FA3B1"/>
                </a:solidFill>
                <a:latin typeface="Calibri" pitchFamily="34" charset="0"/>
                <a:ea typeface="Calibri" pitchFamily="34" charset="-122"/>
                <a:cs typeface="Calibri" pitchFamily="34" charset="-120"/>
              </a:rPr>
              <a:t>→</a:t>
            </a:r>
            <a:endParaRPr lang="en-US" sz="1800" dirty="0"/>
          </a:p>
        </p:txBody>
      </p:sp>
      <p:sp>
        <p:nvSpPr>
          <p:cNvPr id="14" name="Text 12"/>
          <p:cNvSpPr/>
          <p:nvPr/>
        </p:nvSpPr>
        <p:spPr>
          <a:xfrm>
            <a:off x="1682496" y="1463040"/>
            <a:ext cx="1325880" cy="402336"/>
          </a:xfrm>
          <a:prstGeom prst="rect">
            <a:avLst/>
          </a:prstGeom>
          <a:noFill/>
          <a:ln/>
        </p:spPr>
        <p:txBody>
          <a:bodyPr wrap="square" lIns="0" tIns="0" rIns="0" bIns="0" rtlCol="0" anchor="ctr"/>
          <a:lstStyle/>
          <a:p>
            <a:pPr algn="ctr" indent="0" marL="0">
              <a:buNone/>
            </a:pPr>
            <a:r>
              <a:rPr lang="en-US" sz="850" dirty="0">
                <a:solidFill>
                  <a:srgbClr val="C9D6DF"/>
                </a:solidFill>
                <a:latin typeface="Calibri" pitchFamily="34" charset="0"/>
                <a:ea typeface="Calibri" pitchFamily="34" charset="-122"/>
                <a:cs typeface="Calibri" pitchFamily="34" charset="-120"/>
              </a:rPr>
              <a:t>iptables block</a:t>
            </a:r>
            <a:endParaRPr lang="en-US" sz="850" dirty="0"/>
          </a:p>
          <a:p>
            <a:pPr algn="ctr" indent="0" marL="0">
              <a:buNone/>
            </a:pPr>
            <a:r>
              <a:rPr lang="en-US" sz="850" dirty="0">
                <a:solidFill>
                  <a:srgbClr val="C9D6DF"/>
                </a:solidFill>
                <a:latin typeface="Calibri" pitchFamily="34" charset="0"/>
                <a:ea typeface="Calibri" pitchFamily="34" charset="-122"/>
                <a:cs typeface="Calibri" pitchFamily="34" charset="-120"/>
              </a:rPr>
              <a:t>VLAN isolation</a:t>
            </a:r>
            <a:endParaRPr lang="en-US" sz="850" dirty="0"/>
          </a:p>
        </p:txBody>
      </p:sp>
      <p:sp>
        <p:nvSpPr>
          <p:cNvPr id="15" name="Shape 13"/>
          <p:cNvSpPr/>
          <p:nvPr/>
        </p:nvSpPr>
        <p:spPr>
          <a:xfrm>
            <a:off x="2002536" y="1883664"/>
            <a:ext cx="685800" cy="219456"/>
          </a:xfrm>
          <a:prstGeom prst="rect">
            <a:avLst/>
          </a:prstGeom>
          <a:solidFill>
            <a:srgbClr val="1A3A1A"/>
          </a:solidFill>
          <a:ln w="12700">
            <a:solidFill>
              <a:srgbClr val="1A3A1A"/>
            </a:solidFill>
            <a:prstDash val="solid"/>
          </a:ln>
        </p:spPr>
      </p:sp>
      <p:sp>
        <p:nvSpPr>
          <p:cNvPr id="16" name="Text 14"/>
          <p:cNvSpPr/>
          <p:nvPr/>
        </p:nvSpPr>
        <p:spPr>
          <a:xfrm>
            <a:off x="2002536" y="1901952"/>
            <a:ext cx="685800" cy="201168"/>
          </a:xfrm>
          <a:prstGeom prst="rect">
            <a:avLst/>
          </a:prstGeom>
          <a:noFill/>
          <a:ln/>
        </p:spPr>
        <p:txBody>
          <a:bodyPr wrap="square" lIns="0" tIns="0" rIns="0" bIns="0" rtlCol="0" anchor="ctr"/>
          <a:lstStyle/>
          <a:p>
            <a:pPr algn="ctr" indent="0" marL="0">
              <a:buNone/>
            </a:pPr>
            <a:r>
              <a:rPr lang="en-US" sz="900" b="1" dirty="0">
                <a:solidFill>
                  <a:srgbClr val="27AE60"/>
                </a:solidFill>
                <a:latin typeface="Calibri" pitchFamily="34" charset="0"/>
                <a:ea typeface="Calibri" pitchFamily="34" charset="-122"/>
                <a:cs typeface="Calibri" pitchFamily="34" charset="-120"/>
              </a:rPr>
              <a:t>&lt;3s</a:t>
            </a:r>
            <a:endParaRPr lang="en-US" sz="900" dirty="0"/>
          </a:p>
        </p:txBody>
      </p:sp>
      <p:sp>
        <p:nvSpPr>
          <p:cNvPr id="17" name="Shape 15"/>
          <p:cNvSpPr/>
          <p:nvPr/>
        </p:nvSpPr>
        <p:spPr>
          <a:xfrm>
            <a:off x="3163824" y="987552"/>
            <a:ext cx="1325880" cy="457200"/>
          </a:xfrm>
          <a:prstGeom prst="rect">
            <a:avLst/>
          </a:prstGeom>
          <a:solidFill>
            <a:srgbClr val="7D3C98"/>
          </a:solidFill>
          <a:ln w="12700">
            <a:solidFill>
              <a:srgbClr val="7D3C98"/>
            </a:solidFill>
            <a:prstDash val="solid"/>
          </a:ln>
        </p:spPr>
      </p:sp>
      <p:sp>
        <p:nvSpPr>
          <p:cNvPr id="18" name="Text 16"/>
          <p:cNvSpPr/>
          <p:nvPr/>
        </p:nvSpPr>
        <p:spPr>
          <a:xfrm>
            <a:off x="3163824" y="1005840"/>
            <a:ext cx="132588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SAFE STATE</a:t>
            </a:r>
            <a:endParaRPr lang="en-US" sz="1100" dirty="0"/>
          </a:p>
        </p:txBody>
      </p:sp>
      <p:sp>
        <p:nvSpPr>
          <p:cNvPr id="19" name="Text 17"/>
          <p:cNvSpPr/>
          <p:nvPr/>
        </p:nvSpPr>
        <p:spPr>
          <a:xfrm>
            <a:off x="4507992" y="1069848"/>
            <a:ext cx="237744" cy="310896"/>
          </a:xfrm>
          <a:prstGeom prst="rect">
            <a:avLst/>
          </a:prstGeom>
          <a:noFill/>
          <a:ln/>
        </p:spPr>
        <p:txBody>
          <a:bodyPr wrap="square" lIns="0" tIns="0" rIns="0" bIns="0" rtlCol="0" anchor="ctr"/>
          <a:lstStyle/>
          <a:p>
            <a:pPr algn="ctr" indent="0" marL="0">
              <a:buNone/>
            </a:pPr>
            <a:r>
              <a:rPr lang="en-US" sz="1800" b="1" dirty="0">
                <a:solidFill>
                  <a:srgbClr val="8FA3B1"/>
                </a:solidFill>
                <a:latin typeface="Calibri" pitchFamily="34" charset="0"/>
                <a:ea typeface="Calibri" pitchFamily="34" charset="-122"/>
                <a:cs typeface="Calibri" pitchFamily="34" charset="-120"/>
              </a:rPr>
              <a:t>→</a:t>
            </a:r>
            <a:endParaRPr lang="en-US" sz="1800" dirty="0"/>
          </a:p>
        </p:txBody>
      </p:sp>
      <p:sp>
        <p:nvSpPr>
          <p:cNvPr id="20" name="Text 18"/>
          <p:cNvSpPr/>
          <p:nvPr/>
        </p:nvSpPr>
        <p:spPr>
          <a:xfrm>
            <a:off x="3163824" y="1463040"/>
            <a:ext cx="1325880" cy="402336"/>
          </a:xfrm>
          <a:prstGeom prst="rect">
            <a:avLst/>
          </a:prstGeom>
          <a:noFill/>
          <a:ln/>
        </p:spPr>
        <p:txBody>
          <a:bodyPr wrap="square" lIns="0" tIns="0" rIns="0" bIns="0" rtlCol="0" anchor="ctr"/>
          <a:lstStyle/>
          <a:p>
            <a:pPr algn="ctr" indent="0" marL="0">
              <a:buNone/>
            </a:pPr>
            <a:r>
              <a:rPr lang="en-US" sz="850" dirty="0">
                <a:solidFill>
                  <a:srgbClr val="C9D6DF"/>
                </a:solidFill>
                <a:latin typeface="Calibri" pitchFamily="34" charset="0"/>
                <a:ea typeface="Calibri" pitchFamily="34" charset="-122"/>
                <a:cs typeface="Calibri" pitchFamily="34" charset="-120"/>
              </a:rPr>
              <a:t>Actuator reset</a:t>
            </a:r>
            <a:endParaRPr lang="en-US" sz="850" dirty="0"/>
          </a:p>
          <a:p>
            <a:pPr algn="ctr" indent="0" marL="0">
              <a:buNone/>
            </a:pPr>
            <a:r>
              <a:rPr lang="en-US" sz="850" dirty="0">
                <a:solidFill>
                  <a:srgbClr val="C9D6DF"/>
                </a:solidFill>
                <a:latin typeface="Calibri" pitchFamily="34" charset="0"/>
                <a:ea typeface="Calibri" pitchFamily="34" charset="-122"/>
                <a:cs typeface="Calibri" pitchFamily="34" charset="-120"/>
              </a:rPr>
              <a:t>PLC registers</a:t>
            </a:r>
            <a:endParaRPr lang="en-US" sz="850" dirty="0"/>
          </a:p>
        </p:txBody>
      </p:sp>
      <p:sp>
        <p:nvSpPr>
          <p:cNvPr id="21" name="Shape 19"/>
          <p:cNvSpPr/>
          <p:nvPr/>
        </p:nvSpPr>
        <p:spPr>
          <a:xfrm>
            <a:off x="3483864" y="1883664"/>
            <a:ext cx="685800" cy="219456"/>
          </a:xfrm>
          <a:prstGeom prst="rect">
            <a:avLst/>
          </a:prstGeom>
          <a:solidFill>
            <a:srgbClr val="1A3A1A"/>
          </a:solidFill>
          <a:ln w="12700">
            <a:solidFill>
              <a:srgbClr val="1A3A1A"/>
            </a:solidFill>
            <a:prstDash val="solid"/>
          </a:ln>
        </p:spPr>
      </p:sp>
      <p:sp>
        <p:nvSpPr>
          <p:cNvPr id="22" name="Text 20"/>
          <p:cNvSpPr/>
          <p:nvPr/>
        </p:nvSpPr>
        <p:spPr>
          <a:xfrm>
            <a:off x="3483864" y="1901952"/>
            <a:ext cx="685800" cy="201168"/>
          </a:xfrm>
          <a:prstGeom prst="rect">
            <a:avLst/>
          </a:prstGeom>
          <a:noFill/>
          <a:ln/>
        </p:spPr>
        <p:txBody>
          <a:bodyPr wrap="square" lIns="0" tIns="0" rIns="0" bIns="0" rtlCol="0" anchor="ctr"/>
          <a:lstStyle/>
          <a:p>
            <a:pPr algn="ctr" indent="0" marL="0">
              <a:buNone/>
            </a:pPr>
            <a:r>
              <a:rPr lang="en-US" sz="900" b="1" dirty="0">
                <a:solidFill>
                  <a:srgbClr val="27AE60"/>
                </a:solidFill>
                <a:latin typeface="Calibri" pitchFamily="34" charset="0"/>
                <a:ea typeface="Calibri" pitchFamily="34" charset="-122"/>
                <a:cs typeface="Calibri" pitchFamily="34" charset="-120"/>
              </a:rPr>
              <a:t>&lt;5s</a:t>
            </a:r>
            <a:endParaRPr lang="en-US" sz="900" dirty="0"/>
          </a:p>
        </p:txBody>
      </p:sp>
      <p:sp>
        <p:nvSpPr>
          <p:cNvPr id="23" name="Shape 21"/>
          <p:cNvSpPr/>
          <p:nvPr/>
        </p:nvSpPr>
        <p:spPr>
          <a:xfrm>
            <a:off x="4645152" y="987552"/>
            <a:ext cx="1325880" cy="457200"/>
          </a:xfrm>
          <a:prstGeom prst="rect">
            <a:avLst/>
          </a:prstGeom>
          <a:solidFill>
            <a:srgbClr val="2980B9"/>
          </a:solidFill>
          <a:ln w="12700">
            <a:solidFill>
              <a:srgbClr val="2980B9"/>
            </a:solidFill>
            <a:prstDash val="solid"/>
          </a:ln>
        </p:spPr>
      </p:sp>
      <p:sp>
        <p:nvSpPr>
          <p:cNvPr id="24" name="Text 22"/>
          <p:cNvSpPr/>
          <p:nvPr/>
        </p:nvSpPr>
        <p:spPr>
          <a:xfrm>
            <a:off x="4645152" y="1005840"/>
            <a:ext cx="132588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FAILOVER</a:t>
            </a:r>
            <a:endParaRPr lang="en-US" sz="1100" dirty="0"/>
          </a:p>
        </p:txBody>
      </p:sp>
      <p:sp>
        <p:nvSpPr>
          <p:cNvPr id="25" name="Text 23"/>
          <p:cNvSpPr/>
          <p:nvPr/>
        </p:nvSpPr>
        <p:spPr>
          <a:xfrm>
            <a:off x="5989320" y="1069848"/>
            <a:ext cx="237744" cy="310896"/>
          </a:xfrm>
          <a:prstGeom prst="rect">
            <a:avLst/>
          </a:prstGeom>
          <a:noFill/>
          <a:ln/>
        </p:spPr>
        <p:txBody>
          <a:bodyPr wrap="square" lIns="0" tIns="0" rIns="0" bIns="0" rtlCol="0" anchor="ctr"/>
          <a:lstStyle/>
          <a:p>
            <a:pPr algn="ctr" indent="0" marL="0">
              <a:buNone/>
            </a:pPr>
            <a:r>
              <a:rPr lang="en-US" sz="1800" b="1" dirty="0">
                <a:solidFill>
                  <a:srgbClr val="8FA3B1"/>
                </a:solidFill>
                <a:latin typeface="Calibri" pitchFamily="34" charset="0"/>
                <a:ea typeface="Calibri" pitchFamily="34" charset="-122"/>
                <a:cs typeface="Calibri" pitchFamily="34" charset="-120"/>
              </a:rPr>
              <a:t>→</a:t>
            </a:r>
            <a:endParaRPr lang="en-US" sz="1800" dirty="0"/>
          </a:p>
        </p:txBody>
      </p:sp>
      <p:sp>
        <p:nvSpPr>
          <p:cNvPr id="26" name="Text 24"/>
          <p:cNvSpPr/>
          <p:nvPr/>
        </p:nvSpPr>
        <p:spPr>
          <a:xfrm>
            <a:off x="4645152" y="1463040"/>
            <a:ext cx="1325880" cy="402336"/>
          </a:xfrm>
          <a:prstGeom prst="rect">
            <a:avLst/>
          </a:prstGeom>
          <a:noFill/>
          <a:ln/>
        </p:spPr>
        <p:txBody>
          <a:bodyPr wrap="square" lIns="0" tIns="0" rIns="0" bIns="0" rtlCol="0" anchor="ctr"/>
          <a:lstStyle/>
          <a:p>
            <a:pPr algn="ctr" indent="0" marL="0">
              <a:buNone/>
            </a:pPr>
            <a:r>
              <a:rPr lang="en-US" sz="850" dirty="0">
                <a:solidFill>
                  <a:srgbClr val="C9D6DF"/>
                </a:solidFill>
                <a:latin typeface="Calibri" pitchFamily="34" charset="0"/>
                <a:ea typeface="Calibri" pitchFamily="34" charset="-122"/>
                <a:cs typeface="Calibri" pitchFamily="34" charset="-120"/>
              </a:rPr>
              <a:t>PLC1B takes</a:t>
            </a:r>
            <a:endParaRPr lang="en-US" sz="850" dirty="0"/>
          </a:p>
          <a:p>
            <a:pPr algn="ctr" indent="0" marL="0">
              <a:buNone/>
            </a:pPr>
            <a:r>
              <a:rPr lang="en-US" sz="850" dirty="0">
                <a:solidFill>
                  <a:srgbClr val="C9D6DF"/>
                </a:solidFill>
                <a:latin typeface="Calibri" pitchFamily="34" charset="0"/>
                <a:ea typeface="Calibri" pitchFamily="34" charset="-122"/>
                <a:cs typeface="Calibri" pitchFamily="34" charset="-120"/>
              </a:rPr>
              <a:t>control (EIP)</a:t>
            </a:r>
            <a:endParaRPr lang="en-US" sz="850" dirty="0"/>
          </a:p>
        </p:txBody>
      </p:sp>
      <p:sp>
        <p:nvSpPr>
          <p:cNvPr id="27" name="Shape 25"/>
          <p:cNvSpPr/>
          <p:nvPr/>
        </p:nvSpPr>
        <p:spPr>
          <a:xfrm>
            <a:off x="4965192" y="1883664"/>
            <a:ext cx="685800" cy="219456"/>
          </a:xfrm>
          <a:prstGeom prst="rect">
            <a:avLst/>
          </a:prstGeom>
          <a:solidFill>
            <a:srgbClr val="1A3A1A"/>
          </a:solidFill>
          <a:ln w="12700">
            <a:solidFill>
              <a:srgbClr val="1A3A1A"/>
            </a:solidFill>
            <a:prstDash val="solid"/>
          </a:ln>
        </p:spPr>
      </p:sp>
      <p:sp>
        <p:nvSpPr>
          <p:cNvPr id="28" name="Text 26"/>
          <p:cNvSpPr/>
          <p:nvPr/>
        </p:nvSpPr>
        <p:spPr>
          <a:xfrm>
            <a:off x="4965192" y="1901952"/>
            <a:ext cx="685800" cy="201168"/>
          </a:xfrm>
          <a:prstGeom prst="rect">
            <a:avLst/>
          </a:prstGeom>
          <a:noFill/>
          <a:ln/>
        </p:spPr>
        <p:txBody>
          <a:bodyPr wrap="square" lIns="0" tIns="0" rIns="0" bIns="0" rtlCol="0" anchor="ctr"/>
          <a:lstStyle/>
          <a:p>
            <a:pPr algn="ctr" indent="0" marL="0">
              <a:buNone/>
            </a:pPr>
            <a:r>
              <a:rPr lang="en-US" sz="900" b="1" dirty="0">
                <a:solidFill>
                  <a:srgbClr val="27AE60"/>
                </a:solidFill>
                <a:latin typeface="Calibri" pitchFamily="34" charset="0"/>
                <a:ea typeface="Calibri" pitchFamily="34" charset="-122"/>
                <a:cs typeface="Calibri" pitchFamily="34" charset="-120"/>
              </a:rPr>
              <a:t>&lt;8s</a:t>
            </a:r>
            <a:endParaRPr lang="en-US" sz="900" dirty="0"/>
          </a:p>
        </p:txBody>
      </p:sp>
      <p:sp>
        <p:nvSpPr>
          <p:cNvPr id="29" name="Shape 27"/>
          <p:cNvSpPr/>
          <p:nvPr/>
        </p:nvSpPr>
        <p:spPr>
          <a:xfrm>
            <a:off x="6126480" y="987552"/>
            <a:ext cx="1325880" cy="457200"/>
          </a:xfrm>
          <a:prstGeom prst="rect">
            <a:avLst/>
          </a:prstGeom>
          <a:solidFill>
            <a:srgbClr val="0A7E8C"/>
          </a:solidFill>
          <a:ln w="12700">
            <a:solidFill>
              <a:srgbClr val="0A7E8C"/>
            </a:solidFill>
            <a:prstDash val="solid"/>
          </a:ln>
        </p:spPr>
      </p:sp>
      <p:sp>
        <p:nvSpPr>
          <p:cNvPr id="30" name="Text 28"/>
          <p:cNvSpPr/>
          <p:nvPr/>
        </p:nvSpPr>
        <p:spPr>
          <a:xfrm>
            <a:off x="6126480" y="1005840"/>
            <a:ext cx="132588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RECONSTRUCT</a:t>
            </a:r>
            <a:endParaRPr lang="en-US" sz="1100" dirty="0"/>
          </a:p>
        </p:txBody>
      </p:sp>
      <p:sp>
        <p:nvSpPr>
          <p:cNvPr id="31" name="Text 29"/>
          <p:cNvSpPr/>
          <p:nvPr/>
        </p:nvSpPr>
        <p:spPr>
          <a:xfrm>
            <a:off x="7470648" y="1069848"/>
            <a:ext cx="237744" cy="310896"/>
          </a:xfrm>
          <a:prstGeom prst="rect">
            <a:avLst/>
          </a:prstGeom>
          <a:noFill/>
          <a:ln/>
        </p:spPr>
        <p:txBody>
          <a:bodyPr wrap="square" lIns="0" tIns="0" rIns="0" bIns="0" rtlCol="0" anchor="ctr"/>
          <a:lstStyle/>
          <a:p>
            <a:pPr algn="ctr" indent="0" marL="0">
              <a:buNone/>
            </a:pPr>
            <a:r>
              <a:rPr lang="en-US" sz="1800" b="1" dirty="0">
                <a:solidFill>
                  <a:srgbClr val="8FA3B1"/>
                </a:solidFill>
                <a:latin typeface="Calibri" pitchFamily="34" charset="0"/>
                <a:ea typeface="Calibri" pitchFamily="34" charset="-122"/>
                <a:cs typeface="Calibri" pitchFamily="34" charset="-120"/>
              </a:rPr>
              <a:t>→</a:t>
            </a:r>
            <a:endParaRPr lang="en-US" sz="1800" dirty="0"/>
          </a:p>
        </p:txBody>
      </p:sp>
      <p:sp>
        <p:nvSpPr>
          <p:cNvPr id="32" name="Text 30"/>
          <p:cNvSpPr/>
          <p:nvPr/>
        </p:nvSpPr>
        <p:spPr>
          <a:xfrm>
            <a:off x="6126480" y="1463040"/>
            <a:ext cx="1325880" cy="402336"/>
          </a:xfrm>
          <a:prstGeom prst="rect">
            <a:avLst/>
          </a:prstGeom>
          <a:noFill/>
          <a:ln/>
        </p:spPr>
        <p:txBody>
          <a:bodyPr wrap="square" lIns="0" tIns="0" rIns="0" bIns="0" rtlCol="0" anchor="ctr"/>
          <a:lstStyle/>
          <a:p>
            <a:pPr algn="ctr" indent="0" marL="0">
              <a:buNone/>
            </a:pPr>
            <a:r>
              <a:rPr lang="en-US" sz="850" dirty="0">
                <a:solidFill>
                  <a:srgbClr val="C9D6DF"/>
                </a:solidFill>
                <a:latin typeface="Calibri" pitchFamily="34" charset="0"/>
                <a:ea typeface="Calibri" pitchFamily="34" charset="-122"/>
                <a:cs typeface="Calibri" pitchFamily="34" charset="-120"/>
              </a:rPr>
              <a:t>SSE + invariant-</a:t>
            </a:r>
            <a:endParaRPr lang="en-US" sz="850" dirty="0"/>
          </a:p>
          <a:p>
            <a:pPr algn="ctr" indent="0" marL="0">
              <a:buNone/>
            </a:pPr>
            <a:r>
              <a:rPr lang="en-US" sz="850" dirty="0">
                <a:solidFill>
                  <a:srgbClr val="C9D6DF"/>
                </a:solidFill>
                <a:latin typeface="Calibri" pitchFamily="34" charset="0"/>
                <a:ea typeface="Calibri" pitchFamily="34" charset="-122"/>
                <a:cs typeface="Calibri" pitchFamily="34" charset="-120"/>
              </a:rPr>
              <a:t>guided re-entry</a:t>
            </a:r>
            <a:endParaRPr lang="en-US" sz="850" dirty="0"/>
          </a:p>
        </p:txBody>
      </p:sp>
      <p:sp>
        <p:nvSpPr>
          <p:cNvPr id="33" name="Shape 31"/>
          <p:cNvSpPr/>
          <p:nvPr/>
        </p:nvSpPr>
        <p:spPr>
          <a:xfrm>
            <a:off x="6446520" y="1883664"/>
            <a:ext cx="685800" cy="219456"/>
          </a:xfrm>
          <a:prstGeom prst="rect">
            <a:avLst/>
          </a:prstGeom>
          <a:solidFill>
            <a:srgbClr val="1A3A1A"/>
          </a:solidFill>
          <a:ln w="12700">
            <a:solidFill>
              <a:srgbClr val="1A3A1A"/>
            </a:solidFill>
            <a:prstDash val="solid"/>
          </a:ln>
        </p:spPr>
      </p:sp>
      <p:sp>
        <p:nvSpPr>
          <p:cNvPr id="34" name="Text 32"/>
          <p:cNvSpPr/>
          <p:nvPr/>
        </p:nvSpPr>
        <p:spPr>
          <a:xfrm>
            <a:off x="6446520" y="1901952"/>
            <a:ext cx="685800" cy="201168"/>
          </a:xfrm>
          <a:prstGeom prst="rect">
            <a:avLst/>
          </a:prstGeom>
          <a:noFill/>
          <a:ln/>
        </p:spPr>
        <p:txBody>
          <a:bodyPr wrap="square" lIns="0" tIns="0" rIns="0" bIns="0" rtlCol="0" anchor="ctr"/>
          <a:lstStyle/>
          <a:p>
            <a:pPr algn="ctr" indent="0" marL="0">
              <a:buNone/>
            </a:pPr>
            <a:r>
              <a:rPr lang="en-US" sz="900" b="1" dirty="0">
                <a:solidFill>
                  <a:srgbClr val="27AE60"/>
                </a:solidFill>
                <a:latin typeface="Calibri" pitchFamily="34" charset="0"/>
                <a:ea typeface="Calibri" pitchFamily="34" charset="-122"/>
                <a:cs typeface="Calibri" pitchFamily="34" charset="-120"/>
              </a:rPr>
              <a:t>&lt;30s</a:t>
            </a:r>
            <a:endParaRPr lang="en-US" sz="900" dirty="0"/>
          </a:p>
        </p:txBody>
      </p:sp>
      <p:sp>
        <p:nvSpPr>
          <p:cNvPr id="35" name="Shape 33"/>
          <p:cNvSpPr/>
          <p:nvPr/>
        </p:nvSpPr>
        <p:spPr>
          <a:xfrm>
            <a:off x="7607808" y="987552"/>
            <a:ext cx="1325880" cy="457200"/>
          </a:xfrm>
          <a:prstGeom prst="rect">
            <a:avLst/>
          </a:prstGeom>
          <a:solidFill>
            <a:srgbClr val="27AE60"/>
          </a:solidFill>
          <a:ln w="12700">
            <a:solidFill>
              <a:srgbClr val="27AE60"/>
            </a:solidFill>
            <a:prstDash val="solid"/>
          </a:ln>
        </p:spPr>
      </p:sp>
      <p:sp>
        <p:nvSpPr>
          <p:cNvPr id="36" name="Text 34"/>
          <p:cNvSpPr/>
          <p:nvPr/>
        </p:nvSpPr>
        <p:spPr>
          <a:xfrm>
            <a:off x="7607808" y="1005840"/>
            <a:ext cx="132588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RESUME</a:t>
            </a:r>
            <a:endParaRPr lang="en-US" sz="1100" dirty="0"/>
          </a:p>
        </p:txBody>
      </p:sp>
      <p:sp>
        <p:nvSpPr>
          <p:cNvPr id="37" name="Text 35"/>
          <p:cNvSpPr/>
          <p:nvPr/>
        </p:nvSpPr>
        <p:spPr>
          <a:xfrm>
            <a:off x="7607808" y="1463040"/>
            <a:ext cx="1325880" cy="402336"/>
          </a:xfrm>
          <a:prstGeom prst="rect">
            <a:avLst/>
          </a:prstGeom>
          <a:noFill/>
          <a:ln/>
        </p:spPr>
        <p:txBody>
          <a:bodyPr wrap="square" lIns="0" tIns="0" rIns="0" bIns="0" rtlCol="0" anchor="ctr"/>
          <a:lstStyle/>
          <a:p>
            <a:pPr algn="ctr" indent="0" marL="0">
              <a:buNone/>
            </a:pPr>
            <a:r>
              <a:rPr lang="en-US" sz="850" dirty="0">
                <a:solidFill>
                  <a:srgbClr val="C9D6DF"/>
                </a:solidFill>
                <a:latin typeface="Calibri" pitchFamily="34" charset="0"/>
                <a:ea typeface="Calibri" pitchFamily="34" charset="-122"/>
                <a:cs typeface="Calibri" pitchFamily="34" charset="-120"/>
              </a:rPr>
              <a:t>All invariants</a:t>
            </a:r>
            <a:endParaRPr lang="en-US" sz="850" dirty="0"/>
          </a:p>
          <a:p>
            <a:pPr algn="ctr" indent="0" marL="0">
              <a:buNone/>
            </a:pPr>
            <a:r>
              <a:rPr lang="en-US" sz="850" dirty="0">
                <a:solidFill>
                  <a:srgbClr val="C9D6DF"/>
                </a:solidFill>
                <a:latin typeface="Calibri" pitchFamily="34" charset="0"/>
                <a:ea typeface="Calibri" pitchFamily="34" charset="-122"/>
                <a:cs typeface="Calibri" pitchFamily="34" charset="-120"/>
              </a:rPr>
              <a:t>pass 5+ cycles</a:t>
            </a:r>
            <a:endParaRPr lang="en-US" sz="850" dirty="0"/>
          </a:p>
        </p:txBody>
      </p:sp>
      <p:sp>
        <p:nvSpPr>
          <p:cNvPr id="38" name="Shape 36"/>
          <p:cNvSpPr/>
          <p:nvPr/>
        </p:nvSpPr>
        <p:spPr>
          <a:xfrm>
            <a:off x="7927848" y="1883664"/>
            <a:ext cx="685800" cy="219456"/>
          </a:xfrm>
          <a:prstGeom prst="rect">
            <a:avLst/>
          </a:prstGeom>
          <a:solidFill>
            <a:srgbClr val="1A3A1A"/>
          </a:solidFill>
          <a:ln w="12700">
            <a:solidFill>
              <a:srgbClr val="1A3A1A"/>
            </a:solidFill>
            <a:prstDash val="solid"/>
          </a:ln>
        </p:spPr>
      </p:sp>
      <p:sp>
        <p:nvSpPr>
          <p:cNvPr id="39" name="Text 37"/>
          <p:cNvSpPr/>
          <p:nvPr/>
        </p:nvSpPr>
        <p:spPr>
          <a:xfrm>
            <a:off x="7927848" y="1901952"/>
            <a:ext cx="685800" cy="201168"/>
          </a:xfrm>
          <a:prstGeom prst="rect">
            <a:avLst/>
          </a:prstGeom>
          <a:noFill/>
          <a:ln/>
        </p:spPr>
        <p:txBody>
          <a:bodyPr wrap="square" lIns="0" tIns="0" rIns="0" bIns="0" rtlCol="0" anchor="ctr"/>
          <a:lstStyle/>
          <a:p>
            <a:pPr algn="ctr" indent="0" marL="0">
              <a:buNone/>
            </a:pPr>
            <a:r>
              <a:rPr lang="en-US" sz="900" b="1" dirty="0">
                <a:solidFill>
                  <a:srgbClr val="27AE60"/>
                </a:solidFill>
                <a:latin typeface="Calibri" pitchFamily="34" charset="0"/>
                <a:ea typeface="Calibri" pitchFamily="34" charset="-122"/>
                <a:cs typeface="Calibri" pitchFamily="34" charset="-120"/>
              </a:rPr>
              <a:t>&lt;60s</a:t>
            </a:r>
            <a:endParaRPr lang="en-US" sz="900" dirty="0"/>
          </a:p>
        </p:txBody>
      </p:sp>
      <p:sp>
        <p:nvSpPr>
          <p:cNvPr id="40" name="Shape 38"/>
          <p:cNvSpPr/>
          <p:nvPr/>
        </p:nvSpPr>
        <p:spPr>
          <a:xfrm>
            <a:off x="228600" y="2231136"/>
            <a:ext cx="4160520" cy="2377440"/>
          </a:xfrm>
          <a:prstGeom prst="rect">
            <a:avLst/>
          </a:prstGeom>
          <a:solidFill>
            <a:srgbClr val="1B3A5C"/>
          </a:solidFill>
          <a:ln w="12700">
            <a:solidFill>
              <a:srgbClr val="1B3A5C"/>
            </a:solidFill>
            <a:prstDash val="solid"/>
          </a:ln>
        </p:spPr>
      </p:sp>
      <p:sp>
        <p:nvSpPr>
          <p:cNvPr id="41" name="Shape 39"/>
          <p:cNvSpPr/>
          <p:nvPr/>
        </p:nvSpPr>
        <p:spPr>
          <a:xfrm>
            <a:off x="228600" y="2231136"/>
            <a:ext cx="64008" cy="2377440"/>
          </a:xfrm>
          <a:prstGeom prst="rect">
            <a:avLst/>
          </a:prstGeom>
          <a:solidFill>
            <a:srgbClr val="27AE60"/>
          </a:solidFill>
          <a:ln w="12700">
            <a:solidFill>
              <a:srgbClr val="27AE60"/>
            </a:solidFill>
            <a:prstDash val="solid"/>
          </a:ln>
        </p:spPr>
      </p:sp>
      <p:sp>
        <p:nvSpPr>
          <p:cNvPr id="42" name="Text 40"/>
          <p:cNvSpPr/>
          <p:nvPr/>
        </p:nvSpPr>
        <p:spPr>
          <a:xfrm>
            <a:off x="411480" y="2286000"/>
            <a:ext cx="3840480" cy="274320"/>
          </a:xfrm>
          <a:prstGeom prst="rect">
            <a:avLst/>
          </a:prstGeom>
          <a:noFill/>
          <a:ln/>
        </p:spPr>
        <p:txBody>
          <a:bodyPr wrap="square" lIns="0" tIns="0" rIns="0" bIns="0" rtlCol="0" anchor="ctr"/>
          <a:lstStyle/>
          <a:p>
            <a:pPr indent="0" marL="0">
              <a:buNone/>
            </a:pPr>
            <a:r>
              <a:rPr lang="en-US" sz="1300" b="1" dirty="0">
                <a:solidFill>
                  <a:srgbClr val="27AE60"/>
                </a:solidFill>
                <a:latin typeface="Calibri" pitchFamily="34" charset="0"/>
                <a:ea typeface="Calibri" pitchFamily="34" charset="-122"/>
                <a:cs typeface="Calibri" pitchFamily="34" charset="-120"/>
              </a:rPr>
              <a:t>Path A — Shallow Recovery (Immediate)</a:t>
            </a:r>
            <a:endParaRPr lang="en-US" sz="1300" dirty="0"/>
          </a:p>
        </p:txBody>
      </p:sp>
      <p:sp>
        <p:nvSpPr>
          <p:cNvPr id="43" name="Text 41"/>
          <p:cNvSpPr/>
          <p:nvPr/>
        </p:nvSpPr>
        <p:spPr>
          <a:xfrm>
            <a:off x="411480" y="2578608"/>
            <a:ext cx="3840480" cy="182880"/>
          </a:xfrm>
          <a:prstGeom prst="rect">
            <a:avLst/>
          </a:prstGeom>
          <a:noFill/>
          <a:ln/>
        </p:spPr>
        <p:txBody>
          <a:bodyPr wrap="square" lIns="0" tIns="0" rIns="0" bIns="0" rtlCol="0" anchor="ctr"/>
          <a:lstStyle/>
          <a:p>
            <a:pPr indent="0" marL="0">
              <a:buNone/>
            </a:pPr>
            <a:r>
              <a:rPr lang="en-US" sz="1000" i="1" dirty="0">
                <a:solidFill>
                  <a:srgbClr val="8FA3B1"/>
                </a:solidFill>
                <a:latin typeface="Calibri" pitchFamily="34" charset="0"/>
                <a:ea typeface="Calibri" pitchFamily="34" charset="-122"/>
                <a:cs typeface="Calibri" pitchFamily="34" charset="-120"/>
              </a:rPr>
              <a:t>Deployed in SWaT today — no additional development needed</a:t>
            </a:r>
            <a:endParaRPr lang="en-US" sz="1000" dirty="0"/>
          </a:p>
        </p:txBody>
      </p:sp>
      <p:sp>
        <p:nvSpPr>
          <p:cNvPr id="44" name="Text 42"/>
          <p:cNvSpPr/>
          <p:nvPr/>
        </p:nvSpPr>
        <p:spPr>
          <a:xfrm>
            <a:off x="411480" y="2816352"/>
            <a:ext cx="3840480" cy="27432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recovery_agent.py runs automatically on ALERT</a:t>
            </a:r>
            <a:endParaRPr lang="en-US" sz="1000" dirty="0"/>
          </a:p>
        </p:txBody>
      </p:sp>
      <p:sp>
        <p:nvSpPr>
          <p:cNvPr id="45" name="Text 43"/>
          <p:cNvSpPr/>
          <p:nvPr/>
        </p:nvSpPr>
        <p:spPr>
          <a:xfrm>
            <a:off x="411480" y="3118104"/>
            <a:ext cx="3840480" cy="27432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iptables: drop port 502 from attacker MAC</a:t>
            </a:r>
            <a:endParaRPr lang="en-US" sz="1000" dirty="0"/>
          </a:p>
        </p:txBody>
      </p:sp>
      <p:sp>
        <p:nvSpPr>
          <p:cNvPr id="46" name="Text 44"/>
          <p:cNvSpPr/>
          <p:nvPr/>
        </p:nvSpPr>
        <p:spPr>
          <a:xfrm>
            <a:off x="411480" y="3419856"/>
            <a:ext cx="3840480" cy="27432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Write safe-state dict to PLC1 coil registers via pyModbus</a:t>
            </a:r>
            <a:endParaRPr lang="en-US" sz="1000" dirty="0"/>
          </a:p>
        </p:txBody>
      </p:sp>
      <p:sp>
        <p:nvSpPr>
          <p:cNvPr id="47" name="Text 45"/>
          <p:cNvSpPr/>
          <p:nvPr/>
        </p:nvSpPr>
        <p:spPr>
          <a:xfrm>
            <a:off x="411480" y="3721608"/>
            <a:ext cx="3840480" cy="27432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EtherNet/IP handshake activates PLC1B as primary</a:t>
            </a:r>
            <a:endParaRPr lang="en-US" sz="1000" dirty="0"/>
          </a:p>
        </p:txBody>
      </p:sp>
      <p:sp>
        <p:nvSpPr>
          <p:cNvPr id="48" name="Text 46"/>
          <p:cNvSpPr/>
          <p:nvPr/>
        </p:nvSpPr>
        <p:spPr>
          <a:xfrm>
            <a:off x="411480" y="4023360"/>
            <a:ext cx="3840480" cy="27432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Human engineer verifies physically before final resume</a:t>
            </a:r>
            <a:endParaRPr lang="en-US" sz="1000" dirty="0"/>
          </a:p>
        </p:txBody>
      </p:sp>
      <p:sp>
        <p:nvSpPr>
          <p:cNvPr id="49" name="Text 47"/>
          <p:cNvSpPr/>
          <p:nvPr/>
        </p:nvSpPr>
        <p:spPr>
          <a:xfrm>
            <a:off x="411480" y="4325112"/>
            <a:ext cx="3840480" cy="27432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Total time target: &lt; 15 seconds</a:t>
            </a:r>
            <a:endParaRPr lang="en-US" sz="1000" dirty="0"/>
          </a:p>
        </p:txBody>
      </p:sp>
      <p:sp>
        <p:nvSpPr>
          <p:cNvPr id="50" name="Shape 48"/>
          <p:cNvSpPr/>
          <p:nvPr/>
        </p:nvSpPr>
        <p:spPr>
          <a:xfrm>
            <a:off x="4617720" y="2231136"/>
            <a:ext cx="4297680" cy="2377440"/>
          </a:xfrm>
          <a:prstGeom prst="rect">
            <a:avLst/>
          </a:prstGeom>
          <a:solidFill>
            <a:srgbClr val="1B3A5C"/>
          </a:solidFill>
          <a:ln w="12700">
            <a:solidFill>
              <a:srgbClr val="1B3A5C"/>
            </a:solidFill>
            <a:prstDash val="solid"/>
          </a:ln>
        </p:spPr>
      </p:sp>
      <p:sp>
        <p:nvSpPr>
          <p:cNvPr id="51" name="Shape 49"/>
          <p:cNvSpPr/>
          <p:nvPr/>
        </p:nvSpPr>
        <p:spPr>
          <a:xfrm>
            <a:off x="4617720" y="2231136"/>
            <a:ext cx="64008" cy="2377440"/>
          </a:xfrm>
          <a:prstGeom prst="rect">
            <a:avLst/>
          </a:prstGeom>
          <a:solidFill>
            <a:srgbClr val="0A7E8C"/>
          </a:solidFill>
          <a:ln w="12700">
            <a:solidFill>
              <a:srgbClr val="0A7E8C"/>
            </a:solidFill>
            <a:prstDash val="solid"/>
          </a:ln>
        </p:spPr>
      </p:sp>
      <p:sp>
        <p:nvSpPr>
          <p:cNvPr id="52" name="Text 50"/>
          <p:cNvSpPr/>
          <p:nvPr/>
        </p:nvSpPr>
        <p:spPr>
          <a:xfrm>
            <a:off x="4800600" y="2286000"/>
            <a:ext cx="3931920" cy="274320"/>
          </a:xfrm>
          <a:prstGeom prst="rect">
            <a:avLst/>
          </a:prstGeom>
          <a:noFill/>
          <a:ln/>
        </p:spPr>
        <p:txBody>
          <a:bodyPr wrap="square" lIns="0" tIns="0" rIns="0" bIns="0" rtlCol="0" anchor="ctr"/>
          <a:lstStyle/>
          <a:p>
            <a:pPr indent="0" marL="0">
              <a:buNone/>
            </a:pPr>
            <a:r>
              <a:rPr lang="en-US" sz="1300" b="1" dirty="0">
                <a:solidFill>
                  <a:srgbClr val="12B5C8"/>
                </a:solidFill>
                <a:latin typeface="Calibri" pitchFamily="34" charset="0"/>
                <a:ea typeface="Calibri" pitchFamily="34" charset="-122"/>
                <a:cs typeface="Calibri" pitchFamily="34" charset="-120"/>
              </a:rPr>
              <a:t>Path B — Deep Recovery (Research Extension)</a:t>
            </a:r>
            <a:endParaRPr lang="en-US" sz="1300" dirty="0"/>
          </a:p>
        </p:txBody>
      </p:sp>
      <p:sp>
        <p:nvSpPr>
          <p:cNvPr id="53" name="Text 51"/>
          <p:cNvSpPr/>
          <p:nvPr/>
        </p:nvSpPr>
        <p:spPr>
          <a:xfrm>
            <a:off x="4800600" y="2578608"/>
            <a:ext cx="3931920" cy="182880"/>
          </a:xfrm>
          <a:prstGeom prst="rect">
            <a:avLst/>
          </a:prstGeom>
          <a:noFill/>
          <a:ln/>
        </p:spPr>
        <p:txBody>
          <a:bodyPr wrap="square" lIns="0" tIns="0" rIns="0" bIns="0" rtlCol="0" anchor="ctr"/>
          <a:lstStyle/>
          <a:p>
            <a:pPr indent="0" marL="0">
              <a:buNone/>
            </a:pPr>
            <a:r>
              <a:rPr lang="en-US" sz="1000" i="1" dirty="0">
                <a:solidFill>
                  <a:srgbClr val="8FA3B1"/>
                </a:solidFill>
                <a:latin typeface="Calibri" pitchFamily="34" charset="0"/>
                <a:ea typeface="Calibri" pitchFamily="34" charset="-122"/>
                <a:cs typeface="Calibri" pitchFamily="34" charset="-120"/>
              </a:rPr>
              <a:t>Extends shallow — adds sensor-level reconstruction</a:t>
            </a:r>
            <a:endParaRPr lang="en-US" sz="1000" dirty="0"/>
          </a:p>
        </p:txBody>
      </p:sp>
      <p:sp>
        <p:nvSpPr>
          <p:cNvPr id="54" name="Text 52"/>
          <p:cNvSpPr/>
          <p:nvPr/>
        </p:nvSpPr>
        <p:spPr>
          <a:xfrm>
            <a:off x="4800600" y="2816352"/>
            <a:ext cx="3931920" cy="27432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Luenberger SSE runs on parallel thread during attack</a:t>
            </a:r>
            <a:endParaRPr lang="en-US" sz="1000" dirty="0"/>
          </a:p>
        </p:txBody>
      </p:sp>
      <p:sp>
        <p:nvSpPr>
          <p:cNvPr id="55" name="Text 53"/>
          <p:cNvSpPr/>
          <p:nvPr/>
        </p:nvSpPr>
        <p:spPr>
          <a:xfrm>
            <a:off x="4800600" y="3118104"/>
            <a:ext cx="3931920" cy="27432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Reconstructs LIT101/FIT101 from uncorrupted subset</a:t>
            </a:r>
            <a:endParaRPr lang="en-US" sz="1000" dirty="0"/>
          </a:p>
        </p:txBody>
      </p:sp>
      <p:sp>
        <p:nvSpPr>
          <p:cNvPr id="56" name="Text 54"/>
          <p:cNvSpPr/>
          <p:nvPr/>
        </p:nvSpPr>
        <p:spPr>
          <a:xfrm>
            <a:off x="4800600" y="3419856"/>
            <a:ext cx="3931920" cy="27432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Invariant-guided re-entry gates each sensor re-acceptance</a:t>
            </a:r>
            <a:endParaRPr lang="en-US" sz="1000" dirty="0"/>
          </a:p>
        </p:txBody>
      </p:sp>
      <p:sp>
        <p:nvSpPr>
          <p:cNvPr id="57" name="Text 55"/>
          <p:cNvSpPr/>
          <p:nvPr/>
        </p:nvSpPr>
        <p:spPr>
          <a:xfrm>
            <a:off x="4800600" y="3721608"/>
            <a:ext cx="3931920" cy="27432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ODE-predicted LIT101 compared with SSE estimate</a:t>
            </a:r>
            <a:endParaRPr lang="en-US" sz="1000" dirty="0"/>
          </a:p>
        </p:txBody>
      </p:sp>
      <p:sp>
        <p:nvSpPr>
          <p:cNvPr id="58" name="Text 56"/>
          <p:cNvSpPr/>
          <p:nvPr/>
        </p:nvSpPr>
        <p:spPr>
          <a:xfrm>
            <a:off x="4800600" y="4023360"/>
            <a:ext cx="3931920" cy="27432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Accept sensor only if ODE, SSE, and invariant agree</a:t>
            </a:r>
            <a:endParaRPr lang="en-US" sz="1000" dirty="0"/>
          </a:p>
        </p:txBody>
      </p:sp>
      <p:sp>
        <p:nvSpPr>
          <p:cNvPr id="59" name="Text 57"/>
          <p:cNvSpPr/>
          <p:nvPr/>
        </p:nvSpPr>
        <p:spPr>
          <a:xfrm>
            <a:off x="4800600" y="4325112"/>
            <a:ext cx="3931920" cy="27432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Full automated resume — no human required</a:t>
            </a:r>
            <a:endParaRPr lang="en-US" sz="1000" dirty="0"/>
          </a:p>
        </p:txBody>
      </p:sp>
      <p:sp>
        <p:nvSpPr>
          <p:cNvPr id="60" name="Shape 58"/>
          <p:cNvSpPr/>
          <p:nvPr/>
        </p:nvSpPr>
        <p:spPr>
          <a:xfrm>
            <a:off x="0" y="4773168"/>
            <a:ext cx="9144000" cy="374904"/>
          </a:xfrm>
          <a:prstGeom prst="rect">
            <a:avLst/>
          </a:prstGeom>
          <a:solidFill>
            <a:srgbClr val="1B3A5C"/>
          </a:solidFill>
          <a:ln w="12700">
            <a:solidFill>
              <a:srgbClr val="1B3A5C"/>
            </a:solidFill>
            <a:prstDash val="solid"/>
          </a:ln>
        </p:spPr>
      </p:sp>
      <p:sp>
        <p:nvSpPr>
          <p:cNvPr id="61" name="Text 59"/>
          <p:cNvSpPr/>
          <p:nvPr/>
        </p:nvSpPr>
        <p:spPr>
          <a:xfrm>
            <a:off x="274320" y="4773168"/>
            <a:ext cx="8595360" cy="374904"/>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Recovery Research  ·  Integrated Architecture</a:t>
            </a:r>
            <a:endParaRPr lang="en-US" sz="1000" dirty="0"/>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A7E8C"/>
          </a:solidFill>
          <a:ln w="12700">
            <a:solidFill>
              <a:srgbClr val="0A7E8C"/>
            </a:solidFill>
            <a:prstDash val="solid"/>
          </a:ln>
        </p:spPr>
      </p:sp>
      <p:sp>
        <p:nvSpPr>
          <p:cNvPr id="3" name="Text 1"/>
          <p:cNvSpPr/>
          <p:nvPr/>
        </p:nvSpPr>
        <p:spPr>
          <a:xfrm>
            <a:off x="365760" y="91440"/>
            <a:ext cx="8412480" cy="457200"/>
          </a:xfrm>
          <a:prstGeom prst="rect">
            <a:avLst/>
          </a:prstGeom>
          <a:noFill/>
          <a:ln/>
        </p:spPr>
        <p:txBody>
          <a:bodyPr wrap="square" lIns="0" tIns="0" rIns="0" bIns="0" rtlCol="0" anchor="ctr"/>
          <a:lstStyle/>
          <a:p>
            <a:pPr indent="0" marL="0">
              <a:buNone/>
            </a:pPr>
            <a:r>
              <a:rPr lang="en-US" sz="2500" b="1" dirty="0">
                <a:solidFill>
                  <a:srgbClr val="0A1628"/>
                </a:solidFill>
                <a:latin typeface="Calibri" pitchFamily="34" charset="0"/>
                <a:ea typeface="Calibri" pitchFamily="34" charset="-122"/>
                <a:cs typeface="Calibri" pitchFamily="34" charset="-120"/>
              </a:rPr>
              <a:t>Implementation Plan &amp; Open Research Challenges</a:t>
            </a:r>
            <a:endParaRPr lang="en-US" sz="2500" dirty="0"/>
          </a:p>
        </p:txBody>
      </p:sp>
      <p:sp>
        <p:nvSpPr>
          <p:cNvPr id="4" name="Text 2"/>
          <p:cNvSpPr/>
          <p:nvPr/>
        </p:nvSpPr>
        <p:spPr>
          <a:xfrm>
            <a:off x="365760" y="566928"/>
            <a:ext cx="8412480" cy="237744"/>
          </a:xfrm>
          <a:prstGeom prst="rect">
            <a:avLst/>
          </a:prstGeom>
          <a:noFill/>
          <a:ln/>
        </p:spPr>
        <p:txBody>
          <a:bodyPr wrap="square" lIns="0" tIns="0" rIns="0" bIns="0" rtlCol="0" anchor="ctr"/>
          <a:lstStyle/>
          <a:p>
            <a:pPr indent="0" marL="0">
              <a:buNone/>
            </a:pPr>
            <a:r>
              <a:rPr lang="en-US" sz="1150" i="1" dirty="0">
                <a:solidFill>
                  <a:srgbClr val="8FA3B1"/>
                </a:solidFill>
                <a:latin typeface="Calibri" pitchFamily="34" charset="0"/>
                <a:ea typeface="Calibri" pitchFamily="34" charset="-122"/>
                <a:cs typeface="Calibri" pitchFamily="34" charset="-120"/>
              </a:rPr>
              <a:t>What we can build now vs what remains as open problems worth studying</a:t>
            </a:r>
            <a:endParaRPr lang="en-US" sz="1150" dirty="0"/>
          </a:p>
        </p:txBody>
      </p:sp>
      <p:sp>
        <p:nvSpPr>
          <p:cNvPr id="5" name="Shape 3"/>
          <p:cNvSpPr/>
          <p:nvPr/>
        </p:nvSpPr>
        <p:spPr>
          <a:xfrm>
            <a:off x="228600" y="914400"/>
            <a:ext cx="4160520" cy="3794760"/>
          </a:xfrm>
          <a:prstGeom prst="rect">
            <a:avLst/>
          </a:prstGeom>
          <a:solidFill>
            <a:srgbClr val="FFFFFF"/>
          </a:solidFill>
          <a:ln w="12700">
            <a:solidFill>
              <a:srgbClr val="FFFFFF"/>
            </a:solidFill>
            <a:prstDash val="solid"/>
          </a:ln>
        </p:spPr>
      </p:sp>
      <p:sp>
        <p:nvSpPr>
          <p:cNvPr id="6" name="Shape 4"/>
          <p:cNvSpPr/>
          <p:nvPr/>
        </p:nvSpPr>
        <p:spPr>
          <a:xfrm>
            <a:off x="228600" y="914400"/>
            <a:ext cx="64008" cy="3794760"/>
          </a:xfrm>
          <a:prstGeom prst="rect">
            <a:avLst/>
          </a:prstGeom>
          <a:solidFill>
            <a:srgbClr val="27AE60"/>
          </a:solidFill>
          <a:ln w="12700">
            <a:solidFill>
              <a:srgbClr val="27AE60"/>
            </a:solidFill>
            <a:prstDash val="solid"/>
          </a:ln>
        </p:spPr>
      </p:sp>
      <p:sp>
        <p:nvSpPr>
          <p:cNvPr id="7" name="Text 5"/>
          <p:cNvSpPr/>
          <p:nvPr/>
        </p:nvSpPr>
        <p:spPr>
          <a:xfrm>
            <a:off x="411480" y="978408"/>
            <a:ext cx="3840480" cy="292608"/>
          </a:xfrm>
          <a:prstGeom prst="rect">
            <a:avLst/>
          </a:prstGeom>
          <a:noFill/>
          <a:ln/>
        </p:spPr>
        <p:txBody>
          <a:bodyPr wrap="square" lIns="0" tIns="0" rIns="0" bIns="0" rtlCol="0" anchor="ctr"/>
          <a:lstStyle/>
          <a:p>
            <a:pPr indent="0" marL="0">
              <a:buNone/>
            </a:pPr>
            <a:r>
              <a:rPr lang="en-US" sz="1350" b="1" dirty="0">
                <a:solidFill>
                  <a:srgbClr val="1A7A42"/>
                </a:solidFill>
                <a:latin typeface="Calibri" pitchFamily="34" charset="0"/>
                <a:ea typeface="Calibri" pitchFamily="34" charset="-122"/>
                <a:cs typeface="Calibri" pitchFamily="34" charset="-120"/>
              </a:rPr>
              <a:t>Buildable Now — Project Deliverables</a:t>
            </a:r>
            <a:endParaRPr lang="en-US" sz="1350" dirty="0"/>
          </a:p>
        </p:txBody>
      </p:sp>
      <p:sp>
        <p:nvSpPr>
          <p:cNvPr id="8" name="Shape 6"/>
          <p:cNvSpPr/>
          <p:nvPr/>
        </p:nvSpPr>
        <p:spPr>
          <a:xfrm>
            <a:off x="347472" y="1353312"/>
            <a:ext cx="685800" cy="237744"/>
          </a:xfrm>
          <a:prstGeom prst="rect">
            <a:avLst/>
          </a:prstGeom>
          <a:solidFill>
            <a:srgbClr val="27AE60"/>
          </a:solidFill>
          <a:ln w="12700">
            <a:solidFill>
              <a:srgbClr val="27AE60"/>
            </a:solidFill>
            <a:prstDash val="solid"/>
          </a:ln>
        </p:spPr>
      </p:sp>
      <p:sp>
        <p:nvSpPr>
          <p:cNvPr id="9" name="Text 7"/>
          <p:cNvSpPr/>
          <p:nvPr/>
        </p:nvSpPr>
        <p:spPr>
          <a:xfrm>
            <a:off x="347472" y="1353312"/>
            <a:ext cx="6858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READY</a:t>
            </a:r>
            <a:endParaRPr lang="en-US" sz="800" dirty="0"/>
          </a:p>
        </p:txBody>
      </p:sp>
      <p:sp>
        <p:nvSpPr>
          <p:cNvPr id="10" name="Text 8"/>
          <p:cNvSpPr/>
          <p:nvPr/>
        </p:nvSpPr>
        <p:spPr>
          <a:xfrm>
            <a:off x="1097280" y="1353312"/>
            <a:ext cx="3154680" cy="219456"/>
          </a:xfrm>
          <a:prstGeom prst="rect">
            <a:avLst/>
          </a:prstGeom>
          <a:noFill/>
          <a:ln/>
        </p:spPr>
        <p:txBody>
          <a:bodyPr wrap="square" lIns="0" tIns="0" rIns="0" bIns="0" rtlCol="0" anchor="ctr"/>
          <a:lstStyle/>
          <a:p>
            <a:pPr indent="0" marL="0">
              <a:buNone/>
            </a:pPr>
            <a:r>
              <a:rPr lang="en-US" sz="1050" b="1" dirty="0">
                <a:solidFill>
                  <a:srgbClr val="0A1628"/>
                </a:solidFill>
                <a:latin typeface="Consolas" pitchFamily="34" charset="0"/>
                <a:ea typeface="Consolas" pitchFamily="34" charset="-122"/>
                <a:cs typeface="Consolas" pitchFamily="34" charset="-120"/>
              </a:rPr>
              <a:t>recovery_agent.py</a:t>
            </a:r>
            <a:endParaRPr lang="en-US" sz="1050" dirty="0"/>
          </a:p>
        </p:txBody>
      </p:sp>
      <p:sp>
        <p:nvSpPr>
          <p:cNvPr id="11" name="Text 9"/>
          <p:cNvSpPr/>
          <p:nvPr/>
        </p:nvSpPr>
        <p:spPr>
          <a:xfrm>
            <a:off x="411480" y="1600200"/>
            <a:ext cx="3840480" cy="384048"/>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Automated safe-state writer + iptables containment + PLC1B handshake trigger. Uses pyModbus + pyEthernetIP.</a:t>
            </a:r>
            <a:endParaRPr lang="en-US" sz="950" dirty="0"/>
          </a:p>
        </p:txBody>
      </p:sp>
      <p:sp>
        <p:nvSpPr>
          <p:cNvPr id="12" name="Shape 10"/>
          <p:cNvSpPr/>
          <p:nvPr/>
        </p:nvSpPr>
        <p:spPr>
          <a:xfrm>
            <a:off x="347472" y="2011680"/>
            <a:ext cx="685800" cy="237744"/>
          </a:xfrm>
          <a:prstGeom prst="rect">
            <a:avLst/>
          </a:prstGeom>
          <a:solidFill>
            <a:srgbClr val="27AE60"/>
          </a:solidFill>
          <a:ln w="12700">
            <a:solidFill>
              <a:srgbClr val="27AE60"/>
            </a:solidFill>
            <a:prstDash val="solid"/>
          </a:ln>
        </p:spPr>
      </p:sp>
      <p:sp>
        <p:nvSpPr>
          <p:cNvPr id="13" name="Text 11"/>
          <p:cNvSpPr/>
          <p:nvPr/>
        </p:nvSpPr>
        <p:spPr>
          <a:xfrm>
            <a:off x="347472" y="2011680"/>
            <a:ext cx="6858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READY</a:t>
            </a:r>
            <a:endParaRPr lang="en-US" sz="800" dirty="0"/>
          </a:p>
        </p:txBody>
      </p:sp>
      <p:sp>
        <p:nvSpPr>
          <p:cNvPr id="14" name="Text 12"/>
          <p:cNvSpPr/>
          <p:nvPr/>
        </p:nvSpPr>
        <p:spPr>
          <a:xfrm>
            <a:off x="1097280" y="2011680"/>
            <a:ext cx="3154680" cy="219456"/>
          </a:xfrm>
          <a:prstGeom prst="rect">
            <a:avLst/>
          </a:prstGeom>
          <a:noFill/>
          <a:ln/>
        </p:spPr>
        <p:txBody>
          <a:bodyPr wrap="square" lIns="0" tIns="0" rIns="0" bIns="0" rtlCol="0" anchor="ctr"/>
          <a:lstStyle/>
          <a:p>
            <a:pPr indent="0" marL="0">
              <a:buNone/>
            </a:pPr>
            <a:r>
              <a:rPr lang="en-US" sz="1050" b="1" dirty="0">
                <a:solidFill>
                  <a:srgbClr val="0A1628"/>
                </a:solidFill>
                <a:latin typeface="Consolas" pitchFamily="34" charset="0"/>
                <a:ea typeface="Consolas" pitchFamily="34" charset="-122"/>
                <a:cs typeface="Consolas" pitchFamily="34" charset="-120"/>
              </a:rPr>
              <a:t>ode_estimator.py</a:t>
            </a:r>
            <a:endParaRPr lang="en-US" sz="1050" dirty="0"/>
          </a:p>
        </p:txBody>
      </p:sp>
      <p:sp>
        <p:nvSpPr>
          <p:cNvPr id="15" name="Text 13"/>
          <p:cNvSpPr/>
          <p:nvPr/>
        </p:nvSpPr>
        <p:spPr>
          <a:xfrm>
            <a:off x="411480" y="2258568"/>
            <a:ext cx="3840480" cy="384048"/>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Discrete ODE integrator for LIT101 using PLC1B register reads during recovery window. Predicts expected tank level.</a:t>
            </a:r>
            <a:endParaRPr lang="en-US" sz="950" dirty="0"/>
          </a:p>
        </p:txBody>
      </p:sp>
      <p:sp>
        <p:nvSpPr>
          <p:cNvPr id="16" name="Shape 14"/>
          <p:cNvSpPr/>
          <p:nvPr/>
        </p:nvSpPr>
        <p:spPr>
          <a:xfrm>
            <a:off x="347472" y="2670048"/>
            <a:ext cx="685800" cy="237744"/>
          </a:xfrm>
          <a:prstGeom prst="rect">
            <a:avLst/>
          </a:prstGeom>
          <a:solidFill>
            <a:srgbClr val="E67E22"/>
          </a:solidFill>
          <a:ln w="12700">
            <a:solidFill>
              <a:srgbClr val="E67E22"/>
            </a:solidFill>
            <a:prstDash val="solid"/>
          </a:ln>
        </p:spPr>
      </p:sp>
      <p:sp>
        <p:nvSpPr>
          <p:cNvPr id="17" name="Text 15"/>
          <p:cNvSpPr/>
          <p:nvPr/>
        </p:nvSpPr>
        <p:spPr>
          <a:xfrm>
            <a:off x="347472" y="2670048"/>
            <a:ext cx="6858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LAB NEEDED</a:t>
            </a:r>
            <a:endParaRPr lang="en-US" sz="800" dirty="0"/>
          </a:p>
        </p:txBody>
      </p:sp>
      <p:sp>
        <p:nvSpPr>
          <p:cNvPr id="18" name="Text 16"/>
          <p:cNvSpPr/>
          <p:nvPr/>
        </p:nvSpPr>
        <p:spPr>
          <a:xfrm>
            <a:off x="1097280" y="2670048"/>
            <a:ext cx="3154680" cy="219456"/>
          </a:xfrm>
          <a:prstGeom prst="rect">
            <a:avLst/>
          </a:prstGeom>
          <a:noFill/>
          <a:ln/>
        </p:spPr>
        <p:txBody>
          <a:bodyPr wrap="square" lIns="0" tIns="0" rIns="0" bIns="0" rtlCol="0" anchor="ctr"/>
          <a:lstStyle/>
          <a:p>
            <a:pPr indent="0" marL="0">
              <a:buNone/>
            </a:pPr>
            <a:r>
              <a:rPr lang="en-US" sz="1050" b="1" dirty="0">
                <a:solidFill>
                  <a:srgbClr val="0A1628"/>
                </a:solidFill>
                <a:latin typeface="Consolas" pitchFamily="34" charset="0"/>
                <a:ea typeface="Consolas" pitchFamily="34" charset="-122"/>
                <a:cs typeface="Consolas" pitchFamily="34" charset="-120"/>
              </a:rPr>
              <a:t>sse_observer.py</a:t>
            </a:r>
            <a:endParaRPr lang="en-US" sz="1050" dirty="0"/>
          </a:p>
        </p:txBody>
      </p:sp>
      <p:sp>
        <p:nvSpPr>
          <p:cNvPr id="19" name="Text 17"/>
          <p:cNvSpPr/>
          <p:nvPr/>
        </p:nvSpPr>
        <p:spPr>
          <a:xfrm>
            <a:off x="411480" y="2916936"/>
            <a:ext cx="3840480" cy="384048"/>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Luenberger observer for P1 linearised around operating point. Requires P1 A, B, C matrices from system ID.</a:t>
            </a:r>
            <a:endParaRPr lang="en-US" sz="950" dirty="0"/>
          </a:p>
        </p:txBody>
      </p:sp>
      <p:sp>
        <p:nvSpPr>
          <p:cNvPr id="20" name="Shape 18"/>
          <p:cNvSpPr/>
          <p:nvPr/>
        </p:nvSpPr>
        <p:spPr>
          <a:xfrm>
            <a:off x="347472" y="3328416"/>
            <a:ext cx="685800" cy="237744"/>
          </a:xfrm>
          <a:prstGeom prst="rect">
            <a:avLst/>
          </a:prstGeom>
          <a:solidFill>
            <a:srgbClr val="27AE60"/>
          </a:solidFill>
          <a:ln w="12700">
            <a:solidFill>
              <a:srgbClr val="27AE60"/>
            </a:solidFill>
            <a:prstDash val="solid"/>
          </a:ln>
        </p:spPr>
      </p:sp>
      <p:sp>
        <p:nvSpPr>
          <p:cNvPr id="21" name="Text 19"/>
          <p:cNvSpPr/>
          <p:nvPr/>
        </p:nvSpPr>
        <p:spPr>
          <a:xfrm>
            <a:off x="347472" y="3328416"/>
            <a:ext cx="6858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READY</a:t>
            </a:r>
            <a:endParaRPr lang="en-US" sz="800" dirty="0"/>
          </a:p>
        </p:txBody>
      </p:sp>
      <p:sp>
        <p:nvSpPr>
          <p:cNvPr id="22" name="Text 20"/>
          <p:cNvSpPr/>
          <p:nvPr/>
        </p:nvSpPr>
        <p:spPr>
          <a:xfrm>
            <a:off x="1097280" y="3328416"/>
            <a:ext cx="3154680" cy="219456"/>
          </a:xfrm>
          <a:prstGeom prst="rect">
            <a:avLst/>
          </a:prstGeom>
          <a:noFill/>
          <a:ln/>
        </p:spPr>
        <p:txBody>
          <a:bodyPr wrap="square" lIns="0" tIns="0" rIns="0" bIns="0" rtlCol="0" anchor="ctr"/>
          <a:lstStyle/>
          <a:p>
            <a:pPr indent="0" marL="0">
              <a:buNone/>
            </a:pPr>
            <a:r>
              <a:rPr lang="en-US" sz="1050" b="1" dirty="0">
                <a:solidFill>
                  <a:srgbClr val="0A1628"/>
                </a:solidFill>
                <a:latin typeface="Consolas" pitchFamily="34" charset="0"/>
                <a:ea typeface="Consolas" pitchFamily="34" charset="-122"/>
                <a:cs typeface="Consolas" pitchFamily="34" charset="-120"/>
              </a:rPr>
              <a:t>reentry_gate.py</a:t>
            </a:r>
            <a:endParaRPr lang="en-US" sz="1050" dirty="0"/>
          </a:p>
        </p:txBody>
      </p:sp>
      <p:sp>
        <p:nvSpPr>
          <p:cNvPr id="23" name="Text 21"/>
          <p:cNvSpPr/>
          <p:nvPr/>
        </p:nvSpPr>
        <p:spPr>
          <a:xfrm>
            <a:off x="411480" y="3575304"/>
            <a:ext cx="3840480" cy="384048"/>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Invariant-gated sensor acceptance on recovery. Reads each sensor, validates against all 8 invariants × 5 cycles before accepting.</a:t>
            </a:r>
            <a:endParaRPr lang="en-US" sz="950" dirty="0"/>
          </a:p>
        </p:txBody>
      </p:sp>
      <p:sp>
        <p:nvSpPr>
          <p:cNvPr id="24" name="Shape 22"/>
          <p:cNvSpPr/>
          <p:nvPr/>
        </p:nvSpPr>
        <p:spPr>
          <a:xfrm>
            <a:off x="347472" y="3986784"/>
            <a:ext cx="685800" cy="237744"/>
          </a:xfrm>
          <a:prstGeom prst="rect">
            <a:avLst/>
          </a:prstGeom>
          <a:solidFill>
            <a:srgbClr val="0A7E8C"/>
          </a:solidFill>
          <a:ln w="12700">
            <a:solidFill>
              <a:srgbClr val="0A7E8C"/>
            </a:solidFill>
            <a:prstDash val="solid"/>
          </a:ln>
        </p:spPr>
      </p:sp>
      <p:sp>
        <p:nvSpPr>
          <p:cNvPr id="25" name="Text 23"/>
          <p:cNvSpPr/>
          <p:nvPr/>
        </p:nvSpPr>
        <p:spPr>
          <a:xfrm>
            <a:off x="347472" y="3986784"/>
            <a:ext cx="6858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DEMO</a:t>
            </a:r>
            <a:endParaRPr lang="en-US" sz="800" dirty="0"/>
          </a:p>
        </p:txBody>
      </p:sp>
      <p:sp>
        <p:nvSpPr>
          <p:cNvPr id="26" name="Text 24"/>
          <p:cNvSpPr/>
          <p:nvPr/>
        </p:nvSpPr>
        <p:spPr>
          <a:xfrm>
            <a:off x="1097280" y="3986784"/>
            <a:ext cx="3154680" cy="219456"/>
          </a:xfrm>
          <a:prstGeom prst="rect">
            <a:avLst/>
          </a:prstGeom>
          <a:noFill/>
          <a:ln/>
        </p:spPr>
        <p:txBody>
          <a:bodyPr wrap="square" lIns="0" tIns="0" rIns="0" bIns="0" rtlCol="0" anchor="ctr"/>
          <a:lstStyle/>
          <a:p>
            <a:pPr indent="0" marL="0">
              <a:buNone/>
            </a:pPr>
            <a:r>
              <a:rPr lang="en-US" sz="1050" b="1" dirty="0">
                <a:solidFill>
                  <a:srgbClr val="0A1628"/>
                </a:solidFill>
                <a:latin typeface="Consolas" pitchFamily="34" charset="0"/>
                <a:ea typeface="Consolas" pitchFamily="34" charset="-122"/>
                <a:cs typeface="Consolas" pitchFamily="34" charset="-120"/>
              </a:rPr>
              <a:t>Full integration test</a:t>
            </a:r>
            <a:endParaRPr lang="en-US" sz="1050" dirty="0"/>
          </a:p>
        </p:txBody>
      </p:sp>
      <p:sp>
        <p:nvSpPr>
          <p:cNvPr id="27" name="Text 25"/>
          <p:cNvSpPr/>
          <p:nvPr/>
        </p:nvSpPr>
        <p:spPr>
          <a:xfrm>
            <a:off x="411480" y="4233672"/>
            <a:ext cx="3840480" cy="384048"/>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Run simulated Paper #9+#31 attack → trigger detector → execute recovery pipeline → measure TTR on SWaT testbed.</a:t>
            </a:r>
            <a:endParaRPr lang="en-US" sz="950" dirty="0"/>
          </a:p>
        </p:txBody>
      </p:sp>
      <p:sp>
        <p:nvSpPr>
          <p:cNvPr id="28" name="Shape 26"/>
          <p:cNvSpPr/>
          <p:nvPr/>
        </p:nvSpPr>
        <p:spPr>
          <a:xfrm>
            <a:off x="4617720" y="914400"/>
            <a:ext cx="4297680" cy="3794760"/>
          </a:xfrm>
          <a:prstGeom prst="rect">
            <a:avLst/>
          </a:prstGeom>
          <a:solidFill>
            <a:srgbClr val="FFFFFF"/>
          </a:solidFill>
          <a:ln w="12700">
            <a:solidFill>
              <a:srgbClr val="FFFFFF"/>
            </a:solidFill>
            <a:prstDash val="solid"/>
          </a:ln>
        </p:spPr>
      </p:sp>
      <p:sp>
        <p:nvSpPr>
          <p:cNvPr id="29" name="Shape 27"/>
          <p:cNvSpPr/>
          <p:nvPr/>
        </p:nvSpPr>
        <p:spPr>
          <a:xfrm>
            <a:off x="4617720" y="914400"/>
            <a:ext cx="64008" cy="3794760"/>
          </a:xfrm>
          <a:prstGeom prst="rect">
            <a:avLst/>
          </a:prstGeom>
          <a:solidFill>
            <a:srgbClr val="E67E22"/>
          </a:solidFill>
          <a:ln w="12700">
            <a:solidFill>
              <a:srgbClr val="E67E22"/>
            </a:solidFill>
            <a:prstDash val="solid"/>
          </a:ln>
        </p:spPr>
      </p:sp>
      <p:sp>
        <p:nvSpPr>
          <p:cNvPr id="30" name="Text 28"/>
          <p:cNvSpPr/>
          <p:nvPr/>
        </p:nvSpPr>
        <p:spPr>
          <a:xfrm>
            <a:off x="4800600" y="978408"/>
            <a:ext cx="3931920" cy="292608"/>
          </a:xfrm>
          <a:prstGeom prst="rect">
            <a:avLst/>
          </a:prstGeom>
          <a:noFill/>
          <a:ln/>
        </p:spPr>
        <p:txBody>
          <a:bodyPr wrap="square" lIns="0" tIns="0" rIns="0" bIns="0" rtlCol="0" anchor="ctr"/>
          <a:lstStyle/>
          <a:p>
            <a:pPr indent="0" marL="0">
              <a:buNone/>
            </a:pPr>
            <a:r>
              <a:rPr lang="en-US" sz="1350" b="1" dirty="0">
                <a:solidFill>
                  <a:srgbClr val="E67E22"/>
                </a:solidFill>
                <a:latin typeface="Calibri" pitchFamily="34" charset="0"/>
                <a:ea typeface="Calibri" pitchFamily="34" charset="-122"/>
                <a:cs typeface="Calibri" pitchFamily="34" charset="-120"/>
              </a:rPr>
              <a:t>Open Research Challenges</a:t>
            </a:r>
            <a:endParaRPr lang="en-US" sz="1350" dirty="0"/>
          </a:p>
        </p:txBody>
      </p:sp>
      <p:sp>
        <p:nvSpPr>
          <p:cNvPr id="31" name="Shape 29"/>
          <p:cNvSpPr/>
          <p:nvPr/>
        </p:nvSpPr>
        <p:spPr>
          <a:xfrm>
            <a:off x="4736592" y="1371600"/>
            <a:ext cx="237744" cy="237744"/>
          </a:xfrm>
          <a:prstGeom prst="rect">
            <a:avLst/>
          </a:prstGeom>
          <a:solidFill>
            <a:srgbClr val="E67E22"/>
          </a:solidFill>
          <a:ln w="12700">
            <a:solidFill>
              <a:srgbClr val="E67E22"/>
            </a:solidFill>
            <a:prstDash val="solid"/>
          </a:ln>
        </p:spPr>
      </p:sp>
      <p:sp>
        <p:nvSpPr>
          <p:cNvPr id="32" name="Text 30"/>
          <p:cNvSpPr/>
          <p:nvPr/>
        </p:nvSpPr>
        <p:spPr>
          <a:xfrm>
            <a:off x="4736592" y="1371600"/>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3" name="Text 31"/>
          <p:cNvSpPr/>
          <p:nvPr/>
        </p:nvSpPr>
        <p:spPr>
          <a:xfrm>
            <a:off x="5047488" y="1380744"/>
            <a:ext cx="3749040" cy="201168"/>
          </a:xfrm>
          <a:prstGeom prst="rect">
            <a:avLst/>
          </a:prstGeom>
          <a:noFill/>
          <a:ln/>
        </p:spPr>
        <p:txBody>
          <a:bodyPr wrap="square" lIns="0" tIns="0" rIns="0" bIns="0" rtlCol="0" anchor="ctr"/>
          <a:lstStyle/>
          <a:p>
            <a:pPr indent="0" marL="0">
              <a:buNone/>
            </a:pPr>
            <a:r>
              <a:rPr lang="en-US" sz="1050" b="1" dirty="0">
                <a:solidFill>
                  <a:srgbClr val="E67E22"/>
                </a:solidFill>
                <a:latin typeface="Calibri" pitchFamily="34" charset="0"/>
                <a:ea typeface="Calibri" pitchFamily="34" charset="-122"/>
                <a:cs typeface="Calibri" pitchFamily="34" charset="-120"/>
              </a:rPr>
              <a:t>System identification for SWaT P1</a:t>
            </a:r>
            <a:endParaRPr lang="en-US" sz="1050" dirty="0"/>
          </a:p>
        </p:txBody>
      </p:sp>
      <p:sp>
        <p:nvSpPr>
          <p:cNvPr id="34" name="Text 32"/>
          <p:cNvSpPr/>
          <p:nvPr/>
        </p:nvSpPr>
        <p:spPr>
          <a:xfrm>
            <a:off x="4800600" y="1609344"/>
            <a:ext cx="4023360" cy="393192"/>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Luenberger SSE requires state-space matrices (A, B, C). SWaT uses nonlinear hydraulics — linearisation around operating point needed. Requires access to SWaT normal data + PLC ladder logic.</a:t>
            </a:r>
            <a:endParaRPr lang="en-US" sz="950" dirty="0"/>
          </a:p>
        </p:txBody>
      </p:sp>
      <p:sp>
        <p:nvSpPr>
          <p:cNvPr id="35" name="Shape 33"/>
          <p:cNvSpPr/>
          <p:nvPr/>
        </p:nvSpPr>
        <p:spPr>
          <a:xfrm>
            <a:off x="4736592" y="2029968"/>
            <a:ext cx="237744" cy="237744"/>
          </a:xfrm>
          <a:prstGeom prst="rect">
            <a:avLst/>
          </a:prstGeom>
          <a:solidFill>
            <a:srgbClr val="E67E22"/>
          </a:solidFill>
          <a:ln w="12700">
            <a:solidFill>
              <a:srgbClr val="E67E22"/>
            </a:solidFill>
            <a:prstDash val="solid"/>
          </a:ln>
        </p:spPr>
      </p:sp>
      <p:sp>
        <p:nvSpPr>
          <p:cNvPr id="36" name="Text 34"/>
          <p:cNvSpPr/>
          <p:nvPr/>
        </p:nvSpPr>
        <p:spPr>
          <a:xfrm>
            <a:off x="4736592" y="2029968"/>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7" name="Text 35"/>
          <p:cNvSpPr/>
          <p:nvPr/>
        </p:nvSpPr>
        <p:spPr>
          <a:xfrm>
            <a:off x="5047488" y="2039112"/>
            <a:ext cx="3749040" cy="201168"/>
          </a:xfrm>
          <a:prstGeom prst="rect">
            <a:avLst/>
          </a:prstGeom>
          <a:noFill/>
          <a:ln/>
        </p:spPr>
        <p:txBody>
          <a:bodyPr wrap="square" lIns="0" tIns="0" rIns="0" bIns="0" rtlCol="0" anchor="ctr"/>
          <a:lstStyle/>
          <a:p>
            <a:pPr indent="0" marL="0">
              <a:buNone/>
            </a:pPr>
            <a:r>
              <a:rPr lang="en-US" sz="1050" b="1" dirty="0">
                <a:solidFill>
                  <a:srgbClr val="E67E22"/>
                </a:solidFill>
                <a:latin typeface="Calibri" pitchFamily="34" charset="0"/>
                <a:ea typeface="Calibri" pitchFamily="34" charset="-122"/>
                <a:cs typeface="Calibri" pitchFamily="34" charset="-120"/>
              </a:rPr>
              <a:t>Multi-stage cascading recovery</a:t>
            </a:r>
            <a:endParaRPr lang="en-US" sz="1050" dirty="0"/>
          </a:p>
        </p:txBody>
      </p:sp>
      <p:sp>
        <p:nvSpPr>
          <p:cNvPr id="38" name="Text 36"/>
          <p:cNvSpPr/>
          <p:nvPr/>
        </p:nvSpPr>
        <p:spPr>
          <a:xfrm>
            <a:off x="4800600" y="2267712"/>
            <a:ext cx="4023360" cy="393192"/>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Paper #9 can attack all 6 stages simultaneously. Our design recovers P1 only. Multi-stage parallel recovery with cross-stage invariant checking is an open problem.</a:t>
            </a:r>
            <a:endParaRPr lang="en-US" sz="950" dirty="0"/>
          </a:p>
        </p:txBody>
      </p:sp>
      <p:sp>
        <p:nvSpPr>
          <p:cNvPr id="39" name="Shape 37"/>
          <p:cNvSpPr/>
          <p:nvPr/>
        </p:nvSpPr>
        <p:spPr>
          <a:xfrm>
            <a:off x="4736592" y="2688336"/>
            <a:ext cx="237744" cy="237744"/>
          </a:xfrm>
          <a:prstGeom prst="rect">
            <a:avLst/>
          </a:prstGeom>
          <a:solidFill>
            <a:srgbClr val="E67E22"/>
          </a:solidFill>
          <a:ln w="12700">
            <a:solidFill>
              <a:srgbClr val="E67E22"/>
            </a:solidFill>
            <a:prstDash val="solid"/>
          </a:ln>
        </p:spPr>
      </p:sp>
      <p:sp>
        <p:nvSpPr>
          <p:cNvPr id="40" name="Text 38"/>
          <p:cNvSpPr/>
          <p:nvPr/>
        </p:nvSpPr>
        <p:spPr>
          <a:xfrm>
            <a:off x="4736592" y="2688336"/>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1" name="Text 39"/>
          <p:cNvSpPr/>
          <p:nvPr/>
        </p:nvSpPr>
        <p:spPr>
          <a:xfrm>
            <a:off x="5047488" y="2697480"/>
            <a:ext cx="3749040" cy="201168"/>
          </a:xfrm>
          <a:prstGeom prst="rect">
            <a:avLst/>
          </a:prstGeom>
          <a:noFill/>
          <a:ln/>
        </p:spPr>
        <p:txBody>
          <a:bodyPr wrap="square" lIns="0" tIns="0" rIns="0" bIns="0" rtlCol="0" anchor="ctr"/>
          <a:lstStyle/>
          <a:p>
            <a:pPr indent="0" marL="0">
              <a:buNone/>
            </a:pPr>
            <a:r>
              <a:rPr lang="en-US" sz="1050" b="1" dirty="0">
                <a:solidFill>
                  <a:srgbClr val="E67E22"/>
                </a:solidFill>
                <a:latin typeface="Calibri" pitchFamily="34" charset="0"/>
                <a:ea typeface="Calibri" pitchFamily="34" charset="-122"/>
                <a:cs typeface="Calibri" pitchFamily="34" charset="-120"/>
              </a:rPr>
              <a:t>Adversarial recovery evasion</a:t>
            </a:r>
            <a:endParaRPr lang="en-US" sz="1050" dirty="0"/>
          </a:p>
        </p:txBody>
      </p:sp>
      <p:sp>
        <p:nvSpPr>
          <p:cNvPr id="42" name="Text 40"/>
          <p:cNvSpPr/>
          <p:nvPr/>
        </p:nvSpPr>
        <p:spPr>
          <a:xfrm>
            <a:off x="4800600" y="2926080"/>
            <a:ext cx="4023360" cy="393192"/>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An advanced attacker could time their attack to coincide with the recovery window, spoofing the ODE-predicted values during invariant-guided re-entry. Counter: authenticated sensor channels.</a:t>
            </a:r>
            <a:endParaRPr lang="en-US" sz="950" dirty="0"/>
          </a:p>
        </p:txBody>
      </p:sp>
      <p:sp>
        <p:nvSpPr>
          <p:cNvPr id="43" name="Shape 41"/>
          <p:cNvSpPr/>
          <p:nvPr/>
        </p:nvSpPr>
        <p:spPr>
          <a:xfrm>
            <a:off x="4736592" y="3346704"/>
            <a:ext cx="237744" cy="237744"/>
          </a:xfrm>
          <a:prstGeom prst="rect">
            <a:avLst/>
          </a:prstGeom>
          <a:solidFill>
            <a:srgbClr val="E67E22"/>
          </a:solidFill>
          <a:ln w="12700">
            <a:solidFill>
              <a:srgbClr val="E67E22"/>
            </a:solidFill>
            <a:prstDash val="solid"/>
          </a:ln>
        </p:spPr>
      </p:sp>
      <p:sp>
        <p:nvSpPr>
          <p:cNvPr id="44" name="Text 42"/>
          <p:cNvSpPr/>
          <p:nvPr/>
        </p:nvSpPr>
        <p:spPr>
          <a:xfrm>
            <a:off x="4736592" y="3346704"/>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5" name="Text 43"/>
          <p:cNvSpPr/>
          <p:nvPr/>
        </p:nvSpPr>
        <p:spPr>
          <a:xfrm>
            <a:off x="5047488" y="3355848"/>
            <a:ext cx="3749040" cy="201168"/>
          </a:xfrm>
          <a:prstGeom prst="rect">
            <a:avLst/>
          </a:prstGeom>
          <a:noFill/>
          <a:ln/>
        </p:spPr>
        <p:txBody>
          <a:bodyPr wrap="square" lIns="0" tIns="0" rIns="0" bIns="0" rtlCol="0" anchor="ctr"/>
          <a:lstStyle/>
          <a:p>
            <a:pPr indent="0" marL="0">
              <a:buNone/>
            </a:pPr>
            <a:r>
              <a:rPr lang="en-US" sz="1050" b="1" dirty="0">
                <a:solidFill>
                  <a:srgbClr val="E67E22"/>
                </a:solidFill>
                <a:latin typeface="Calibri" pitchFamily="34" charset="0"/>
                <a:ea typeface="Calibri" pitchFamily="34" charset="-122"/>
                <a:cs typeface="Calibri" pitchFamily="34" charset="-120"/>
              </a:rPr>
              <a:t>Recovery time guarantees</a:t>
            </a:r>
            <a:endParaRPr lang="en-US" sz="1050" dirty="0"/>
          </a:p>
        </p:txBody>
      </p:sp>
      <p:sp>
        <p:nvSpPr>
          <p:cNvPr id="46" name="Text 44"/>
          <p:cNvSpPr/>
          <p:nvPr/>
        </p:nvSpPr>
        <p:spPr>
          <a:xfrm>
            <a:off x="4800600" y="3584448"/>
            <a:ext cx="4023360" cy="393192"/>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Academic papers on CPS recovery rarely provide hard real-time guarantees for embedded PLC environments. Formal verification of recovery timing is open (RTAS/RTSS venue).</a:t>
            </a:r>
            <a:endParaRPr lang="en-US" sz="950" dirty="0"/>
          </a:p>
        </p:txBody>
      </p:sp>
      <p:sp>
        <p:nvSpPr>
          <p:cNvPr id="47" name="Shape 45"/>
          <p:cNvSpPr/>
          <p:nvPr/>
        </p:nvSpPr>
        <p:spPr>
          <a:xfrm>
            <a:off x="4736592" y="4005072"/>
            <a:ext cx="237744" cy="237744"/>
          </a:xfrm>
          <a:prstGeom prst="rect">
            <a:avLst/>
          </a:prstGeom>
          <a:solidFill>
            <a:srgbClr val="E67E22"/>
          </a:solidFill>
          <a:ln w="12700">
            <a:solidFill>
              <a:srgbClr val="E67E22"/>
            </a:solidFill>
            <a:prstDash val="solid"/>
          </a:ln>
        </p:spPr>
      </p:sp>
      <p:sp>
        <p:nvSpPr>
          <p:cNvPr id="48" name="Text 46"/>
          <p:cNvSpPr/>
          <p:nvPr/>
        </p:nvSpPr>
        <p:spPr>
          <a:xfrm>
            <a:off x="4736592" y="4005072"/>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9" name="Text 47"/>
          <p:cNvSpPr/>
          <p:nvPr/>
        </p:nvSpPr>
        <p:spPr>
          <a:xfrm>
            <a:off x="5047488" y="4014216"/>
            <a:ext cx="3749040" cy="201168"/>
          </a:xfrm>
          <a:prstGeom prst="rect">
            <a:avLst/>
          </a:prstGeom>
          <a:noFill/>
          <a:ln/>
        </p:spPr>
        <p:txBody>
          <a:bodyPr wrap="square" lIns="0" tIns="0" rIns="0" bIns="0" rtlCol="0" anchor="ctr"/>
          <a:lstStyle/>
          <a:p>
            <a:pPr indent="0" marL="0">
              <a:buNone/>
            </a:pPr>
            <a:r>
              <a:rPr lang="en-US" sz="1050" b="1" dirty="0">
                <a:solidFill>
                  <a:srgbClr val="E67E22"/>
                </a:solidFill>
                <a:latin typeface="Calibri" pitchFamily="34" charset="0"/>
                <a:ea typeface="Calibri" pitchFamily="34" charset="-122"/>
                <a:cs typeface="Calibri" pitchFamily="34" charset="-120"/>
              </a:rPr>
              <a:t>Post-attack forensics</a:t>
            </a:r>
            <a:endParaRPr lang="en-US" sz="1050" dirty="0"/>
          </a:p>
        </p:txBody>
      </p:sp>
      <p:sp>
        <p:nvSpPr>
          <p:cNvPr id="50" name="Text 48"/>
          <p:cNvSpPr/>
          <p:nvPr/>
        </p:nvSpPr>
        <p:spPr>
          <a:xfrm>
            <a:off x="4800600" y="4242816"/>
            <a:ext cx="4023360" cy="393192"/>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After recovery, how do we determine the full attack timeline for legal/attribution purposes? Tamper-evident Modbus traffic logging and PLC register versioning needed.</a:t>
            </a:r>
            <a:endParaRPr lang="en-US" sz="950" dirty="0"/>
          </a:p>
        </p:txBody>
      </p:sp>
      <p:sp>
        <p:nvSpPr>
          <p:cNvPr id="51" name="Shape 49"/>
          <p:cNvSpPr/>
          <p:nvPr/>
        </p:nvSpPr>
        <p:spPr>
          <a:xfrm>
            <a:off x="0" y="4773168"/>
            <a:ext cx="9144000" cy="374904"/>
          </a:xfrm>
          <a:prstGeom prst="rect">
            <a:avLst/>
          </a:prstGeom>
          <a:solidFill>
            <a:srgbClr val="1B3A5C"/>
          </a:solidFill>
          <a:ln w="12700">
            <a:solidFill>
              <a:srgbClr val="1B3A5C"/>
            </a:solidFill>
            <a:prstDash val="solid"/>
          </a:ln>
        </p:spPr>
      </p:sp>
      <p:sp>
        <p:nvSpPr>
          <p:cNvPr id="52" name="Text 50"/>
          <p:cNvSpPr/>
          <p:nvPr/>
        </p:nvSpPr>
        <p:spPr>
          <a:xfrm>
            <a:off x="274320" y="4773168"/>
            <a:ext cx="8595360" cy="374904"/>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Recovery Research  ·  Implementation &amp; Challenges</a:t>
            </a:r>
            <a:endParaRPr lang="en-US" sz="1000" dirty="0"/>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8FA3B1"/>
          </a:solidFill>
          <a:ln w="12700">
            <a:solidFill>
              <a:srgbClr val="8FA3B1"/>
            </a:solidFill>
            <a:prstDash val="solid"/>
          </a:ln>
        </p:spPr>
      </p:sp>
      <p:sp>
        <p:nvSpPr>
          <p:cNvPr id="3" name="Text 1"/>
          <p:cNvSpPr/>
          <p:nvPr/>
        </p:nvSpPr>
        <p:spPr>
          <a:xfrm>
            <a:off x="365760" y="91440"/>
            <a:ext cx="8412480" cy="402336"/>
          </a:xfrm>
          <a:prstGeom prst="rect">
            <a:avLst/>
          </a:prstGeom>
          <a:noFill/>
          <a:ln/>
        </p:spPr>
        <p:txBody>
          <a:bodyPr wrap="square" lIns="0" tIns="0" rIns="0" bIns="0" rtlCol="0" anchor="ctr"/>
          <a:lstStyle/>
          <a:p>
            <a:pPr indent="0" marL="0">
              <a:buNone/>
            </a:pPr>
            <a:r>
              <a:rPr lang="en-US" sz="2500" b="1" dirty="0">
                <a:solidFill>
                  <a:srgbClr val="FFFFFF"/>
                </a:solidFill>
                <a:latin typeface="Calibri" pitchFamily="34" charset="0"/>
                <a:ea typeface="Calibri" pitchFamily="34" charset="-122"/>
                <a:cs typeface="Calibri" pitchFamily="34" charset="-120"/>
              </a:rPr>
              <a:t>Recovery Research References</a:t>
            </a:r>
            <a:endParaRPr lang="en-US" sz="2500" dirty="0"/>
          </a:p>
        </p:txBody>
      </p:sp>
      <p:sp>
        <p:nvSpPr>
          <p:cNvPr id="4" name="Shape 2"/>
          <p:cNvSpPr/>
          <p:nvPr/>
        </p:nvSpPr>
        <p:spPr>
          <a:xfrm>
            <a:off x="228600" y="566928"/>
            <a:ext cx="347472" cy="384048"/>
          </a:xfrm>
          <a:prstGeom prst="rect">
            <a:avLst/>
          </a:prstGeom>
          <a:solidFill>
            <a:srgbClr val="1B3A5C"/>
          </a:solidFill>
          <a:ln w="12700">
            <a:solidFill>
              <a:srgbClr val="1B3A5C"/>
            </a:solidFill>
            <a:prstDash val="solid"/>
          </a:ln>
        </p:spPr>
      </p:sp>
      <p:sp>
        <p:nvSpPr>
          <p:cNvPr id="5" name="Text 3"/>
          <p:cNvSpPr/>
          <p:nvPr/>
        </p:nvSpPr>
        <p:spPr>
          <a:xfrm>
            <a:off x="228600" y="566928"/>
            <a:ext cx="347472" cy="384048"/>
          </a:xfrm>
          <a:prstGeom prst="rect">
            <a:avLst/>
          </a:prstGeom>
          <a:noFill/>
          <a:ln/>
        </p:spPr>
        <p:txBody>
          <a:bodyPr wrap="square" lIns="0" tIns="0" rIns="0" bIns="0" rtlCol="0" anchor="ctr"/>
          <a:lstStyle/>
          <a:p>
            <a:pPr algn="ctr" indent="0" marL="0">
              <a:buNone/>
            </a:pPr>
            <a:r>
              <a:rPr lang="en-US" sz="900" b="1" dirty="0">
                <a:solidFill>
                  <a:srgbClr val="0A7E8C"/>
                </a:solidFill>
                <a:latin typeface="Calibri" pitchFamily="34" charset="0"/>
                <a:ea typeface="Calibri" pitchFamily="34" charset="-122"/>
                <a:cs typeface="Calibri" pitchFamily="34" charset="-120"/>
              </a:rPr>
              <a:t>[R1]</a:t>
            </a:r>
            <a:endParaRPr lang="en-US" sz="900" dirty="0"/>
          </a:p>
        </p:txBody>
      </p:sp>
      <p:sp>
        <p:nvSpPr>
          <p:cNvPr id="6" name="Text 4"/>
          <p:cNvSpPr/>
          <p:nvPr/>
        </p:nvSpPr>
        <p:spPr>
          <a:xfrm>
            <a:off x="630936" y="585216"/>
            <a:ext cx="3794760" cy="365760"/>
          </a:xfrm>
          <a:prstGeom prst="rect">
            <a:avLst/>
          </a:prstGeom>
          <a:noFill/>
          <a:ln/>
        </p:spPr>
        <p:txBody>
          <a:bodyPr wrap="square" lIns="0" tIns="0" rIns="0" bIns="0" rtlCol="0" anchor="ctr"/>
          <a:lstStyle/>
          <a:p>
            <a:pPr indent="0" marL="0">
              <a:buNone/>
            </a:pPr>
            <a:r>
              <a:rPr lang="en-US" sz="850" dirty="0">
                <a:solidFill>
                  <a:srgbClr val="C9D6DF"/>
                </a:solidFill>
                <a:latin typeface="Calibri" pitchFamily="34" charset="0"/>
                <a:ea typeface="Calibri" pitchFamily="34" charset="-122"/>
                <a:cs typeface="Calibri" pitchFamily="34" charset="-120"/>
              </a:rPr>
              <a:t>ACM Computing Surveys 2024 — Recovery from Adversarial Attacks in CPS: Shallow, Deep and Exploratory Works. doi:10.1145/3653974</a:t>
            </a:r>
            <a:endParaRPr lang="en-US" sz="850" dirty="0"/>
          </a:p>
        </p:txBody>
      </p:sp>
      <p:sp>
        <p:nvSpPr>
          <p:cNvPr id="7" name="Shape 5"/>
          <p:cNvSpPr/>
          <p:nvPr/>
        </p:nvSpPr>
        <p:spPr>
          <a:xfrm>
            <a:off x="228600" y="1243584"/>
            <a:ext cx="347472" cy="384048"/>
          </a:xfrm>
          <a:prstGeom prst="rect">
            <a:avLst/>
          </a:prstGeom>
          <a:solidFill>
            <a:srgbClr val="1B3A5C"/>
          </a:solidFill>
          <a:ln w="12700">
            <a:solidFill>
              <a:srgbClr val="1B3A5C"/>
            </a:solidFill>
            <a:prstDash val="solid"/>
          </a:ln>
        </p:spPr>
      </p:sp>
      <p:sp>
        <p:nvSpPr>
          <p:cNvPr id="8" name="Text 6"/>
          <p:cNvSpPr/>
          <p:nvPr/>
        </p:nvSpPr>
        <p:spPr>
          <a:xfrm>
            <a:off x="228600" y="1243584"/>
            <a:ext cx="347472" cy="384048"/>
          </a:xfrm>
          <a:prstGeom prst="rect">
            <a:avLst/>
          </a:prstGeom>
          <a:noFill/>
          <a:ln/>
        </p:spPr>
        <p:txBody>
          <a:bodyPr wrap="square" lIns="0" tIns="0" rIns="0" bIns="0" rtlCol="0" anchor="ctr"/>
          <a:lstStyle/>
          <a:p>
            <a:pPr algn="ctr" indent="0" marL="0">
              <a:buNone/>
            </a:pPr>
            <a:r>
              <a:rPr lang="en-US" sz="900" b="1" dirty="0">
                <a:solidFill>
                  <a:srgbClr val="7D3C98"/>
                </a:solidFill>
                <a:latin typeface="Calibri" pitchFamily="34" charset="0"/>
                <a:ea typeface="Calibri" pitchFamily="34" charset="-122"/>
                <a:cs typeface="Calibri" pitchFamily="34" charset="-120"/>
              </a:rPr>
              <a:t>[R2]</a:t>
            </a:r>
            <a:endParaRPr lang="en-US" sz="900" dirty="0"/>
          </a:p>
        </p:txBody>
      </p:sp>
      <p:sp>
        <p:nvSpPr>
          <p:cNvPr id="9" name="Text 7"/>
          <p:cNvSpPr/>
          <p:nvPr/>
        </p:nvSpPr>
        <p:spPr>
          <a:xfrm>
            <a:off x="630936" y="1261872"/>
            <a:ext cx="3794760" cy="365760"/>
          </a:xfrm>
          <a:prstGeom prst="rect">
            <a:avLst/>
          </a:prstGeom>
          <a:noFill/>
          <a:ln/>
        </p:spPr>
        <p:txBody>
          <a:bodyPr wrap="square" lIns="0" tIns="0" rIns="0" bIns="0" rtlCol="0" anchor="ctr"/>
          <a:lstStyle/>
          <a:p>
            <a:pPr indent="0" marL="0">
              <a:buNone/>
            </a:pPr>
            <a:r>
              <a:rPr lang="en-US" sz="850" dirty="0">
                <a:solidFill>
                  <a:srgbClr val="C9D6DF"/>
                </a:solidFill>
                <a:latin typeface="Calibri" pitchFamily="34" charset="0"/>
                <a:ea typeface="Calibri" pitchFamily="34" charset="-122"/>
                <a:cs typeface="Calibri" pitchFamily="34" charset="-120"/>
              </a:rPr>
              <a:t>A. Y. Lu &amp; G. H. Yang — Secure State Estimation for CPS under Sparse Sensor Attacks via Switched Luenberger Observer. Information Sciences 417, 2017.</a:t>
            </a:r>
            <a:endParaRPr lang="en-US" sz="850" dirty="0"/>
          </a:p>
        </p:txBody>
      </p:sp>
      <p:sp>
        <p:nvSpPr>
          <p:cNvPr id="10" name="Shape 8"/>
          <p:cNvSpPr/>
          <p:nvPr/>
        </p:nvSpPr>
        <p:spPr>
          <a:xfrm>
            <a:off x="228600" y="1920240"/>
            <a:ext cx="347472" cy="384048"/>
          </a:xfrm>
          <a:prstGeom prst="rect">
            <a:avLst/>
          </a:prstGeom>
          <a:solidFill>
            <a:srgbClr val="1B3A5C"/>
          </a:solidFill>
          <a:ln w="12700">
            <a:solidFill>
              <a:srgbClr val="1B3A5C"/>
            </a:solidFill>
            <a:prstDash val="solid"/>
          </a:ln>
        </p:spPr>
      </p:sp>
      <p:sp>
        <p:nvSpPr>
          <p:cNvPr id="11" name="Text 9"/>
          <p:cNvSpPr/>
          <p:nvPr/>
        </p:nvSpPr>
        <p:spPr>
          <a:xfrm>
            <a:off x="228600" y="1920240"/>
            <a:ext cx="347472" cy="384048"/>
          </a:xfrm>
          <a:prstGeom prst="rect">
            <a:avLst/>
          </a:prstGeom>
          <a:noFill/>
          <a:ln/>
        </p:spPr>
        <p:txBody>
          <a:bodyPr wrap="square" lIns="0" tIns="0" rIns="0" bIns="0" rtlCol="0" anchor="ctr"/>
          <a:lstStyle/>
          <a:p>
            <a:pPr algn="ctr" indent="0" marL="0">
              <a:buNone/>
            </a:pPr>
            <a:r>
              <a:rPr lang="en-US" sz="900" b="1" dirty="0">
                <a:solidFill>
                  <a:srgbClr val="7D3C98"/>
                </a:solidFill>
                <a:latin typeface="Calibri" pitchFamily="34" charset="0"/>
                <a:ea typeface="Calibri" pitchFamily="34" charset="-122"/>
                <a:cs typeface="Calibri" pitchFamily="34" charset="-120"/>
              </a:rPr>
              <a:t>[R3]</a:t>
            </a:r>
            <a:endParaRPr lang="en-US" sz="900" dirty="0"/>
          </a:p>
        </p:txBody>
      </p:sp>
      <p:sp>
        <p:nvSpPr>
          <p:cNvPr id="12" name="Text 10"/>
          <p:cNvSpPr/>
          <p:nvPr/>
        </p:nvSpPr>
        <p:spPr>
          <a:xfrm>
            <a:off x="630936" y="1938528"/>
            <a:ext cx="3794760" cy="365760"/>
          </a:xfrm>
          <a:prstGeom prst="rect">
            <a:avLst/>
          </a:prstGeom>
          <a:noFill/>
          <a:ln/>
        </p:spPr>
        <p:txBody>
          <a:bodyPr wrap="square" lIns="0" tIns="0" rIns="0" bIns="0" rtlCol="0" anchor="ctr"/>
          <a:lstStyle/>
          <a:p>
            <a:pPr indent="0" marL="0">
              <a:buNone/>
            </a:pPr>
            <a:r>
              <a:rPr lang="en-US" sz="850" dirty="0">
                <a:solidFill>
                  <a:srgbClr val="C9D6DF"/>
                </a:solidFill>
                <a:latin typeface="Calibri" pitchFamily="34" charset="0"/>
                <a:ea typeface="Calibri" pitchFamily="34" charset="-122"/>
                <a:cs typeface="Calibri" pitchFamily="34" charset="-120"/>
              </a:rPr>
              <a:t>A. Y. Lu &amp; G. H. Yang — Secure Luenberger-like Observers for CPS under Sparse Actuator and Sensor Attacks. Automatica 98, 2018.</a:t>
            </a:r>
            <a:endParaRPr lang="en-US" sz="850" dirty="0"/>
          </a:p>
        </p:txBody>
      </p:sp>
      <p:sp>
        <p:nvSpPr>
          <p:cNvPr id="13" name="Shape 11"/>
          <p:cNvSpPr/>
          <p:nvPr/>
        </p:nvSpPr>
        <p:spPr>
          <a:xfrm>
            <a:off x="228600" y="2596896"/>
            <a:ext cx="347472" cy="384048"/>
          </a:xfrm>
          <a:prstGeom prst="rect">
            <a:avLst/>
          </a:prstGeom>
          <a:solidFill>
            <a:srgbClr val="1B3A5C"/>
          </a:solidFill>
          <a:ln w="12700">
            <a:solidFill>
              <a:srgbClr val="1B3A5C"/>
            </a:solidFill>
            <a:prstDash val="solid"/>
          </a:ln>
        </p:spPr>
      </p:sp>
      <p:sp>
        <p:nvSpPr>
          <p:cNvPr id="14" name="Text 12"/>
          <p:cNvSpPr/>
          <p:nvPr/>
        </p:nvSpPr>
        <p:spPr>
          <a:xfrm>
            <a:off x="228600" y="2596896"/>
            <a:ext cx="347472" cy="384048"/>
          </a:xfrm>
          <a:prstGeom prst="rect">
            <a:avLst/>
          </a:prstGeom>
          <a:noFill/>
          <a:ln/>
        </p:spPr>
        <p:txBody>
          <a:bodyPr wrap="square" lIns="0" tIns="0" rIns="0" bIns="0" rtlCol="0" anchor="ctr"/>
          <a:lstStyle/>
          <a:p>
            <a:pPr algn="ctr" indent="0" marL="0">
              <a:buNone/>
            </a:pPr>
            <a:r>
              <a:rPr lang="en-US" sz="900" b="1" dirty="0">
                <a:solidFill>
                  <a:srgbClr val="7D3C98"/>
                </a:solidFill>
                <a:latin typeface="Calibri" pitchFamily="34" charset="0"/>
                <a:ea typeface="Calibri" pitchFamily="34" charset="-122"/>
                <a:cs typeface="Calibri" pitchFamily="34" charset="-120"/>
              </a:rPr>
              <a:t>[R4]</a:t>
            </a:r>
            <a:endParaRPr lang="en-US" sz="900" dirty="0"/>
          </a:p>
        </p:txBody>
      </p:sp>
      <p:sp>
        <p:nvSpPr>
          <p:cNvPr id="15" name="Text 13"/>
          <p:cNvSpPr/>
          <p:nvPr/>
        </p:nvSpPr>
        <p:spPr>
          <a:xfrm>
            <a:off x="630936" y="2615184"/>
            <a:ext cx="3794760" cy="365760"/>
          </a:xfrm>
          <a:prstGeom prst="rect">
            <a:avLst/>
          </a:prstGeom>
          <a:noFill/>
          <a:ln/>
        </p:spPr>
        <p:txBody>
          <a:bodyPr wrap="square" lIns="0" tIns="0" rIns="0" bIns="0" rtlCol="0" anchor="ctr"/>
          <a:lstStyle/>
          <a:p>
            <a:pPr indent="0" marL="0">
              <a:buNone/>
            </a:pPr>
            <a:r>
              <a:rPr lang="en-US" sz="850" dirty="0">
                <a:solidFill>
                  <a:srgbClr val="C9D6DF"/>
                </a:solidFill>
                <a:latin typeface="Calibri" pitchFamily="34" charset="0"/>
                <a:ea typeface="Calibri" pitchFamily="34" charset="-122"/>
                <a:cs typeface="Calibri" pitchFamily="34" charset="-120"/>
              </a:rPr>
              <a:t>Y. Shoukry &amp; P. Tabuada — Event-triggered State Observers for Sparse Sensor Noise/Attacks. IEEE TAC 61(8), 2016. (2s-sparse observability theorem)</a:t>
            </a:r>
            <a:endParaRPr lang="en-US" sz="850" dirty="0"/>
          </a:p>
        </p:txBody>
      </p:sp>
      <p:sp>
        <p:nvSpPr>
          <p:cNvPr id="16" name="Shape 14"/>
          <p:cNvSpPr/>
          <p:nvPr/>
        </p:nvSpPr>
        <p:spPr>
          <a:xfrm>
            <a:off x="228600" y="3273552"/>
            <a:ext cx="347472" cy="384048"/>
          </a:xfrm>
          <a:prstGeom prst="rect">
            <a:avLst/>
          </a:prstGeom>
          <a:solidFill>
            <a:srgbClr val="1B3A5C"/>
          </a:solidFill>
          <a:ln w="12700">
            <a:solidFill>
              <a:srgbClr val="1B3A5C"/>
            </a:solidFill>
            <a:prstDash val="solid"/>
          </a:ln>
        </p:spPr>
      </p:sp>
      <p:sp>
        <p:nvSpPr>
          <p:cNvPr id="17" name="Text 15"/>
          <p:cNvSpPr/>
          <p:nvPr/>
        </p:nvSpPr>
        <p:spPr>
          <a:xfrm>
            <a:off x="228600" y="3273552"/>
            <a:ext cx="347472" cy="384048"/>
          </a:xfrm>
          <a:prstGeom prst="rect">
            <a:avLst/>
          </a:prstGeom>
          <a:noFill/>
          <a:ln/>
        </p:spPr>
        <p:txBody>
          <a:bodyPr wrap="square" lIns="0" tIns="0" rIns="0" bIns="0" rtlCol="0" anchor="ctr"/>
          <a:lstStyle/>
          <a:p>
            <a:pPr algn="ctr" indent="0" marL="0">
              <a:buNone/>
            </a:pPr>
            <a:r>
              <a:rPr lang="en-US" sz="900" b="1" dirty="0">
                <a:solidFill>
                  <a:srgbClr val="2980B9"/>
                </a:solidFill>
                <a:latin typeface="Calibri" pitchFamily="34" charset="0"/>
                <a:ea typeface="Calibri" pitchFamily="34" charset="-122"/>
                <a:cs typeface="Calibri" pitchFamily="34" charset="-120"/>
              </a:rPr>
              <a:t>[R5]</a:t>
            </a:r>
            <a:endParaRPr lang="en-US" sz="900" dirty="0"/>
          </a:p>
        </p:txBody>
      </p:sp>
      <p:sp>
        <p:nvSpPr>
          <p:cNvPr id="18" name="Text 16"/>
          <p:cNvSpPr/>
          <p:nvPr/>
        </p:nvSpPr>
        <p:spPr>
          <a:xfrm>
            <a:off x="630936" y="3291840"/>
            <a:ext cx="3794760" cy="365760"/>
          </a:xfrm>
          <a:prstGeom prst="rect">
            <a:avLst/>
          </a:prstGeom>
          <a:noFill/>
          <a:ln/>
        </p:spPr>
        <p:txBody>
          <a:bodyPr wrap="square" lIns="0" tIns="0" rIns="0" bIns="0" rtlCol="0" anchor="ctr"/>
          <a:lstStyle/>
          <a:p>
            <a:pPr indent="0" marL="0">
              <a:buNone/>
            </a:pPr>
            <a:r>
              <a:rPr lang="en-US" sz="850" dirty="0">
                <a:solidFill>
                  <a:srgbClr val="C9D6DF"/>
                </a:solidFill>
                <a:latin typeface="Calibri" pitchFamily="34" charset="0"/>
                <a:ea typeface="Calibri" pitchFamily="34" charset="-122"/>
                <a:cs typeface="Calibri" pitchFamily="34" charset="-120"/>
              </a:rPr>
              <a:t>Y. H. Chang, Q. Hu &amp; C. Tomlin — Secure Estimation based Kalman Filter for CPS against Adversarial Attacks. ArXiv 2015.</a:t>
            </a:r>
            <a:endParaRPr lang="en-US" sz="850" dirty="0"/>
          </a:p>
        </p:txBody>
      </p:sp>
      <p:sp>
        <p:nvSpPr>
          <p:cNvPr id="19" name="Shape 17"/>
          <p:cNvSpPr/>
          <p:nvPr/>
        </p:nvSpPr>
        <p:spPr>
          <a:xfrm>
            <a:off x="228600" y="3950208"/>
            <a:ext cx="347472" cy="384048"/>
          </a:xfrm>
          <a:prstGeom prst="rect">
            <a:avLst/>
          </a:prstGeom>
          <a:solidFill>
            <a:srgbClr val="1B3A5C"/>
          </a:solidFill>
          <a:ln w="12700">
            <a:solidFill>
              <a:srgbClr val="1B3A5C"/>
            </a:solidFill>
            <a:prstDash val="solid"/>
          </a:ln>
        </p:spPr>
      </p:sp>
      <p:sp>
        <p:nvSpPr>
          <p:cNvPr id="20" name="Text 18"/>
          <p:cNvSpPr/>
          <p:nvPr/>
        </p:nvSpPr>
        <p:spPr>
          <a:xfrm>
            <a:off x="228600" y="3950208"/>
            <a:ext cx="347472" cy="384048"/>
          </a:xfrm>
          <a:prstGeom prst="rect">
            <a:avLst/>
          </a:prstGeom>
          <a:noFill/>
          <a:ln/>
        </p:spPr>
        <p:txBody>
          <a:bodyPr wrap="square" lIns="0" tIns="0" rIns="0" bIns="0" rtlCol="0" anchor="ctr"/>
          <a:lstStyle/>
          <a:p>
            <a:pPr algn="ctr" indent="0" marL="0">
              <a:buNone/>
            </a:pPr>
            <a:r>
              <a:rPr lang="en-US" sz="900" b="1" dirty="0">
                <a:solidFill>
                  <a:srgbClr val="E67E22"/>
                </a:solidFill>
                <a:latin typeface="Calibri" pitchFamily="34" charset="0"/>
                <a:ea typeface="Calibri" pitchFamily="34" charset="-122"/>
                <a:cs typeface="Calibri" pitchFamily="34" charset="-120"/>
              </a:rPr>
              <a:t>[R6]</a:t>
            </a:r>
            <a:endParaRPr lang="en-US" sz="900" dirty="0"/>
          </a:p>
        </p:txBody>
      </p:sp>
      <p:sp>
        <p:nvSpPr>
          <p:cNvPr id="21" name="Text 19"/>
          <p:cNvSpPr/>
          <p:nvPr/>
        </p:nvSpPr>
        <p:spPr>
          <a:xfrm>
            <a:off x="630936" y="3968496"/>
            <a:ext cx="3794760" cy="365760"/>
          </a:xfrm>
          <a:prstGeom prst="rect">
            <a:avLst/>
          </a:prstGeom>
          <a:noFill/>
          <a:ln/>
        </p:spPr>
        <p:txBody>
          <a:bodyPr wrap="square" lIns="0" tIns="0" rIns="0" bIns="0" rtlCol="0" anchor="ctr"/>
          <a:lstStyle/>
          <a:p>
            <a:pPr indent="0" marL="0">
              <a:buNone/>
            </a:pPr>
            <a:r>
              <a:rPr lang="en-US" sz="850" dirty="0">
                <a:solidFill>
                  <a:srgbClr val="C9D6DF"/>
                </a:solidFill>
                <a:latin typeface="Calibri" pitchFamily="34" charset="0"/>
                <a:ea typeface="Calibri" pitchFamily="34" charset="-122"/>
                <a:cs typeface="Calibri" pitchFamily="34" charset="-120"/>
              </a:rPr>
              <a:t>NIST SP 800-82 Revision 3 — Guide to Operational Technology (OT) Security. NIST, September 2023. https://csrc.nist.gov/pubs/sp/800/82/r3/final</a:t>
            </a:r>
            <a:endParaRPr lang="en-US" sz="850" dirty="0"/>
          </a:p>
        </p:txBody>
      </p:sp>
      <p:sp>
        <p:nvSpPr>
          <p:cNvPr id="22" name="Shape 20"/>
          <p:cNvSpPr/>
          <p:nvPr/>
        </p:nvSpPr>
        <p:spPr>
          <a:xfrm>
            <a:off x="4663440" y="566928"/>
            <a:ext cx="347472" cy="384048"/>
          </a:xfrm>
          <a:prstGeom prst="rect">
            <a:avLst/>
          </a:prstGeom>
          <a:solidFill>
            <a:srgbClr val="1B3A5C"/>
          </a:solidFill>
          <a:ln w="12700">
            <a:solidFill>
              <a:srgbClr val="1B3A5C"/>
            </a:solidFill>
            <a:prstDash val="solid"/>
          </a:ln>
        </p:spPr>
      </p:sp>
      <p:sp>
        <p:nvSpPr>
          <p:cNvPr id="23" name="Text 21"/>
          <p:cNvSpPr/>
          <p:nvPr/>
        </p:nvSpPr>
        <p:spPr>
          <a:xfrm>
            <a:off x="4663440" y="566928"/>
            <a:ext cx="347472" cy="384048"/>
          </a:xfrm>
          <a:prstGeom prst="rect">
            <a:avLst/>
          </a:prstGeom>
          <a:noFill/>
          <a:ln/>
        </p:spPr>
        <p:txBody>
          <a:bodyPr wrap="square" lIns="0" tIns="0" rIns="0" bIns="0" rtlCol="0" anchor="ctr"/>
          <a:lstStyle/>
          <a:p>
            <a:pPr algn="ctr" indent="0" marL="0">
              <a:buNone/>
            </a:pPr>
            <a:r>
              <a:rPr lang="en-US" sz="900" b="1" dirty="0">
                <a:solidFill>
                  <a:srgbClr val="27AE60"/>
                </a:solidFill>
                <a:latin typeface="Calibri" pitchFamily="34" charset="0"/>
                <a:ea typeface="Calibri" pitchFamily="34" charset="-122"/>
                <a:cs typeface="Calibri" pitchFamily="34" charset="-120"/>
              </a:rPr>
              <a:t>[R7]</a:t>
            </a:r>
            <a:endParaRPr lang="en-US" sz="900" dirty="0"/>
          </a:p>
        </p:txBody>
      </p:sp>
      <p:sp>
        <p:nvSpPr>
          <p:cNvPr id="24" name="Text 22"/>
          <p:cNvSpPr/>
          <p:nvPr/>
        </p:nvSpPr>
        <p:spPr>
          <a:xfrm>
            <a:off x="5065776" y="585216"/>
            <a:ext cx="3794760" cy="365760"/>
          </a:xfrm>
          <a:prstGeom prst="rect">
            <a:avLst/>
          </a:prstGeom>
          <a:noFill/>
          <a:ln/>
        </p:spPr>
        <p:txBody>
          <a:bodyPr wrap="square" lIns="0" tIns="0" rIns="0" bIns="0" rtlCol="0" anchor="ctr"/>
          <a:lstStyle/>
          <a:p>
            <a:pPr indent="0" marL="0">
              <a:buNone/>
            </a:pPr>
            <a:r>
              <a:rPr lang="en-US" sz="850" dirty="0">
                <a:solidFill>
                  <a:srgbClr val="C9D6DF"/>
                </a:solidFill>
                <a:latin typeface="Calibri" pitchFamily="34" charset="0"/>
                <a:ea typeface="Calibri" pitchFamily="34" charset="-122"/>
                <a:cs typeface="Calibri" pitchFamily="34" charset="-120"/>
              </a:rPr>
              <a:t>F. Kong et al. — Cyber-Physical System Checkpointing and Recovery. ICCPS 2018. IEEE.</a:t>
            </a:r>
            <a:endParaRPr lang="en-US" sz="850" dirty="0"/>
          </a:p>
        </p:txBody>
      </p:sp>
      <p:sp>
        <p:nvSpPr>
          <p:cNvPr id="25" name="Shape 23"/>
          <p:cNvSpPr/>
          <p:nvPr/>
        </p:nvSpPr>
        <p:spPr>
          <a:xfrm>
            <a:off x="4663440" y="1243584"/>
            <a:ext cx="347472" cy="384048"/>
          </a:xfrm>
          <a:prstGeom prst="rect">
            <a:avLst/>
          </a:prstGeom>
          <a:solidFill>
            <a:srgbClr val="1B3A5C"/>
          </a:solidFill>
          <a:ln w="12700">
            <a:solidFill>
              <a:srgbClr val="1B3A5C"/>
            </a:solidFill>
            <a:prstDash val="solid"/>
          </a:ln>
        </p:spPr>
      </p:sp>
      <p:sp>
        <p:nvSpPr>
          <p:cNvPr id="26" name="Text 24"/>
          <p:cNvSpPr/>
          <p:nvPr/>
        </p:nvSpPr>
        <p:spPr>
          <a:xfrm>
            <a:off x="4663440" y="1243584"/>
            <a:ext cx="347472" cy="384048"/>
          </a:xfrm>
          <a:prstGeom prst="rect">
            <a:avLst/>
          </a:prstGeom>
          <a:noFill/>
          <a:ln/>
        </p:spPr>
        <p:txBody>
          <a:bodyPr wrap="square" lIns="0" tIns="0" rIns="0" bIns="0" rtlCol="0" anchor="ctr"/>
          <a:lstStyle/>
          <a:p>
            <a:pPr algn="ctr" indent="0" marL="0">
              <a:buNone/>
            </a:pPr>
            <a:r>
              <a:rPr lang="en-US" sz="900" b="1" dirty="0">
                <a:solidFill>
                  <a:srgbClr val="27AE60"/>
                </a:solidFill>
                <a:latin typeface="Calibri" pitchFamily="34" charset="0"/>
                <a:ea typeface="Calibri" pitchFamily="34" charset="-122"/>
                <a:cs typeface="Calibri" pitchFamily="34" charset="-120"/>
              </a:rPr>
              <a:t>[R8]</a:t>
            </a:r>
            <a:endParaRPr lang="en-US" sz="900" dirty="0"/>
          </a:p>
        </p:txBody>
      </p:sp>
      <p:sp>
        <p:nvSpPr>
          <p:cNvPr id="27" name="Text 25"/>
          <p:cNvSpPr/>
          <p:nvPr/>
        </p:nvSpPr>
        <p:spPr>
          <a:xfrm>
            <a:off x="5065776" y="1261872"/>
            <a:ext cx="3794760" cy="365760"/>
          </a:xfrm>
          <a:prstGeom prst="rect">
            <a:avLst/>
          </a:prstGeom>
          <a:noFill/>
          <a:ln/>
        </p:spPr>
        <p:txBody>
          <a:bodyPr wrap="square" lIns="0" tIns="0" rIns="0" bIns="0" rtlCol="0" anchor="ctr"/>
          <a:lstStyle/>
          <a:p>
            <a:pPr indent="0" marL="0">
              <a:buNone/>
            </a:pPr>
            <a:r>
              <a:rPr lang="en-US" sz="850" dirty="0">
                <a:solidFill>
                  <a:srgbClr val="C9D6DF"/>
                </a:solidFill>
                <a:latin typeface="Calibri" pitchFamily="34" charset="0"/>
                <a:ea typeface="Calibri" pitchFamily="34" charset="-122"/>
                <a:cs typeface="Calibri" pitchFamily="34" charset="-120"/>
              </a:rPr>
              <a:t>M. Liu et al. — Learn-to-Respond: Sequence-Predictive Recovery from Sensor Attacks in CPS. RTSS 2023. IEEE.</a:t>
            </a:r>
            <a:endParaRPr lang="en-US" sz="850" dirty="0"/>
          </a:p>
        </p:txBody>
      </p:sp>
      <p:sp>
        <p:nvSpPr>
          <p:cNvPr id="28" name="Shape 26"/>
          <p:cNvSpPr/>
          <p:nvPr/>
        </p:nvSpPr>
        <p:spPr>
          <a:xfrm>
            <a:off x="4663440" y="1920240"/>
            <a:ext cx="347472" cy="384048"/>
          </a:xfrm>
          <a:prstGeom prst="rect">
            <a:avLst/>
          </a:prstGeom>
          <a:solidFill>
            <a:srgbClr val="1B3A5C"/>
          </a:solidFill>
          <a:ln w="12700">
            <a:solidFill>
              <a:srgbClr val="1B3A5C"/>
            </a:solidFill>
            <a:prstDash val="solid"/>
          </a:ln>
        </p:spPr>
      </p:sp>
      <p:sp>
        <p:nvSpPr>
          <p:cNvPr id="29" name="Text 27"/>
          <p:cNvSpPr/>
          <p:nvPr/>
        </p:nvSpPr>
        <p:spPr>
          <a:xfrm>
            <a:off x="4663440" y="1920240"/>
            <a:ext cx="347472" cy="384048"/>
          </a:xfrm>
          <a:prstGeom prst="rect">
            <a:avLst/>
          </a:prstGeom>
          <a:noFill/>
          <a:ln/>
        </p:spPr>
        <p:txBody>
          <a:bodyPr wrap="square" lIns="0" tIns="0" rIns="0" bIns="0" rtlCol="0" anchor="ctr"/>
          <a:lstStyle/>
          <a:p>
            <a:pPr algn="ctr" indent="0" marL="0">
              <a:buNone/>
            </a:pPr>
            <a:r>
              <a:rPr lang="en-US" sz="900" b="1" dirty="0">
                <a:solidFill>
                  <a:srgbClr val="E67E22"/>
                </a:solidFill>
                <a:latin typeface="Calibri" pitchFamily="34" charset="0"/>
                <a:ea typeface="Calibri" pitchFamily="34" charset="-122"/>
                <a:cs typeface="Calibri" pitchFamily="34" charset="-120"/>
              </a:rPr>
              <a:t>[R9]</a:t>
            </a:r>
            <a:endParaRPr lang="en-US" sz="900" dirty="0"/>
          </a:p>
        </p:txBody>
      </p:sp>
      <p:sp>
        <p:nvSpPr>
          <p:cNvPr id="30" name="Text 28"/>
          <p:cNvSpPr/>
          <p:nvPr/>
        </p:nvSpPr>
        <p:spPr>
          <a:xfrm>
            <a:off x="5065776" y="1938528"/>
            <a:ext cx="3794760" cy="365760"/>
          </a:xfrm>
          <a:prstGeom prst="rect">
            <a:avLst/>
          </a:prstGeom>
          <a:noFill/>
          <a:ln/>
        </p:spPr>
        <p:txBody>
          <a:bodyPr wrap="square" lIns="0" tIns="0" rIns="0" bIns="0" rtlCol="0" anchor="ctr"/>
          <a:lstStyle/>
          <a:p>
            <a:pPr indent="0" marL="0">
              <a:buNone/>
            </a:pPr>
            <a:r>
              <a:rPr lang="en-US" sz="850" dirty="0">
                <a:solidFill>
                  <a:srgbClr val="C9D6DF"/>
                </a:solidFill>
                <a:latin typeface="Calibri" pitchFamily="34" charset="0"/>
                <a:ea typeface="Calibri" pitchFamily="34" charset="-122"/>
                <a:cs typeface="Calibri" pitchFamily="34" charset="-120"/>
              </a:rPr>
              <a:t>A. Staves et al. — A Cyber Incident Response and Recovery Framework for ICS Operators. Int. J. Critical Infrastructure Protection 37, 2022.</a:t>
            </a:r>
            <a:endParaRPr lang="en-US" sz="850" dirty="0"/>
          </a:p>
        </p:txBody>
      </p:sp>
      <p:sp>
        <p:nvSpPr>
          <p:cNvPr id="31" name="Shape 29"/>
          <p:cNvSpPr/>
          <p:nvPr/>
        </p:nvSpPr>
        <p:spPr>
          <a:xfrm>
            <a:off x="4663440" y="2596896"/>
            <a:ext cx="347472" cy="384048"/>
          </a:xfrm>
          <a:prstGeom prst="rect">
            <a:avLst/>
          </a:prstGeom>
          <a:solidFill>
            <a:srgbClr val="1B3A5C"/>
          </a:solidFill>
          <a:ln w="12700">
            <a:solidFill>
              <a:srgbClr val="1B3A5C"/>
            </a:solidFill>
            <a:prstDash val="solid"/>
          </a:ln>
        </p:spPr>
      </p:sp>
      <p:sp>
        <p:nvSpPr>
          <p:cNvPr id="32" name="Text 30"/>
          <p:cNvSpPr/>
          <p:nvPr/>
        </p:nvSpPr>
        <p:spPr>
          <a:xfrm>
            <a:off x="4663440" y="2596896"/>
            <a:ext cx="347472" cy="384048"/>
          </a:xfrm>
          <a:prstGeom prst="rect">
            <a:avLst/>
          </a:prstGeom>
          <a:noFill/>
          <a:ln/>
        </p:spPr>
        <p:txBody>
          <a:bodyPr wrap="square" lIns="0" tIns="0" rIns="0" bIns="0" rtlCol="0" anchor="ctr"/>
          <a:lstStyle/>
          <a:p>
            <a:pPr algn="ctr" indent="0" marL="0">
              <a:buNone/>
            </a:pPr>
            <a:r>
              <a:rPr lang="en-US" sz="900" b="1" dirty="0">
                <a:solidFill>
                  <a:srgbClr val="E74C3C"/>
                </a:solidFill>
                <a:latin typeface="Calibri" pitchFamily="34" charset="0"/>
                <a:ea typeface="Calibri" pitchFamily="34" charset="-122"/>
                <a:cs typeface="Calibri" pitchFamily="34" charset="-120"/>
              </a:rPr>
              <a:t>[R10]</a:t>
            </a:r>
            <a:endParaRPr lang="en-US" sz="900" dirty="0"/>
          </a:p>
        </p:txBody>
      </p:sp>
      <p:sp>
        <p:nvSpPr>
          <p:cNvPr id="33" name="Text 31"/>
          <p:cNvSpPr/>
          <p:nvPr/>
        </p:nvSpPr>
        <p:spPr>
          <a:xfrm>
            <a:off x="5065776" y="2615184"/>
            <a:ext cx="3794760" cy="365760"/>
          </a:xfrm>
          <a:prstGeom prst="rect">
            <a:avLst/>
          </a:prstGeom>
          <a:noFill/>
          <a:ln/>
        </p:spPr>
        <p:txBody>
          <a:bodyPr wrap="square" lIns="0" tIns="0" rIns="0" bIns="0" rtlCol="0" anchor="ctr"/>
          <a:lstStyle/>
          <a:p>
            <a:pPr indent="0" marL="0">
              <a:buNone/>
            </a:pPr>
            <a:r>
              <a:rPr lang="en-US" sz="850" dirty="0">
                <a:solidFill>
                  <a:srgbClr val="C9D6DF"/>
                </a:solidFill>
                <a:latin typeface="Calibri" pitchFamily="34" charset="0"/>
                <a:ea typeface="Calibri" pitchFamily="34" charset="-122"/>
                <a:cs typeface="Calibri" pitchFamily="34" charset="-120"/>
              </a:rPr>
              <a:t>SANS Institute — 2024 State of ICS/OT Cybersecurity. SANS Institute, May 2024. https://www.sans.org/blog/the-2024-state-of-ics-ot-cybersecurity</a:t>
            </a:r>
            <a:endParaRPr lang="en-US" sz="850" dirty="0"/>
          </a:p>
        </p:txBody>
      </p:sp>
      <p:sp>
        <p:nvSpPr>
          <p:cNvPr id="34" name="Shape 32"/>
          <p:cNvSpPr/>
          <p:nvPr/>
        </p:nvSpPr>
        <p:spPr>
          <a:xfrm>
            <a:off x="4663440" y="3273552"/>
            <a:ext cx="347472" cy="384048"/>
          </a:xfrm>
          <a:prstGeom prst="rect">
            <a:avLst/>
          </a:prstGeom>
          <a:solidFill>
            <a:srgbClr val="1B3A5C"/>
          </a:solidFill>
          <a:ln w="12700">
            <a:solidFill>
              <a:srgbClr val="1B3A5C"/>
            </a:solidFill>
            <a:prstDash val="solid"/>
          </a:ln>
        </p:spPr>
      </p:sp>
      <p:sp>
        <p:nvSpPr>
          <p:cNvPr id="35" name="Text 33"/>
          <p:cNvSpPr/>
          <p:nvPr/>
        </p:nvSpPr>
        <p:spPr>
          <a:xfrm>
            <a:off x="4663440" y="3273552"/>
            <a:ext cx="347472" cy="384048"/>
          </a:xfrm>
          <a:prstGeom prst="rect">
            <a:avLst/>
          </a:prstGeom>
          <a:noFill/>
          <a:ln/>
        </p:spPr>
        <p:txBody>
          <a:bodyPr wrap="square" lIns="0" tIns="0" rIns="0" bIns="0" rtlCol="0" anchor="ctr"/>
          <a:lstStyle/>
          <a:p>
            <a:pPr algn="ctr" indent="0" marL="0">
              <a:buNone/>
            </a:pPr>
            <a:r>
              <a:rPr lang="en-US" sz="900" b="1" dirty="0">
                <a:solidFill>
                  <a:srgbClr val="2980B9"/>
                </a:solidFill>
                <a:latin typeface="Calibri" pitchFamily="34" charset="0"/>
                <a:ea typeface="Calibri" pitchFamily="34" charset="-122"/>
                <a:cs typeface="Calibri" pitchFamily="34" charset="-120"/>
              </a:rPr>
              <a:t>[R11]</a:t>
            </a:r>
            <a:endParaRPr lang="en-US" sz="900" dirty="0"/>
          </a:p>
        </p:txBody>
      </p:sp>
      <p:sp>
        <p:nvSpPr>
          <p:cNvPr id="36" name="Text 34"/>
          <p:cNvSpPr/>
          <p:nvPr/>
        </p:nvSpPr>
        <p:spPr>
          <a:xfrm>
            <a:off x="5065776" y="3291840"/>
            <a:ext cx="3794760" cy="365760"/>
          </a:xfrm>
          <a:prstGeom prst="rect">
            <a:avLst/>
          </a:prstGeom>
          <a:noFill/>
          <a:ln/>
        </p:spPr>
        <p:txBody>
          <a:bodyPr wrap="square" lIns="0" tIns="0" rIns="0" bIns="0" rtlCol="0" anchor="ctr"/>
          <a:lstStyle/>
          <a:p>
            <a:pPr indent="0" marL="0">
              <a:buNone/>
            </a:pPr>
            <a:r>
              <a:rPr lang="en-US" sz="850" dirty="0">
                <a:solidFill>
                  <a:srgbClr val="C9D6DF"/>
                </a:solidFill>
                <a:latin typeface="Calibri" pitchFamily="34" charset="0"/>
                <a:ea typeface="Calibri" pitchFamily="34" charset="-122"/>
                <a:cs typeface="Calibri" pitchFamily="34" charset="-120"/>
              </a:rPr>
              <a:t>ScienceDirect 2024 — Attack Isolation in a Water Treatment Plant (SWaT). IFAC-PapersOnLine. doi:10.1016/j.ifacol.2024.07...</a:t>
            </a:r>
            <a:endParaRPr lang="en-US" sz="850" dirty="0"/>
          </a:p>
        </p:txBody>
      </p:sp>
      <p:sp>
        <p:nvSpPr>
          <p:cNvPr id="37" name="Shape 35"/>
          <p:cNvSpPr/>
          <p:nvPr/>
        </p:nvSpPr>
        <p:spPr>
          <a:xfrm>
            <a:off x="0" y="4773168"/>
            <a:ext cx="9144000" cy="374904"/>
          </a:xfrm>
          <a:prstGeom prst="rect">
            <a:avLst/>
          </a:prstGeom>
          <a:solidFill>
            <a:srgbClr val="1B3A5C"/>
          </a:solidFill>
          <a:ln w="12700">
            <a:solidFill>
              <a:srgbClr val="1B3A5C"/>
            </a:solidFill>
            <a:prstDash val="solid"/>
          </a:ln>
        </p:spPr>
      </p:sp>
      <p:sp>
        <p:nvSpPr>
          <p:cNvPr id="38" name="Text 36"/>
          <p:cNvSpPr/>
          <p:nvPr/>
        </p:nvSpPr>
        <p:spPr>
          <a:xfrm>
            <a:off x="274320" y="4773168"/>
            <a:ext cx="8595360" cy="374904"/>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Recovery Research  ·  References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SWaT Attack &amp; Defense — Full Project Deck</dc:title>
  <dc:subject>PptxGenJS Presentation</dc:subject>
  <dc:creator>PptxGenJS</dc:creator>
  <cp:lastModifiedBy>PptxGenJS</cp:lastModifiedBy>
  <cp:revision>1</cp:revision>
  <dcterms:created xsi:type="dcterms:W3CDTF">2026-03-12T03:43:07Z</dcterms:created>
  <dcterms:modified xsi:type="dcterms:W3CDTF">2026-03-12T03:43:07Z</dcterms:modified>
</cp:coreProperties>
</file>