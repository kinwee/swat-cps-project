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828800" cy="274320"/>
          </a:xfrm>
          <a:prstGeom prst="rect">
            <a:avLst/>
          </a:prstGeom>
          <a:noFill/>
        </p:spPr>
        <p:txBody>
          <a:bodyPr wrap="square">
            <a:spAutoFit/>
          </a:bodyPr>
          <a:lstStyle/>
          <a:p>
            <a:r>
              <a:rPr sz="1000" b="1">
                <a:solidFill>
                  <a:srgbClr val="CC0000"/>
                </a:solidFill>
              </a:rPr>
              <a:t>EVAL</a:t>
            </a:r>
          </a:p>
        </p:txBody>
      </p:sp>
      <p:sp>
        <p:nvSpPr>
          <p:cNvPr id="3" name="TextBox 2"/>
          <p:cNvSpPr txBox="1"/>
          <p:nvPr/>
        </p:nvSpPr>
        <p:spPr>
          <a:xfrm>
            <a:off x="457200" y="411480"/>
            <a:ext cx="8229600" cy="457200"/>
          </a:xfrm>
          <a:prstGeom prst="rect">
            <a:avLst/>
          </a:prstGeom>
          <a:noFill/>
        </p:spPr>
        <p:txBody>
          <a:bodyPr wrap="square">
            <a:spAutoFit/>
          </a:bodyPr>
          <a:lstStyle/>
          <a:p>
            <a:r>
              <a:rPr sz="2200" b="1">
                <a:solidFill>
                  <a:srgbClr val="1F3864"/>
                </a:solidFill>
              </a:rPr>
              <a:t>Detection Rate — Live vs Expected vs Simulated</a:t>
            </a:r>
          </a:p>
        </p:txBody>
      </p:sp>
      <p:sp>
        <p:nvSpPr>
          <p:cNvPr id="4" name="TextBox 3"/>
          <p:cNvSpPr txBox="1"/>
          <p:nvPr/>
        </p:nvSpPr>
        <p:spPr>
          <a:xfrm>
            <a:off x="457200" y="868680"/>
            <a:ext cx="8229600" cy="274320"/>
          </a:xfrm>
          <a:prstGeom prst="rect">
            <a:avLst/>
          </a:prstGeom>
          <a:noFill/>
        </p:spPr>
        <p:txBody>
          <a:bodyPr wrap="square">
            <a:spAutoFit/>
          </a:bodyPr>
          <a:lstStyle/>
          <a:p>
            <a:r>
              <a:rPr sz="1100" b="0">
                <a:solidFill>
                  <a:srgbClr val="666666"/>
                </a:solidFill>
              </a:rPr>
              <a:t>How fast and how reliably does the defence detect Phase 1?</a:t>
            </a:r>
          </a:p>
        </p:txBody>
      </p:sp>
      <p:sp>
        <p:nvSpPr>
          <p:cNvPr id="5" name="TextBox 4"/>
          <p:cNvSpPr txBox="1"/>
          <p:nvPr/>
        </p:nvSpPr>
        <p:spPr>
          <a:xfrm>
            <a:off x="457200" y="1280160"/>
            <a:ext cx="8229600" cy="274320"/>
          </a:xfrm>
          <a:prstGeom prst="rect">
            <a:avLst/>
          </a:prstGeom>
          <a:noFill/>
        </p:spPr>
        <p:txBody>
          <a:bodyPr wrap="square">
            <a:spAutoFit/>
          </a:bodyPr>
          <a:lstStyle/>
          <a:p>
            <a:r>
              <a:rPr sz="1300" b="1">
                <a:solidFill>
                  <a:srgbClr val="2E75B6"/>
                </a:solidFill>
              </a:rPr>
              <a:t>Invariant Detection Time</a:t>
            </a:r>
          </a:p>
        </p:txBody>
      </p:sp>
      <p:sp>
        <p:nvSpPr>
          <p:cNvPr id="6" name="TextBox 5"/>
          <p:cNvSpPr txBox="1"/>
          <p:nvPr/>
        </p:nvSpPr>
        <p:spPr>
          <a:xfrm>
            <a:off x="457200" y="1600200"/>
            <a:ext cx="8229600" cy="1097280"/>
          </a:xfrm>
          <a:prstGeom prst="rect">
            <a:avLst/>
          </a:prstGeom>
          <a:noFill/>
        </p:spPr>
        <p:txBody>
          <a:bodyPr wrap="square">
            <a:spAutoFit/>
          </a:bodyPr>
          <a:lstStyle/>
          <a:p>
            <a:r>
              <a:rPr sz="1000" b="0">
                <a:solidFill>
                  <a:srgbClr val="333333"/>
                </a:solidFill>
              </a:rPr>
              <a:t>Expected: 1–6s. Live: 1s (cycle 1, I-2 + I-9 fired). Simulated: 1s (cycle 1). I-9 is the Phase 1 signature invariant: MV101=CLOSED + P101=ON in normal range. I-9b/I-9c also fired but excluded from primary claim (supplementary rules). 104 total violation cycles over the 120s attack.</a:t>
            </a:r>
          </a:p>
        </p:txBody>
      </p:sp>
      <p:sp>
        <p:nvSpPr>
          <p:cNvPr id="7" name="TextBox 6"/>
          <p:cNvSpPr txBox="1"/>
          <p:nvPr/>
        </p:nvSpPr>
        <p:spPr>
          <a:xfrm>
            <a:off x="457200" y="2834640"/>
            <a:ext cx="8229600" cy="274320"/>
          </a:xfrm>
          <a:prstGeom prst="rect">
            <a:avLst/>
          </a:prstGeom>
          <a:noFill/>
        </p:spPr>
        <p:txBody>
          <a:bodyPr wrap="square">
            <a:spAutoFit/>
          </a:bodyPr>
          <a:lstStyle/>
          <a:p>
            <a:r>
              <a:rPr sz="1300" b="1">
                <a:solidFill>
                  <a:srgbClr val="2E75B6"/>
                </a:solidFill>
              </a:rPr>
              <a:t>AE Detection Time + Rate</a:t>
            </a:r>
          </a:p>
        </p:txBody>
      </p:sp>
      <p:sp>
        <p:nvSpPr>
          <p:cNvPr id="8" name="TextBox 7"/>
          <p:cNvSpPr txBox="1"/>
          <p:nvPr/>
        </p:nvSpPr>
        <p:spPr>
          <a:xfrm>
            <a:off x="457200" y="3154680"/>
            <a:ext cx="8229600" cy="1097280"/>
          </a:xfrm>
          <a:prstGeom prst="rect">
            <a:avLst/>
          </a:prstGeom>
          <a:noFill/>
        </p:spPr>
        <p:txBody>
          <a:bodyPr wrap="square">
            <a:spAutoFit/>
          </a:bodyPr>
          <a:lstStyle/>
          <a:p>
            <a:r>
              <a:rPr sz="1000" b="0">
                <a:solidFill>
                  <a:srgbClr val="333333"/>
                </a:solidFill>
              </a:rPr>
              <a:t>Expected time: 10–15s (window=10 must fill). Live: 10s (cycle 10). Expected rate: &gt;90%. Simulated (LIT-only AE): 94/100 = 94%. Live rate: inconclusive — FIT101=-31 sensor fault produced MSE=367 (500,000× above threshold), saturating the AE before Phase 2 started. Models retrained on LIT101 only.</a:t>
            </a:r>
          </a:p>
        </p:txBody>
      </p:sp>
      <p:sp>
        <p:nvSpPr>
          <p:cNvPr id="9" name="TextBox 8"/>
          <p:cNvSpPr txBox="1"/>
          <p:nvPr/>
        </p:nvSpPr>
        <p:spPr>
          <a:xfrm>
            <a:off x="457200" y="4389120"/>
            <a:ext cx="8229600" cy="274320"/>
          </a:xfrm>
          <a:prstGeom prst="rect">
            <a:avLst/>
          </a:prstGeom>
          <a:noFill/>
        </p:spPr>
        <p:txBody>
          <a:bodyPr wrap="square">
            <a:spAutoFit/>
          </a:bodyPr>
          <a:lstStyle/>
          <a:p>
            <a:r>
              <a:rPr sz="1300" b="1">
                <a:solidFill>
                  <a:srgbClr val="2E75B6"/>
                </a:solidFill>
              </a:rPr>
              <a:t>Hybrid Detection Under Phase 1+2</a:t>
            </a:r>
          </a:p>
        </p:txBody>
      </p:sp>
      <p:sp>
        <p:nvSpPr>
          <p:cNvPr id="10" name="TextBox 9"/>
          <p:cNvSpPr txBox="1"/>
          <p:nvPr/>
        </p:nvSpPr>
        <p:spPr>
          <a:xfrm>
            <a:off x="457200" y="4709160"/>
            <a:ext cx="8229600" cy="1097280"/>
          </a:xfrm>
          <a:prstGeom prst="rect">
            <a:avLst/>
          </a:prstGeom>
          <a:noFill/>
        </p:spPr>
        <p:txBody>
          <a:bodyPr wrap="square">
            <a:spAutoFit/>
          </a:bodyPr>
          <a:lstStyle/>
          <a:p>
            <a:r>
              <a:rPr sz="1000" b="0">
                <a:solidFill>
                  <a:srgbClr val="333333"/>
                </a:solidFill>
              </a:rPr>
              <a:t>Expected: 1–6s (invariant catches, AE may be evaded). Live: 1s (invariant). AE evasion by Phase 2: inconclusive (FIT101 fault confounded). Simulated: invariant 10/10 regardless. Concealment gap: 736mm (HMI 1345mm vs physical 502mm). Core thesis: actuator-command invariants immune to sensor-level perturbation.</a:t>
            </a:r>
          </a:p>
        </p:txBody>
      </p:sp>
      <p:sp>
        <p:nvSpPr>
          <p:cNvPr id="11" name="TextBox 10"/>
          <p:cNvSpPr txBox="1"/>
          <p:nvPr/>
        </p:nvSpPr>
        <p:spPr>
          <a:xfrm>
            <a:off x="457200" y="6492240"/>
            <a:ext cx="8229600" cy="228600"/>
          </a:xfrm>
          <a:prstGeom prst="rect">
            <a:avLst/>
          </a:prstGeom>
          <a:noFill/>
        </p:spPr>
        <p:txBody>
          <a:bodyPr wrap="square">
            <a:spAutoFit/>
          </a:bodyPr>
          <a:lstStyle/>
          <a:p>
            <a:r>
              <a:rPr sz="800" b="0">
                <a:solidFill>
                  <a:srgbClr val="999999"/>
                </a:solidFill>
              </a:rPr>
              <a:t>51.508 Secure Cyber Physical Systems  ·  SWaT Project  ·  iTrust Lab, SUTD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828800" cy="274320"/>
          </a:xfrm>
          <a:prstGeom prst="rect">
            <a:avLst/>
          </a:prstGeom>
          <a:noFill/>
        </p:spPr>
        <p:txBody>
          <a:bodyPr wrap="square">
            <a:spAutoFit/>
          </a:bodyPr>
          <a:lstStyle/>
          <a:p>
            <a:r>
              <a:rPr sz="1000" b="1">
                <a:solidFill>
                  <a:srgbClr val="CC0000"/>
                </a:solidFill>
              </a:rPr>
              <a:t>EVAL</a:t>
            </a:r>
          </a:p>
        </p:txBody>
      </p:sp>
      <p:sp>
        <p:nvSpPr>
          <p:cNvPr id="3" name="TextBox 2"/>
          <p:cNvSpPr txBox="1"/>
          <p:nvPr/>
        </p:nvSpPr>
        <p:spPr>
          <a:xfrm>
            <a:off x="457200" y="411480"/>
            <a:ext cx="8229600" cy="457200"/>
          </a:xfrm>
          <a:prstGeom prst="rect">
            <a:avLst/>
          </a:prstGeom>
          <a:noFill/>
        </p:spPr>
        <p:txBody>
          <a:bodyPr wrap="square">
            <a:spAutoFit/>
          </a:bodyPr>
          <a:lstStyle/>
          <a:p>
            <a:r>
              <a:rPr sz="2200" b="1">
                <a:solidFill>
                  <a:srgbClr val="1F3864"/>
                </a:solidFill>
              </a:rPr>
              <a:t>False Positive Rate — Live vs Expected vs Simulated</a:t>
            </a:r>
          </a:p>
        </p:txBody>
      </p:sp>
      <p:sp>
        <p:nvSpPr>
          <p:cNvPr id="4" name="TextBox 3"/>
          <p:cNvSpPr txBox="1"/>
          <p:nvPr/>
        </p:nvSpPr>
        <p:spPr>
          <a:xfrm>
            <a:off x="457200" y="868680"/>
            <a:ext cx="8229600" cy="274320"/>
          </a:xfrm>
          <a:prstGeom prst="rect">
            <a:avLst/>
          </a:prstGeom>
          <a:noFill/>
        </p:spPr>
        <p:txBody>
          <a:bodyPr wrap="square">
            <a:spAutoFit/>
          </a:bodyPr>
          <a:lstStyle/>
          <a:p>
            <a:r>
              <a:rPr sz="1100" b="0">
                <a:solidFill>
                  <a:srgbClr val="666666"/>
                </a:solidFill>
              </a:rPr>
              <a:t>Does the defence trigger false alarms under normal operation?</a:t>
            </a:r>
          </a:p>
        </p:txBody>
      </p:sp>
      <p:sp>
        <p:nvSpPr>
          <p:cNvPr id="5" name="TextBox 4"/>
          <p:cNvSpPr txBox="1"/>
          <p:nvPr/>
        </p:nvSpPr>
        <p:spPr>
          <a:xfrm>
            <a:off x="457200" y="1280160"/>
            <a:ext cx="8229600" cy="274320"/>
          </a:xfrm>
          <a:prstGeom prst="rect">
            <a:avLst/>
          </a:prstGeom>
          <a:noFill/>
        </p:spPr>
        <p:txBody>
          <a:bodyPr wrap="square">
            <a:spAutoFit/>
          </a:bodyPr>
          <a:lstStyle/>
          <a:p>
            <a:r>
              <a:rPr sz="1300" b="1">
                <a:solidFill>
                  <a:srgbClr val="2E75B6"/>
                </a:solidFill>
              </a:rPr>
              <a:t>AE False Positive Rate</a:t>
            </a:r>
          </a:p>
        </p:txBody>
      </p:sp>
      <p:sp>
        <p:nvSpPr>
          <p:cNvPr id="6" name="TextBox 5"/>
          <p:cNvSpPr txBox="1"/>
          <p:nvPr/>
        </p:nvSpPr>
        <p:spPr>
          <a:xfrm>
            <a:off x="457200" y="1600200"/>
            <a:ext cx="8229600" cy="1097280"/>
          </a:xfrm>
          <a:prstGeom prst="rect">
            <a:avLst/>
          </a:prstGeom>
          <a:noFill/>
        </p:spPr>
        <p:txBody>
          <a:bodyPr wrap="square">
            <a:spAutoFit/>
          </a:bodyPr>
          <a:lstStyle/>
          <a:p>
            <a:r>
              <a:rPr sz="1000" b="0">
                <a:solidFill>
                  <a:srgbClr val="333333"/>
                </a:solidFill>
              </a:rPr>
              <a:t>Expected: &lt;5% (95th pct threshold). Simulated (LIT-only): 0/500 = 0.0% FPR. Mean MSE=0.000039, threshold=0.000738 — 19× safety margin. Live: inconclusive — FIT101=-31 was a genuine anomaly (true positive, not false positive).</a:t>
            </a:r>
          </a:p>
        </p:txBody>
      </p:sp>
      <p:sp>
        <p:nvSpPr>
          <p:cNvPr id="7" name="TextBox 6"/>
          <p:cNvSpPr txBox="1"/>
          <p:nvPr/>
        </p:nvSpPr>
        <p:spPr>
          <a:xfrm>
            <a:off x="457200" y="2834640"/>
            <a:ext cx="8229600" cy="274320"/>
          </a:xfrm>
          <a:prstGeom prst="rect">
            <a:avLst/>
          </a:prstGeom>
          <a:noFill/>
        </p:spPr>
        <p:txBody>
          <a:bodyPr wrap="square">
            <a:spAutoFit/>
          </a:bodyPr>
          <a:lstStyle/>
          <a:p>
            <a:r>
              <a:rPr sz="1300" b="1">
                <a:solidFill>
                  <a:srgbClr val="2E75B6"/>
                </a:solidFill>
              </a:rPr>
              <a:t>Invariant False Positive Rate</a:t>
            </a:r>
          </a:p>
        </p:txBody>
      </p:sp>
      <p:sp>
        <p:nvSpPr>
          <p:cNvPr id="8" name="TextBox 7"/>
          <p:cNvSpPr txBox="1"/>
          <p:nvPr/>
        </p:nvSpPr>
        <p:spPr>
          <a:xfrm>
            <a:off x="457200" y="3154680"/>
            <a:ext cx="8229600" cy="1097280"/>
          </a:xfrm>
          <a:prstGeom prst="rect">
            <a:avLst/>
          </a:prstGeom>
          <a:noFill/>
        </p:spPr>
        <p:txBody>
          <a:bodyPr wrap="square">
            <a:spAutoFit/>
          </a:bodyPr>
          <a:lstStyle/>
          <a:p>
            <a:r>
              <a:rPr sz="1000" b="0">
                <a:solidFill>
                  <a:srgbClr val="333333"/>
                </a:solidFill>
              </a:rPr>
              <a:t>Expected: ~0% (deterministic). Simulated: 0/10 = 0.0%. Live: inconclusive — plant started in attack-equivalent state (MV101=CLOSED, P101=ON). Invariants correctly identified unsafe configuration — true positive, not false alarm.</a:t>
            </a:r>
          </a:p>
        </p:txBody>
      </p:sp>
      <p:sp>
        <p:nvSpPr>
          <p:cNvPr id="9" name="TextBox 8"/>
          <p:cNvSpPr txBox="1"/>
          <p:nvPr/>
        </p:nvSpPr>
        <p:spPr>
          <a:xfrm>
            <a:off x="457200" y="4389120"/>
            <a:ext cx="8229600" cy="274320"/>
          </a:xfrm>
          <a:prstGeom prst="rect">
            <a:avLst/>
          </a:prstGeom>
          <a:noFill/>
        </p:spPr>
        <p:txBody>
          <a:bodyPr wrap="square">
            <a:spAutoFit/>
          </a:bodyPr>
          <a:lstStyle/>
          <a:p>
            <a:r>
              <a:rPr sz="1300" b="1">
                <a:solidFill>
                  <a:srgbClr val="2E75B6"/>
                </a:solidFill>
              </a:rPr>
              <a:t>Interpretation</a:t>
            </a:r>
          </a:p>
        </p:txBody>
      </p:sp>
      <p:sp>
        <p:nvSpPr>
          <p:cNvPr id="10" name="TextBox 9"/>
          <p:cNvSpPr txBox="1"/>
          <p:nvPr/>
        </p:nvSpPr>
        <p:spPr>
          <a:xfrm>
            <a:off x="457200" y="4709160"/>
            <a:ext cx="8229600" cy="1097280"/>
          </a:xfrm>
          <a:prstGeom prst="rect">
            <a:avLst/>
          </a:prstGeom>
          <a:noFill/>
        </p:spPr>
        <p:txBody>
          <a:bodyPr wrap="square">
            <a:spAutoFit/>
          </a:bodyPr>
          <a:lstStyle/>
          <a:p>
            <a:r>
              <a:rPr sz="1000" b="0">
                <a:solidFill>
                  <a:srgbClr val="333333"/>
                </a:solidFill>
              </a:rPr>
              <a:t>Simulated 0% FPR on 29,153 samples (8.1 hrs real SWaT data) is strong evidence. The live run demonstrated the invariant layer correctly detects unsafe states regardless of cause (attacker vs residual misconfiguration) — both are legitimate safety concerns in production water treatment.</a:t>
            </a:r>
          </a:p>
        </p:txBody>
      </p:sp>
      <p:sp>
        <p:nvSpPr>
          <p:cNvPr id="11" name="TextBox 10"/>
          <p:cNvSpPr txBox="1"/>
          <p:nvPr/>
        </p:nvSpPr>
        <p:spPr>
          <a:xfrm>
            <a:off x="457200" y="6492240"/>
            <a:ext cx="8229600" cy="228600"/>
          </a:xfrm>
          <a:prstGeom prst="rect">
            <a:avLst/>
          </a:prstGeom>
          <a:noFill/>
        </p:spPr>
        <p:txBody>
          <a:bodyPr wrap="square">
            <a:spAutoFit/>
          </a:bodyPr>
          <a:lstStyle/>
          <a:p>
            <a:r>
              <a:rPr sz="800" b="0">
                <a:solidFill>
                  <a:srgbClr val="999999"/>
                </a:solidFill>
              </a:rPr>
              <a:t>51.508 Secure Cyber Physical Systems  ·  SWaT Project  ·  iTrust Lab, SUTD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828800" cy="274320"/>
          </a:xfrm>
          <a:prstGeom prst="rect">
            <a:avLst/>
          </a:prstGeom>
          <a:noFill/>
        </p:spPr>
        <p:txBody>
          <a:bodyPr wrap="square">
            <a:spAutoFit/>
          </a:bodyPr>
          <a:lstStyle/>
          <a:p>
            <a:r>
              <a:rPr sz="1000" b="1">
                <a:solidFill>
                  <a:srgbClr val="CC0000"/>
                </a:solidFill>
              </a:rPr>
              <a:t>EVAL</a:t>
            </a:r>
          </a:p>
        </p:txBody>
      </p:sp>
      <p:sp>
        <p:nvSpPr>
          <p:cNvPr id="3" name="TextBox 2"/>
          <p:cNvSpPr txBox="1"/>
          <p:nvPr/>
        </p:nvSpPr>
        <p:spPr>
          <a:xfrm>
            <a:off x="457200" y="411480"/>
            <a:ext cx="8229600" cy="457200"/>
          </a:xfrm>
          <a:prstGeom prst="rect">
            <a:avLst/>
          </a:prstGeom>
          <a:noFill/>
        </p:spPr>
        <p:txBody>
          <a:bodyPr wrap="square">
            <a:spAutoFit/>
          </a:bodyPr>
          <a:lstStyle/>
          <a:p>
            <a:r>
              <a:rPr sz="2200" b="1">
                <a:solidFill>
                  <a:srgbClr val="1F3864"/>
                </a:solidFill>
              </a:rPr>
              <a:t>Recovery Time — Live vs Expected vs Simulated</a:t>
            </a:r>
          </a:p>
        </p:txBody>
      </p:sp>
      <p:sp>
        <p:nvSpPr>
          <p:cNvPr id="4" name="TextBox 3"/>
          <p:cNvSpPr txBox="1"/>
          <p:nvPr/>
        </p:nvSpPr>
        <p:spPr>
          <a:xfrm>
            <a:off x="457200" y="868680"/>
            <a:ext cx="8229600" cy="274320"/>
          </a:xfrm>
          <a:prstGeom prst="rect">
            <a:avLst/>
          </a:prstGeom>
          <a:noFill/>
        </p:spPr>
        <p:txBody>
          <a:bodyPr wrap="square">
            <a:spAutoFit/>
          </a:bodyPr>
          <a:lstStyle/>
          <a:p>
            <a:r>
              <a:rPr sz="1100" b="0">
                <a:solidFill>
                  <a:srgbClr val="666666"/>
                </a:solidFill>
              </a:rPr>
              <a:t>How quickly does the system recover after detecting an attack?</a:t>
            </a:r>
          </a:p>
        </p:txBody>
      </p:sp>
      <p:sp>
        <p:nvSpPr>
          <p:cNvPr id="5" name="TextBox 4"/>
          <p:cNvSpPr txBox="1"/>
          <p:nvPr/>
        </p:nvSpPr>
        <p:spPr>
          <a:xfrm>
            <a:off x="457200" y="1280160"/>
            <a:ext cx="8229600" cy="274320"/>
          </a:xfrm>
          <a:prstGeom prst="rect">
            <a:avLst/>
          </a:prstGeom>
          <a:noFill/>
        </p:spPr>
        <p:txBody>
          <a:bodyPr wrap="square">
            <a:spAutoFit/>
          </a:bodyPr>
          <a:lstStyle/>
          <a:p>
            <a:r>
              <a:rPr sz="1300" b="1">
                <a:solidFill>
                  <a:srgbClr val="2E75B6"/>
                </a:solidFill>
              </a:rPr>
              <a:t>Fusion ALERT Timing</a:t>
            </a:r>
          </a:p>
        </p:txBody>
      </p:sp>
      <p:sp>
        <p:nvSpPr>
          <p:cNvPr id="6" name="TextBox 5"/>
          <p:cNvSpPr txBox="1"/>
          <p:nvPr/>
        </p:nvSpPr>
        <p:spPr>
          <a:xfrm>
            <a:off x="457200" y="1600200"/>
            <a:ext cx="8229600" cy="1097280"/>
          </a:xfrm>
          <a:prstGeom prst="rect">
            <a:avLst/>
          </a:prstGeom>
          <a:noFill/>
        </p:spPr>
        <p:txBody>
          <a:bodyPr wrap="square">
            <a:spAutoFit/>
          </a:bodyPr>
          <a:lstStyle/>
          <a:p>
            <a:r>
              <a:rPr sz="1000" b="0">
                <a:solidFill>
                  <a:srgbClr val="333333"/>
                </a:solidFill>
              </a:rPr>
              <a:t>Expected: &lt;3s (3 consecutive cycles). Live: exactly 3s (16:33:08 → 16:33:11). Simulated: 3 cycles. Exact match with design. Recovery launched automatically by fusion.py when score ≥ 1.5 for 3 cycles.</a:t>
            </a:r>
          </a:p>
        </p:txBody>
      </p:sp>
      <p:sp>
        <p:nvSpPr>
          <p:cNvPr id="7" name="TextBox 6"/>
          <p:cNvSpPr txBox="1"/>
          <p:nvPr/>
        </p:nvSpPr>
        <p:spPr>
          <a:xfrm>
            <a:off x="457200" y="2834640"/>
            <a:ext cx="8229600" cy="274320"/>
          </a:xfrm>
          <a:prstGeom prst="rect">
            <a:avLst/>
          </a:prstGeom>
          <a:noFill/>
        </p:spPr>
        <p:txBody>
          <a:bodyPr wrap="square">
            <a:spAutoFit/>
          </a:bodyPr>
          <a:lstStyle/>
          <a:p>
            <a:r>
              <a:rPr sz="1300" b="1">
                <a:solidFill>
                  <a:srgbClr val="2E75B6"/>
                </a:solidFill>
              </a:rPr>
              <a:t>Safe State Writes + Plant Stabilisation</a:t>
            </a:r>
          </a:p>
        </p:txBody>
      </p:sp>
      <p:sp>
        <p:nvSpPr>
          <p:cNvPr id="8" name="TextBox 7"/>
          <p:cNvSpPr txBox="1"/>
          <p:nvPr/>
        </p:nvSpPr>
        <p:spPr>
          <a:xfrm>
            <a:off x="457200" y="3154680"/>
            <a:ext cx="8229600" cy="1097280"/>
          </a:xfrm>
          <a:prstGeom prst="rect">
            <a:avLst/>
          </a:prstGeom>
          <a:noFill/>
        </p:spPr>
        <p:txBody>
          <a:bodyPr wrap="square">
            <a:spAutoFit/>
          </a:bodyPr>
          <a:lstStyle/>
          <a:p>
            <a:r>
              <a:rPr sz="1000" b="0">
                <a:solidFill>
                  <a:srgbClr val="333333"/>
                </a:solidFill>
              </a:rPr>
              <a:t>CIP writes completed &lt;5s: MV101=OPEN, P101=OFF (PLC1), MV201=CLOSED (PLC2), Sim disabled. Post-recovery: LIT101=502mm, Sim=False. Simulated: full 5-step recovery in &lt;12s, 5/5 clean invariant cycles.</a:t>
            </a:r>
          </a:p>
        </p:txBody>
      </p:sp>
      <p:sp>
        <p:nvSpPr>
          <p:cNvPr id="9" name="TextBox 8"/>
          <p:cNvSpPr txBox="1"/>
          <p:nvPr/>
        </p:nvSpPr>
        <p:spPr>
          <a:xfrm>
            <a:off x="457200" y="4389120"/>
            <a:ext cx="8229600" cy="274320"/>
          </a:xfrm>
          <a:prstGeom prst="rect">
            <a:avLst/>
          </a:prstGeom>
          <a:noFill/>
        </p:spPr>
        <p:txBody>
          <a:bodyPr wrap="square">
            <a:spAutoFit/>
          </a:bodyPr>
          <a:lstStyle/>
          <a:p>
            <a:r>
              <a:rPr sz="1300" b="1">
                <a:solidFill>
                  <a:srgbClr val="2E75B6"/>
                </a:solidFill>
              </a:rPr>
              <a:t>Write Race Finding</a:t>
            </a:r>
          </a:p>
        </p:txBody>
      </p:sp>
      <p:sp>
        <p:nvSpPr>
          <p:cNvPr id="10" name="TextBox 9"/>
          <p:cNvSpPr txBox="1"/>
          <p:nvPr/>
        </p:nvSpPr>
        <p:spPr>
          <a:xfrm>
            <a:off x="457200" y="4709160"/>
            <a:ext cx="8229600" cy="1097280"/>
          </a:xfrm>
          <a:prstGeom prst="rect">
            <a:avLst/>
          </a:prstGeom>
          <a:noFill/>
        </p:spPr>
        <p:txBody>
          <a:bodyPr wrap="square">
            <a:spAutoFit/>
          </a:bodyPr>
          <a:lstStyle/>
          <a:p>
            <a:r>
              <a:rPr sz="1000" b="0">
                <a:solidFill>
                  <a:srgbClr val="333333"/>
                </a:solidFill>
              </a:rPr>
              <a:t>Total stabilisation ~30s because recovery and Phase 1 entered a write race: recovery wrote MV101=OPEN, Phase 1 re-wrote MV101=CLOSED next cycle. Stable only after Phase 1 timer elapsed. Key lesson: containment (iptables block) MUST precede safe-state writes. In production attacker is on separate host; demo had both on same HMI.</a:t>
            </a:r>
          </a:p>
        </p:txBody>
      </p:sp>
      <p:sp>
        <p:nvSpPr>
          <p:cNvPr id="11" name="TextBox 10"/>
          <p:cNvSpPr txBox="1"/>
          <p:nvPr/>
        </p:nvSpPr>
        <p:spPr>
          <a:xfrm>
            <a:off x="457200" y="6492240"/>
            <a:ext cx="8229600" cy="228600"/>
          </a:xfrm>
          <a:prstGeom prst="rect">
            <a:avLst/>
          </a:prstGeom>
          <a:noFill/>
        </p:spPr>
        <p:txBody>
          <a:bodyPr wrap="square">
            <a:spAutoFit/>
          </a:bodyPr>
          <a:lstStyle/>
          <a:p>
            <a:r>
              <a:rPr sz="800" b="0">
                <a:solidFill>
                  <a:srgbClr val="999999"/>
                </a:solidFill>
              </a:rPr>
              <a:t>51.508 Secure Cyber Physical Systems  ·  SWaT Project  ·  iTrust Lab, SUTD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