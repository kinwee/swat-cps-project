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3.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sp>
      <p:sp>
        <p:nvSpPr>
          <p:cNvPr id="3" name="Shape 1"/>
          <p:cNvSpPr/>
          <p:nvPr/>
        </p:nvSpPr>
        <p:spPr>
          <a:xfrm>
            <a:off x="4754880" y="0"/>
            <a:ext cx="7434072" cy="6858000"/>
          </a:xfrm>
          <a:prstGeom prst="rect">
            <a:avLst/>
          </a:prstGeom>
          <a:solidFill>
            <a:srgbClr val="FFFFFF"/>
          </a:solidFill>
          <a:ln/>
        </p:spPr>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C0392B"/>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C0392B"/>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C0392B"/>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sp>
      <p:sp>
        <p:nvSpPr>
          <p:cNvPr id="11" name="Shape 9"/>
          <p:cNvSpPr/>
          <p:nvPr/>
        </p:nvSpPr>
        <p:spPr>
          <a:xfrm>
            <a:off x="320040" y="1463040"/>
            <a:ext cx="54864" cy="630936"/>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sp>
      <p:sp>
        <p:nvSpPr>
          <p:cNvPr id="15" name="Shape 13"/>
          <p:cNvSpPr/>
          <p:nvPr/>
        </p:nvSpPr>
        <p:spPr>
          <a:xfrm>
            <a:off x="320040" y="2231136"/>
            <a:ext cx="54864" cy="630936"/>
          </a:xfrm>
          <a:prstGeom prst="rect">
            <a:avLst/>
          </a:prstGeom>
          <a:solidFill>
            <a:srgbClr val="2E7D32"/>
          </a:solidFill>
          <a:ln/>
        </p:spPr>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sp>
      <p:sp>
        <p:nvSpPr>
          <p:cNvPr id="19" name="Shape 17"/>
          <p:cNvSpPr/>
          <p:nvPr/>
        </p:nvSpPr>
        <p:spPr>
          <a:xfrm>
            <a:off x="320040" y="2999232"/>
            <a:ext cx="54864" cy="630936"/>
          </a:xfrm>
          <a:prstGeom prst="rect">
            <a:avLst/>
          </a:prstGeom>
          <a:solidFill>
            <a:srgbClr val="2E7D32"/>
          </a:solidFill>
          <a:ln/>
        </p:spPr>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sp>
      <p:sp>
        <p:nvSpPr>
          <p:cNvPr id="23" name="Shape 21"/>
          <p:cNvSpPr/>
          <p:nvPr/>
        </p:nvSpPr>
        <p:spPr>
          <a:xfrm>
            <a:off x="320040" y="3767328"/>
            <a:ext cx="54864" cy="630936"/>
          </a:xfrm>
          <a:prstGeom prst="rect">
            <a:avLst/>
          </a:prstGeom>
          <a:solidFill>
            <a:srgbClr val="2E7D32"/>
          </a:solidFill>
          <a:ln/>
        </p:spPr>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sp>
      <p:sp>
        <p:nvSpPr>
          <p:cNvPr id="27" name="Shape 25"/>
          <p:cNvSpPr/>
          <p:nvPr/>
        </p:nvSpPr>
        <p:spPr>
          <a:xfrm>
            <a:off x="320040" y="4535424"/>
            <a:ext cx="54864" cy="630936"/>
          </a:xfrm>
          <a:prstGeom prst="rect">
            <a:avLst/>
          </a:prstGeom>
          <a:solidFill>
            <a:srgbClr val="2E7D32"/>
          </a:solidFill>
          <a:ln/>
        </p:spPr>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E8243C"/>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E8243C"/>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E8243C"/>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sp>
      <p:sp>
        <p:nvSpPr>
          <p:cNvPr id="10" name="Shape 8"/>
          <p:cNvSpPr/>
          <p:nvPr/>
        </p:nvSpPr>
        <p:spPr>
          <a:xfrm>
            <a:off x="320040" y="1417320"/>
            <a:ext cx="54864" cy="1444752"/>
          </a:xfrm>
          <a:prstGeom prst="rect">
            <a:avLst/>
          </a:prstGeom>
          <a:solidFill>
            <a:srgbClr val="C0392B"/>
          </a:solidFill>
          <a:ln/>
        </p:spPr>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sp>
      <p:sp>
        <p:nvSpPr>
          <p:cNvPr id="16" name="Shape 14"/>
          <p:cNvSpPr/>
          <p:nvPr/>
        </p:nvSpPr>
        <p:spPr>
          <a:xfrm>
            <a:off x="320040" y="2990088"/>
            <a:ext cx="54864" cy="1444752"/>
          </a:xfrm>
          <a:prstGeom prst="rect">
            <a:avLst/>
          </a:prstGeom>
          <a:solidFill>
            <a:srgbClr val="C0392B"/>
          </a:solidFill>
          <a:ln/>
        </p:spPr>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sp>
      <p:sp>
        <p:nvSpPr>
          <p:cNvPr id="22" name="Shape 20"/>
          <p:cNvSpPr/>
          <p:nvPr/>
        </p:nvSpPr>
        <p:spPr>
          <a:xfrm>
            <a:off x="320040" y="4562856"/>
            <a:ext cx="54864" cy="1444752"/>
          </a:xfrm>
          <a:prstGeom prst="rect">
            <a:avLst/>
          </a:prstGeom>
          <a:solidFill>
            <a:srgbClr val="C0392B"/>
          </a:solidFill>
          <a:ln/>
        </p:spPr>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976D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976D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976D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Code artifacts and expected metrics for the iTrust Lab demo</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Expected: &gt;95% for hybrid. Baseline: invariant-only ~67%, AE-only ~72%. Hybrid covers what neither catches alone.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Expected: &lt;3% for hybrid. 95th percentile threshold keeps AE FPR &lt;5%. 3-cycle confirmation window reduces inv false alarms.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Target: &lt;15 seconds from ALERT to verified safe state. PLC1B failover &lt;3s. Five clean invariant cycles ~5s.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