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1.jpg" ContentType="image/jpg"/>
  <Override PartName="/ppt/media/image-12-2.jpg" ContentType="image/jpg"/>
  <Override PartName="/ppt/media/image-19-1.jpg" ContentType="image/jpg"/>
  <Override PartName="/ppt/media/image-2-1.jpg" ContentType="image/jpg"/>
  <Override PartName="/ppt/media/image-30-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7"/>
    <p:sldId id="297" r:id="rId48"/>
    <p:sldId id="298" r:id="rId49"/>
    <p:sldId id="299" r:id="rId50"/>
    <p:sldId id="300" r:id="rId51"/>
    <p:sldId id="301" r:id="rId52"/>
    <p:sldId id="302" r:id="rId53"/>
    <p:sldId id="303" r:id="rId54"/>
    <p:sldId id="304" r:id="rId55"/>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1.jpg"/></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 Id="rId4" Type="http://schemas.openxmlformats.org/officeDocument/2006/relationships/image" Target="../media/image-1-1.jpg"/></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 Id="rId4" Type="http://schemas.openxmlformats.org/officeDocument/2006/relationships/image" Target="../media/image-1-1.jpg"/></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E8243C"/>
          </a:solidFill>
          <a:ln/>
        </p:spPr>
      </p:sp>
      <p:sp>
        <p:nvSpPr>
          <p:cNvPr id="3" name="Shape 1"/>
          <p:cNvSpPr/>
          <p:nvPr/>
        </p:nvSpPr>
        <p:spPr>
          <a:xfrm>
            <a:off x="4754880" y="0"/>
            <a:ext cx="7434072" cy="6858000"/>
          </a:xfrm>
          <a:prstGeom prst="rect">
            <a:avLst/>
          </a:prstGeom>
          <a:solidFill>
            <a:srgbClr val="FFFFFF"/>
          </a:solidFill>
          <a:ln/>
        </p:spPr>
      </p:sp>
      <p:sp>
        <p:nvSpPr>
          <p:cNvPr id="4" name="Text 2"/>
          <p:cNvSpPr/>
          <p:nvPr/>
        </p:nvSpPr>
        <p:spPr>
          <a:xfrm>
            <a:off x="320040" y="1097280"/>
            <a:ext cx="4206240" cy="1828800"/>
          </a:xfrm>
          <a:prstGeom prst="rect">
            <a:avLst/>
          </a:prstGeom>
          <a:noFill/>
          <a:ln/>
        </p:spPr>
        <p:txBody>
          <a:bodyPr wrap="square" rtlCol="0" anchor="ctr"/>
          <a:lstStyle/>
          <a:p>
            <a:pPr indent="0" marL="0">
              <a:buNone/>
            </a:pPr>
            <a:r>
              <a:rPr lang="en-US" sz="3000" b="1" dirty="0">
                <a:solidFill>
                  <a:srgbClr val="FFFFFF"/>
                </a:solidFill>
                <a:latin typeface="Calibri Light" pitchFamily="34" charset="0"/>
                <a:ea typeface="Calibri Light" pitchFamily="34" charset="-122"/>
                <a:cs typeface="Calibri Light" pitchFamily="34" charset="-120"/>
              </a:rPr>
              <a:t>Stealthy Attack</a:t>
            </a:r>
            <a:endParaRPr lang="en-US" sz="3000" dirty="0"/>
          </a:p>
          <a:p>
            <a:pPr indent="0" marL="0">
              <a:buNone/>
            </a:pPr>
            <a:r>
              <a:rPr lang="en-US" sz="3000" b="1" dirty="0">
                <a:solidFill>
                  <a:srgbClr val="FFFFFF"/>
                </a:solidFill>
                <a:latin typeface="Calibri Light" pitchFamily="34" charset="0"/>
                <a:ea typeface="Calibri Light" pitchFamily="34" charset="-122"/>
                <a:cs typeface="Calibri Light" pitchFamily="34" charset="-120"/>
              </a:rPr>
              <a:t>&amp; Resilient Defense</a:t>
            </a:r>
            <a:endParaRPr lang="en-US" sz="3000" dirty="0"/>
          </a:p>
        </p:txBody>
      </p:sp>
      <p:sp>
        <p:nvSpPr>
          <p:cNvPr id="5" name="Text 3"/>
          <p:cNvSpPr/>
          <p:nvPr/>
        </p:nvSpPr>
        <p:spPr>
          <a:xfrm>
            <a:off x="320040" y="2834640"/>
            <a:ext cx="4206240" cy="548640"/>
          </a:xfrm>
          <a:prstGeom prst="rect">
            <a:avLst/>
          </a:prstGeom>
          <a:noFill/>
          <a:ln/>
        </p:spPr>
        <p:txBody>
          <a:bodyPr wrap="square" rtlCol="0" anchor="ctr"/>
          <a:lstStyle/>
          <a:p>
            <a:pPr indent="0" marL="0">
              <a:buNone/>
            </a:pPr>
            <a:r>
              <a:rPr lang="en-US" sz="2200" dirty="0">
                <a:solidFill>
                  <a:srgbClr val="FFFFFF"/>
                </a:solidFill>
                <a:latin typeface="Calibri Light" pitchFamily="34" charset="0"/>
                <a:ea typeface="Calibri Light" pitchFamily="34" charset="-122"/>
                <a:cs typeface="Calibri Light" pitchFamily="34" charset="-120"/>
              </a:rPr>
              <a:t>on the SWaT Testbed</a:t>
            </a:r>
            <a:endParaRPr lang="en-US" sz="2200" dirty="0"/>
          </a:p>
        </p:txBody>
      </p:sp>
      <p:sp>
        <p:nvSpPr>
          <p:cNvPr id="6" name="Shape 4"/>
          <p:cNvSpPr/>
          <p:nvPr/>
        </p:nvSpPr>
        <p:spPr>
          <a:xfrm>
            <a:off x="320040" y="3383280"/>
            <a:ext cx="3657600" cy="36576"/>
          </a:xfrm>
          <a:prstGeom prst="rect">
            <a:avLst/>
          </a:prstGeom>
          <a:solidFill>
            <a:srgbClr val="FFFFFF"/>
          </a:solidFill>
          <a:ln/>
        </p:spPr>
      </p:sp>
      <p:sp>
        <p:nvSpPr>
          <p:cNvPr id="7" name="Text 5"/>
          <p:cNvSpPr/>
          <p:nvPr/>
        </p:nvSpPr>
        <p:spPr>
          <a:xfrm>
            <a:off x="320040" y="3520440"/>
            <a:ext cx="4206240" cy="548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51.508 Secure Cyber Physical Systems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iTrust Lab · SUTD · AY2025/26 Term 2</a:t>
            </a:r>
            <a:endParaRPr lang="en-US" sz="1100" dirty="0"/>
          </a:p>
        </p:txBody>
      </p:sp>
      <p:sp>
        <p:nvSpPr>
          <p:cNvPr id="8" name="Shape 6"/>
          <p:cNvSpPr/>
          <p:nvPr/>
        </p:nvSpPr>
        <p:spPr>
          <a:xfrm>
            <a:off x="5029200" y="1371600"/>
            <a:ext cx="4480560" cy="640080"/>
          </a:xfrm>
          <a:prstGeom prst="rect">
            <a:avLst/>
          </a:prstGeom>
          <a:solidFill>
            <a:srgbClr val="C0392B"/>
          </a:solidFill>
          <a:ln/>
        </p:spPr>
      </p:sp>
      <p:sp>
        <p:nvSpPr>
          <p:cNvPr id="9" name="Text 7"/>
          <p:cNvSpPr/>
          <p:nvPr/>
        </p:nvSpPr>
        <p:spPr>
          <a:xfrm>
            <a:off x="5029200" y="1371600"/>
            <a:ext cx="448056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False CIP Tag Injection</a:t>
            </a:r>
            <a:endParaRPr lang="en-US" sz="1400" dirty="0"/>
          </a:p>
        </p:txBody>
      </p:sp>
      <p:sp>
        <p:nvSpPr>
          <p:cNvPr id="10" name="Shape 8"/>
          <p:cNvSpPr/>
          <p:nvPr/>
        </p:nvSpPr>
        <p:spPr>
          <a:xfrm>
            <a:off x="5029200" y="2468880"/>
            <a:ext cx="4480560" cy="640080"/>
          </a:xfrm>
          <a:prstGeom prst="rect">
            <a:avLst/>
          </a:prstGeom>
          <a:solidFill>
            <a:srgbClr val="1565C0"/>
          </a:solidFill>
          <a:ln/>
        </p:spPr>
      </p:sp>
      <p:sp>
        <p:nvSpPr>
          <p:cNvPr id="11" name="Text 9"/>
          <p:cNvSpPr/>
          <p:nvPr/>
        </p:nvSpPr>
        <p:spPr>
          <a:xfrm>
            <a:off x="5029200" y="2468880"/>
            <a:ext cx="448056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Constrained ML Evasion</a:t>
            </a:r>
            <a:endParaRPr lang="en-US" sz="1400" dirty="0"/>
          </a:p>
        </p:txBody>
      </p:sp>
      <p:sp>
        <p:nvSpPr>
          <p:cNvPr id="12" name="Shape 10"/>
          <p:cNvSpPr/>
          <p:nvPr/>
        </p:nvSpPr>
        <p:spPr>
          <a:xfrm>
            <a:off x="5029200" y="3566160"/>
            <a:ext cx="4480560" cy="640080"/>
          </a:xfrm>
          <a:prstGeom prst="rect">
            <a:avLst/>
          </a:prstGeom>
          <a:solidFill>
            <a:srgbClr val="2E7D32"/>
          </a:solidFill>
          <a:ln/>
        </p:spPr>
      </p:sp>
      <p:sp>
        <p:nvSpPr>
          <p:cNvPr id="13" name="Text 11"/>
          <p:cNvSpPr/>
          <p:nvPr/>
        </p:nvSpPr>
        <p:spPr>
          <a:xfrm>
            <a:off x="5029200" y="3566160"/>
            <a:ext cx="448056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Invariant-Based Recovery</a:t>
            </a:r>
            <a:endParaRPr lang="en-US" sz="1400" dirty="0"/>
          </a:p>
        </p:txBody>
      </p:sp>
      <p:pic>
        <p:nvPicPr>
          <p:cNvPr id="14" name="Image 0" descr="/home/claude/swat-cps-project/assets/images/swat_testbed_photo.jpg"/>
          <p:cNvPicPr>
            <a:picLocks noChangeAspect="1"/>
          </p:cNvPicPr>
          <p:nvPr/>
        </p:nvPicPr>
        <p:blipFill>
          <a:blip r:embed="rId1"/>
          <a:stretch>
            <a:fillRect/>
          </a:stretch>
        </p:blipFill>
        <p:spPr>
          <a:xfrm>
            <a:off x="5029200" y="4754880"/>
            <a:ext cx="6839712" cy="1737360"/>
          </a:xfrm>
          <a:prstGeom prst="rect">
            <a:avLst/>
          </a:prstGeom>
        </p:spPr>
      </p:pic>
      <p:sp>
        <p:nvSpPr>
          <p:cNvPr id="15" name="Text 12"/>
          <p:cNvSpPr/>
          <p:nvPr/>
        </p:nvSpPr>
        <p:spPr>
          <a:xfrm>
            <a:off x="5029200" y="6355080"/>
            <a:ext cx="6839712" cy="228600"/>
          </a:xfrm>
          <a:prstGeom prst="rect">
            <a:avLst/>
          </a:prstGeom>
          <a:noFill/>
          <a:ln/>
        </p:spPr>
        <p:txBody>
          <a:bodyPr wrap="square" rtlCol="0" anchor="ctr"/>
          <a:lstStyle/>
          <a:p>
            <a:pPr algn="ctr" indent="0" marL="0">
              <a:buNone/>
            </a:pPr>
            <a:r>
              <a:rPr lang="en-US" sz="750" i="1" dirty="0">
                <a:solidFill>
                  <a:srgbClr val="6B6B6B"/>
                </a:solidFill>
                <a:latin typeface="Calibri" pitchFamily="34" charset="0"/>
                <a:ea typeface="Calibri" pitchFamily="34" charset="-122"/>
                <a:cs typeface="Calibri" pitchFamily="34" charset="-120"/>
              </a:rPr>
              <a:t>SWaT Testbed — iTrust Centre for Research in Cyber Security, SUTD Singapore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Text 4"/>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Project Overview</a:t>
            </a:r>
            <a:endParaRPr lang="en-US" sz="3200" dirty="0"/>
          </a:p>
        </p:txBody>
      </p:sp>
      <p:sp>
        <p:nvSpPr>
          <p:cNvPr id="7" name="Shape 5"/>
          <p:cNvSpPr/>
          <p:nvPr/>
        </p:nvSpPr>
        <p:spPr>
          <a:xfrm>
            <a:off x="320040" y="1417320"/>
            <a:ext cx="2681478" cy="384048"/>
          </a:xfrm>
          <a:prstGeom prst="rect">
            <a:avLst/>
          </a:prstGeom>
          <a:solidFill>
            <a:srgbClr val="E8243C"/>
          </a:solidFill>
          <a:ln/>
        </p:spPr>
      </p:sp>
      <p:sp>
        <p:nvSpPr>
          <p:cNvPr id="8" name="Text 6"/>
          <p:cNvSpPr/>
          <p:nvPr/>
        </p:nvSpPr>
        <p:spPr>
          <a:xfrm>
            <a:off x="320040" y="1417320"/>
            <a:ext cx="2681478" cy="38404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9" name="Shape 7"/>
          <p:cNvSpPr/>
          <p:nvPr/>
        </p:nvSpPr>
        <p:spPr>
          <a:xfrm>
            <a:off x="320040" y="1801368"/>
            <a:ext cx="2681478" cy="3291840"/>
          </a:xfrm>
          <a:prstGeom prst="rect">
            <a:avLst/>
          </a:prstGeom>
          <a:solidFill>
            <a:srgbClr val="F5F5F5"/>
          </a:solidFill>
          <a:ln w="12700">
            <a:solidFill>
              <a:srgbClr val="E0E0E0"/>
            </a:solidFill>
            <a:prstDash val="solid"/>
          </a:ln>
        </p:spPr>
      </p:sp>
      <p:sp>
        <p:nvSpPr>
          <p:cNvPr id="10" name="Text 8"/>
          <p:cNvSpPr/>
          <p:nvPr/>
        </p:nvSpPr>
        <p:spPr>
          <a:xfrm>
            <a:off x="411480" y="1874520"/>
            <a:ext cx="2498598" cy="320040"/>
          </a:xfrm>
          <a:prstGeom prst="rect">
            <a:avLst/>
          </a:prstGeom>
          <a:noFill/>
          <a:ln/>
        </p:spPr>
        <p:txBody>
          <a:bodyPr wrap="square" rtlCol="0" anchor="ctr"/>
          <a:lstStyle/>
          <a:p>
            <a:pPr indent="0" marL="0">
              <a:buNone/>
            </a:pPr>
            <a:r>
              <a:rPr lang="en-US" sz="1300" b="1" dirty="0">
                <a:solidFill>
                  <a:srgbClr val="E8243C"/>
                </a:solidFill>
                <a:latin typeface="Calibri" pitchFamily="34" charset="0"/>
                <a:ea typeface="Calibri" pitchFamily="34" charset="-122"/>
                <a:cs typeface="Calibri" pitchFamily="34" charset="-120"/>
              </a:rPr>
              <a:t>Motivation</a:t>
            </a:r>
            <a:endParaRPr lang="en-US" sz="1300" dirty="0"/>
          </a:p>
        </p:txBody>
      </p:sp>
      <p:sp>
        <p:nvSpPr>
          <p:cNvPr id="11" name="Text 9"/>
          <p:cNvSpPr/>
          <p:nvPr/>
        </p:nvSpPr>
        <p:spPr>
          <a:xfrm>
            <a:off x="411480" y="2240280"/>
            <a:ext cx="2498598" cy="27432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SWaT uses EtherNet/IP with no authentication. Existing ML detectors are vulnerable to adversarial evasion.</a:t>
            </a:r>
            <a:endParaRPr lang="en-US" sz="1050" dirty="0"/>
          </a:p>
        </p:txBody>
      </p:sp>
      <p:sp>
        <p:nvSpPr>
          <p:cNvPr id="12" name="Shape 10"/>
          <p:cNvSpPr/>
          <p:nvPr/>
        </p:nvSpPr>
        <p:spPr>
          <a:xfrm>
            <a:off x="3275838" y="1417320"/>
            <a:ext cx="2681478" cy="384048"/>
          </a:xfrm>
          <a:prstGeom prst="rect">
            <a:avLst/>
          </a:prstGeom>
          <a:solidFill>
            <a:srgbClr val="C0392B"/>
          </a:solidFill>
          <a:ln/>
        </p:spPr>
      </p:sp>
      <p:sp>
        <p:nvSpPr>
          <p:cNvPr id="13" name="Text 11"/>
          <p:cNvSpPr/>
          <p:nvPr/>
        </p:nvSpPr>
        <p:spPr>
          <a:xfrm>
            <a:off x="3275838" y="1417320"/>
            <a:ext cx="2681478" cy="38404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Shape 12"/>
          <p:cNvSpPr/>
          <p:nvPr/>
        </p:nvSpPr>
        <p:spPr>
          <a:xfrm>
            <a:off x="3275838" y="1801368"/>
            <a:ext cx="2681478" cy="3291840"/>
          </a:xfrm>
          <a:prstGeom prst="rect">
            <a:avLst/>
          </a:prstGeom>
          <a:solidFill>
            <a:srgbClr val="F5F5F5"/>
          </a:solidFill>
          <a:ln w="12700">
            <a:solidFill>
              <a:srgbClr val="E0E0E0"/>
            </a:solidFill>
            <a:prstDash val="solid"/>
          </a:ln>
        </p:spPr>
      </p:sp>
      <p:sp>
        <p:nvSpPr>
          <p:cNvPr id="15" name="Text 13"/>
          <p:cNvSpPr/>
          <p:nvPr/>
        </p:nvSpPr>
        <p:spPr>
          <a:xfrm>
            <a:off x="3367278" y="1874520"/>
            <a:ext cx="2498598" cy="32004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Attack</a:t>
            </a:r>
            <a:endParaRPr lang="en-US" sz="1300" dirty="0"/>
          </a:p>
        </p:txBody>
      </p:sp>
      <p:sp>
        <p:nvSpPr>
          <p:cNvPr id="16" name="Text 14"/>
          <p:cNvSpPr/>
          <p:nvPr/>
        </p:nvSpPr>
        <p:spPr>
          <a:xfrm>
            <a:off x="3367278" y="2240280"/>
            <a:ext cx="2498598" cy="27432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Compromised HMI → direct CIP tag injection targeting MV101 and P101, with adversarial sensor spoofing.</a:t>
            </a:r>
            <a:endParaRPr lang="en-US" sz="1050" dirty="0"/>
          </a:p>
        </p:txBody>
      </p:sp>
      <p:sp>
        <p:nvSpPr>
          <p:cNvPr id="17" name="Shape 15"/>
          <p:cNvSpPr/>
          <p:nvPr/>
        </p:nvSpPr>
        <p:spPr>
          <a:xfrm>
            <a:off x="6231636" y="1417320"/>
            <a:ext cx="2681478" cy="384048"/>
          </a:xfrm>
          <a:prstGeom prst="rect">
            <a:avLst/>
          </a:prstGeom>
          <a:solidFill>
            <a:srgbClr val="1565C0"/>
          </a:solidFill>
          <a:ln/>
        </p:spPr>
      </p:sp>
      <p:sp>
        <p:nvSpPr>
          <p:cNvPr id="18" name="Text 16"/>
          <p:cNvSpPr/>
          <p:nvPr/>
        </p:nvSpPr>
        <p:spPr>
          <a:xfrm>
            <a:off x="6231636" y="1417320"/>
            <a:ext cx="2681478" cy="38404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9" name="Shape 17"/>
          <p:cNvSpPr/>
          <p:nvPr/>
        </p:nvSpPr>
        <p:spPr>
          <a:xfrm>
            <a:off x="6231636" y="1801368"/>
            <a:ext cx="2681478" cy="3291840"/>
          </a:xfrm>
          <a:prstGeom prst="rect">
            <a:avLst/>
          </a:prstGeom>
          <a:solidFill>
            <a:srgbClr val="F5F5F5"/>
          </a:solidFill>
          <a:ln w="12700">
            <a:solidFill>
              <a:srgbClr val="E0E0E0"/>
            </a:solidFill>
            <a:prstDash val="solid"/>
          </a:ln>
        </p:spPr>
      </p:sp>
      <p:sp>
        <p:nvSpPr>
          <p:cNvPr id="20" name="Text 18"/>
          <p:cNvSpPr/>
          <p:nvPr/>
        </p:nvSpPr>
        <p:spPr>
          <a:xfrm>
            <a:off x="6323076" y="1874520"/>
            <a:ext cx="2498598" cy="320040"/>
          </a:xfrm>
          <a:prstGeom prst="rect">
            <a:avLst/>
          </a:prstGeom>
          <a:noFill/>
          <a:ln/>
        </p:spPr>
        <p:txBody>
          <a:bodyPr wrap="square"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Defense</a:t>
            </a:r>
            <a:endParaRPr lang="en-US" sz="1300" dirty="0"/>
          </a:p>
        </p:txBody>
      </p:sp>
      <p:sp>
        <p:nvSpPr>
          <p:cNvPr id="21" name="Text 19"/>
          <p:cNvSpPr/>
          <p:nvPr/>
        </p:nvSpPr>
        <p:spPr>
          <a:xfrm>
            <a:off x="6323076" y="2240280"/>
            <a:ext cx="2498598" cy="27432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Hybrid detector: process invariants (physics-based) + reconstruction autoencoder + weighted fusion.</a:t>
            </a:r>
            <a:endParaRPr lang="en-US" sz="1050" dirty="0"/>
          </a:p>
        </p:txBody>
      </p:sp>
      <p:sp>
        <p:nvSpPr>
          <p:cNvPr id="22" name="Shape 20"/>
          <p:cNvSpPr/>
          <p:nvPr/>
        </p:nvSpPr>
        <p:spPr>
          <a:xfrm>
            <a:off x="9187434" y="1417320"/>
            <a:ext cx="2681478" cy="384048"/>
          </a:xfrm>
          <a:prstGeom prst="rect">
            <a:avLst/>
          </a:prstGeom>
          <a:solidFill>
            <a:srgbClr val="2E7D32"/>
          </a:solidFill>
          <a:ln/>
        </p:spPr>
      </p:sp>
      <p:sp>
        <p:nvSpPr>
          <p:cNvPr id="23" name="Text 21"/>
          <p:cNvSpPr/>
          <p:nvPr/>
        </p:nvSpPr>
        <p:spPr>
          <a:xfrm>
            <a:off x="9187434" y="1417320"/>
            <a:ext cx="2681478" cy="38404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4" name="Shape 22"/>
          <p:cNvSpPr/>
          <p:nvPr/>
        </p:nvSpPr>
        <p:spPr>
          <a:xfrm>
            <a:off x="9187434" y="1801368"/>
            <a:ext cx="2681478" cy="3291840"/>
          </a:xfrm>
          <a:prstGeom prst="rect">
            <a:avLst/>
          </a:prstGeom>
          <a:solidFill>
            <a:srgbClr val="F5F5F5"/>
          </a:solidFill>
          <a:ln w="12700">
            <a:solidFill>
              <a:srgbClr val="E0E0E0"/>
            </a:solidFill>
            <a:prstDash val="solid"/>
          </a:ln>
        </p:spPr>
      </p:sp>
      <p:sp>
        <p:nvSpPr>
          <p:cNvPr id="25" name="Text 23"/>
          <p:cNvSpPr/>
          <p:nvPr/>
        </p:nvSpPr>
        <p:spPr>
          <a:xfrm>
            <a:off x="9278874" y="1874520"/>
            <a:ext cx="2498598" cy="320040"/>
          </a:xfrm>
          <a:prstGeom prst="rect">
            <a:avLst/>
          </a:prstGeom>
          <a:noFill/>
          <a:ln/>
        </p:spPr>
        <p:txBody>
          <a:bodyPr wrap="square"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Recovery</a:t>
            </a:r>
            <a:endParaRPr lang="en-US" sz="1300" dirty="0"/>
          </a:p>
        </p:txBody>
      </p:sp>
      <p:sp>
        <p:nvSpPr>
          <p:cNvPr id="26" name="Text 24"/>
          <p:cNvSpPr/>
          <p:nvPr/>
        </p:nvSpPr>
        <p:spPr>
          <a:xfrm>
            <a:off x="9278874" y="2240280"/>
            <a:ext cx="2498598" cy="27432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Automated safe-state + PLC1B failover + invariant-verified resume. Target: &lt; 15 seconds.</a:t>
            </a:r>
            <a:endParaRPr lang="en-US" sz="1050" dirty="0"/>
          </a:p>
        </p:txBody>
      </p:sp>
      <p:sp>
        <p:nvSpPr>
          <p:cNvPr id="27" name="Text 25"/>
          <p:cNvSpPr/>
          <p:nvPr/>
        </p:nvSpPr>
        <p:spPr>
          <a:xfrm>
            <a:off x="320040" y="5166360"/>
            <a:ext cx="11548872" cy="411480"/>
          </a:xfrm>
          <a:prstGeom prst="rect">
            <a:avLst/>
          </a:prstGeom>
          <a:noFill/>
          <a:ln/>
        </p:spPr>
        <p:txBody>
          <a:bodyPr wrap="square"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Research Contribution: First end-to-end demonstration on SWaT combining adversarial evasion attacks with a hybrid physics+ML defense and automated recovery (university policy: all scripts run on HMI).</a:t>
            </a:r>
            <a:endParaRPr lang="en-US" sz="950" dirty="0"/>
          </a:p>
        </p:txBody>
      </p:sp>
      <p:pic>
        <p:nvPicPr>
          <p:cNvPr id="28" name="Image 0" descr="/home/claude/swat-cps-project/assets/images/swat_testbed_photo.jpg"/>
          <p:cNvPicPr>
            <a:picLocks noChangeAspect="1"/>
          </p:cNvPicPr>
          <p:nvPr/>
        </p:nvPicPr>
        <p:blipFill>
          <a:blip r:embed="rId1"/>
          <a:stretch>
            <a:fillRect/>
          </a:stretch>
        </p:blipFill>
        <p:spPr>
          <a:xfrm>
            <a:off x="320040" y="5596128"/>
            <a:ext cx="11548872" cy="822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Text 4"/>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Threat Model &amp; Assumptions</a:t>
            </a:r>
            <a:endParaRPr lang="en-US" sz="3200" dirty="0"/>
          </a:p>
        </p:txBody>
      </p:sp>
      <p:pic>
        <p:nvPicPr>
          <p:cNvPr id="7" name="Image 0" descr="/home/claude/swat-cps-project/assets/images/swat_architecture.png"/>
          <p:cNvPicPr>
            <a:picLocks noChangeAspect="1"/>
          </p:cNvPicPr>
          <p:nvPr/>
        </p:nvPicPr>
        <p:blipFill>
          <a:blip r:embed="rId1"/>
          <a:stretch>
            <a:fillRect/>
          </a:stretch>
        </p:blipFill>
        <p:spPr>
          <a:xfrm>
            <a:off x="320040" y="1371600"/>
            <a:ext cx="4572000" cy="4206240"/>
          </a:xfrm>
          <a:prstGeom prst="rect">
            <a:avLst/>
          </a:prstGeom>
        </p:spPr>
      </p:pic>
      <p:sp>
        <p:nvSpPr>
          <p:cNvPr id="8" name="Text 5"/>
          <p:cNvSpPr/>
          <p:nvPr/>
        </p:nvSpPr>
        <p:spPr>
          <a:xfrm>
            <a:off x="320040" y="5559552"/>
            <a:ext cx="4572000" cy="201168"/>
          </a:xfrm>
          <a:prstGeom prst="rect">
            <a:avLst/>
          </a:prstGeom>
          <a:noFill/>
          <a:ln/>
        </p:spPr>
        <p:txBody>
          <a:bodyPr wrap="square" rtlCol="0" anchor="ctr"/>
          <a:lstStyle/>
          <a:p>
            <a:pPr algn="ctr" indent="0" marL="0">
              <a:buNone/>
            </a:pPr>
            <a:r>
              <a:rPr lang="en-US" sz="750" i="1" dirty="0">
                <a:solidFill>
                  <a:srgbClr val="6B6B6B"/>
                </a:solidFill>
                <a:latin typeface="Calibri" pitchFamily="34" charset="0"/>
                <a:ea typeface="Calibri" pitchFamily="34" charset="-122"/>
                <a:cs typeface="Calibri" pitchFamily="34" charset="-120"/>
              </a:rPr>
              <a:t>SWaT network: IT (Level 2–3) + OT (Level 0–1), PLC1–PLC6</a:t>
            </a:r>
            <a:endParaRPr lang="en-US" sz="750" dirty="0"/>
          </a:p>
        </p:txBody>
      </p:sp>
      <p:sp>
        <p:nvSpPr>
          <p:cNvPr id="9" name="Text 6"/>
          <p:cNvSpPr/>
          <p:nvPr/>
        </p:nvSpPr>
        <p:spPr>
          <a:xfrm>
            <a:off x="5166360" y="1371600"/>
            <a:ext cx="6675120" cy="347472"/>
          </a:xfrm>
          <a:prstGeom prst="rect">
            <a:avLst/>
          </a:prstGeom>
          <a:noFill/>
          <a:ln/>
        </p:spPr>
        <p:txBody>
          <a:bodyPr wrap="square" rtlCol="0" anchor="ctr"/>
          <a:lstStyle/>
          <a:p>
            <a:pPr indent="0" marL="0">
              <a:buNone/>
            </a:pPr>
            <a:r>
              <a:rPr lang="en-US" sz="1500" b="1" dirty="0">
                <a:solidFill>
                  <a:srgbClr val="E8243C"/>
                </a:solidFill>
                <a:latin typeface="Calibri" pitchFamily="34" charset="0"/>
                <a:ea typeface="Calibri" pitchFamily="34" charset="-122"/>
                <a:cs typeface="Calibri" pitchFamily="34" charset="-120"/>
              </a:rPr>
              <a:t>SWaT Attack Surface</a:t>
            </a:r>
            <a:endParaRPr lang="en-US" sz="1500" dirty="0"/>
          </a:p>
        </p:txBody>
      </p:sp>
      <p:sp>
        <p:nvSpPr>
          <p:cNvPr id="10" name="Shape 7"/>
          <p:cNvSpPr/>
          <p:nvPr/>
        </p:nvSpPr>
        <p:spPr>
          <a:xfrm>
            <a:off x="5166360" y="1828800"/>
            <a:ext cx="164592" cy="1005840"/>
          </a:xfrm>
          <a:prstGeom prst="rect">
            <a:avLst/>
          </a:prstGeom>
          <a:solidFill>
            <a:srgbClr val="E8243C"/>
          </a:solidFill>
          <a:ln/>
        </p:spPr>
      </p:sp>
      <p:sp>
        <p:nvSpPr>
          <p:cNvPr id="11" name="Text 8"/>
          <p:cNvSpPr/>
          <p:nvPr/>
        </p:nvSpPr>
        <p:spPr>
          <a:xfrm>
            <a:off x="5440680" y="1874520"/>
            <a:ext cx="6400800" cy="274320"/>
          </a:xfrm>
          <a:prstGeom prst="rect">
            <a:avLst/>
          </a:prstGeom>
          <a:noFill/>
          <a:ln/>
        </p:spPr>
        <p:txBody>
          <a:bodyPr wrap="square" rtlCol="0" anchor="ctr"/>
          <a:lstStyle/>
          <a:p>
            <a:pPr indent="0" marL="0">
              <a:buNone/>
            </a:pPr>
            <a:r>
              <a:rPr lang="en-US" sz="1100" b="1" dirty="0">
                <a:solidFill>
                  <a:srgbClr val="E8243C"/>
                </a:solidFill>
                <a:latin typeface="Calibri" pitchFamily="34" charset="0"/>
                <a:ea typeface="Calibri" pitchFamily="34" charset="-122"/>
                <a:cs typeface="Calibri" pitchFamily="34" charset="-120"/>
              </a:rPr>
              <a:t>HMI Workstation</a:t>
            </a:r>
            <a:endParaRPr lang="en-US" sz="1100" dirty="0"/>
          </a:p>
        </p:txBody>
      </p:sp>
      <p:sp>
        <p:nvSpPr>
          <p:cNvPr id="12" name="Text 9"/>
          <p:cNvSpPr/>
          <p:nvPr/>
        </p:nvSpPr>
        <p:spPr>
          <a:xfrm>
            <a:off x="5440680" y="2148840"/>
            <a:ext cx="6400800" cy="64008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Compromised via phishing/USB drop — attacker runs scripts directly on HMI (university policy)</a:t>
            </a:r>
            <a:endParaRPr lang="en-US" sz="1000" dirty="0"/>
          </a:p>
        </p:txBody>
      </p:sp>
      <p:sp>
        <p:nvSpPr>
          <p:cNvPr id="13" name="Shape 10"/>
          <p:cNvSpPr/>
          <p:nvPr/>
        </p:nvSpPr>
        <p:spPr>
          <a:xfrm>
            <a:off x="5166360" y="3154680"/>
            <a:ext cx="164592" cy="1005840"/>
          </a:xfrm>
          <a:prstGeom prst="rect">
            <a:avLst/>
          </a:prstGeom>
          <a:solidFill>
            <a:srgbClr val="C0392B"/>
          </a:solidFill>
          <a:ln/>
        </p:spPr>
      </p:sp>
      <p:sp>
        <p:nvSpPr>
          <p:cNvPr id="14" name="Text 11"/>
          <p:cNvSpPr/>
          <p:nvPr/>
        </p:nvSpPr>
        <p:spPr>
          <a:xfrm>
            <a:off x="5440680" y="3200400"/>
            <a:ext cx="6400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EtherNet/IP — No Auth</a:t>
            </a:r>
            <a:endParaRPr lang="en-US" sz="1100" dirty="0"/>
          </a:p>
        </p:txBody>
      </p:sp>
      <p:sp>
        <p:nvSpPr>
          <p:cNvPr id="15" name="Text 12"/>
          <p:cNvSpPr/>
          <p:nvPr/>
        </p:nvSpPr>
        <p:spPr>
          <a:xfrm>
            <a:off x="5440680" y="3474720"/>
            <a:ext cx="6400800" cy="64008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HMI has direct trusted access to all PLCs — any pylogix write is accepted immediately</a:t>
            </a:r>
            <a:endParaRPr lang="en-US" sz="1000" dirty="0"/>
          </a:p>
        </p:txBody>
      </p:sp>
      <p:sp>
        <p:nvSpPr>
          <p:cNvPr id="16" name="Shape 13"/>
          <p:cNvSpPr/>
          <p:nvPr/>
        </p:nvSpPr>
        <p:spPr>
          <a:xfrm>
            <a:off x="5166360" y="4480560"/>
            <a:ext cx="164592" cy="1005840"/>
          </a:xfrm>
          <a:prstGeom prst="rect">
            <a:avLst/>
          </a:prstGeom>
          <a:solidFill>
            <a:srgbClr val="2E7D32"/>
          </a:solidFill>
          <a:ln/>
        </p:spPr>
      </p:sp>
      <p:sp>
        <p:nvSpPr>
          <p:cNvPr id="17" name="Text 14"/>
          <p:cNvSpPr/>
          <p:nvPr/>
        </p:nvSpPr>
        <p:spPr>
          <a:xfrm>
            <a:off x="5440680" y="4526280"/>
            <a:ext cx="6400800"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Zone A (SIS)</a:t>
            </a:r>
            <a:endParaRPr lang="en-US" sz="1100" dirty="0"/>
          </a:p>
        </p:txBody>
      </p:sp>
      <p:sp>
        <p:nvSpPr>
          <p:cNvPr id="18" name="Text 15"/>
          <p:cNvSpPr/>
          <p:nvPr/>
        </p:nvSpPr>
        <p:spPr>
          <a:xfrm>
            <a:off x="5440680" y="4800600"/>
            <a:ext cx="6400800" cy="64008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Safety Instrumented System — target is to stay below SIS thresholds to avoid shutdown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ATTACK</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Attack Design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Papers #9 (False CIP Injection) + #31 (Constrained Concealment)</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C0392B"/>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Phase 0 — Reconnaissance</a:t>
            </a:r>
            <a:endParaRPr lang="en-US" sz="1100" dirty="0"/>
          </a:p>
        </p:txBody>
      </p:sp>
      <p:sp>
        <p:nvSpPr>
          <p:cNvPr id="13" name="Text 11"/>
          <p:cNvSpPr/>
          <p:nvPr/>
        </p:nvSpPr>
        <p:spPr>
          <a:xfrm>
            <a:off x="502920" y="181051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pylogix tag enumeration on PLC1 (192.168.1.10). Read HMI_LIT101.Pv, AI_FIT_101_FLOW, HMI_MV101.Cmd. Build timestamped tag value database (enip_db.pkl).</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C0392B"/>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Phase 1 — False CIP Injection</a:t>
            </a:r>
            <a:endParaRPr lang="en-US" sz="1100" dirty="0"/>
          </a:p>
        </p:txBody>
      </p:sp>
      <p:sp>
        <p:nvSpPr>
          <p:cNvPr id="17" name="Text 15"/>
          <p:cNvSpPr/>
          <p:nvPr/>
        </p:nvSpPr>
        <p:spPr>
          <a:xfrm>
            <a:off x="502920" y="309067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Direct write from compromised HMI: HMI_MV101.Auto=False → HMI_MV101.Cmd=1 (CLOSE), HMI_P101.Auto=False → HMI_P101.Cmd=1 (OFF). No ARP poison needed — HMI has trusted PLC access.</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C0392B"/>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Phase 2 — Adversarial ML Evasion</a:t>
            </a:r>
            <a:endParaRPr lang="en-US" sz="1100" dirty="0"/>
          </a:p>
        </p:txBody>
      </p:sp>
      <p:sp>
        <p:nvSpPr>
          <p:cNvPr id="21" name="Text 19"/>
          <p:cNvSpPr/>
          <p:nvPr/>
        </p:nvSpPr>
        <p:spPr>
          <a:xfrm>
            <a:off x="502920" y="437083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Adversarial autoencoder generates δ (||δ||∞ ≤ 0.1) to minimise AE reconstruction error. Spoofs LIT101/FIT101 via HMI_LIT101.Sim=True + HMI_LIT101.Sim_PV=spoofed_value.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Why Existing Detectors Fail</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Each layer alone is evaded — which is why the hybrid exists</a:t>
            </a:r>
            <a:endParaRPr lang="en-US" sz="1200" dirty="0"/>
          </a:p>
        </p:txBody>
      </p:sp>
      <p:sp>
        <p:nvSpPr>
          <p:cNvPr id="10" name="Shape 8"/>
          <p:cNvSpPr/>
          <p:nvPr/>
        </p:nvSpPr>
        <p:spPr>
          <a:xfrm>
            <a:off x="320040" y="1417320"/>
            <a:ext cx="5637276" cy="347472"/>
          </a:xfrm>
          <a:prstGeom prst="rect">
            <a:avLst/>
          </a:prstGeom>
          <a:solidFill>
            <a:srgbClr val="C0392B"/>
          </a:solidFill>
          <a:ln/>
        </p:spPr>
      </p:sp>
      <p:sp>
        <p:nvSpPr>
          <p:cNvPr id="11" name="Text 9"/>
          <p:cNvSpPr/>
          <p:nvPr/>
        </p:nvSpPr>
        <p:spPr>
          <a:xfrm>
            <a:off x="320040" y="1417320"/>
            <a:ext cx="563727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ML-Only Anomaly Detector</a:t>
            </a:r>
            <a:endParaRPr lang="en-US" sz="1100" dirty="0"/>
          </a:p>
        </p:txBody>
      </p:sp>
      <p:sp>
        <p:nvSpPr>
          <p:cNvPr id="12" name="Shape 10"/>
          <p:cNvSpPr/>
          <p:nvPr/>
        </p:nvSpPr>
        <p:spPr>
          <a:xfrm>
            <a:off x="393192" y="1874520"/>
            <a:ext cx="54864" cy="54864"/>
          </a:xfrm>
          <a:prstGeom prst="rect">
            <a:avLst/>
          </a:prstGeom>
          <a:solidFill>
            <a:srgbClr val="C0392B"/>
          </a:solidFill>
          <a:ln/>
        </p:spPr>
      </p:sp>
      <p:sp>
        <p:nvSpPr>
          <p:cNvPr id="13" name="Text 11"/>
          <p:cNvSpPr/>
          <p:nvPr/>
        </p:nvSpPr>
        <p:spPr>
          <a:xfrm>
            <a:off x="521208" y="1828800"/>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Paper #31 adversarial AE crafts δ minimising MSE reconstruction error</a:t>
            </a:r>
            <a:endParaRPr lang="en-US" sz="1050" dirty="0"/>
          </a:p>
        </p:txBody>
      </p:sp>
      <p:sp>
        <p:nvSpPr>
          <p:cNvPr id="14" name="Shape 12"/>
          <p:cNvSpPr/>
          <p:nvPr/>
        </p:nvSpPr>
        <p:spPr>
          <a:xfrm>
            <a:off x="393192" y="2587752"/>
            <a:ext cx="54864" cy="54864"/>
          </a:xfrm>
          <a:prstGeom prst="rect">
            <a:avLst/>
          </a:prstGeom>
          <a:solidFill>
            <a:srgbClr val="C0392B"/>
          </a:solidFill>
          <a:ln/>
        </p:spPr>
      </p:sp>
      <p:sp>
        <p:nvSpPr>
          <p:cNvPr id="15" name="Text 13"/>
          <p:cNvSpPr/>
          <p:nvPr/>
        </p:nvSpPr>
        <p:spPr>
          <a:xfrm>
            <a:off x="521208" y="2542032"/>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Evasion rate ~94% on SWaT at ε=0.1</a:t>
            </a:r>
            <a:endParaRPr lang="en-US" sz="1050" dirty="0"/>
          </a:p>
        </p:txBody>
      </p:sp>
      <p:sp>
        <p:nvSpPr>
          <p:cNvPr id="16" name="Shape 14"/>
          <p:cNvSpPr/>
          <p:nvPr/>
        </p:nvSpPr>
        <p:spPr>
          <a:xfrm>
            <a:off x="393192" y="3300984"/>
            <a:ext cx="54864" cy="54864"/>
          </a:xfrm>
          <a:prstGeom prst="rect">
            <a:avLst/>
          </a:prstGeom>
          <a:solidFill>
            <a:srgbClr val="C0392B"/>
          </a:solidFill>
          <a:ln/>
        </p:spPr>
      </p:sp>
      <p:sp>
        <p:nvSpPr>
          <p:cNvPr id="17" name="Text 15"/>
          <p:cNvSpPr/>
          <p:nvPr/>
        </p:nvSpPr>
        <p:spPr>
          <a:xfrm>
            <a:off x="521208" y="3255264"/>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Black-box attack — no model internals needed</a:t>
            </a:r>
            <a:endParaRPr lang="en-US" sz="1050" dirty="0"/>
          </a:p>
        </p:txBody>
      </p:sp>
      <p:sp>
        <p:nvSpPr>
          <p:cNvPr id="18" name="Shape 16"/>
          <p:cNvSpPr/>
          <p:nvPr/>
        </p:nvSpPr>
        <p:spPr>
          <a:xfrm>
            <a:off x="393192" y="4014216"/>
            <a:ext cx="54864" cy="54864"/>
          </a:xfrm>
          <a:prstGeom prst="rect">
            <a:avLst/>
          </a:prstGeom>
          <a:solidFill>
            <a:srgbClr val="C0392B"/>
          </a:solidFill>
          <a:ln/>
        </p:spPr>
      </p:sp>
      <p:sp>
        <p:nvSpPr>
          <p:cNvPr id="19" name="Text 17"/>
          <p:cNvSpPr/>
          <p:nvPr/>
        </p:nvSpPr>
        <p:spPr>
          <a:xfrm>
            <a:off x="521208" y="3968496"/>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Operates in milliseconds — real-time EtherNet/IP compatible</a:t>
            </a:r>
            <a:endParaRPr lang="en-US" sz="1050" dirty="0"/>
          </a:p>
        </p:txBody>
      </p:sp>
      <p:sp>
        <p:nvSpPr>
          <p:cNvPr id="20" name="Shape 18"/>
          <p:cNvSpPr/>
          <p:nvPr/>
        </p:nvSpPr>
        <p:spPr>
          <a:xfrm>
            <a:off x="6231636" y="1417320"/>
            <a:ext cx="5637276" cy="347472"/>
          </a:xfrm>
          <a:prstGeom prst="rect">
            <a:avLst/>
          </a:prstGeom>
          <a:solidFill>
            <a:srgbClr val="2E7D32"/>
          </a:solidFill>
          <a:ln/>
        </p:spPr>
      </p:sp>
      <p:sp>
        <p:nvSpPr>
          <p:cNvPr id="21" name="Text 19"/>
          <p:cNvSpPr/>
          <p:nvPr/>
        </p:nvSpPr>
        <p:spPr>
          <a:xfrm>
            <a:off x="6231636" y="1417320"/>
            <a:ext cx="563727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Invariant-Only Detector</a:t>
            </a:r>
            <a:endParaRPr lang="en-US" sz="1100" dirty="0"/>
          </a:p>
        </p:txBody>
      </p:sp>
      <p:sp>
        <p:nvSpPr>
          <p:cNvPr id="22" name="Shape 20"/>
          <p:cNvSpPr/>
          <p:nvPr/>
        </p:nvSpPr>
        <p:spPr>
          <a:xfrm>
            <a:off x="6304788" y="1874520"/>
            <a:ext cx="54864" cy="54864"/>
          </a:xfrm>
          <a:prstGeom prst="rect">
            <a:avLst/>
          </a:prstGeom>
          <a:solidFill>
            <a:srgbClr val="2E7D32"/>
          </a:solidFill>
          <a:ln/>
        </p:spPr>
      </p:sp>
      <p:sp>
        <p:nvSpPr>
          <p:cNvPr id="23" name="Text 21"/>
          <p:cNvSpPr/>
          <p:nvPr/>
        </p:nvSpPr>
        <p:spPr>
          <a:xfrm>
            <a:off x="6432804" y="1828800"/>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Only 24 of 36 SWaT attacks detected by invariants alone (Adepu 2016)</a:t>
            </a:r>
            <a:endParaRPr lang="en-US" sz="1050" dirty="0"/>
          </a:p>
        </p:txBody>
      </p:sp>
      <p:sp>
        <p:nvSpPr>
          <p:cNvPr id="24" name="Shape 22"/>
          <p:cNvSpPr/>
          <p:nvPr/>
        </p:nvSpPr>
        <p:spPr>
          <a:xfrm>
            <a:off x="6304788" y="2587752"/>
            <a:ext cx="54864" cy="54864"/>
          </a:xfrm>
          <a:prstGeom prst="rect">
            <a:avLst/>
          </a:prstGeom>
          <a:solidFill>
            <a:srgbClr val="2E7D32"/>
          </a:solidFill>
          <a:ln/>
        </p:spPr>
      </p:sp>
      <p:sp>
        <p:nvSpPr>
          <p:cNvPr id="25" name="Text 23"/>
          <p:cNvSpPr/>
          <p:nvPr/>
        </p:nvSpPr>
        <p:spPr>
          <a:xfrm>
            <a:off x="6432804" y="2542032"/>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Attacker can manipulate slowly within invariant bounds</a:t>
            </a:r>
            <a:endParaRPr lang="en-US" sz="1050" dirty="0"/>
          </a:p>
        </p:txBody>
      </p:sp>
      <p:sp>
        <p:nvSpPr>
          <p:cNvPr id="26" name="Shape 24"/>
          <p:cNvSpPr/>
          <p:nvPr/>
        </p:nvSpPr>
        <p:spPr>
          <a:xfrm>
            <a:off x="6304788" y="3300984"/>
            <a:ext cx="54864" cy="54864"/>
          </a:xfrm>
          <a:prstGeom prst="rect">
            <a:avLst/>
          </a:prstGeom>
          <a:solidFill>
            <a:srgbClr val="2E7D32"/>
          </a:solidFill>
          <a:ln/>
        </p:spPr>
      </p:sp>
      <p:sp>
        <p:nvSpPr>
          <p:cNvPr id="27" name="Text 25"/>
          <p:cNvSpPr/>
          <p:nvPr/>
        </p:nvSpPr>
        <p:spPr>
          <a:xfrm>
            <a:off x="6432804" y="3255264"/>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No ML component — blind to novel multi-sensor spoofing</a:t>
            </a:r>
            <a:endParaRPr lang="en-US" sz="1050" dirty="0"/>
          </a:p>
        </p:txBody>
      </p:sp>
      <p:sp>
        <p:nvSpPr>
          <p:cNvPr id="28" name="Shape 26"/>
          <p:cNvSpPr/>
          <p:nvPr/>
        </p:nvSpPr>
        <p:spPr>
          <a:xfrm>
            <a:off x="6304788" y="4014216"/>
            <a:ext cx="54864" cy="54864"/>
          </a:xfrm>
          <a:prstGeom prst="rect">
            <a:avLst/>
          </a:prstGeom>
          <a:solidFill>
            <a:srgbClr val="2E7D32"/>
          </a:solidFill>
          <a:ln/>
        </p:spPr>
      </p:sp>
      <p:sp>
        <p:nvSpPr>
          <p:cNvPr id="29" name="Text 27"/>
          <p:cNvSpPr/>
          <p:nvPr/>
        </p:nvSpPr>
        <p:spPr>
          <a:xfrm>
            <a:off x="6432804" y="3968496"/>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Phase 1 concealment replays valid sensor history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Defense Design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Hybrid Invariant + ML Anomaly Detection</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1565C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1 — Process Invariant Checker</a:t>
            </a:r>
            <a:endParaRPr lang="en-US" sz="1100" dirty="0"/>
          </a:p>
        </p:txBody>
      </p:sp>
      <p:sp>
        <p:nvSpPr>
          <p:cNvPr id="13" name="Text 11"/>
          <p:cNvSpPr/>
          <p:nvPr/>
        </p:nvSpPr>
        <p:spPr>
          <a:xfrm>
            <a:off x="502920" y="181051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8 invariants from SWaT P1 P&amp;ID. Reads PLC1 coil registers directly via pylogix — cannot be fooled by sensor spoofing. Flags actuator state violations deterministically.</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1565C0"/>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2 — Reconstruction Autoencoder</a:t>
            </a:r>
            <a:endParaRPr lang="en-US" sz="1100" dirty="0"/>
          </a:p>
        </p:txBody>
      </p:sp>
      <p:sp>
        <p:nvSpPr>
          <p:cNvPr id="17" name="Text 15"/>
          <p:cNvSpPr/>
          <p:nvPr/>
        </p:nvSpPr>
        <p:spPr>
          <a:xfrm>
            <a:off x="502920" y="309067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Trained on 8.1 hours SWaT normal data (19-Feb-2026 dataset). Threshold = 95th percentile of training MSE (0.000950). Monitors LIT101.Pv and AI_FIT_101_FLOW.</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1565C0"/>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3 — Decision Fusion</a:t>
            </a:r>
            <a:endParaRPr lang="en-US" sz="1100" dirty="0"/>
          </a:p>
        </p:txBody>
      </p:sp>
      <p:sp>
        <p:nvSpPr>
          <p:cNvPr id="21" name="Text 19"/>
          <p:cNvSpPr/>
          <p:nvPr/>
        </p:nvSpPr>
        <p:spPr>
          <a:xfrm>
            <a:off x="502920" y="437083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score = 1.5 × inv_flag + 1.0 × ae_flag. ALERT if score ≥ 1.5 for 3 consecutive cycles. Invariant weighted ×1.5 (physics deterministic &gt; statistical).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RECOVERY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Recovery Design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Five deterministic steps — detection to verified safe operation</a:t>
            </a:r>
            <a:endParaRPr lang="en-US" sz="1200" dirty="0"/>
          </a:p>
        </p:txBody>
      </p:sp>
      <p:sp>
        <p:nvSpPr>
          <p:cNvPr id="10" name="Shape 8"/>
          <p:cNvSpPr/>
          <p:nvPr/>
        </p:nvSpPr>
        <p:spPr>
          <a:xfrm>
            <a:off x="320040" y="1463040"/>
            <a:ext cx="11548872" cy="630936"/>
          </a:xfrm>
          <a:prstGeom prst="rect">
            <a:avLst/>
          </a:prstGeom>
          <a:solidFill>
            <a:srgbClr val="F5F5F5"/>
          </a:solidFill>
          <a:ln w="12700">
            <a:solidFill>
              <a:srgbClr val="E0E0E0"/>
            </a:solidFill>
            <a:prstDash val="solid"/>
          </a:ln>
        </p:spPr>
      </p:sp>
      <p:sp>
        <p:nvSpPr>
          <p:cNvPr id="11" name="Shape 9"/>
          <p:cNvSpPr/>
          <p:nvPr/>
        </p:nvSpPr>
        <p:spPr>
          <a:xfrm>
            <a:off x="320040" y="1463040"/>
            <a:ext cx="54864" cy="630936"/>
          </a:xfrm>
          <a:prstGeom prst="rect">
            <a:avLst/>
          </a:prstGeom>
          <a:solidFill>
            <a:srgbClr val="2E7D32"/>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Step 1 — Detect</a:t>
            </a:r>
            <a:endParaRPr lang="en-US" sz="1100" dirty="0"/>
          </a:p>
        </p:txBody>
      </p:sp>
      <p:sp>
        <p:nvSpPr>
          <p:cNvPr id="13" name="Text 11"/>
          <p:cNvSpPr/>
          <p:nvPr/>
        </p:nvSpPr>
        <p:spPr>
          <a:xfrm>
            <a:off x="502920" y="1810512"/>
            <a:ext cx="11365992" cy="17373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Fusion score ≥ 1.5 for 3 cycles. Log timestamp, sensor snapshot, alert details to recovery_log.json.</a:t>
            </a:r>
            <a:endParaRPr lang="en-US" sz="1050" dirty="0"/>
          </a:p>
        </p:txBody>
      </p:sp>
      <p:sp>
        <p:nvSpPr>
          <p:cNvPr id="14" name="Shape 12"/>
          <p:cNvSpPr/>
          <p:nvPr/>
        </p:nvSpPr>
        <p:spPr>
          <a:xfrm>
            <a:off x="320040" y="2231136"/>
            <a:ext cx="11548872" cy="630936"/>
          </a:xfrm>
          <a:prstGeom prst="rect">
            <a:avLst/>
          </a:prstGeom>
          <a:solidFill>
            <a:srgbClr val="F5F5F5"/>
          </a:solidFill>
          <a:ln w="12700">
            <a:solidFill>
              <a:srgbClr val="E0E0E0"/>
            </a:solidFill>
            <a:prstDash val="solid"/>
          </a:ln>
        </p:spPr>
      </p:sp>
      <p:sp>
        <p:nvSpPr>
          <p:cNvPr id="15" name="Shape 13"/>
          <p:cNvSpPr/>
          <p:nvPr/>
        </p:nvSpPr>
        <p:spPr>
          <a:xfrm>
            <a:off x="320040" y="2231136"/>
            <a:ext cx="54864" cy="630936"/>
          </a:xfrm>
          <a:prstGeom prst="rect">
            <a:avLst/>
          </a:prstGeom>
          <a:solidFill>
            <a:srgbClr val="2E7D32"/>
          </a:solidFill>
          <a:ln/>
        </p:spPr>
      </p:sp>
      <p:sp>
        <p:nvSpPr>
          <p:cNvPr id="16" name="Text 14"/>
          <p:cNvSpPr/>
          <p:nvPr/>
        </p:nvSpPr>
        <p:spPr>
          <a:xfrm>
            <a:off x="502920" y="2304288"/>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Step 2 — Contain</a:t>
            </a:r>
            <a:endParaRPr lang="en-US" sz="1100" dirty="0"/>
          </a:p>
        </p:txBody>
      </p:sp>
      <p:sp>
        <p:nvSpPr>
          <p:cNvPr id="17" name="Text 15"/>
          <p:cNvSpPr/>
          <p:nvPr/>
        </p:nvSpPr>
        <p:spPr>
          <a:xfrm>
            <a:off x="502920" y="2578608"/>
            <a:ext cx="11365992" cy="17373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iptables DROP port 44818. Isolate attacker process. VLAN isolation at L2 switch.</a:t>
            </a:r>
            <a:endParaRPr lang="en-US" sz="1050" dirty="0"/>
          </a:p>
        </p:txBody>
      </p:sp>
      <p:sp>
        <p:nvSpPr>
          <p:cNvPr id="18" name="Shape 16"/>
          <p:cNvSpPr/>
          <p:nvPr/>
        </p:nvSpPr>
        <p:spPr>
          <a:xfrm>
            <a:off x="320040" y="2999232"/>
            <a:ext cx="11548872" cy="630936"/>
          </a:xfrm>
          <a:prstGeom prst="rect">
            <a:avLst/>
          </a:prstGeom>
          <a:solidFill>
            <a:srgbClr val="F5F5F5"/>
          </a:solidFill>
          <a:ln w="12700">
            <a:solidFill>
              <a:srgbClr val="E0E0E0"/>
            </a:solidFill>
            <a:prstDash val="solid"/>
          </a:ln>
        </p:spPr>
      </p:sp>
      <p:sp>
        <p:nvSpPr>
          <p:cNvPr id="19" name="Shape 17"/>
          <p:cNvSpPr/>
          <p:nvPr/>
        </p:nvSpPr>
        <p:spPr>
          <a:xfrm>
            <a:off x="320040" y="2999232"/>
            <a:ext cx="54864" cy="630936"/>
          </a:xfrm>
          <a:prstGeom prst="rect">
            <a:avLst/>
          </a:prstGeom>
          <a:solidFill>
            <a:srgbClr val="2E7D32"/>
          </a:solidFill>
          <a:ln/>
        </p:spPr>
      </p:sp>
      <p:sp>
        <p:nvSpPr>
          <p:cNvPr id="20" name="Text 18"/>
          <p:cNvSpPr/>
          <p:nvPr/>
        </p:nvSpPr>
        <p:spPr>
          <a:xfrm>
            <a:off x="502920" y="3072384"/>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Step 3 — Safe State</a:t>
            </a:r>
            <a:endParaRPr lang="en-US" sz="1100" dirty="0"/>
          </a:p>
        </p:txBody>
      </p:sp>
      <p:sp>
        <p:nvSpPr>
          <p:cNvPr id="21" name="Text 19"/>
          <p:cNvSpPr/>
          <p:nvPr/>
        </p:nvSpPr>
        <p:spPr>
          <a:xfrm>
            <a:off x="502920" y="3346704"/>
            <a:ext cx="11365992" cy="17373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pylogix writes: MV101.Auto=False → MV101.Cmd=2 (OPEN), P101.Auto=False → P101.Cmd=2 (ON).</a:t>
            </a:r>
            <a:endParaRPr lang="en-US" sz="1050" dirty="0"/>
          </a:p>
        </p:txBody>
      </p:sp>
      <p:sp>
        <p:nvSpPr>
          <p:cNvPr id="22" name="Shape 20"/>
          <p:cNvSpPr/>
          <p:nvPr/>
        </p:nvSpPr>
        <p:spPr>
          <a:xfrm>
            <a:off x="320040" y="3767328"/>
            <a:ext cx="11548872" cy="630936"/>
          </a:xfrm>
          <a:prstGeom prst="rect">
            <a:avLst/>
          </a:prstGeom>
          <a:solidFill>
            <a:srgbClr val="F5F5F5"/>
          </a:solidFill>
          <a:ln w="12700">
            <a:solidFill>
              <a:srgbClr val="E0E0E0"/>
            </a:solidFill>
            <a:prstDash val="solid"/>
          </a:ln>
        </p:spPr>
      </p:sp>
      <p:sp>
        <p:nvSpPr>
          <p:cNvPr id="23" name="Shape 21"/>
          <p:cNvSpPr/>
          <p:nvPr/>
        </p:nvSpPr>
        <p:spPr>
          <a:xfrm>
            <a:off x="320040" y="3767328"/>
            <a:ext cx="54864" cy="630936"/>
          </a:xfrm>
          <a:prstGeom prst="rect">
            <a:avLst/>
          </a:prstGeom>
          <a:solidFill>
            <a:srgbClr val="2E7D32"/>
          </a:solidFill>
          <a:ln/>
        </p:spPr>
      </p:sp>
      <p:sp>
        <p:nvSpPr>
          <p:cNvPr id="24" name="Text 22"/>
          <p:cNvSpPr/>
          <p:nvPr/>
        </p:nvSpPr>
        <p:spPr>
          <a:xfrm>
            <a:off x="502920" y="3840480"/>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Step 4 — PLC Failover</a:t>
            </a:r>
            <a:endParaRPr lang="en-US" sz="1100" dirty="0"/>
          </a:p>
        </p:txBody>
      </p:sp>
      <p:sp>
        <p:nvSpPr>
          <p:cNvPr id="25" name="Text 23"/>
          <p:cNvSpPr/>
          <p:nvPr/>
        </p:nvSpPr>
        <p:spPr>
          <a:xfrm>
            <a:off x="502920" y="4114800"/>
            <a:ext cx="11365992" cy="17373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EtherNet/IP handshake activates PLC1B (192.168.1.11) as primary controller.</a:t>
            </a:r>
            <a:endParaRPr lang="en-US" sz="1050" dirty="0"/>
          </a:p>
        </p:txBody>
      </p:sp>
      <p:sp>
        <p:nvSpPr>
          <p:cNvPr id="26" name="Shape 24"/>
          <p:cNvSpPr/>
          <p:nvPr/>
        </p:nvSpPr>
        <p:spPr>
          <a:xfrm>
            <a:off x="320040" y="4535424"/>
            <a:ext cx="11548872" cy="630936"/>
          </a:xfrm>
          <a:prstGeom prst="rect">
            <a:avLst/>
          </a:prstGeom>
          <a:solidFill>
            <a:srgbClr val="F5F5F5"/>
          </a:solidFill>
          <a:ln w="12700">
            <a:solidFill>
              <a:srgbClr val="E0E0E0"/>
            </a:solidFill>
            <a:prstDash val="solid"/>
          </a:ln>
        </p:spPr>
      </p:sp>
      <p:sp>
        <p:nvSpPr>
          <p:cNvPr id="27" name="Shape 25"/>
          <p:cNvSpPr/>
          <p:nvPr/>
        </p:nvSpPr>
        <p:spPr>
          <a:xfrm>
            <a:off x="320040" y="4535424"/>
            <a:ext cx="54864" cy="630936"/>
          </a:xfrm>
          <a:prstGeom prst="rect">
            <a:avLst/>
          </a:prstGeom>
          <a:solidFill>
            <a:srgbClr val="2E7D32"/>
          </a:solidFill>
          <a:ln/>
        </p:spPr>
      </p:sp>
      <p:sp>
        <p:nvSpPr>
          <p:cNvPr id="28" name="Text 26"/>
          <p:cNvSpPr/>
          <p:nvPr/>
        </p:nvSpPr>
        <p:spPr>
          <a:xfrm>
            <a:off x="502920" y="4608576"/>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Step 5 — Verify &amp; Resume</a:t>
            </a:r>
            <a:endParaRPr lang="en-US" sz="1100" dirty="0"/>
          </a:p>
        </p:txBody>
      </p:sp>
      <p:sp>
        <p:nvSpPr>
          <p:cNvPr id="29" name="Text 27"/>
          <p:cNvSpPr/>
          <p:nvPr/>
        </p:nvSpPr>
        <p:spPr>
          <a:xfrm>
            <a:off x="502920" y="4882896"/>
            <a:ext cx="11365992" cy="17373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Poll all 8 invariants. Accept only after 5 consecutive clean cycles. Then resume normal operation.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8243C"/>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Implementation Plan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Phase-by-phase delivery schedule</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E8243C"/>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E8243C"/>
                </a:solidFill>
                <a:latin typeface="Calibri" pitchFamily="34" charset="0"/>
                <a:ea typeface="Calibri" pitchFamily="34" charset="-122"/>
                <a:cs typeface="Calibri" pitchFamily="34" charset="-120"/>
              </a:rPr>
              <a:t>Week 9–10: Setup &amp; Attack</a:t>
            </a:r>
            <a:endParaRPr lang="en-US" sz="1100" dirty="0"/>
          </a:p>
        </p:txBody>
      </p:sp>
      <p:sp>
        <p:nvSpPr>
          <p:cNvPr id="13" name="Text 11"/>
          <p:cNvSpPr/>
          <p:nvPr/>
        </p:nvSpPr>
        <p:spPr>
          <a:xfrm>
            <a:off x="502920" y="181051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Confirm pylogix connectivity to PLC1. Run phase0_recon.py — enumerate tags, build baseline database. Implement phase1_inject.py — verify false writes accepted by PLC.</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E8243C"/>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E8243C"/>
                </a:solidFill>
                <a:latin typeface="Calibri" pitchFamily="34" charset="0"/>
                <a:ea typeface="Calibri" pitchFamily="34" charset="-122"/>
                <a:cs typeface="Calibri" pitchFamily="34" charset="-120"/>
              </a:rPr>
              <a:t>Week 11: Evasion &amp; Defense</a:t>
            </a:r>
            <a:endParaRPr lang="en-US" sz="1100" dirty="0"/>
          </a:p>
        </p:txBody>
      </p:sp>
      <p:sp>
        <p:nvSpPr>
          <p:cNvPr id="17" name="Text 15"/>
          <p:cNvSpPr/>
          <p:nvPr/>
        </p:nvSpPr>
        <p:spPr>
          <a:xfrm>
            <a:off x="502920" y="309067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Train autoencoder on 19-Feb-2026 CSV (done). Train adversarial model (done). Verify Phase 2 evades AE. Implement invariant checker + fusion. Verify hybrid catches Phase 1+2 combined attack.</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E8243C"/>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E8243C"/>
                </a:solidFill>
                <a:latin typeface="Calibri" pitchFamily="34" charset="0"/>
                <a:ea typeface="Calibri" pitchFamily="34" charset="-122"/>
                <a:cs typeface="Calibri" pitchFamily="34" charset="-120"/>
              </a:rPr>
              <a:t>Week 12–13: Recovery &amp; Demo</a:t>
            </a:r>
            <a:endParaRPr lang="en-US" sz="1100" dirty="0"/>
          </a:p>
        </p:txBody>
      </p:sp>
      <p:sp>
        <p:nvSpPr>
          <p:cNvPr id="21" name="Text 19"/>
          <p:cNvSpPr/>
          <p:nvPr/>
        </p:nvSpPr>
        <p:spPr>
          <a:xfrm>
            <a:off x="502920" y="4370832"/>
            <a:ext cx="11365992" cy="68580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Integrate recovery_agent.py — test full 5-step pipeline. Run end-to-end demo on SWaT: attack → evade → detect → recover. Measure recovery time KPI: target &lt; 15 seconds.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8243C"/>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Evaluation Metrics</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Key performance indicators for the demo</a:t>
            </a:r>
            <a:endParaRPr lang="en-US" sz="1200" dirty="0"/>
          </a:p>
        </p:txBody>
      </p:sp>
      <p:sp>
        <p:nvSpPr>
          <p:cNvPr id="10" name="Shape 8"/>
          <p:cNvSpPr/>
          <p:nvPr/>
        </p:nvSpPr>
        <p:spPr>
          <a:xfrm>
            <a:off x="320040" y="1417320"/>
            <a:ext cx="5637276" cy="347472"/>
          </a:xfrm>
          <a:prstGeom prst="rect">
            <a:avLst/>
          </a:prstGeom>
          <a:solidFill>
            <a:srgbClr val="C0392B"/>
          </a:solidFill>
          <a:ln/>
        </p:spPr>
      </p:sp>
      <p:sp>
        <p:nvSpPr>
          <p:cNvPr id="11" name="Text 9"/>
          <p:cNvSpPr/>
          <p:nvPr/>
        </p:nvSpPr>
        <p:spPr>
          <a:xfrm>
            <a:off x="320040" y="1417320"/>
            <a:ext cx="563727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Attack Effectiveness</a:t>
            </a:r>
            <a:endParaRPr lang="en-US" sz="1100" dirty="0"/>
          </a:p>
        </p:txBody>
      </p:sp>
      <p:sp>
        <p:nvSpPr>
          <p:cNvPr id="12" name="Shape 10"/>
          <p:cNvSpPr/>
          <p:nvPr/>
        </p:nvSpPr>
        <p:spPr>
          <a:xfrm>
            <a:off x="393192" y="1874520"/>
            <a:ext cx="54864" cy="54864"/>
          </a:xfrm>
          <a:prstGeom prst="rect">
            <a:avLst/>
          </a:prstGeom>
          <a:solidFill>
            <a:srgbClr val="C0392B"/>
          </a:solidFill>
          <a:ln/>
        </p:spPr>
      </p:sp>
      <p:sp>
        <p:nvSpPr>
          <p:cNvPr id="13" name="Text 11"/>
          <p:cNvSpPr/>
          <p:nvPr/>
        </p:nvSpPr>
        <p:spPr>
          <a:xfrm>
            <a:off x="521208" y="1828800"/>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Time-to-impact: LIT101 deviation rate under Phase 1</a:t>
            </a:r>
            <a:endParaRPr lang="en-US" sz="1050" dirty="0"/>
          </a:p>
        </p:txBody>
      </p:sp>
      <p:sp>
        <p:nvSpPr>
          <p:cNvPr id="14" name="Shape 12"/>
          <p:cNvSpPr/>
          <p:nvPr/>
        </p:nvSpPr>
        <p:spPr>
          <a:xfrm>
            <a:off x="393192" y="2587752"/>
            <a:ext cx="54864" cy="54864"/>
          </a:xfrm>
          <a:prstGeom prst="rect">
            <a:avLst/>
          </a:prstGeom>
          <a:solidFill>
            <a:srgbClr val="C0392B"/>
          </a:solidFill>
          <a:ln/>
        </p:spPr>
      </p:sp>
      <p:sp>
        <p:nvSpPr>
          <p:cNvPr id="15" name="Text 13"/>
          <p:cNvSpPr/>
          <p:nvPr/>
        </p:nvSpPr>
        <p:spPr>
          <a:xfrm>
            <a:off x="521208" y="2542032"/>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ML evasion rate: % cycles passing AE undetected (target: ~94%)</a:t>
            </a:r>
            <a:endParaRPr lang="en-US" sz="1050" dirty="0"/>
          </a:p>
        </p:txBody>
      </p:sp>
      <p:sp>
        <p:nvSpPr>
          <p:cNvPr id="16" name="Shape 14"/>
          <p:cNvSpPr/>
          <p:nvPr/>
        </p:nvSpPr>
        <p:spPr>
          <a:xfrm>
            <a:off x="393192" y="3300984"/>
            <a:ext cx="54864" cy="54864"/>
          </a:xfrm>
          <a:prstGeom prst="rect">
            <a:avLst/>
          </a:prstGeom>
          <a:solidFill>
            <a:srgbClr val="C0392B"/>
          </a:solidFill>
          <a:ln/>
        </p:spPr>
      </p:sp>
      <p:sp>
        <p:nvSpPr>
          <p:cNvPr id="17" name="Text 15"/>
          <p:cNvSpPr/>
          <p:nvPr/>
        </p:nvSpPr>
        <p:spPr>
          <a:xfrm>
            <a:off x="521208" y="3255264"/>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Stealth duration: time before any alert raised</a:t>
            </a:r>
            <a:endParaRPr lang="en-US" sz="1050" dirty="0"/>
          </a:p>
        </p:txBody>
      </p:sp>
      <p:sp>
        <p:nvSpPr>
          <p:cNvPr id="18" name="Shape 16"/>
          <p:cNvSpPr/>
          <p:nvPr/>
        </p:nvSpPr>
        <p:spPr>
          <a:xfrm>
            <a:off x="6231636" y="1417320"/>
            <a:ext cx="5637276" cy="347472"/>
          </a:xfrm>
          <a:prstGeom prst="rect">
            <a:avLst/>
          </a:prstGeom>
          <a:solidFill>
            <a:srgbClr val="2E7D32"/>
          </a:solidFill>
          <a:ln/>
        </p:spPr>
      </p:sp>
      <p:sp>
        <p:nvSpPr>
          <p:cNvPr id="19" name="Text 17"/>
          <p:cNvSpPr/>
          <p:nvPr/>
        </p:nvSpPr>
        <p:spPr>
          <a:xfrm>
            <a:off x="6231636" y="1417320"/>
            <a:ext cx="5637276" cy="34747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Defense &amp; Recovery</a:t>
            </a:r>
            <a:endParaRPr lang="en-US" sz="1100" dirty="0"/>
          </a:p>
        </p:txBody>
      </p:sp>
      <p:sp>
        <p:nvSpPr>
          <p:cNvPr id="20" name="Shape 18"/>
          <p:cNvSpPr/>
          <p:nvPr/>
        </p:nvSpPr>
        <p:spPr>
          <a:xfrm>
            <a:off x="6304788" y="1874520"/>
            <a:ext cx="54864" cy="54864"/>
          </a:xfrm>
          <a:prstGeom prst="rect">
            <a:avLst/>
          </a:prstGeom>
          <a:solidFill>
            <a:srgbClr val="2E7D32"/>
          </a:solidFill>
          <a:ln/>
        </p:spPr>
      </p:sp>
      <p:sp>
        <p:nvSpPr>
          <p:cNvPr id="21" name="Text 19"/>
          <p:cNvSpPr/>
          <p:nvPr/>
        </p:nvSpPr>
        <p:spPr>
          <a:xfrm>
            <a:off x="6432804" y="1828800"/>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Detection rate: % attack scenarios caught by hybrid</a:t>
            </a:r>
            <a:endParaRPr lang="en-US" sz="1050" dirty="0"/>
          </a:p>
        </p:txBody>
      </p:sp>
      <p:sp>
        <p:nvSpPr>
          <p:cNvPr id="22" name="Shape 20"/>
          <p:cNvSpPr/>
          <p:nvPr/>
        </p:nvSpPr>
        <p:spPr>
          <a:xfrm>
            <a:off x="6304788" y="2587752"/>
            <a:ext cx="54864" cy="54864"/>
          </a:xfrm>
          <a:prstGeom prst="rect">
            <a:avLst/>
          </a:prstGeom>
          <a:solidFill>
            <a:srgbClr val="2E7D32"/>
          </a:solidFill>
          <a:ln/>
        </p:spPr>
      </p:sp>
      <p:sp>
        <p:nvSpPr>
          <p:cNvPr id="23" name="Text 21"/>
          <p:cNvSpPr/>
          <p:nvPr/>
        </p:nvSpPr>
        <p:spPr>
          <a:xfrm>
            <a:off x="6432804" y="2542032"/>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False positive rate: % normal operation flagged</a:t>
            </a:r>
            <a:endParaRPr lang="en-US" sz="1050" dirty="0"/>
          </a:p>
        </p:txBody>
      </p:sp>
      <p:sp>
        <p:nvSpPr>
          <p:cNvPr id="24" name="Shape 22"/>
          <p:cNvSpPr/>
          <p:nvPr/>
        </p:nvSpPr>
        <p:spPr>
          <a:xfrm>
            <a:off x="6304788" y="3300984"/>
            <a:ext cx="54864" cy="54864"/>
          </a:xfrm>
          <a:prstGeom prst="rect">
            <a:avLst/>
          </a:prstGeom>
          <a:solidFill>
            <a:srgbClr val="2E7D32"/>
          </a:solidFill>
          <a:ln/>
        </p:spPr>
      </p:sp>
      <p:sp>
        <p:nvSpPr>
          <p:cNvPr id="25" name="Text 23"/>
          <p:cNvSpPr/>
          <p:nvPr/>
        </p:nvSpPr>
        <p:spPr>
          <a:xfrm>
            <a:off x="6432804" y="3255264"/>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Recovery time: seconds from ALERT to safe state (target: &lt;15s)</a:t>
            </a:r>
            <a:endParaRPr lang="en-US" sz="1050" dirty="0"/>
          </a:p>
        </p:txBody>
      </p:sp>
      <p:sp>
        <p:nvSpPr>
          <p:cNvPr id="26" name="Shape 24"/>
          <p:cNvSpPr/>
          <p:nvPr/>
        </p:nvSpPr>
        <p:spPr>
          <a:xfrm>
            <a:off x="6304788" y="4014216"/>
            <a:ext cx="54864" cy="54864"/>
          </a:xfrm>
          <a:prstGeom prst="rect">
            <a:avLst/>
          </a:prstGeom>
          <a:solidFill>
            <a:srgbClr val="2E7D32"/>
          </a:solidFill>
          <a:ln/>
        </p:spPr>
      </p:sp>
      <p:sp>
        <p:nvSpPr>
          <p:cNvPr id="27" name="Text 25"/>
          <p:cNvSpPr/>
          <p:nvPr/>
        </p:nvSpPr>
        <p:spPr>
          <a:xfrm>
            <a:off x="6432804" y="3968496"/>
            <a:ext cx="5362956"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Comparison: invariant-only vs AE-only vs hybrid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8243C"/>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REF</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References (Proposal)</a:t>
            </a:r>
            <a:endParaRPr lang="en-US" sz="3200" dirty="0"/>
          </a:p>
        </p:txBody>
      </p:sp>
      <p:sp>
        <p:nvSpPr>
          <p:cNvPr id="9" name="Text 7"/>
          <p:cNvSpPr/>
          <p:nvPr/>
        </p:nvSpPr>
        <p:spPr>
          <a:xfrm>
            <a:off x="320040" y="1463040"/>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[1] W. Alsabbagh et al. "A Stealthy False Command Injection Attack on Modbus based SCADA Systems." IEEE CCNC 2023. (Paper #9)</a:t>
            </a:r>
            <a:endParaRPr lang="en-US" sz="1050" dirty="0"/>
          </a:p>
        </p:txBody>
      </p:sp>
      <p:sp>
        <p:nvSpPr>
          <p:cNvPr id="10" name="Text 8"/>
          <p:cNvSpPr/>
          <p:nvPr/>
        </p:nvSpPr>
        <p:spPr>
          <a:xfrm>
            <a:off x="320040" y="2121408"/>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[2] J. H. Castellanos et al. "Constrained Concealment Attacks against Reconstruction-based Anomaly Detectors in ICS." ACM ACSAC 2020. (Paper #31)</a:t>
            </a:r>
            <a:endParaRPr lang="en-US" sz="1050" dirty="0"/>
          </a:p>
        </p:txBody>
      </p:sp>
      <p:sp>
        <p:nvSpPr>
          <p:cNvPr id="11" name="Text 9"/>
          <p:cNvSpPr/>
          <p:nvPr/>
        </p:nvSpPr>
        <p:spPr>
          <a:xfrm>
            <a:off x="320040" y="2779776"/>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[3] S. Adepu &amp; A. Mathur. "Using Process Invariants to Detect Cyber Attacks on a Water Treatment System." IFIP SEC 2016. (Paper #88)</a:t>
            </a:r>
            <a:endParaRPr lang="en-US" sz="1050" dirty="0"/>
          </a:p>
        </p:txBody>
      </p:sp>
      <p:sp>
        <p:nvSpPr>
          <p:cNvPr id="12" name="Text 10"/>
          <p:cNvSpPr/>
          <p:nvPr/>
        </p:nvSpPr>
        <p:spPr>
          <a:xfrm>
            <a:off x="320040" y="3438144"/>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[4] S. Adepu &amp; A. Mathur. "Distributed Detection of Single-Stage Multipoint Cyber Attacks." ACM AsiaCCS 2016.</a:t>
            </a:r>
            <a:endParaRPr lang="en-US" sz="1050" dirty="0"/>
          </a:p>
        </p:txBody>
      </p:sp>
      <p:sp>
        <p:nvSpPr>
          <p:cNvPr id="13" name="Text 11"/>
          <p:cNvSpPr/>
          <p:nvPr/>
        </p:nvSpPr>
        <p:spPr>
          <a:xfrm>
            <a:off x="320040" y="4096512"/>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[5] C. M. Ahmed, J. Zhou &amp; A. P. Mathur. "Attacking Fieldbus Communications in ICS." SG-CRC 2016.</a:t>
            </a:r>
            <a:endParaRPr lang="en-US" sz="1050" dirty="0"/>
          </a:p>
        </p:txBody>
      </p:sp>
      <p:sp>
        <p:nvSpPr>
          <p:cNvPr id="14" name="Text 12"/>
          <p:cNvSpPr/>
          <p:nvPr/>
        </p:nvSpPr>
        <p:spPr>
          <a:xfrm>
            <a:off x="320040" y="4754880"/>
            <a:ext cx="11548872" cy="548640"/>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[6] iTrust, SUTD. "SWaT: Secure Water Treatment Testbed." https://itrust.sutd.edu.sg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920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11460480" cy="219456"/>
          </a:xfrm>
          <a:prstGeom prst="rect">
            <a:avLst/>
          </a:prstGeom>
          <a:noFill/>
        </p:spPr>
        <p:txBody>
          <a:bodyPr wrap="square">
            <a:spAutoFit/>
          </a:bodyPr>
          <a:lstStyle/>
          <a:p>
            <a:pPr algn="l"/>
            <a:r>
              <a:rPr sz="800" b="0" i="0">
                <a:solidFill>
                  <a:srgbClr val="6B6B6B"/>
                </a:solidFill>
                <a:latin typeface="Calibri"/>
              </a:rPr>
              <a:t>51.508 Secure Cyber Physical Systems  ·  SWaT Project  ·  iTrust Lab, SUTD</a:t>
            </a:r>
          </a:p>
        </p:txBody>
      </p:sp>
      <p:sp>
        <p:nvSpPr>
          <p:cNvPr id="7" name="Rectangle 6"/>
          <p:cNvSpPr/>
          <p:nvPr/>
        </p:nvSpPr>
        <p:spPr>
          <a:xfrm>
            <a:off x="502920" y="548640"/>
            <a:ext cx="182880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8640"/>
            <a:ext cx="1828800" cy="384048"/>
          </a:xfrm>
          <a:prstGeom prst="rect">
            <a:avLst/>
          </a:prstGeom>
          <a:noFill/>
        </p:spPr>
        <p:txBody>
          <a:bodyPr wrap="square">
            <a:spAutoFit/>
          </a:bodyPr>
          <a:lstStyle/>
          <a:p>
            <a:pPr algn="ctr"/>
            <a:r>
              <a:rPr sz="1100" b="1" i="0">
                <a:solidFill>
                  <a:srgbClr val="FFFFFF"/>
                </a:solidFill>
                <a:latin typeface="Calibri"/>
              </a:rPr>
              <a:t>SECTION 2</a:t>
            </a:r>
          </a:p>
        </p:txBody>
      </p:sp>
      <p:sp>
        <p:nvSpPr>
          <p:cNvPr id="9" name="TextBox 8"/>
          <p:cNvSpPr txBox="1"/>
          <p:nvPr/>
        </p:nvSpPr>
        <p:spPr>
          <a:xfrm>
            <a:off x="502920" y="1097280"/>
            <a:ext cx="7315200" cy="1005840"/>
          </a:xfrm>
          <a:prstGeom prst="rect">
            <a:avLst/>
          </a:prstGeom>
          <a:noFill/>
        </p:spPr>
        <p:txBody>
          <a:bodyPr wrap="square">
            <a:spAutoFit/>
          </a:bodyPr>
          <a:lstStyle/>
          <a:p>
            <a:pPr algn="l"/>
            <a:r>
              <a:rPr sz="4200" b="1" i="0">
                <a:solidFill>
                  <a:srgbClr val="1A1A1A"/>
                </a:solidFill>
                <a:latin typeface="Calibri Light"/>
              </a:rPr>
              <a:t>SWaT P1 Attack</a:t>
            </a:r>
          </a:p>
        </p:txBody>
      </p:sp>
      <p:sp>
        <p:nvSpPr>
          <p:cNvPr id="10" name="TextBox 9"/>
          <p:cNvSpPr txBox="1"/>
          <p:nvPr/>
        </p:nvSpPr>
        <p:spPr>
          <a:xfrm>
            <a:off x="502920" y="2084831"/>
            <a:ext cx="7315200" cy="502920"/>
          </a:xfrm>
          <a:prstGeom prst="rect">
            <a:avLst/>
          </a:prstGeom>
          <a:noFill/>
        </p:spPr>
        <p:txBody>
          <a:bodyPr wrap="square">
            <a:spAutoFit/>
          </a:bodyPr>
          <a:lstStyle/>
          <a:p>
            <a:pPr algn="l"/>
            <a:r>
              <a:rPr sz="2000" b="0" i="0">
                <a:solidFill>
                  <a:srgbClr val="E8243C"/>
                </a:solidFill>
                <a:latin typeface="Calibri Light"/>
              </a:rPr>
              <a:t>False CIP Tag Injection via Compromised HMI</a:t>
            </a:r>
          </a:p>
        </p:txBody>
      </p:sp>
      <p:sp>
        <p:nvSpPr>
          <p:cNvPr id="11" name="TextBox 10"/>
          <p:cNvSpPr txBox="1"/>
          <p:nvPr/>
        </p:nvSpPr>
        <p:spPr>
          <a:xfrm>
            <a:off x="502920" y="2743200"/>
            <a:ext cx="7315200" cy="347472"/>
          </a:xfrm>
          <a:prstGeom prst="rect">
            <a:avLst/>
          </a:prstGeom>
          <a:noFill/>
        </p:spPr>
        <p:txBody>
          <a:bodyPr wrap="square">
            <a:spAutoFit/>
          </a:bodyPr>
          <a:lstStyle/>
          <a:p>
            <a:pPr algn="l"/>
            <a:r>
              <a:rPr sz="1300" b="0" i="0">
                <a:solidFill>
                  <a:srgbClr val="6B6B6B"/>
                </a:solidFill>
                <a:latin typeface="Courier New"/>
              </a:rPr>
              <a:t>phase0_recon.py  ·  phase1_inject.py  ·  phase2_spoof.py</a:t>
            </a:r>
          </a:p>
        </p:txBody>
      </p:sp>
      <p:sp>
        <p:nvSpPr>
          <p:cNvPr id="12" name="TextBox 11"/>
          <p:cNvSpPr txBox="1"/>
          <p:nvPr/>
        </p:nvSpPr>
        <p:spPr>
          <a:xfrm>
            <a:off x="502920" y="3127248"/>
            <a:ext cx="7315200" cy="320040"/>
          </a:xfrm>
          <a:prstGeom prst="rect">
            <a:avLst/>
          </a:prstGeom>
          <a:noFill/>
        </p:spPr>
        <p:txBody>
          <a:bodyPr wrap="square">
            <a:spAutoFit/>
          </a:bodyPr>
          <a:lstStyle/>
          <a:p>
            <a:pPr algn="l"/>
            <a:r>
              <a:rPr sz="1200" b="0" i="0">
                <a:solidFill>
                  <a:srgbClr val="AAAAAA"/>
                </a:solidFill>
                <a:latin typeface="Courier New"/>
              </a:rPr>
              <a:t>pylogix  ·  PyTorch  ·  192.168.1.10 (PLC1)</a:t>
            </a:r>
          </a:p>
        </p:txBody>
      </p:sp>
      <p:pic>
        <p:nvPicPr>
          <p:cNvPr id="13" name="Picture 12" descr="image.jpg"/>
          <p:cNvPicPr>
            <a:picLocks noChangeAspect="1"/>
          </p:cNvPicPr>
          <p:nvPr/>
        </p:nvPicPr>
        <p:blipFill>
          <a:blip r:embed="rId4"/>
          <a:stretch>
            <a:fillRect/>
          </a:stretch>
        </p:blipFill>
        <p:spPr>
          <a:xfrm>
            <a:off x="7772400" y="1005840"/>
            <a:ext cx="4096512"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ATTACK</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SWaT P1 — What We Are Attacking</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Raw Water Intake  ·  PLC1 @ 192.168.1.10  ·  EtherNet/IP port 44818</a:t>
            </a:r>
            <a:endParaRPr lang="en-US" sz="1200" dirty="0"/>
          </a:p>
        </p:txBody>
      </p:sp>
      <p:pic>
        <p:nvPicPr>
          <p:cNvPr id="10" name="Image 0" descr="/home/claude/swat-cps-project/assets/images/swat_p1_stage.png"/>
          <p:cNvPicPr>
            <a:picLocks noChangeAspect="1"/>
          </p:cNvPicPr>
          <p:nvPr/>
        </p:nvPicPr>
        <p:blipFill>
          <a:blip r:embed="rId1"/>
          <a:stretch>
            <a:fillRect/>
          </a:stretch>
        </p:blipFill>
        <p:spPr>
          <a:xfrm>
            <a:off x="320040" y="1371600"/>
            <a:ext cx="5943600" cy="2926080"/>
          </a:xfrm>
          <a:prstGeom prst="rect">
            <a:avLst/>
          </a:prstGeom>
        </p:spPr>
      </p:pic>
      <p:sp>
        <p:nvSpPr>
          <p:cNvPr id="11" name="Text 8"/>
          <p:cNvSpPr/>
          <p:nvPr/>
        </p:nvSpPr>
        <p:spPr>
          <a:xfrm>
            <a:off x="320040" y="4279392"/>
            <a:ext cx="5943600" cy="201168"/>
          </a:xfrm>
          <a:prstGeom prst="rect">
            <a:avLst/>
          </a:prstGeom>
          <a:noFill/>
          <a:ln/>
        </p:spPr>
        <p:txBody>
          <a:bodyPr wrap="square" rtlCol="0" anchor="ctr"/>
          <a:lstStyle/>
          <a:p>
            <a:pPr algn="ctr" indent="0" marL="0">
              <a:buNone/>
            </a:pPr>
            <a:r>
              <a:rPr lang="en-US" sz="750" i="1" dirty="0">
                <a:solidFill>
                  <a:srgbClr val="6B6B6B"/>
                </a:solidFill>
                <a:latin typeface="Calibri" pitchFamily="34" charset="0"/>
                <a:ea typeface="Calibri" pitchFamily="34" charset="-122"/>
                <a:cs typeface="Calibri" pitchFamily="34" charset="-120"/>
              </a:rPr>
              <a:t>SWaT P&amp;ID — P1: MV101, T101, P101/P102, FIT101, LIT101</a:t>
            </a:r>
            <a:endParaRPr lang="en-US" sz="750" dirty="0"/>
          </a:p>
        </p:txBody>
      </p:sp>
      <p:pic>
        <p:nvPicPr>
          <p:cNvPr id="12" name="Image 1" descr="/home/claude/swat-cps-project/assets/images/swat_testbed_photo.jpg"/>
          <p:cNvPicPr>
            <a:picLocks noChangeAspect="1"/>
          </p:cNvPicPr>
          <p:nvPr/>
        </p:nvPicPr>
        <p:blipFill>
          <a:blip r:embed="rId2"/>
          <a:stretch>
            <a:fillRect/>
          </a:stretch>
        </p:blipFill>
        <p:spPr>
          <a:xfrm>
            <a:off x="6400800" y="1371600"/>
            <a:ext cx="5468112" cy="2926080"/>
          </a:xfrm>
          <a:prstGeom prst="rect">
            <a:avLst/>
          </a:prstGeom>
        </p:spPr>
      </p:pic>
      <p:sp>
        <p:nvSpPr>
          <p:cNvPr id="13" name="Text 9"/>
          <p:cNvSpPr/>
          <p:nvPr/>
        </p:nvSpPr>
        <p:spPr>
          <a:xfrm>
            <a:off x="6400800" y="4279392"/>
            <a:ext cx="5468112" cy="201168"/>
          </a:xfrm>
          <a:prstGeom prst="rect">
            <a:avLst/>
          </a:prstGeom>
          <a:noFill/>
          <a:ln/>
        </p:spPr>
        <p:txBody>
          <a:bodyPr wrap="square" rtlCol="0" anchor="ctr"/>
          <a:lstStyle/>
          <a:p>
            <a:pPr algn="ctr" indent="0" marL="0">
              <a:buNone/>
            </a:pPr>
            <a:r>
              <a:rPr lang="en-US" sz="750" i="1" dirty="0">
                <a:solidFill>
                  <a:srgbClr val="6B6B6B"/>
                </a:solidFill>
                <a:latin typeface="Calibri" pitchFamily="34" charset="0"/>
                <a:ea typeface="Calibri" pitchFamily="34" charset="-122"/>
                <a:cs typeface="Calibri" pitchFamily="34" charset="-120"/>
              </a:rPr>
              <a:t>Physical SWaT testbed at iTrust Lab, SUTD</a:t>
            </a:r>
            <a:endParaRPr lang="en-US" sz="750" dirty="0"/>
          </a:p>
        </p:txBody>
      </p:sp>
      <p:sp>
        <p:nvSpPr>
          <p:cNvPr id="14" name="Text 10"/>
          <p:cNvSpPr/>
          <p:nvPr/>
        </p:nvSpPr>
        <p:spPr>
          <a:xfrm>
            <a:off x="320040" y="4572000"/>
            <a:ext cx="11548872" cy="320040"/>
          </a:xfrm>
          <a:prstGeom prst="rect">
            <a:avLst/>
          </a:prstGeom>
          <a:noFill/>
          <a:ln/>
        </p:spPr>
        <p:txBody>
          <a:bodyPr wrap="square"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Attack vector: Compromised HMI → pylogix CIP writes to PLC1 → MV101 CLOSE + P101 OFF → LIT101 drops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ATTACK</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Threat Model &amp; Attack Surface</a:t>
            </a:r>
            <a:endParaRPr lang="en-US" sz="3200" dirty="0"/>
          </a:p>
        </p:txBody>
      </p:sp>
      <p:pic>
        <p:nvPicPr>
          <p:cNvPr id="9" name="Image 0" descr="/home/claude/swat-cps-project/assets/images/swat_architecture.png"/>
          <p:cNvPicPr>
            <a:picLocks noChangeAspect="1"/>
          </p:cNvPicPr>
          <p:nvPr/>
        </p:nvPicPr>
        <p:blipFill>
          <a:blip r:embed="rId1"/>
          <a:stretch>
            <a:fillRect/>
          </a:stretch>
        </p:blipFill>
        <p:spPr>
          <a:xfrm>
            <a:off x="320040" y="1371600"/>
            <a:ext cx="5029200" cy="4206240"/>
          </a:xfrm>
          <a:prstGeom prst="rect">
            <a:avLst/>
          </a:prstGeom>
        </p:spPr>
      </p:pic>
      <p:sp>
        <p:nvSpPr>
          <p:cNvPr id="10" name="Text 7"/>
          <p:cNvSpPr/>
          <p:nvPr/>
        </p:nvSpPr>
        <p:spPr>
          <a:xfrm>
            <a:off x="320040" y="5559552"/>
            <a:ext cx="5029200" cy="201168"/>
          </a:xfrm>
          <a:prstGeom prst="rect">
            <a:avLst/>
          </a:prstGeom>
          <a:noFill/>
          <a:ln/>
        </p:spPr>
        <p:txBody>
          <a:bodyPr wrap="square" rtlCol="0" anchor="ctr"/>
          <a:lstStyle/>
          <a:p>
            <a:pPr algn="ctr" indent="0" marL="0">
              <a:buNone/>
            </a:pPr>
            <a:r>
              <a:rPr lang="en-US" sz="750" i="1" dirty="0">
                <a:solidFill>
                  <a:srgbClr val="6B6B6B"/>
                </a:solidFill>
                <a:latin typeface="Calibri" pitchFamily="34" charset="0"/>
                <a:ea typeface="Calibri" pitchFamily="34" charset="-122"/>
                <a:cs typeface="Calibri" pitchFamily="34" charset="-120"/>
              </a:rPr>
              <a:t>Attacker compromises HMI → direct EtherNet/IP access to all PLCs</a:t>
            </a:r>
            <a:endParaRPr lang="en-US" sz="750" dirty="0"/>
          </a:p>
        </p:txBody>
      </p:sp>
      <p:sp>
        <p:nvSpPr>
          <p:cNvPr id="11" name="Text 8"/>
          <p:cNvSpPr/>
          <p:nvPr/>
        </p:nvSpPr>
        <p:spPr>
          <a:xfrm>
            <a:off x="5532120" y="1371600"/>
            <a:ext cx="6309360" cy="347472"/>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Why EtherNet/IP Has No Defence</a:t>
            </a:r>
            <a:endParaRPr lang="en-US" sz="1400" dirty="0"/>
          </a:p>
        </p:txBody>
      </p:sp>
      <p:sp>
        <p:nvSpPr>
          <p:cNvPr id="12" name="Shape 9"/>
          <p:cNvSpPr/>
          <p:nvPr/>
        </p:nvSpPr>
        <p:spPr>
          <a:xfrm>
            <a:off x="5532120" y="1874520"/>
            <a:ext cx="1188720" cy="347472"/>
          </a:xfrm>
          <a:prstGeom prst="rect">
            <a:avLst/>
          </a:prstGeom>
          <a:solidFill>
            <a:srgbClr val="C0392B"/>
          </a:solidFill>
          <a:ln/>
        </p:spPr>
      </p:sp>
      <p:sp>
        <p:nvSpPr>
          <p:cNvPr id="13" name="Text 10"/>
          <p:cNvSpPr/>
          <p:nvPr/>
        </p:nvSpPr>
        <p:spPr>
          <a:xfrm>
            <a:off x="5532120" y="1874520"/>
            <a:ext cx="11887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 Auth</a:t>
            </a:r>
            <a:endParaRPr lang="en-US" sz="1000" dirty="0"/>
          </a:p>
        </p:txBody>
      </p:sp>
      <p:sp>
        <p:nvSpPr>
          <p:cNvPr id="14" name="Text 11"/>
          <p:cNvSpPr/>
          <p:nvPr/>
        </p:nvSpPr>
        <p:spPr>
          <a:xfrm>
            <a:off x="6812280" y="1892808"/>
            <a:ext cx="5029200" cy="502920"/>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Any device on the OT network can write CIP tags to any PLC</a:t>
            </a:r>
            <a:endParaRPr lang="en-US" sz="1000" dirty="0"/>
          </a:p>
        </p:txBody>
      </p:sp>
      <p:sp>
        <p:nvSpPr>
          <p:cNvPr id="15" name="Shape 12"/>
          <p:cNvSpPr/>
          <p:nvPr/>
        </p:nvSpPr>
        <p:spPr>
          <a:xfrm>
            <a:off x="5532120" y="2715768"/>
            <a:ext cx="1188720" cy="347472"/>
          </a:xfrm>
          <a:prstGeom prst="rect">
            <a:avLst/>
          </a:prstGeom>
          <a:solidFill>
            <a:srgbClr val="C0392B"/>
          </a:solidFill>
          <a:ln/>
        </p:spPr>
      </p:sp>
      <p:sp>
        <p:nvSpPr>
          <p:cNvPr id="16" name="Text 13"/>
          <p:cNvSpPr/>
          <p:nvPr/>
        </p:nvSpPr>
        <p:spPr>
          <a:xfrm>
            <a:off x="5532120" y="2715768"/>
            <a:ext cx="11887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Plaintext</a:t>
            </a:r>
            <a:endParaRPr lang="en-US" sz="1000" dirty="0"/>
          </a:p>
        </p:txBody>
      </p:sp>
      <p:sp>
        <p:nvSpPr>
          <p:cNvPr id="17" name="Text 14"/>
          <p:cNvSpPr/>
          <p:nvPr/>
        </p:nvSpPr>
        <p:spPr>
          <a:xfrm>
            <a:off x="6812280" y="2734056"/>
            <a:ext cx="5029200" cy="502920"/>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Frames transferred in clear — Wireshark reveals everything</a:t>
            </a:r>
            <a:endParaRPr lang="en-US" sz="1000" dirty="0"/>
          </a:p>
        </p:txBody>
      </p:sp>
      <p:sp>
        <p:nvSpPr>
          <p:cNvPr id="18" name="Shape 15"/>
          <p:cNvSpPr/>
          <p:nvPr/>
        </p:nvSpPr>
        <p:spPr>
          <a:xfrm>
            <a:off x="5532120" y="3557016"/>
            <a:ext cx="1188720" cy="347472"/>
          </a:xfrm>
          <a:prstGeom prst="rect">
            <a:avLst/>
          </a:prstGeom>
          <a:solidFill>
            <a:srgbClr val="C0392B"/>
          </a:solidFill>
          <a:ln/>
        </p:spPr>
      </p:sp>
      <p:sp>
        <p:nvSpPr>
          <p:cNvPr id="19" name="Text 16"/>
          <p:cNvSpPr/>
          <p:nvPr/>
        </p:nvSpPr>
        <p:spPr>
          <a:xfrm>
            <a:off x="5532120" y="3557016"/>
            <a:ext cx="11887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 Timestamp</a:t>
            </a:r>
            <a:endParaRPr lang="en-US" sz="1000" dirty="0"/>
          </a:p>
        </p:txBody>
      </p:sp>
      <p:sp>
        <p:nvSpPr>
          <p:cNvPr id="20" name="Text 17"/>
          <p:cNvSpPr/>
          <p:nvPr/>
        </p:nvSpPr>
        <p:spPr>
          <a:xfrm>
            <a:off x="6812280" y="3575304"/>
            <a:ext cx="5029200" cy="502920"/>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Devices cannot tell if a response is current or stale</a:t>
            </a:r>
            <a:endParaRPr lang="en-US" sz="1000" dirty="0"/>
          </a:p>
        </p:txBody>
      </p:sp>
      <p:sp>
        <p:nvSpPr>
          <p:cNvPr id="21" name="Shape 18"/>
          <p:cNvSpPr/>
          <p:nvPr/>
        </p:nvSpPr>
        <p:spPr>
          <a:xfrm>
            <a:off x="5532120" y="4398264"/>
            <a:ext cx="1188720" cy="347472"/>
          </a:xfrm>
          <a:prstGeom prst="rect">
            <a:avLst/>
          </a:prstGeom>
          <a:solidFill>
            <a:srgbClr val="C0392B"/>
          </a:solidFill>
          <a:ln/>
        </p:spPr>
      </p:sp>
      <p:sp>
        <p:nvSpPr>
          <p:cNvPr id="22" name="Text 19"/>
          <p:cNvSpPr/>
          <p:nvPr/>
        </p:nvSpPr>
        <p:spPr>
          <a:xfrm>
            <a:off x="5532120" y="4398264"/>
            <a:ext cx="11887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 Integrity</a:t>
            </a:r>
            <a:endParaRPr lang="en-US" sz="1000" dirty="0"/>
          </a:p>
        </p:txBody>
      </p:sp>
      <p:sp>
        <p:nvSpPr>
          <p:cNvPr id="23" name="Text 20"/>
          <p:cNvSpPr/>
          <p:nvPr/>
        </p:nvSpPr>
        <p:spPr>
          <a:xfrm>
            <a:off x="6812280" y="4416552"/>
            <a:ext cx="5029200" cy="502920"/>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Tag values can be altered — PLC cannot detect manipulation</a:t>
            </a:r>
            <a:endParaRPr lang="en-US" sz="1000" dirty="0"/>
          </a:p>
        </p:txBody>
      </p:sp>
      <p:sp>
        <p:nvSpPr>
          <p:cNvPr id="24" name="Shape 21"/>
          <p:cNvSpPr/>
          <p:nvPr/>
        </p:nvSpPr>
        <p:spPr>
          <a:xfrm>
            <a:off x="5532120" y="5239512"/>
            <a:ext cx="1188720" cy="347472"/>
          </a:xfrm>
          <a:prstGeom prst="rect">
            <a:avLst/>
          </a:prstGeom>
          <a:solidFill>
            <a:srgbClr val="C0392B"/>
          </a:solidFill>
          <a:ln/>
        </p:spPr>
      </p:sp>
      <p:sp>
        <p:nvSpPr>
          <p:cNvPr id="25" name="Text 22"/>
          <p:cNvSpPr/>
          <p:nvPr/>
        </p:nvSpPr>
        <p:spPr>
          <a:xfrm>
            <a:off x="5532120" y="5239512"/>
            <a:ext cx="11887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 Spec</a:t>
            </a:r>
            <a:endParaRPr lang="en-US" sz="1000" dirty="0"/>
          </a:p>
        </p:txBody>
      </p:sp>
      <p:sp>
        <p:nvSpPr>
          <p:cNvPr id="26" name="Text 23"/>
          <p:cNvSpPr/>
          <p:nvPr/>
        </p:nvSpPr>
        <p:spPr>
          <a:xfrm>
            <a:off x="6812280" y="5257800"/>
            <a:ext cx="5029200" cy="502920"/>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CIP protocol fully documented — attacker has full spec</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0</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Reconnaissance &amp; Tag Discovery</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phase0_recon.py  ·  pylogix tag enumeration from HMI  ·  ~30 min</a:t>
            </a:r>
            <a:endParaRPr lang="en-US" sz="1200" dirty="0"/>
          </a:p>
        </p:txBody>
      </p:sp>
      <p:sp>
        <p:nvSpPr>
          <p:cNvPr id="10" name="Shape 8"/>
          <p:cNvSpPr/>
          <p:nvPr/>
        </p:nvSpPr>
        <p:spPr>
          <a:xfrm>
            <a:off x="320040" y="1371600"/>
            <a:ext cx="5486400" cy="1920240"/>
          </a:xfrm>
          <a:prstGeom prst="rect">
            <a:avLst/>
          </a:prstGeom>
          <a:solidFill>
            <a:srgbClr val="FAFAFA"/>
          </a:solidFill>
          <a:ln w="12700">
            <a:solidFill>
              <a:srgbClr val="C0392B"/>
            </a:solidFill>
            <a:prstDash val="solid"/>
          </a:ln>
        </p:spPr>
      </p:sp>
      <p:sp>
        <p:nvSpPr>
          <p:cNvPr id="11" name="Text 9"/>
          <p:cNvSpPr/>
          <p:nvPr/>
        </p:nvSpPr>
        <p:spPr>
          <a:xfrm>
            <a:off x="429768" y="1463040"/>
            <a:ext cx="5266944"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Step 1 — Connectivity Test</a:t>
            </a:r>
            <a:endParaRPr lang="en-US" sz="1100" dirty="0"/>
          </a:p>
        </p:txBody>
      </p:sp>
      <p:sp>
        <p:nvSpPr>
          <p:cNvPr id="12" name="Text 10"/>
          <p:cNvSpPr/>
          <p:nvPr/>
        </p:nvSpPr>
        <p:spPr>
          <a:xfrm>
            <a:off x="429768" y="1755648"/>
            <a:ext cx="5266944" cy="141732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python3 -c "from pylogix import PLC</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with PLC() as plc:</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plc.IPAddress = '192.168.1.10'</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r = plc.Read('HMI_LIT101.Pv')</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print(r.Value, r.Status)"</a:t>
            </a:r>
            <a:endParaRPr lang="en-US" sz="1000" dirty="0"/>
          </a:p>
        </p:txBody>
      </p:sp>
      <p:sp>
        <p:nvSpPr>
          <p:cNvPr id="13" name="Shape 11"/>
          <p:cNvSpPr/>
          <p:nvPr/>
        </p:nvSpPr>
        <p:spPr>
          <a:xfrm>
            <a:off x="320040" y="3401568"/>
            <a:ext cx="5486400" cy="1874520"/>
          </a:xfrm>
          <a:prstGeom prst="rect">
            <a:avLst/>
          </a:prstGeom>
          <a:solidFill>
            <a:srgbClr val="FAFAFA"/>
          </a:solidFill>
          <a:ln w="12700">
            <a:solidFill>
              <a:srgbClr val="C0392B"/>
            </a:solidFill>
            <a:prstDash val="solid"/>
          </a:ln>
        </p:spPr>
      </p:sp>
      <p:sp>
        <p:nvSpPr>
          <p:cNvPr id="14" name="Text 12"/>
          <p:cNvSpPr/>
          <p:nvPr/>
        </p:nvSpPr>
        <p:spPr>
          <a:xfrm>
            <a:off x="429768" y="3493008"/>
            <a:ext cx="5266944"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Step 2 — Tag Enumeration</a:t>
            </a:r>
            <a:endParaRPr lang="en-US" sz="1100" dirty="0"/>
          </a:p>
        </p:txBody>
      </p:sp>
      <p:sp>
        <p:nvSpPr>
          <p:cNvPr id="15" name="Text 13"/>
          <p:cNvSpPr/>
          <p:nvPr/>
        </p:nvSpPr>
        <p:spPr>
          <a:xfrm>
            <a:off x="429768" y="3785616"/>
            <a:ext cx="5266944" cy="13716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Tags confirmed from lab:</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HMI_LIT101.Pv        (REAL, mm)</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AI_FIT_101_FLOW      (REAL, L/s)</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HMI_MV101.Cmd        (1=CLOSE, 2=OPEN)</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HMI_P101.Auto        (BOOL)</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 xml:space="preserve">  HMI_LIT101.Sim_PV    (spoofing)</a:t>
            </a:r>
            <a:endParaRPr lang="en-US" sz="1000" dirty="0"/>
          </a:p>
        </p:txBody>
      </p:sp>
      <p:sp>
        <p:nvSpPr>
          <p:cNvPr id="16" name="Text 14"/>
          <p:cNvSpPr/>
          <p:nvPr/>
        </p:nvSpPr>
        <p:spPr>
          <a:xfrm>
            <a:off x="5989320" y="1371600"/>
            <a:ext cx="5852160" cy="292608"/>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Output Files</a:t>
            </a:r>
            <a:endParaRPr lang="en-US" sz="1300" dirty="0"/>
          </a:p>
        </p:txBody>
      </p:sp>
      <p:sp>
        <p:nvSpPr>
          <p:cNvPr id="17" name="Shape 15"/>
          <p:cNvSpPr/>
          <p:nvPr/>
        </p:nvSpPr>
        <p:spPr>
          <a:xfrm>
            <a:off x="5989320" y="1783080"/>
            <a:ext cx="5852160" cy="658368"/>
          </a:xfrm>
          <a:prstGeom prst="rect">
            <a:avLst/>
          </a:prstGeom>
          <a:solidFill>
            <a:srgbClr val="F5F5F5"/>
          </a:solidFill>
          <a:ln w="12700">
            <a:solidFill>
              <a:srgbClr val="E0E0E0"/>
            </a:solidFill>
            <a:prstDash val="solid"/>
          </a:ln>
        </p:spPr>
      </p:sp>
      <p:sp>
        <p:nvSpPr>
          <p:cNvPr id="18" name="Text 16"/>
          <p:cNvSpPr/>
          <p:nvPr/>
        </p:nvSpPr>
        <p:spPr>
          <a:xfrm>
            <a:off x="6080760" y="1847088"/>
            <a:ext cx="5669280" cy="256032"/>
          </a:xfrm>
          <a:prstGeom prst="rect">
            <a:avLst/>
          </a:prstGeom>
          <a:noFill/>
          <a:ln/>
        </p:spPr>
        <p:txBody>
          <a:bodyPr wrap="square" rtlCol="0" anchor="ctr"/>
          <a:lstStyle/>
          <a:p>
            <a:pPr indent="0" marL="0">
              <a:buNone/>
            </a:pPr>
            <a:r>
              <a:rPr lang="en-US" sz="1000" b="1" dirty="0">
                <a:solidFill>
                  <a:srgbClr val="C0392B"/>
                </a:solidFill>
                <a:latin typeface="Courier New" pitchFamily="34" charset="0"/>
                <a:ea typeface="Courier New" pitchFamily="34" charset="-122"/>
                <a:cs typeface="Courier New" pitchFamily="34" charset="-120"/>
              </a:rPr>
              <a:t>enip_db.pkl</a:t>
            </a:r>
            <a:endParaRPr lang="en-US" sz="1000" dirty="0"/>
          </a:p>
        </p:txBody>
      </p:sp>
      <p:sp>
        <p:nvSpPr>
          <p:cNvPr id="19" name="Text 17"/>
          <p:cNvSpPr/>
          <p:nvPr/>
        </p:nvSpPr>
        <p:spPr>
          <a:xfrm>
            <a:off x="6080760" y="2121408"/>
            <a:ext cx="5669280" cy="256032"/>
          </a:xfrm>
          <a:prstGeom prst="rect">
            <a:avLst/>
          </a:prstGeom>
          <a:noFill/>
          <a:ln/>
        </p:spPr>
        <p:txBody>
          <a:bodyPr wrap="square" rtlCol="0" anchor="ctr"/>
          <a:lstStyle/>
          <a:p>
            <a:pPr indent="0" marL="0">
              <a:buNone/>
            </a:pPr>
            <a:r>
              <a:rPr lang="en-US" sz="950" dirty="0">
                <a:solidFill>
                  <a:srgbClr val="2D2D2D"/>
                </a:solidFill>
                <a:latin typeface="Calibri" pitchFamily="34" charset="0"/>
                <a:ea typeface="Calibri" pitchFamily="34" charset="-122"/>
                <a:cs typeface="Calibri" pitchFamily="34" charset="-120"/>
              </a:rPr>
              <a:t>Timestamped tag value database (29,153 samples)</a:t>
            </a:r>
            <a:endParaRPr lang="en-US" sz="950" dirty="0"/>
          </a:p>
        </p:txBody>
      </p:sp>
      <p:sp>
        <p:nvSpPr>
          <p:cNvPr id="20" name="Shape 18"/>
          <p:cNvSpPr/>
          <p:nvPr/>
        </p:nvSpPr>
        <p:spPr>
          <a:xfrm>
            <a:off x="5989320" y="2560320"/>
            <a:ext cx="5852160" cy="658368"/>
          </a:xfrm>
          <a:prstGeom prst="rect">
            <a:avLst/>
          </a:prstGeom>
          <a:solidFill>
            <a:srgbClr val="F5F5F5"/>
          </a:solidFill>
          <a:ln w="12700">
            <a:solidFill>
              <a:srgbClr val="E0E0E0"/>
            </a:solidFill>
            <a:prstDash val="solid"/>
          </a:ln>
        </p:spPr>
      </p:sp>
      <p:sp>
        <p:nvSpPr>
          <p:cNvPr id="21" name="Text 19"/>
          <p:cNvSpPr/>
          <p:nvPr/>
        </p:nvSpPr>
        <p:spPr>
          <a:xfrm>
            <a:off x="6080760" y="2624328"/>
            <a:ext cx="5669280" cy="256032"/>
          </a:xfrm>
          <a:prstGeom prst="rect">
            <a:avLst/>
          </a:prstGeom>
          <a:noFill/>
          <a:ln/>
        </p:spPr>
        <p:txBody>
          <a:bodyPr wrap="square" rtlCol="0" anchor="ctr"/>
          <a:lstStyle/>
          <a:p>
            <a:pPr indent="0" marL="0">
              <a:buNone/>
            </a:pPr>
            <a:r>
              <a:rPr lang="en-US" sz="1000" b="1" dirty="0">
                <a:solidFill>
                  <a:srgbClr val="C0392B"/>
                </a:solidFill>
                <a:latin typeface="Courier New" pitchFamily="34" charset="0"/>
                <a:ea typeface="Courier New" pitchFamily="34" charset="-122"/>
                <a:cs typeface="Courier New" pitchFamily="34" charset="-120"/>
              </a:rPr>
              <a:t>recon_results.json</a:t>
            </a:r>
            <a:endParaRPr lang="en-US" sz="1000" dirty="0"/>
          </a:p>
        </p:txBody>
      </p:sp>
      <p:sp>
        <p:nvSpPr>
          <p:cNvPr id="22" name="Text 20"/>
          <p:cNvSpPr/>
          <p:nvPr/>
        </p:nvSpPr>
        <p:spPr>
          <a:xfrm>
            <a:off x="6080760" y="2898648"/>
            <a:ext cx="5669280" cy="256032"/>
          </a:xfrm>
          <a:prstGeom prst="rect">
            <a:avLst/>
          </a:prstGeom>
          <a:noFill/>
          <a:ln/>
        </p:spPr>
        <p:txBody>
          <a:bodyPr wrap="square" rtlCol="0" anchor="ctr"/>
          <a:lstStyle/>
          <a:p>
            <a:pPr indent="0" marL="0">
              <a:buNone/>
            </a:pPr>
            <a:r>
              <a:rPr lang="en-US" sz="950" dirty="0">
                <a:solidFill>
                  <a:srgbClr val="2D2D2D"/>
                </a:solidFill>
                <a:latin typeface="Calibri" pitchFamily="34" charset="0"/>
                <a:ea typeface="Calibri" pitchFamily="34" charset="-122"/>
                <a:cs typeface="Calibri" pitchFamily="34" charset="-120"/>
              </a:rPr>
              <a:t>PLC identity, tag list, initial values</a:t>
            </a:r>
            <a:endParaRPr lang="en-US" sz="950" dirty="0"/>
          </a:p>
        </p:txBody>
      </p:sp>
      <p:sp>
        <p:nvSpPr>
          <p:cNvPr id="23" name="Shape 21"/>
          <p:cNvSpPr/>
          <p:nvPr/>
        </p:nvSpPr>
        <p:spPr>
          <a:xfrm>
            <a:off x="5989320" y="3337560"/>
            <a:ext cx="5852160" cy="658368"/>
          </a:xfrm>
          <a:prstGeom prst="rect">
            <a:avLst/>
          </a:prstGeom>
          <a:solidFill>
            <a:srgbClr val="F5F5F5"/>
          </a:solidFill>
          <a:ln w="12700">
            <a:solidFill>
              <a:srgbClr val="E0E0E0"/>
            </a:solidFill>
            <a:prstDash val="solid"/>
          </a:ln>
        </p:spPr>
      </p:sp>
      <p:sp>
        <p:nvSpPr>
          <p:cNvPr id="24" name="Text 22"/>
          <p:cNvSpPr/>
          <p:nvPr/>
        </p:nvSpPr>
        <p:spPr>
          <a:xfrm>
            <a:off x="6080760" y="3401568"/>
            <a:ext cx="5669280" cy="256032"/>
          </a:xfrm>
          <a:prstGeom prst="rect">
            <a:avLst/>
          </a:prstGeom>
          <a:noFill/>
          <a:ln/>
        </p:spPr>
        <p:txBody>
          <a:bodyPr wrap="square" rtlCol="0" anchor="ctr"/>
          <a:lstStyle/>
          <a:p>
            <a:pPr indent="0" marL="0">
              <a:buNone/>
            </a:pPr>
            <a:r>
              <a:rPr lang="en-US" sz="1000" b="1" dirty="0">
                <a:solidFill>
                  <a:srgbClr val="C0392B"/>
                </a:solidFill>
                <a:latin typeface="Courier New" pitchFamily="34" charset="0"/>
                <a:ea typeface="Courier New" pitchFamily="34" charset="-122"/>
                <a:cs typeface="Courier New" pitchFamily="34" charset="-120"/>
              </a:rPr>
              <a:t>swat_capture.pcap</a:t>
            </a:r>
            <a:endParaRPr lang="en-US" sz="1000" dirty="0"/>
          </a:p>
        </p:txBody>
      </p:sp>
      <p:sp>
        <p:nvSpPr>
          <p:cNvPr id="25" name="Text 23"/>
          <p:cNvSpPr/>
          <p:nvPr/>
        </p:nvSpPr>
        <p:spPr>
          <a:xfrm>
            <a:off x="6080760" y="3675888"/>
            <a:ext cx="5669280" cy="256032"/>
          </a:xfrm>
          <a:prstGeom prst="rect">
            <a:avLst/>
          </a:prstGeom>
          <a:noFill/>
          <a:ln/>
        </p:spPr>
        <p:txBody>
          <a:bodyPr wrap="square" rtlCol="0" anchor="ctr"/>
          <a:lstStyle/>
          <a:p>
            <a:pPr indent="0" marL="0">
              <a:buNone/>
            </a:pPr>
            <a:r>
              <a:rPr lang="en-US" sz="950" dirty="0">
                <a:solidFill>
                  <a:srgbClr val="2D2D2D"/>
                </a:solidFill>
                <a:latin typeface="Calibri" pitchFamily="34" charset="0"/>
                <a:ea typeface="Calibri" pitchFamily="34" charset="-122"/>
                <a:cs typeface="Calibri" pitchFamily="34" charset="-120"/>
              </a:rPr>
              <a:t>Raw EtherNet/IP packet capture (Scapy)</a:t>
            </a:r>
            <a:endParaRPr lang="en-US" sz="950" dirty="0"/>
          </a:p>
        </p:txBody>
      </p:sp>
      <p:sp>
        <p:nvSpPr>
          <p:cNvPr id="26" name="Text 24"/>
          <p:cNvSpPr/>
          <p:nvPr/>
        </p:nvSpPr>
        <p:spPr>
          <a:xfrm>
            <a:off x="5989320" y="4206240"/>
            <a:ext cx="5852160" cy="274320"/>
          </a:xfrm>
          <a:prstGeom prst="rect">
            <a:avLst/>
          </a:prstGeom>
          <a:noFill/>
          <a:ln/>
        </p:spPr>
        <p:txBody>
          <a:bodyPr wrap="square" rtlCol="0" anchor="ctr"/>
          <a:lstStyle/>
          <a:p>
            <a:pPr indent="0" marL="0">
              <a:buNone/>
            </a:pPr>
            <a:r>
              <a:rPr lang="en-US" sz="1100" b="1" dirty="0">
                <a:solidFill>
                  <a:srgbClr val="2D2D2D"/>
                </a:solidFill>
                <a:latin typeface="Calibri" pitchFamily="34" charset="0"/>
                <a:ea typeface="Calibri" pitchFamily="34" charset="-122"/>
                <a:cs typeface="Calibri" pitchFamily="34" charset="-120"/>
              </a:rPr>
              <a:t>Tag Value Ranges (19-Feb-2026 dataset, 29,153 samples)</a:t>
            </a:r>
            <a:endParaRPr lang="en-US" sz="1100" dirty="0"/>
          </a:p>
        </p:txBody>
      </p:sp>
      <p:sp>
        <p:nvSpPr>
          <p:cNvPr id="27" name="Shape 25"/>
          <p:cNvSpPr/>
          <p:nvPr/>
        </p:nvSpPr>
        <p:spPr>
          <a:xfrm>
            <a:off x="5989320" y="4526280"/>
            <a:ext cx="2194560" cy="320040"/>
          </a:xfrm>
          <a:prstGeom prst="rect">
            <a:avLst/>
          </a:prstGeom>
          <a:solidFill>
            <a:srgbClr val="E8243C"/>
          </a:solidFill>
          <a:ln w="12700">
            <a:solidFill>
              <a:srgbClr val="E0E0E0"/>
            </a:solidFill>
            <a:prstDash val="solid"/>
          </a:ln>
        </p:spPr>
      </p:sp>
      <p:sp>
        <p:nvSpPr>
          <p:cNvPr id="28" name="Text 26"/>
          <p:cNvSpPr/>
          <p:nvPr/>
        </p:nvSpPr>
        <p:spPr>
          <a:xfrm>
            <a:off x="6062472" y="4526280"/>
            <a:ext cx="204825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Tag</a:t>
            </a:r>
            <a:endParaRPr lang="en-US" sz="900" dirty="0"/>
          </a:p>
        </p:txBody>
      </p:sp>
      <p:sp>
        <p:nvSpPr>
          <p:cNvPr id="29" name="Shape 27"/>
          <p:cNvSpPr/>
          <p:nvPr/>
        </p:nvSpPr>
        <p:spPr>
          <a:xfrm>
            <a:off x="8183880" y="4526280"/>
            <a:ext cx="914400" cy="320040"/>
          </a:xfrm>
          <a:prstGeom prst="rect">
            <a:avLst/>
          </a:prstGeom>
          <a:solidFill>
            <a:srgbClr val="E8243C"/>
          </a:solidFill>
          <a:ln w="12700">
            <a:solidFill>
              <a:srgbClr val="E0E0E0"/>
            </a:solidFill>
            <a:prstDash val="solid"/>
          </a:ln>
        </p:spPr>
      </p:sp>
      <p:sp>
        <p:nvSpPr>
          <p:cNvPr id="30" name="Text 28"/>
          <p:cNvSpPr/>
          <p:nvPr/>
        </p:nvSpPr>
        <p:spPr>
          <a:xfrm>
            <a:off x="8257032" y="452628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Min</a:t>
            </a:r>
            <a:endParaRPr lang="en-US" sz="900" dirty="0"/>
          </a:p>
        </p:txBody>
      </p:sp>
      <p:sp>
        <p:nvSpPr>
          <p:cNvPr id="31" name="Shape 29"/>
          <p:cNvSpPr/>
          <p:nvPr/>
        </p:nvSpPr>
        <p:spPr>
          <a:xfrm>
            <a:off x="9098280" y="4526280"/>
            <a:ext cx="914400" cy="320040"/>
          </a:xfrm>
          <a:prstGeom prst="rect">
            <a:avLst/>
          </a:prstGeom>
          <a:solidFill>
            <a:srgbClr val="E8243C"/>
          </a:solidFill>
          <a:ln w="12700">
            <a:solidFill>
              <a:srgbClr val="E0E0E0"/>
            </a:solidFill>
            <a:prstDash val="solid"/>
          </a:ln>
        </p:spPr>
      </p:sp>
      <p:sp>
        <p:nvSpPr>
          <p:cNvPr id="32" name="Text 30"/>
          <p:cNvSpPr/>
          <p:nvPr/>
        </p:nvSpPr>
        <p:spPr>
          <a:xfrm>
            <a:off x="9171432" y="452628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Max</a:t>
            </a:r>
            <a:endParaRPr lang="en-US" sz="900" dirty="0"/>
          </a:p>
        </p:txBody>
      </p:sp>
      <p:sp>
        <p:nvSpPr>
          <p:cNvPr id="33" name="Shape 31"/>
          <p:cNvSpPr/>
          <p:nvPr/>
        </p:nvSpPr>
        <p:spPr>
          <a:xfrm>
            <a:off x="10012680" y="4526280"/>
            <a:ext cx="1737360" cy="320040"/>
          </a:xfrm>
          <a:prstGeom prst="rect">
            <a:avLst/>
          </a:prstGeom>
          <a:solidFill>
            <a:srgbClr val="E8243C"/>
          </a:solidFill>
          <a:ln w="12700">
            <a:solidFill>
              <a:srgbClr val="E0E0E0"/>
            </a:solidFill>
            <a:prstDash val="solid"/>
          </a:ln>
        </p:spPr>
      </p:sp>
      <p:sp>
        <p:nvSpPr>
          <p:cNvPr id="34" name="Text 32"/>
          <p:cNvSpPr/>
          <p:nvPr/>
        </p:nvSpPr>
        <p:spPr>
          <a:xfrm>
            <a:off x="10085832" y="4526280"/>
            <a:ext cx="159105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Normal</a:t>
            </a:r>
            <a:endParaRPr lang="en-US" sz="900" dirty="0"/>
          </a:p>
        </p:txBody>
      </p:sp>
      <p:sp>
        <p:nvSpPr>
          <p:cNvPr id="35" name="Shape 33"/>
          <p:cNvSpPr/>
          <p:nvPr/>
        </p:nvSpPr>
        <p:spPr>
          <a:xfrm>
            <a:off x="5989320" y="4864608"/>
            <a:ext cx="2194560" cy="320040"/>
          </a:xfrm>
          <a:prstGeom prst="rect">
            <a:avLst/>
          </a:prstGeom>
          <a:solidFill>
            <a:srgbClr val="F5F5F5"/>
          </a:solidFill>
          <a:ln w="12700">
            <a:solidFill>
              <a:srgbClr val="E0E0E0"/>
            </a:solidFill>
            <a:prstDash val="solid"/>
          </a:ln>
        </p:spPr>
      </p:sp>
      <p:sp>
        <p:nvSpPr>
          <p:cNvPr id="36" name="Text 34"/>
          <p:cNvSpPr/>
          <p:nvPr/>
        </p:nvSpPr>
        <p:spPr>
          <a:xfrm>
            <a:off x="6062472" y="4864608"/>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HMI_LIT101.Pv</a:t>
            </a:r>
            <a:endParaRPr lang="en-US" sz="900" dirty="0"/>
          </a:p>
        </p:txBody>
      </p:sp>
      <p:sp>
        <p:nvSpPr>
          <p:cNvPr id="37" name="Shape 35"/>
          <p:cNvSpPr/>
          <p:nvPr/>
        </p:nvSpPr>
        <p:spPr>
          <a:xfrm>
            <a:off x="8183880" y="4864608"/>
            <a:ext cx="914400" cy="320040"/>
          </a:xfrm>
          <a:prstGeom prst="rect">
            <a:avLst/>
          </a:prstGeom>
          <a:solidFill>
            <a:srgbClr val="F5F5F5"/>
          </a:solidFill>
          <a:ln w="12700">
            <a:solidFill>
              <a:srgbClr val="E0E0E0"/>
            </a:solidFill>
            <a:prstDash val="solid"/>
          </a:ln>
        </p:spPr>
      </p:sp>
      <p:sp>
        <p:nvSpPr>
          <p:cNvPr id="38" name="Text 36"/>
          <p:cNvSpPr/>
          <p:nvPr/>
        </p:nvSpPr>
        <p:spPr>
          <a:xfrm>
            <a:off x="8257032" y="486460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480 mm</a:t>
            </a:r>
            <a:endParaRPr lang="en-US" sz="900" dirty="0"/>
          </a:p>
        </p:txBody>
      </p:sp>
      <p:sp>
        <p:nvSpPr>
          <p:cNvPr id="39" name="Shape 37"/>
          <p:cNvSpPr/>
          <p:nvPr/>
        </p:nvSpPr>
        <p:spPr>
          <a:xfrm>
            <a:off x="9098280" y="4864608"/>
            <a:ext cx="914400" cy="320040"/>
          </a:xfrm>
          <a:prstGeom prst="rect">
            <a:avLst/>
          </a:prstGeom>
          <a:solidFill>
            <a:srgbClr val="F5F5F5"/>
          </a:solidFill>
          <a:ln w="12700">
            <a:solidFill>
              <a:srgbClr val="E0E0E0"/>
            </a:solidFill>
            <a:prstDash val="solid"/>
          </a:ln>
        </p:spPr>
      </p:sp>
      <p:sp>
        <p:nvSpPr>
          <p:cNvPr id="40" name="Text 38"/>
          <p:cNvSpPr/>
          <p:nvPr/>
        </p:nvSpPr>
        <p:spPr>
          <a:xfrm>
            <a:off x="9171432" y="486460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827 mm</a:t>
            </a:r>
            <a:endParaRPr lang="en-US" sz="900" dirty="0"/>
          </a:p>
        </p:txBody>
      </p:sp>
      <p:sp>
        <p:nvSpPr>
          <p:cNvPr id="41" name="Shape 39"/>
          <p:cNvSpPr/>
          <p:nvPr/>
        </p:nvSpPr>
        <p:spPr>
          <a:xfrm>
            <a:off x="10012680" y="4864608"/>
            <a:ext cx="1737360" cy="320040"/>
          </a:xfrm>
          <a:prstGeom prst="rect">
            <a:avLst/>
          </a:prstGeom>
          <a:solidFill>
            <a:srgbClr val="F5F5F5"/>
          </a:solidFill>
          <a:ln w="12700">
            <a:solidFill>
              <a:srgbClr val="E0E0E0"/>
            </a:solidFill>
            <a:prstDash val="solid"/>
          </a:ln>
        </p:spPr>
      </p:sp>
      <p:sp>
        <p:nvSpPr>
          <p:cNvPr id="42" name="Text 40"/>
          <p:cNvSpPr/>
          <p:nvPr/>
        </p:nvSpPr>
        <p:spPr>
          <a:xfrm>
            <a:off x="10085832" y="486460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600–800 mm</a:t>
            </a:r>
            <a:endParaRPr lang="en-US" sz="900" dirty="0"/>
          </a:p>
        </p:txBody>
      </p:sp>
      <p:sp>
        <p:nvSpPr>
          <p:cNvPr id="43" name="Shape 41"/>
          <p:cNvSpPr/>
          <p:nvPr/>
        </p:nvSpPr>
        <p:spPr>
          <a:xfrm>
            <a:off x="5989320" y="5184648"/>
            <a:ext cx="2194560" cy="320040"/>
          </a:xfrm>
          <a:prstGeom prst="rect">
            <a:avLst/>
          </a:prstGeom>
          <a:solidFill>
            <a:srgbClr val="FFFFFF"/>
          </a:solidFill>
          <a:ln w="12700">
            <a:solidFill>
              <a:srgbClr val="E0E0E0"/>
            </a:solidFill>
            <a:prstDash val="solid"/>
          </a:ln>
        </p:spPr>
      </p:sp>
      <p:sp>
        <p:nvSpPr>
          <p:cNvPr id="44" name="Text 42"/>
          <p:cNvSpPr/>
          <p:nvPr/>
        </p:nvSpPr>
        <p:spPr>
          <a:xfrm>
            <a:off x="6062472" y="5184648"/>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AI_FIT_101_FLOW</a:t>
            </a:r>
            <a:endParaRPr lang="en-US" sz="900" dirty="0"/>
          </a:p>
        </p:txBody>
      </p:sp>
      <p:sp>
        <p:nvSpPr>
          <p:cNvPr id="45" name="Shape 43"/>
          <p:cNvSpPr/>
          <p:nvPr/>
        </p:nvSpPr>
        <p:spPr>
          <a:xfrm>
            <a:off x="8183880" y="5184648"/>
            <a:ext cx="914400" cy="320040"/>
          </a:xfrm>
          <a:prstGeom prst="rect">
            <a:avLst/>
          </a:prstGeom>
          <a:solidFill>
            <a:srgbClr val="FFFFFF"/>
          </a:solidFill>
          <a:ln w="12700">
            <a:solidFill>
              <a:srgbClr val="E0E0E0"/>
            </a:solidFill>
            <a:prstDash val="solid"/>
          </a:ln>
        </p:spPr>
      </p:sp>
      <p:sp>
        <p:nvSpPr>
          <p:cNvPr id="46" name="Text 44"/>
          <p:cNvSpPr/>
          <p:nvPr/>
        </p:nvSpPr>
        <p:spPr>
          <a:xfrm>
            <a:off x="8257032" y="518464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0.0 L/s</a:t>
            </a:r>
            <a:endParaRPr lang="en-US" sz="900" dirty="0"/>
          </a:p>
        </p:txBody>
      </p:sp>
      <p:sp>
        <p:nvSpPr>
          <p:cNvPr id="47" name="Shape 45"/>
          <p:cNvSpPr/>
          <p:nvPr/>
        </p:nvSpPr>
        <p:spPr>
          <a:xfrm>
            <a:off x="9098280" y="5184648"/>
            <a:ext cx="914400" cy="320040"/>
          </a:xfrm>
          <a:prstGeom prst="rect">
            <a:avLst/>
          </a:prstGeom>
          <a:solidFill>
            <a:srgbClr val="FFFFFF"/>
          </a:solidFill>
          <a:ln w="12700">
            <a:solidFill>
              <a:srgbClr val="E0E0E0"/>
            </a:solidFill>
            <a:prstDash val="solid"/>
          </a:ln>
        </p:spPr>
      </p:sp>
      <p:sp>
        <p:nvSpPr>
          <p:cNvPr id="48" name="Text 46"/>
          <p:cNvSpPr/>
          <p:nvPr/>
        </p:nvSpPr>
        <p:spPr>
          <a:xfrm>
            <a:off x="9171432" y="518464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2.62 L/s</a:t>
            </a:r>
            <a:endParaRPr lang="en-US" sz="900" dirty="0"/>
          </a:p>
        </p:txBody>
      </p:sp>
      <p:sp>
        <p:nvSpPr>
          <p:cNvPr id="49" name="Shape 47"/>
          <p:cNvSpPr/>
          <p:nvPr/>
        </p:nvSpPr>
        <p:spPr>
          <a:xfrm>
            <a:off x="10012680" y="5184648"/>
            <a:ext cx="1737360" cy="320040"/>
          </a:xfrm>
          <a:prstGeom prst="rect">
            <a:avLst/>
          </a:prstGeom>
          <a:solidFill>
            <a:srgbClr val="FFFFFF"/>
          </a:solidFill>
          <a:ln w="12700">
            <a:solidFill>
              <a:srgbClr val="E0E0E0"/>
            </a:solidFill>
            <a:prstDash val="solid"/>
          </a:ln>
        </p:spPr>
      </p:sp>
      <p:sp>
        <p:nvSpPr>
          <p:cNvPr id="50" name="Text 48"/>
          <p:cNvSpPr/>
          <p:nvPr/>
        </p:nvSpPr>
        <p:spPr>
          <a:xfrm>
            <a:off x="10085832" y="518464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Variable</a:t>
            </a:r>
            <a:endParaRPr lang="en-US" sz="900" dirty="0"/>
          </a:p>
        </p:txBody>
      </p:sp>
      <p:sp>
        <p:nvSpPr>
          <p:cNvPr id="51" name="Shape 49"/>
          <p:cNvSpPr/>
          <p:nvPr/>
        </p:nvSpPr>
        <p:spPr>
          <a:xfrm>
            <a:off x="5989320" y="5504688"/>
            <a:ext cx="2194560" cy="320040"/>
          </a:xfrm>
          <a:prstGeom prst="rect">
            <a:avLst/>
          </a:prstGeom>
          <a:solidFill>
            <a:srgbClr val="FFFFFF"/>
          </a:solidFill>
          <a:ln w="12700">
            <a:solidFill>
              <a:srgbClr val="E0E0E0"/>
            </a:solidFill>
            <a:prstDash val="solid"/>
          </a:ln>
        </p:spPr>
      </p:sp>
      <p:sp>
        <p:nvSpPr>
          <p:cNvPr id="52" name="Text 50"/>
          <p:cNvSpPr/>
          <p:nvPr/>
        </p:nvSpPr>
        <p:spPr>
          <a:xfrm>
            <a:off x="6062472" y="5504688"/>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HMI_MV101.Cmd</a:t>
            </a:r>
            <a:endParaRPr lang="en-US" sz="900" dirty="0"/>
          </a:p>
        </p:txBody>
      </p:sp>
      <p:sp>
        <p:nvSpPr>
          <p:cNvPr id="53" name="Shape 51"/>
          <p:cNvSpPr/>
          <p:nvPr/>
        </p:nvSpPr>
        <p:spPr>
          <a:xfrm>
            <a:off x="8183880" y="5504688"/>
            <a:ext cx="914400" cy="320040"/>
          </a:xfrm>
          <a:prstGeom prst="rect">
            <a:avLst/>
          </a:prstGeom>
          <a:solidFill>
            <a:srgbClr val="FFFFFF"/>
          </a:solidFill>
          <a:ln w="12700">
            <a:solidFill>
              <a:srgbClr val="E0E0E0"/>
            </a:solidFill>
            <a:prstDash val="solid"/>
          </a:ln>
        </p:spPr>
      </p:sp>
      <p:sp>
        <p:nvSpPr>
          <p:cNvPr id="54" name="Text 52"/>
          <p:cNvSpPr/>
          <p:nvPr/>
        </p:nvSpPr>
        <p:spPr>
          <a:xfrm>
            <a:off x="8257032" y="5504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1</a:t>
            </a:r>
            <a:endParaRPr lang="en-US" sz="900" dirty="0"/>
          </a:p>
        </p:txBody>
      </p:sp>
      <p:sp>
        <p:nvSpPr>
          <p:cNvPr id="55" name="Shape 53"/>
          <p:cNvSpPr/>
          <p:nvPr/>
        </p:nvSpPr>
        <p:spPr>
          <a:xfrm>
            <a:off x="9098280" y="5504688"/>
            <a:ext cx="914400" cy="320040"/>
          </a:xfrm>
          <a:prstGeom prst="rect">
            <a:avLst/>
          </a:prstGeom>
          <a:solidFill>
            <a:srgbClr val="FFFFFF"/>
          </a:solidFill>
          <a:ln w="12700">
            <a:solidFill>
              <a:srgbClr val="E0E0E0"/>
            </a:solidFill>
            <a:prstDash val="solid"/>
          </a:ln>
        </p:spPr>
      </p:sp>
      <p:sp>
        <p:nvSpPr>
          <p:cNvPr id="56" name="Text 54"/>
          <p:cNvSpPr/>
          <p:nvPr/>
        </p:nvSpPr>
        <p:spPr>
          <a:xfrm>
            <a:off x="9171432" y="5504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2</a:t>
            </a:r>
            <a:endParaRPr lang="en-US" sz="900" dirty="0"/>
          </a:p>
        </p:txBody>
      </p:sp>
      <p:sp>
        <p:nvSpPr>
          <p:cNvPr id="57" name="Shape 55"/>
          <p:cNvSpPr/>
          <p:nvPr/>
        </p:nvSpPr>
        <p:spPr>
          <a:xfrm>
            <a:off x="10012680" y="5504688"/>
            <a:ext cx="1737360" cy="320040"/>
          </a:xfrm>
          <a:prstGeom prst="rect">
            <a:avLst/>
          </a:prstGeom>
          <a:solidFill>
            <a:srgbClr val="FFFFFF"/>
          </a:solidFill>
          <a:ln w="12700">
            <a:solidFill>
              <a:srgbClr val="E0E0E0"/>
            </a:solidFill>
            <a:prstDash val="solid"/>
          </a:ln>
        </p:spPr>
      </p:sp>
      <p:sp>
        <p:nvSpPr>
          <p:cNvPr id="58" name="Text 56"/>
          <p:cNvSpPr/>
          <p:nvPr/>
        </p:nvSpPr>
        <p:spPr>
          <a:xfrm>
            <a:off x="10085832" y="550468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2 (OPEN)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1</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Direct CIP Tag Injection from HMI</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phase1_inject.py  ·  pylogix write to PLC1 @ 192.168.1.10  ·  No ARP poisoning needed</a:t>
            </a:r>
            <a:endParaRPr lang="en-US" sz="1200" dirty="0"/>
          </a:p>
        </p:txBody>
      </p:sp>
      <p:sp>
        <p:nvSpPr>
          <p:cNvPr id="10" name="Shape 8"/>
          <p:cNvSpPr/>
          <p:nvPr/>
        </p:nvSpPr>
        <p:spPr>
          <a:xfrm>
            <a:off x="320040" y="1371600"/>
            <a:ext cx="5760720" cy="2377440"/>
          </a:xfrm>
          <a:prstGeom prst="rect">
            <a:avLst/>
          </a:prstGeom>
          <a:solidFill>
            <a:srgbClr val="FAFAFA"/>
          </a:solidFill>
          <a:ln w="12700">
            <a:solidFill>
              <a:srgbClr val="C0392B"/>
            </a:solidFill>
            <a:prstDash val="solid"/>
          </a:ln>
        </p:spPr>
      </p:sp>
      <p:sp>
        <p:nvSpPr>
          <p:cNvPr id="11" name="Text 9"/>
          <p:cNvSpPr/>
          <p:nvPr/>
        </p:nvSpPr>
        <p:spPr>
          <a:xfrm>
            <a:off x="429768" y="1463040"/>
            <a:ext cx="5541264"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Attack Commands (pylogix)</a:t>
            </a:r>
            <a:endParaRPr lang="en-US" sz="1100" dirty="0"/>
          </a:p>
        </p:txBody>
      </p:sp>
      <p:sp>
        <p:nvSpPr>
          <p:cNvPr id="12" name="Shape 10"/>
          <p:cNvSpPr/>
          <p:nvPr/>
        </p:nvSpPr>
        <p:spPr>
          <a:xfrm>
            <a:off x="411480" y="1737360"/>
            <a:ext cx="5577840" cy="1920240"/>
          </a:xfrm>
          <a:prstGeom prst="rect">
            <a:avLst/>
          </a:prstGeom>
          <a:solidFill>
            <a:srgbClr val="1E1E1E"/>
          </a:solidFill>
          <a:ln/>
        </p:spPr>
      </p:sp>
      <p:sp>
        <p:nvSpPr>
          <p:cNvPr id="13" name="Text 11"/>
          <p:cNvSpPr/>
          <p:nvPr/>
        </p:nvSpPr>
        <p:spPr>
          <a:xfrm>
            <a:off x="502920" y="1810512"/>
            <a:ext cx="5394960" cy="1773936"/>
          </a:xfrm>
          <a:prstGeom prst="rect">
            <a:avLst/>
          </a:prstGeom>
          <a:noFill/>
          <a:ln/>
        </p:spPr>
        <p:txBody>
          <a:bodyPr wrap="square" rtlCol="0" anchor="t"/>
          <a:lstStyle/>
          <a:p>
            <a:pPr indent="0" marL="0">
              <a:buNone/>
            </a:pPr>
            <a:r>
              <a:rPr lang="en-US" sz="900" dirty="0">
                <a:solidFill>
                  <a:srgbClr val="00FF88"/>
                </a:solidFill>
                <a:latin typeface="Courier New" pitchFamily="34" charset="0"/>
                <a:ea typeface="Courier New" pitchFamily="34" charset="-122"/>
                <a:cs typeface="Courier New" pitchFamily="34" charset="-120"/>
              </a:rPr>
              <a:t># Take MV101 out of auto, command CLOSE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plc.Write("HMI_MV101.Auto", False)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plc.Write("HMI_MV101.Cmd",  1)      # 1=CLOSE</a:t>
            </a:r>
            <a:endParaRPr lang="en-US" sz="900" dirty="0"/>
          </a:p>
          <a:p>
            <a:pPr indent="0" marL="0">
              <a:buNone/>
            </a:pP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 Take P101 out of auto, command OFF</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plc.Write("HMI_P101.Auto", False)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plc.Write("HMI_P101.Cmd",  1)      # 1=OFF</a:t>
            </a:r>
            <a:endParaRPr lang="en-US" sz="900" dirty="0"/>
          </a:p>
          <a:p>
            <a:pPr indent="0" marL="0">
              <a:buNone/>
            </a:pP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 Loop every 1s for duration=120s</a:t>
            </a:r>
            <a:endParaRPr lang="en-US" sz="900" dirty="0"/>
          </a:p>
        </p:txBody>
      </p:sp>
      <p:sp>
        <p:nvSpPr>
          <p:cNvPr id="14" name="Shape 12"/>
          <p:cNvSpPr/>
          <p:nvPr/>
        </p:nvSpPr>
        <p:spPr>
          <a:xfrm>
            <a:off x="320040" y="3858768"/>
            <a:ext cx="5760720" cy="1463040"/>
          </a:xfrm>
          <a:prstGeom prst="rect">
            <a:avLst/>
          </a:prstGeom>
          <a:solidFill>
            <a:srgbClr val="FAFAFA"/>
          </a:solidFill>
          <a:ln w="12700">
            <a:solidFill>
              <a:srgbClr val="2E7D32"/>
            </a:solidFill>
            <a:prstDash val="solid"/>
          </a:ln>
        </p:spPr>
      </p:sp>
      <p:sp>
        <p:nvSpPr>
          <p:cNvPr id="15" name="Text 13"/>
          <p:cNvSpPr/>
          <p:nvPr/>
        </p:nvSpPr>
        <p:spPr>
          <a:xfrm>
            <a:off x="429768" y="3950208"/>
            <a:ext cx="5541264" cy="256032"/>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Safe State Restore (on exit)</a:t>
            </a:r>
            <a:endParaRPr lang="en-US" sz="1100" dirty="0"/>
          </a:p>
        </p:txBody>
      </p:sp>
      <p:sp>
        <p:nvSpPr>
          <p:cNvPr id="16" name="Shape 14"/>
          <p:cNvSpPr/>
          <p:nvPr/>
        </p:nvSpPr>
        <p:spPr>
          <a:xfrm>
            <a:off x="411480" y="4224528"/>
            <a:ext cx="5577840" cy="1005840"/>
          </a:xfrm>
          <a:prstGeom prst="rect">
            <a:avLst/>
          </a:prstGeom>
          <a:solidFill>
            <a:srgbClr val="1E1E1E"/>
          </a:solidFill>
          <a:ln/>
        </p:spPr>
      </p:sp>
      <p:sp>
        <p:nvSpPr>
          <p:cNvPr id="17" name="Text 15"/>
          <p:cNvSpPr/>
          <p:nvPr/>
        </p:nvSpPr>
        <p:spPr>
          <a:xfrm>
            <a:off x="502920" y="4297680"/>
            <a:ext cx="5394960" cy="859536"/>
          </a:xfrm>
          <a:prstGeom prst="rect">
            <a:avLst/>
          </a:prstGeom>
          <a:noFill/>
          <a:ln/>
        </p:spPr>
        <p:txBody>
          <a:bodyPr wrap="square" rtlCol="0" anchor="t"/>
          <a:lstStyle/>
          <a:p>
            <a:pPr indent="0" marL="0">
              <a:buNone/>
            </a:pPr>
            <a:r>
              <a:rPr lang="en-US" sz="900" dirty="0">
                <a:solidFill>
                  <a:srgbClr val="00FF88"/>
                </a:solidFill>
                <a:latin typeface="Courier New" pitchFamily="34" charset="0"/>
                <a:ea typeface="Courier New" pitchFamily="34" charset="-122"/>
                <a:cs typeface="Courier New" pitchFamily="34" charset="-120"/>
              </a:rPr>
              <a:t>plc.Write("HMI_MV101.Auto", False)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plc.Write("HMI_MV101.Cmd",  2)  # 2=OPEN</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plc.Write("HMI_MV101.Auto", True)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plc.Write("HMI_P101.Auto",  False)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plc.Write("HMI_P101.Cmd",   2)  # 2=ON</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plc.Write("HMI_P101.Auto",  True)</a:t>
            </a:r>
            <a:endParaRPr lang="en-US" sz="900" dirty="0"/>
          </a:p>
        </p:txBody>
      </p:sp>
      <p:sp>
        <p:nvSpPr>
          <p:cNvPr id="18" name="Text 16"/>
          <p:cNvSpPr/>
          <p:nvPr/>
        </p:nvSpPr>
        <p:spPr>
          <a:xfrm>
            <a:off x="6263640" y="1371600"/>
            <a:ext cx="5577840" cy="292608"/>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Physical Effects on SWaT P1</a:t>
            </a:r>
            <a:endParaRPr lang="en-US" sz="1300" dirty="0"/>
          </a:p>
        </p:txBody>
      </p:sp>
      <p:sp>
        <p:nvSpPr>
          <p:cNvPr id="19" name="Shape 17"/>
          <p:cNvSpPr/>
          <p:nvPr/>
        </p:nvSpPr>
        <p:spPr>
          <a:xfrm>
            <a:off x="6263640" y="1737360"/>
            <a:ext cx="1371600" cy="320040"/>
          </a:xfrm>
          <a:prstGeom prst="rect">
            <a:avLst/>
          </a:prstGeom>
          <a:solidFill>
            <a:srgbClr val="E8243C"/>
          </a:solidFill>
          <a:ln w="12700">
            <a:solidFill>
              <a:srgbClr val="E0E0E0"/>
            </a:solidFill>
            <a:prstDash val="solid"/>
          </a:ln>
        </p:spPr>
      </p:sp>
      <p:sp>
        <p:nvSpPr>
          <p:cNvPr id="20" name="Text 18"/>
          <p:cNvSpPr/>
          <p:nvPr/>
        </p:nvSpPr>
        <p:spPr>
          <a:xfrm>
            <a:off x="6336792" y="1737360"/>
            <a:ext cx="12252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Tag</a:t>
            </a:r>
            <a:endParaRPr lang="en-US" sz="900" dirty="0"/>
          </a:p>
        </p:txBody>
      </p:sp>
      <p:sp>
        <p:nvSpPr>
          <p:cNvPr id="21" name="Shape 19"/>
          <p:cNvSpPr/>
          <p:nvPr/>
        </p:nvSpPr>
        <p:spPr>
          <a:xfrm>
            <a:off x="7635240" y="1737360"/>
            <a:ext cx="1737360" cy="320040"/>
          </a:xfrm>
          <a:prstGeom prst="rect">
            <a:avLst/>
          </a:prstGeom>
          <a:solidFill>
            <a:srgbClr val="E8243C"/>
          </a:solidFill>
          <a:ln w="12700">
            <a:solidFill>
              <a:srgbClr val="E0E0E0"/>
            </a:solidFill>
            <a:prstDash val="solid"/>
          </a:ln>
        </p:spPr>
      </p:sp>
      <p:sp>
        <p:nvSpPr>
          <p:cNvPr id="22" name="Text 20"/>
          <p:cNvSpPr/>
          <p:nvPr/>
        </p:nvSpPr>
        <p:spPr>
          <a:xfrm>
            <a:off x="7708392" y="1737360"/>
            <a:ext cx="159105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Change</a:t>
            </a:r>
            <a:endParaRPr lang="en-US" sz="900" dirty="0"/>
          </a:p>
        </p:txBody>
      </p:sp>
      <p:sp>
        <p:nvSpPr>
          <p:cNvPr id="23" name="Shape 21"/>
          <p:cNvSpPr/>
          <p:nvPr/>
        </p:nvSpPr>
        <p:spPr>
          <a:xfrm>
            <a:off x="9372600" y="1737360"/>
            <a:ext cx="2377440" cy="320040"/>
          </a:xfrm>
          <a:prstGeom prst="rect">
            <a:avLst/>
          </a:prstGeom>
          <a:solidFill>
            <a:srgbClr val="E8243C"/>
          </a:solidFill>
          <a:ln w="12700">
            <a:solidFill>
              <a:srgbClr val="E0E0E0"/>
            </a:solidFill>
            <a:prstDash val="solid"/>
          </a:ln>
        </p:spPr>
      </p:sp>
      <p:sp>
        <p:nvSpPr>
          <p:cNvPr id="24" name="Text 22"/>
          <p:cNvSpPr/>
          <p:nvPr/>
        </p:nvSpPr>
        <p:spPr>
          <a:xfrm>
            <a:off x="9445752" y="1737360"/>
            <a:ext cx="223113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Physical Effect</a:t>
            </a:r>
            <a:endParaRPr lang="en-US" sz="900" dirty="0"/>
          </a:p>
        </p:txBody>
      </p:sp>
      <p:sp>
        <p:nvSpPr>
          <p:cNvPr id="25" name="Shape 23"/>
          <p:cNvSpPr/>
          <p:nvPr/>
        </p:nvSpPr>
        <p:spPr>
          <a:xfrm>
            <a:off x="6263640" y="2075688"/>
            <a:ext cx="1371600" cy="320040"/>
          </a:xfrm>
          <a:prstGeom prst="rect">
            <a:avLst/>
          </a:prstGeom>
          <a:solidFill>
            <a:srgbClr val="FFFFFF"/>
          </a:solidFill>
          <a:ln w="12700">
            <a:solidFill>
              <a:srgbClr val="E0E0E0"/>
            </a:solidFill>
            <a:prstDash val="solid"/>
          </a:ln>
        </p:spPr>
      </p:sp>
      <p:sp>
        <p:nvSpPr>
          <p:cNvPr id="26" name="Text 24"/>
          <p:cNvSpPr/>
          <p:nvPr/>
        </p:nvSpPr>
        <p:spPr>
          <a:xfrm>
            <a:off x="6336792" y="2075688"/>
            <a:ext cx="12252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MV101</a:t>
            </a:r>
            <a:endParaRPr lang="en-US" sz="900" dirty="0"/>
          </a:p>
        </p:txBody>
      </p:sp>
      <p:sp>
        <p:nvSpPr>
          <p:cNvPr id="27" name="Shape 25"/>
          <p:cNvSpPr/>
          <p:nvPr/>
        </p:nvSpPr>
        <p:spPr>
          <a:xfrm>
            <a:off x="7635240" y="2075688"/>
            <a:ext cx="1737360" cy="320040"/>
          </a:xfrm>
          <a:prstGeom prst="rect">
            <a:avLst/>
          </a:prstGeom>
          <a:solidFill>
            <a:srgbClr val="FFFFFF"/>
          </a:solidFill>
          <a:ln w="12700">
            <a:solidFill>
              <a:srgbClr val="E0E0E0"/>
            </a:solidFill>
            <a:prstDash val="solid"/>
          </a:ln>
        </p:spPr>
      </p:sp>
      <p:sp>
        <p:nvSpPr>
          <p:cNvPr id="28" name="Text 26"/>
          <p:cNvSpPr/>
          <p:nvPr/>
        </p:nvSpPr>
        <p:spPr>
          <a:xfrm>
            <a:off x="7708392" y="207568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OPEN → CLOSED</a:t>
            </a:r>
            <a:endParaRPr lang="en-US" sz="900" dirty="0"/>
          </a:p>
        </p:txBody>
      </p:sp>
      <p:sp>
        <p:nvSpPr>
          <p:cNvPr id="29" name="Shape 27"/>
          <p:cNvSpPr/>
          <p:nvPr/>
        </p:nvSpPr>
        <p:spPr>
          <a:xfrm>
            <a:off x="9372600" y="2075688"/>
            <a:ext cx="2377440" cy="320040"/>
          </a:xfrm>
          <a:prstGeom prst="rect">
            <a:avLst/>
          </a:prstGeom>
          <a:solidFill>
            <a:srgbClr val="FFFFFF"/>
          </a:solidFill>
          <a:ln w="12700">
            <a:solidFill>
              <a:srgbClr val="E0E0E0"/>
            </a:solidFill>
            <a:prstDash val="solid"/>
          </a:ln>
        </p:spPr>
      </p:sp>
      <p:sp>
        <p:nvSpPr>
          <p:cNvPr id="30" name="Text 28"/>
          <p:cNvSpPr/>
          <p:nvPr/>
        </p:nvSpPr>
        <p:spPr>
          <a:xfrm>
            <a:off x="9445752" y="2075688"/>
            <a:ext cx="22311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Inlet valve closes, inflow stops</a:t>
            </a:r>
            <a:endParaRPr lang="en-US" sz="900" dirty="0"/>
          </a:p>
        </p:txBody>
      </p:sp>
      <p:sp>
        <p:nvSpPr>
          <p:cNvPr id="31" name="Shape 29"/>
          <p:cNvSpPr/>
          <p:nvPr/>
        </p:nvSpPr>
        <p:spPr>
          <a:xfrm>
            <a:off x="6263640" y="2395728"/>
            <a:ext cx="1371600" cy="320040"/>
          </a:xfrm>
          <a:prstGeom prst="rect">
            <a:avLst/>
          </a:prstGeom>
          <a:solidFill>
            <a:srgbClr val="FFFFFF"/>
          </a:solidFill>
          <a:ln w="12700">
            <a:solidFill>
              <a:srgbClr val="E0E0E0"/>
            </a:solidFill>
            <a:prstDash val="solid"/>
          </a:ln>
        </p:spPr>
      </p:sp>
      <p:sp>
        <p:nvSpPr>
          <p:cNvPr id="32" name="Text 30"/>
          <p:cNvSpPr/>
          <p:nvPr/>
        </p:nvSpPr>
        <p:spPr>
          <a:xfrm>
            <a:off x="6336792" y="2395728"/>
            <a:ext cx="12252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a:t>
            </a:r>
            <a:endParaRPr lang="en-US" sz="900" dirty="0"/>
          </a:p>
        </p:txBody>
      </p:sp>
      <p:sp>
        <p:nvSpPr>
          <p:cNvPr id="33" name="Shape 31"/>
          <p:cNvSpPr/>
          <p:nvPr/>
        </p:nvSpPr>
        <p:spPr>
          <a:xfrm>
            <a:off x="7635240" y="2395728"/>
            <a:ext cx="1737360" cy="320040"/>
          </a:xfrm>
          <a:prstGeom prst="rect">
            <a:avLst/>
          </a:prstGeom>
          <a:solidFill>
            <a:srgbClr val="FFFFFF"/>
          </a:solidFill>
          <a:ln w="12700">
            <a:solidFill>
              <a:srgbClr val="E0E0E0"/>
            </a:solidFill>
            <a:prstDash val="solid"/>
          </a:ln>
        </p:spPr>
      </p:sp>
      <p:sp>
        <p:nvSpPr>
          <p:cNvPr id="34" name="Text 32"/>
          <p:cNvSpPr/>
          <p:nvPr/>
        </p:nvSpPr>
        <p:spPr>
          <a:xfrm>
            <a:off x="7708392" y="239572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ON → OFF</a:t>
            </a:r>
            <a:endParaRPr lang="en-US" sz="900" dirty="0"/>
          </a:p>
        </p:txBody>
      </p:sp>
      <p:sp>
        <p:nvSpPr>
          <p:cNvPr id="35" name="Shape 33"/>
          <p:cNvSpPr/>
          <p:nvPr/>
        </p:nvSpPr>
        <p:spPr>
          <a:xfrm>
            <a:off x="9372600" y="2395728"/>
            <a:ext cx="2377440" cy="320040"/>
          </a:xfrm>
          <a:prstGeom prst="rect">
            <a:avLst/>
          </a:prstGeom>
          <a:solidFill>
            <a:srgbClr val="FFFFFF"/>
          </a:solidFill>
          <a:ln w="12700">
            <a:solidFill>
              <a:srgbClr val="E0E0E0"/>
            </a:solidFill>
            <a:prstDash val="solid"/>
          </a:ln>
        </p:spPr>
      </p:sp>
      <p:sp>
        <p:nvSpPr>
          <p:cNvPr id="36" name="Text 34"/>
          <p:cNvSpPr/>
          <p:nvPr/>
        </p:nvSpPr>
        <p:spPr>
          <a:xfrm>
            <a:off x="9445752" y="2395728"/>
            <a:ext cx="22311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Pump stops, outflow ceases</a:t>
            </a:r>
            <a:endParaRPr lang="en-US" sz="900" dirty="0"/>
          </a:p>
        </p:txBody>
      </p:sp>
      <p:sp>
        <p:nvSpPr>
          <p:cNvPr id="37" name="Shape 35"/>
          <p:cNvSpPr/>
          <p:nvPr/>
        </p:nvSpPr>
        <p:spPr>
          <a:xfrm>
            <a:off x="6263640" y="2715768"/>
            <a:ext cx="1371600" cy="320040"/>
          </a:xfrm>
          <a:prstGeom prst="rect">
            <a:avLst/>
          </a:prstGeom>
          <a:solidFill>
            <a:srgbClr val="F5F5F5"/>
          </a:solidFill>
          <a:ln w="12700">
            <a:solidFill>
              <a:srgbClr val="E0E0E0"/>
            </a:solidFill>
            <a:prstDash val="solid"/>
          </a:ln>
        </p:spPr>
      </p:sp>
      <p:sp>
        <p:nvSpPr>
          <p:cNvPr id="38" name="Text 36"/>
          <p:cNvSpPr/>
          <p:nvPr/>
        </p:nvSpPr>
        <p:spPr>
          <a:xfrm>
            <a:off x="6336792" y="2715768"/>
            <a:ext cx="12252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LIT101</a:t>
            </a:r>
            <a:endParaRPr lang="en-US" sz="900" dirty="0"/>
          </a:p>
        </p:txBody>
      </p:sp>
      <p:sp>
        <p:nvSpPr>
          <p:cNvPr id="39" name="Shape 37"/>
          <p:cNvSpPr/>
          <p:nvPr/>
        </p:nvSpPr>
        <p:spPr>
          <a:xfrm>
            <a:off x="7635240" y="2715768"/>
            <a:ext cx="1737360" cy="320040"/>
          </a:xfrm>
          <a:prstGeom prst="rect">
            <a:avLst/>
          </a:prstGeom>
          <a:solidFill>
            <a:srgbClr val="F5F5F5"/>
          </a:solidFill>
          <a:ln w="12700">
            <a:solidFill>
              <a:srgbClr val="E0E0E0"/>
            </a:solidFill>
            <a:prstDash val="solid"/>
          </a:ln>
        </p:spPr>
      </p:sp>
      <p:sp>
        <p:nvSpPr>
          <p:cNvPr id="40" name="Text 38"/>
          <p:cNvSpPr/>
          <p:nvPr/>
        </p:nvSpPr>
        <p:spPr>
          <a:xfrm>
            <a:off x="7708392" y="271576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Stable → falling</a:t>
            </a:r>
            <a:endParaRPr lang="en-US" sz="900" dirty="0"/>
          </a:p>
        </p:txBody>
      </p:sp>
      <p:sp>
        <p:nvSpPr>
          <p:cNvPr id="41" name="Shape 39"/>
          <p:cNvSpPr/>
          <p:nvPr/>
        </p:nvSpPr>
        <p:spPr>
          <a:xfrm>
            <a:off x="9372600" y="2715768"/>
            <a:ext cx="2377440" cy="320040"/>
          </a:xfrm>
          <a:prstGeom prst="rect">
            <a:avLst/>
          </a:prstGeom>
          <a:solidFill>
            <a:srgbClr val="F5F5F5"/>
          </a:solidFill>
          <a:ln w="12700">
            <a:solidFill>
              <a:srgbClr val="E0E0E0"/>
            </a:solidFill>
            <a:prstDash val="solid"/>
          </a:ln>
        </p:spPr>
      </p:sp>
      <p:sp>
        <p:nvSpPr>
          <p:cNvPr id="42" name="Text 40"/>
          <p:cNvSpPr/>
          <p:nvPr/>
        </p:nvSpPr>
        <p:spPr>
          <a:xfrm>
            <a:off x="9445752" y="2715768"/>
            <a:ext cx="22311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~2–5 mm/min drop rate</a:t>
            </a:r>
            <a:endParaRPr lang="en-US" sz="900" dirty="0"/>
          </a:p>
        </p:txBody>
      </p:sp>
      <p:sp>
        <p:nvSpPr>
          <p:cNvPr id="43" name="Shape 41"/>
          <p:cNvSpPr/>
          <p:nvPr/>
        </p:nvSpPr>
        <p:spPr>
          <a:xfrm>
            <a:off x="6263640" y="3035808"/>
            <a:ext cx="1371600" cy="320040"/>
          </a:xfrm>
          <a:prstGeom prst="rect">
            <a:avLst/>
          </a:prstGeom>
          <a:solidFill>
            <a:srgbClr val="F5F5F5"/>
          </a:solidFill>
          <a:ln w="12700">
            <a:solidFill>
              <a:srgbClr val="E0E0E0"/>
            </a:solidFill>
            <a:prstDash val="solid"/>
          </a:ln>
        </p:spPr>
      </p:sp>
      <p:sp>
        <p:nvSpPr>
          <p:cNvPr id="44" name="Text 42"/>
          <p:cNvSpPr/>
          <p:nvPr/>
        </p:nvSpPr>
        <p:spPr>
          <a:xfrm>
            <a:off x="6336792" y="3035808"/>
            <a:ext cx="12252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FIT101</a:t>
            </a:r>
            <a:endParaRPr lang="en-US" sz="900" dirty="0"/>
          </a:p>
        </p:txBody>
      </p:sp>
      <p:sp>
        <p:nvSpPr>
          <p:cNvPr id="45" name="Shape 43"/>
          <p:cNvSpPr/>
          <p:nvPr/>
        </p:nvSpPr>
        <p:spPr>
          <a:xfrm>
            <a:off x="7635240" y="3035808"/>
            <a:ext cx="1737360" cy="320040"/>
          </a:xfrm>
          <a:prstGeom prst="rect">
            <a:avLst/>
          </a:prstGeom>
          <a:solidFill>
            <a:srgbClr val="F5F5F5"/>
          </a:solidFill>
          <a:ln w="12700">
            <a:solidFill>
              <a:srgbClr val="E0E0E0"/>
            </a:solidFill>
            <a:prstDash val="solid"/>
          </a:ln>
        </p:spPr>
      </p:sp>
      <p:sp>
        <p:nvSpPr>
          <p:cNvPr id="46" name="Text 44"/>
          <p:cNvSpPr/>
          <p:nvPr/>
        </p:nvSpPr>
        <p:spPr>
          <a:xfrm>
            <a:off x="7708392" y="303580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&gt;0 → ≈0</a:t>
            </a:r>
            <a:endParaRPr lang="en-US" sz="900" dirty="0"/>
          </a:p>
        </p:txBody>
      </p:sp>
      <p:sp>
        <p:nvSpPr>
          <p:cNvPr id="47" name="Shape 45"/>
          <p:cNvSpPr/>
          <p:nvPr/>
        </p:nvSpPr>
        <p:spPr>
          <a:xfrm>
            <a:off x="9372600" y="3035808"/>
            <a:ext cx="2377440" cy="320040"/>
          </a:xfrm>
          <a:prstGeom prst="rect">
            <a:avLst/>
          </a:prstGeom>
          <a:solidFill>
            <a:srgbClr val="F5F5F5"/>
          </a:solidFill>
          <a:ln w="12700">
            <a:solidFill>
              <a:srgbClr val="E0E0E0"/>
            </a:solidFill>
            <a:prstDash val="solid"/>
          </a:ln>
        </p:spPr>
      </p:sp>
      <p:sp>
        <p:nvSpPr>
          <p:cNvPr id="48" name="Text 46"/>
          <p:cNvSpPr/>
          <p:nvPr/>
        </p:nvSpPr>
        <p:spPr>
          <a:xfrm>
            <a:off x="9445752" y="3035808"/>
            <a:ext cx="22311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Flow drops to zero</a:t>
            </a:r>
            <a:endParaRPr lang="en-US" sz="900" dirty="0"/>
          </a:p>
        </p:txBody>
      </p:sp>
      <p:sp>
        <p:nvSpPr>
          <p:cNvPr id="49" name="Shape 47"/>
          <p:cNvSpPr/>
          <p:nvPr/>
        </p:nvSpPr>
        <p:spPr>
          <a:xfrm>
            <a:off x="6263640" y="3355848"/>
            <a:ext cx="1371600" cy="320040"/>
          </a:xfrm>
          <a:prstGeom prst="rect">
            <a:avLst/>
          </a:prstGeom>
          <a:solidFill>
            <a:srgbClr val="FFFFFF"/>
          </a:solidFill>
          <a:ln w="12700">
            <a:solidFill>
              <a:srgbClr val="E0E0E0"/>
            </a:solidFill>
            <a:prstDash val="solid"/>
          </a:ln>
        </p:spPr>
      </p:sp>
      <p:sp>
        <p:nvSpPr>
          <p:cNvPr id="50" name="Text 48"/>
          <p:cNvSpPr/>
          <p:nvPr/>
        </p:nvSpPr>
        <p:spPr>
          <a:xfrm>
            <a:off x="6336792" y="3355848"/>
            <a:ext cx="12252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HMI display</a:t>
            </a:r>
            <a:endParaRPr lang="en-US" sz="900" dirty="0"/>
          </a:p>
        </p:txBody>
      </p:sp>
      <p:sp>
        <p:nvSpPr>
          <p:cNvPr id="51" name="Shape 49"/>
          <p:cNvSpPr/>
          <p:nvPr/>
        </p:nvSpPr>
        <p:spPr>
          <a:xfrm>
            <a:off x="7635240" y="3355848"/>
            <a:ext cx="1737360" cy="320040"/>
          </a:xfrm>
          <a:prstGeom prst="rect">
            <a:avLst/>
          </a:prstGeom>
          <a:solidFill>
            <a:srgbClr val="FFFFFF"/>
          </a:solidFill>
          <a:ln w="12700">
            <a:solidFill>
              <a:srgbClr val="E0E0E0"/>
            </a:solidFill>
            <a:prstDash val="solid"/>
          </a:ln>
        </p:spPr>
      </p:sp>
      <p:sp>
        <p:nvSpPr>
          <p:cNvPr id="52" name="Text 50"/>
          <p:cNvSpPr/>
          <p:nvPr/>
        </p:nvSpPr>
        <p:spPr>
          <a:xfrm>
            <a:off x="7708392" y="3355848"/>
            <a:ext cx="15910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Normal (unaware)</a:t>
            </a:r>
            <a:endParaRPr lang="en-US" sz="900" dirty="0"/>
          </a:p>
        </p:txBody>
      </p:sp>
      <p:sp>
        <p:nvSpPr>
          <p:cNvPr id="53" name="Shape 51"/>
          <p:cNvSpPr/>
          <p:nvPr/>
        </p:nvSpPr>
        <p:spPr>
          <a:xfrm>
            <a:off x="9372600" y="3355848"/>
            <a:ext cx="2377440" cy="320040"/>
          </a:xfrm>
          <a:prstGeom prst="rect">
            <a:avLst/>
          </a:prstGeom>
          <a:solidFill>
            <a:srgbClr val="FFFFFF"/>
          </a:solidFill>
          <a:ln w="12700">
            <a:solidFill>
              <a:srgbClr val="E0E0E0"/>
            </a:solidFill>
            <a:prstDash val="solid"/>
          </a:ln>
        </p:spPr>
      </p:sp>
      <p:sp>
        <p:nvSpPr>
          <p:cNvPr id="54" name="Text 52"/>
          <p:cNvSpPr/>
          <p:nvPr/>
        </p:nvSpPr>
        <p:spPr>
          <a:xfrm>
            <a:off x="9445752" y="3355848"/>
            <a:ext cx="22311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Operator sees no change</a:t>
            </a:r>
            <a:endParaRPr lang="en-US" sz="900" dirty="0"/>
          </a:p>
        </p:txBody>
      </p:sp>
      <p:sp>
        <p:nvSpPr>
          <p:cNvPr id="55" name="Shape 53"/>
          <p:cNvSpPr/>
          <p:nvPr/>
        </p:nvSpPr>
        <p:spPr>
          <a:xfrm>
            <a:off x="6263640" y="3822192"/>
            <a:ext cx="5577840" cy="1097280"/>
          </a:xfrm>
          <a:prstGeom prst="rect">
            <a:avLst/>
          </a:prstGeom>
          <a:solidFill>
            <a:srgbClr val="FFF3F3"/>
          </a:solidFill>
          <a:ln w="12700">
            <a:solidFill>
              <a:srgbClr val="C0392B"/>
            </a:solidFill>
            <a:prstDash val="solid"/>
          </a:ln>
        </p:spPr>
      </p:sp>
      <p:sp>
        <p:nvSpPr>
          <p:cNvPr id="56" name="Text 54"/>
          <p:cNvSpPr/>
          <p:nvPr/>
        </p:nvSpPr>
        <p:spPr>
          <a:xfrm>
            <a:off x="6355080" y="3913632"/>
            <a:ext cx="5394960" cy="914400"/>
          </a:xfrm>
          <a:prstGeom prst="rect">
            <a:avLst/>
          </a:prstGeom>
          <a:noFill/>
          <a:ln/>
        </p:spPr>
        <p:txBody>
          <a:bodyPr wrap="square" rtlCol="0" anchor="t"/>
          <a:lstStyle/>
          <a:p>
            <a:pPr indent="0" marL="0">
              <a:buNone/>
            </a:pPr>
            <a:r>
              <a:rPr lang="en-US" sz="1000" dirty="0">
                <a:solidFill>
                  <a:srgbClr val="C0392B"/>
                </a:solidFill>
                <a:latin typeface="Calibri" pitchFamily="34" charset="0"/>
                <a:ea typeface="Calibri" pitchFamily="34" charset="-122"/>
                <a:cs typeface="Calibri" pitchFamily="34" charset="-120"/>
              </a:rPr>
              <a:t>Key insight: HMI has pre-existing trusted EtherNet/IP access to PLC1. Running from the HMI means no ARP poisoning, no MITM, no sudo required. University policy — code runs on HMI.</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2</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Adversarial Sensor Spoofing — Evading ML Detectors</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phase2_spoof.py  ·  Castellanos et al., ACSAC 2020 (Paper #31)</a:t>
            </a:r>
            <a:endParaRPr lang="en-US" sz="1200" dirty="0"/>
          </a:p>
        </p:txBody>
      </p:sp>
      <p:sp>
        <p:nvSpPr>
          <p:cNvPr id="10" name="Shape 8"/>
          <p:cNvSpPr/>
          <p:nvPr/>
        </p:nvSpPr>
        <p:spPr>
          <a:xfrm>
            <a:off x="320040" y="1371600"/>
            <a:ext cx="3749040" cy="1920240"/>
          </a:xfrm>
          <a:prstGeom prst="rect">
            <a:avLst/>
          </a:prstGeom>
          <a:solidFill>
            <a:srgbClr val="FAFAFA"/>
          </a:solidFill>
          <a:ln w="12700">
            <a:solidFill>
              <a:srgbClr val="C0392B"/>
            </a:solidFill>
            <a:prstDash val="solid"/>
          </a:ln>
        </p:spPr>
      </p:sp>
      <p:sp>
        <p:nvSpPr>
          <p:cNvPr id="11" name="Text 9"/>
          <p:cNvSpPr/>
          <p:nvPr/>
        </p:nvSpPr>
        <p:spPr>
          <a:xfrm>
            <a:off x="429768" y="1463040"/>
            <a:ext cx="3529584" cy="256032"/>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Problem</a:t>
            </a:r>
            <a:endParaRPr lang="en-US" sz="1100" dirty="0"/>
          </a:p>
        </p:txBody>
      </p:sp>
      <p:sp>
        <p:nvSpPr>
          <p:cNvPr id="12" name="Text 10"/>
          <p:cNvSpPr/>
          <p:nvPr/>
        </p:nvSpPr>
        <p:spPr>
          <a:xfrm>
            <a:off x="429768" y="1755648"/>
            <a:ext cx="3529584" cy="141732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Phase 1 causes LIT101 to drop and FIT101 to go to zero — the autoencoder notices these broken correlations and flags an anomaly.</a:t>
            </a:r>
            <a:endParaRPr lang="en-US" sz="1000" dirty="0"/>
          </a:p>
        </p:txBody>
      </p:sp>
      <p:sp>
        <p:nvSpPr>
          <p:cNvPr id="13" name="Shape 11"/>
          <p:cNvSpPr/>
          <p:nvPr/>
        </p:nvSpPr>
        <p:spPr>
          <a:xfrm>
            <a:off x="4206240" y="1371600"/>
            <a:ext cx="3749040" cy="1920240"/>
          </a:xfrm>
          <a:prstGeom prst="rect">
            <a:avLst/>
          </a:prstGeom>
          <a:solidFill>
            <a:srgbClr val="FAFAFA"/>
          </a:solidFill>
          <a:ln w="12700">
            <a:solidFill>
              <a:srgbClr val="1565C0"/>
            </a:solidFill>
            <a:prstDash val="solid"/>
          </a:ln>
        </p:spPr>
      </p:sp>
      <p:sp>
        <p:nvSpPr>
          <p:cNvPr id="14" name="Text 12"/>
          <p:cNvSpPr/>
          <p:nvPr/>
        </p:nvSpPr>
        <p:spPr>
          <a:xfrm>
            <a:off x="4315968" y="1463040"/>
            <a:ext cx="3529584" cy="256032"/>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Solution</a:t>
            </a:r>
            <a:endParaRPr lang="en-US" sz="1100" dirty="0"/>
          </a:p>
        </p:txBody>
      </p:sp>
      <p:sp>
        <p:nvSpPr>
          <p:cNvPr id="15" name="Text 13"/>
          <p:cNvSpPr/>
          <p:nvPr/>
        </p:nvSpPr>
        <p:spPr>
          <a:xfrm>
            <a:off x="4315968" y="1755648"/>
            <a:ext cx="3529584" cy="141732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Adversarial encoder generates δ such that the victim AE sees low reconstruction error on (x + δ) — the sensor stream looks statistically normal despite the physical attack.</a:t>
            </a:r>
            <a:endParaRPr lang="en-US" sz="1000" dirty="0"/>
          </a:p>
        </p:txBody>
      </p:sp>
      <p:sp>
        <p:nvSpPr>
          <p:cNvPr id="16" name="Shape 14"/>
          <p:cNvSpPr/>
          <p:nvPr/>
        </p:nvSpPr>
        <p:spPr>
          <a:xfrm>
            <a:off x="8229600" y="1371600"/>
            <a:ext cx="3639312" cy="1920240"/>
          </a:xfrm>
          <a:prstGeom prst="rect">
            <a:avLst/>
          </a:prstGeom>
          <a:solidFill>
            <a:srgbClr val="FAFAFA"/>
          </a:solidFill>
          <a:ln w="12700">
            <a:solidFill>
              <a:srgbClr val="E65100"/>
            </a:solidFill>
            <a:prstDash val="solid"/>
          </a:ln>
        </p:spPr>
      </p:sp>
      <p:sp>
        <p:nvSpPr>
          <p:cNvPr id="17" name="Text 15"/>
          <p:cNvSpPr/>
          <p:nvPr/>
        </p:nvSpPr>
        <p:spPr>
          <a:xfrm>
            <a:off x="8339328" y="1463040"/>
            <a:ext cx="3419856" cy="256032"/>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Constraint</a:t>
            </a:r>
            <a:endParaRPr lang="en-US" sz="1100" dirty="0"/>
          </a:p>
        </p:txBody>
      </p:sp>
      <p:sp>
        <p:nvSpPr>
          <p:cNvPr id="18" name="Text 16"/>
          <p:cNvSpPr/>
          <p:nvPr/>
        </p:nvSpPr>
        <p:spPr>
          <a:xfrm>
            <a:off x="8339328" y="1755648"/>
            <a:ext cx="3419856" cy="141732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||δ||∞ ≤ ε = 0.1</a:t>
            </a:r>
            <a:endParaRPr lang="en-US" sz="1000" dirty="0"/>
          </a:p>
          <a:p>
            <a:pPr indent="0" marL="0">
              <a:buNone/>
            </a:pP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Paper #31 result:</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94% evasion rate</a:t>
            </a: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against standalone AE</a:t>
            </a:r>
            <a:endParaRPr lang="en-US" sz="1000" dirty="0"/>
          </a:p>
        </p:txBody>
      </p:sp>
      <p:sp>
        <p:nvSpPr>
          <p:cNvPr id="19" name="Text 17"/>
          <p:cNvSpPr/>
          <p:nvPr/>
        </p:nvSpPr>
        <p:spPr>
          <a:xfrm>
            <a:off x="320040" y="3456432"/>
            <a:ext cx="11548872" cy="274320"/>
          </a:xfrm>
          <a:prstGeom prst="rect">
            <a:avLst/>
          </a:prstGeom>
          <a:noFill/>
          <a:ln/>
        </p:spPr>
        <p:txBody>
          <a:bodyPr wrap="square"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Sensor Simulation Tag Interface (confirmed from lab)</a:t>
            </a:r>
            <a:endParaRPr lang="en-US" sz="1200" dirty="0"/>
          </a:p>
        </p:txBody>
      </p:sp>
      <p:sp>
        <p:nvSpPr>
          <p:cNvPr id="20" name="Shape 18"/>
          <p:cNvSpPr/>
          <p:nvPr/>
        </p:nvSpPr>
        <p:spPr>
          <a:xfrm>
            <a:off x="320040" y="3767328"/>
            <a:ext cx="5669280" cy="1554480"/>
          </a:xfrm>
          <a:prstGeom prst="rect">
            <a:avLst/>
          </a:prstGeom>
          <a:solidFill>
            <a:srgbClr val="1E1E1E"/>
          </a:solidFill>
          <a:ln/>
        </p:spPr>
      </p:sp>
      <p:sp>
        <p:nvSpPr>
          <p:cNvPr id="21" name="Text 19"/>
          <p:cNvSpPr/>
          <p:nvPr/>
        </p:nvSpPr>
        <p:spPr>
          <a:xfrm>
            <a:off x="411480" y="3840480"/>
            <a:ext cx="5486400" cy="1408176"/>
          </a:xfrm>
          <a:prstGeom prst="rect">
            <a:avLst/>
          </a:prstGeom>
          <a:noFill/>
          <a:ln/>
        </p:spPr>
        <p:txBody>
          <a:bodyPr wrap="square" rtlCol="0" anchor="t"/>
          <a:lstStyle/>
          <a:p>
            <a:pPr indent="0" marL="0">
              <a:buNone/>
            </a:pPr>
            <a:r>
              <a:rPr lang="en-US" sz="900" dirty="0">
                <a:solidFill>
                  <a:srgbClr val="00FF88"/>
                </a:solidFill>
                <a:latin typeface="Courier New" pitchFamily="34" charset="0"/>
                <a:ea typeface="Courier New" pitchFamily="34" charset="-122"/>
                <a:cs typeface="Courier New" pitchFamily="34" charset="-120"/>
              </a:rPr>
              <a:t># Enable simulation mode + inject spoofed value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plc.Write("HMI_LIT101.Sim",    True)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plc.Write("HMI_LIT101.Sim_PV", spoofed_value)</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 Repeat every 1s — AE sees perturbed stream</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 On exit: disable simulation</a:t>
            </a:r>
            <a:endParaRPr lang="en-US" sz="900" dirty="0"/>
          </a:p>
          <a:p>
            <a:pPr indent="0" marL="0">
              <a:buNone/>
            </a:pPr>
            <a:r>
              <a:rPr lang="en-US" sz="900" dirty="0">
                <a:solidFill>
                  <a:srgbClr val="00FF88"/>
                </a:solidFill>
                <a:latin typeface="Courier New" pitchFamily="34" charset="0"/>
                <a:ea typeface="Courier New" pitchFamily="34" charset="-122"/>
                <a:cs typeface="Courier New" pitchFamily="34" charset="-120"/>
              </a:rPr>
              <a:t>plc.Write("HMI_LIT101.Sim", False)</a:t>
            </a:r>
            <a:endParaRPr lang="en-US" sz="900" dirty="0"/>
          </a:p>
        </p:txBody>
      </p:sp>
      <p:sp>
        <p:nvSpPr>
          <p:cNvPr id="22" name="Shape 20"/>
          <p:cNvSpPr/>
          <p:nvPr/>
        </p:nvSpPr>
        <p:spPr>
          <a:xfrm>
            <a:off x="6080760" y="3456432"/>
            <a:ext cx="5760720" cy="1828800"/>
          </a:xfrm>
          <a:prstGeom prst="rect">
            <a:avLst/>
          </a:prstGeom>
          <a:solidFill>
            <a:srgbClr val="FAFAFA"/>
          </a:solidFill>
          <a:ln w="12700">
            <a:solidFill>
              <a:srgbClr val="2E7D32"/>
            </a:solidFill>
            <a:prstDash val="solid"/>
          </a:ln>
        </p:spPr>
      </p:sp>
      <p:sp>
        <p:nvSpPr>
          <p:cNvPr id="23" name="Text 21"/>
          <p:cNvSpPr/>
          <p:nvPr/>
        </p:nvSpPr>
        <p:spPr>
          <a:xfrm>
            <a:off x="6190488" y="3547872"/>
            <a:ext cx="5541264" cy="256032"/>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Why Phase 2 Fails Against Our Hybrid</a:t>
            </a:r>
            <a:endParaRPr lang="en-US" sz="1100" dirty="0"/>
          </a:p>
        </p:txBody>
      </p:sp>
      <p:sp>
        <p:nvSpPr>
          <p:cNvPr id="24" name="Text 22"/>
          <p:cNvSpPr/>
          <p:nvPr/>
        </p:nvSpPr>
        <p:spPr>
          <a:xfrm>
            <a:off x="6190488" y="3840480"/>
            <a:ext cx="5541264" cy="132588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Phase 2 perturbs sensor readings (LIT101, FIT101). But the invariant checker reads HMI_MV101.Cmd and HMI_P101.Auto directly from PLC coil registers — these are not perturbed by the simulation tags.</a:t>
            </a:r>
            <a:endParaRPr lang="en-US" sz="1000" dirty="0"/>
          </a:p>
          <a:p>
            <a:pPr indent="0" marL="0">
              <a:buNone/>
            </a:pPr>
            <a:endParaRPr lang="en-US" sz="1000" dirty="0"/>
          </a:p>
          <a:p>
            <a:pPr indent="0" marL="0">
              <a:buNone/>
            </a:pPr>
            <a:r>
              <a:rPr lang="en-US" sz="1000" dirty="0">
                <a:solidFill>
                  <a:srgbClr val="2D2D2D"/>
                </a:solidFill>
                <a:latin typeface="Calibri" pitchFamily="34" charset="0"/>
                <a:ea typeface="Calibri" pitchFamily="34" charset="-122"/>
                <a:cs typeface="Calibri" pitchFamily="34" charset="-120"/>
              </a:rPr>
              <a:t>Invariant I-2: P101=ON but FIT101 &lt; 0.4 → VIOLATION — fires regardless of spoofed sensor values.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C0392B"/>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SCRIPTS</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Implementation Scripts — Usage Reference</a:t>
            </a:r>
            <a:endParaRPr lang="en-US" sz="3200" dirty="0"/>
          </a:p>
        </p:txBody>
      </p:sp>
      <p:sp>
        <p:nvSpPr>
          <p:cNvPr id="9" name="Shape 7"/>
          <p:cNvSpPr/>
          <p:nvPr/>
        </p:nvSpPr>
        <p:spPr>
          <a:xfrm>
            <a:off x="320040" y="1417320"/>
            <a:ext cx="11548872" cy="1444752"/>
          </a:xfrm>
          <a:prstGeom prst="rect">
            <a:avLst/>
          </a:prstGeom>
          <a:solidFill>
            <a:srgbClr val="F5F5F5"/>
          </a:solidFill>
          <a:ln w="12700">
            <a:solidFill>
              <a:srgbClr val="E0E0E0"/>
            </a:solidFill>
            <a:prstDash val="solid"/>
          </a:ln>
        </p:spPr>
      </p:sp>
      <p:sp>
        <p:nvSpPr>
          <p:cNvPr id="10" name="Shape 8"/>
          <p:cNvSpPr/>
          <p:nvPr/>
        </p:nvSpPr>
        <p:spPr>
          <a:xfrm>
            <a:off x="320040" y="1417320"/>
            <a:ext cx="54864" cy="1444752"/>
          </a:xfrm>
          <a:prstGeom prst="rect">
            <a:avLst/>
          </a:prstGeom>
          <a:solidFill>
            <a:srgbClr val="C0392B"/>
          </a:solidFill>
          <a:ln/>
        </p:spPr>
      </p:sp>
      <p:sp>
        <p:nvSpPr>
          <p:cNvPr id="11" name="Text 9"/>
          <p:cNvSpPr/>
          <p:nvPr/>
        </p:nvSpPr>
        <p:spPr>
          <a:xfrm>
            <a:off x="502920" y="1481328"/>
            <a:ext cx="4114800" cy="256032"/>
          </a:xfrm>
          <a:prstGeom prst="rect">
            <a:avLst/>
          </a:prstGeom>
          <a:noFill/>
          <a:ln/>
        </p:spPr>
        <p:txBody>
          <a:bodyPr wrap="square" rtlCol="0" anchor="ctr"/>
          <a:lstStyle/>
          <a:p>
            <a:pPr indent="0" marL="0">
              <a:buNone/>
            </a:pPr>
            <a:r>
              <a:rPr lang="en-US" sz="1200" b="1" dirty="0">
                <a:solidFill>
                  <a:srgbClr val="C0392B"/>
                </a:solidFill>
                <a:latin typeface="Courier New" pitchFamily="34" charset="0"/>
                <a:ea typeface="Courier New" pitchFamily="34" charset="-122"/>
                <a:cs typeface="Courier New" pitchFamily="34" charset="-120"/>
              </a:rPr>
              <a:t>phase0_recon.py</a:t>
            </a:r>
            <a:endParaRPr lang="en-US" sz="1200" dirty="0"/>
          </a:p>
        </p:txBody>
      </p:sp>
      <p:sp>
        <p:nvSpPr>
          <p:cNvPr id="12" name="Text 10"/>
          <p:cNvSpPr/>
          <p:nvPr/>
        </p:nvSpPr>
        <p:spPr>
          <a:xfrm>
            <a:off x="502920" y="1719072"/>
            <a:ext cx="11365992"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Tag discovery + baseline logging from HMI</a:t>
            </a:r>
            <a:endParaRPr lang="en-US" sz="1000" dirty="0"/>
          </a:p>
        </p:txBody>
      </p:sp>
      <p:sp>
        <p:nvSpPr>
          <p:cNvPr id="13" name="Text 11"/>
          <p:cNvSpPr/>
          <p:nvPr/>
        </p:nvSpPr>
        <p:spPr>
          <a:xfrm>
            <a:off x="502920" y="1947672"/>
            <a:ext cx="11365992" cy="201168"/>
          </a:xfrm>
          <a:prstGeom prst="rect">
            <a:avLst/>
          </a:prstGeom>
          <a:noFill/>
          <a:ln/>
        </p:spPr>
        <p:txBody>
          <a:bodyPr wrap="square" rtlCol="0" anchor="ctr"/>
          <a:lstStyle/>
          <a:p>
            <a:pPr indent="0" marL="0">
              <a:buNone/>
            </a:pPr>
            <a:r>
              <a:rPr lang="en-US" sz="950" dirty="0">
                <a:solidFill>
                  <a:srgbClr val="1565C0"/>
                </a:solidFill>
                <a:latin typeface="Courier New" pitchFamily="34" charset="0"/>
                <a:ea typeface="Courier New" pitchFamily="34" charset="-122"/>
                <a:cs typeface="Courier New" pitchFamily="34" charset="-120"/>
              </a:rPr>
              <a:t>python3 attack/phase0_recon.py --plc-ip 192.168.1.10 --duration 1800</a:t>
            </a:r>
            <a:endParaRPr lang="en-US" sz="950" dirty="0"/>
          </a:p>
        </p:txBody>
      </p:sp>
      <p:sp>
        <p:nvSpPr>
          <p:cNvPr id="14" name="Text 12"/>
          <p:cNvSpPr/>
          <p:nvPr/>
        </p:nvSpPr>
        <p:spPr>
          <a:xfrm>
            <a:off x="502920" y="2167128"/>
            <a:ext cx="11365992" cy="20116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deps: pylogix, scapy     out: enip_db.pkl  swat_capture.pcap  recon_results.json</a:t>
            </a:r>
            <a:endParaRPr lang="en-US" sz="900" dirty="0"/>
          </a:p>
        </p:txBody>
      </p:sp>
      <p:sp>
        <p:nvSpPr>
          <p:cNvPr id="15" name="Shape 13"/>
          <p:cNvSpPr/>
          <p:nvPr/>
        </p:nvSpPr>
        <p:spPr>
          <a:xfrm>
            <a:off x="320040" y="2990088"/>
            <a:ext cx="11548872" cy="1444752"/>
          </a:xfrm>
          <a:prstGeom prst="rect">
            <a:avLst/>
          </a:prstGeom>
          <a:solidFill>
            <a:srgbClr val="F5F5F5"/>
          </a:solidFill>
          <a:ln w="12700">
            <a:solidFill>
              <a:srgbClr val="E0E0E0"/>
            </a:solidFill>
            <a:prstDash val="solid"/>
          </a:ln>
        </p:spPr>
      </p:sp>
      <p:sp>
        <p:nvSpPr>
          <p:cNvPr id="16" name="Shape 14"/>
          <p:cNvSpPr/>
          <p:nvPr/>
        </p:nvSpPr>
        <p:spPr>
          <a:xfrm>
            <a:off x="320040" y="2990088"/>
            <a:ext cx="54864" cy="1444752"/>
          </a:xfrm>
          <a:prstGeom prst="rect">
            <a:avLst/>
          </a:prstGeom>
          <a:solidFill>
            <a:srgbClr val="C0392B"/>
          </a:solidFill>
          <a:ln/>
        </p:spPr>
      </p:sp>
      <p:sp>
        <p:nvSpPr>
          <p:cNvPr id="17" name="Text 15"/>
          <p:cNvSpPr/>
          <p:nvPr/>
        </p:nvSpPr>
        <p:spPr>
          <a:xfrm>
            <a:off x="502920" y="3054096"/>
            <a:ext cx="4114800" cy="256032"/>
          </a:xfrm>
          <a:prstGeom prst="rect">
            <a:avLst/>
          </a:prstGeom>
          <a:noFill/>
          <a:ln/>
        </p:spPr>
        <p:txBody>
          <a:bodyPr wrap="square" rtlCol="0" anchor="ctr"/>
          <a:lstStyle/>
          <a:p>
            <a:pPr indent="0" marL="0">
              <a:buNone/>
            </a:pPr>
            <a:r>
              <a:rPr lang="en-US" sz="1200" b="1" dirty="0">
                <a:solidFill>
                  <a:srgbClr val="C0392B"/>
                </a:solidFill>
                <a:latin typeface="Courier New" pitchFamily="34" charset="0"/>
                <a:ea typeface="Courier New" pitchFamily="34" charset="-122"/>
                <a:cs typeface="Courier New" pitchFamily="34" charset="-120"/>
              </a:rPr>
              <a:t>phase1_inject.py</a:t>
            </a:r>
            <a:endParaRPr lang="en-US" sz="1200" dirty="0"/>
          </a:p>
        </p:txBody>
      </p:sp>
      <p:sp>
        <p:nvSpPr>
          <p:cNvPr id="18" name="Text 16"/>
          <p:cNvSpPr/>
          <p:nvPr/>
        </p:nvSpPr>
        <p:spPr>
          <a:xfrm>
            <a:off x="502920" y="3291840"/>
            <a:ext cx="11365992"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Direct CIP tag injection (no ARP/sudo needed)</a:t>
            </a:r>
            <a:endParaRPr lang="en-US" sz="1000" dirty="0"/>
          </a:p>
        </p:txBody>
      </p:sp>
      <p:sp>
        <p:nvSpPr>
          <p:cNvPr id="19" name="Text 17"/>
          <p:cNvSpPr/>
          <p:nvPr/>
        </p:nvSpPr>
        <p:spPr>
          <a:xfrm>
            <a:off x="502920" y="3520440"/>
            <a:ext cx="11365992" cy="201168"/>
          </a:xfrm>
          <a:prstGeom prst="rect">
            <a:avLst/>
          </a:prstGeom>
          <a:noFill/>
          <a:ln/>
        </p:spPr>
        <p:txBody>
          <a:bodyPr wrap="square" rtlCol="0" anchor="ctr"/>
          <a:lstStyle/>
          <a:p>
            <a:pPr indent="0" marL="0">
              <a:buNone/>
            </a:pPr>
            <a:r>
              <a:rPr lang="en-US" sz="950" dirty="0">
                <a:solidFill>
                  <a:srgbClr val="1565C0"/>
                </a:solidFill>
                <a:latin typeface="Courier New" pitchFamily="34" charset="0"/>
                <a:ea typeface="Courier New" pitchFamily="34" charset="-122"/>
                <a:cs typeface="Courier New" pitchFamily="34" charset="-120"/>
              </a:rPr>
              <a:t>python3 attack/phase1_inject.py --plc-ip 192.168.1.10 --duration 120</a:t>
            </a:r>
            <a:endParaRPr lang="en-US" sz="950" dirty="0"/>
          </a:p>
        </p:txBody>
      </p:sp>
      <p:sp>
        <p:nvSpPr>
          <p:cNvPr id="20" name="Text 18"/>
          <p:cNvSpPr/>
          <p:nvPr/>
        </p:nvSpPr>
        <p:spPr>
          <a:xfrm>
            <a:off x="502920" y="3739896"/>
            <a:ext cx="11365992" cy="20116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deps: pylogix     out: Console: injection cycles + safe-state restore on exit</a:t>
            </a:r>
            <a:endParaRPr lang="en-US" sz="900" dirty="0"/>
          </a:p>
        </p:txBody>
      </p:sp>
      <p:sp>
        <p:nvSpPr>
          <p:cNvPr id="21" name="Shape 19"/>
          <p:cNvSpPr/>
          <p:nvPr/>
        </p:nvSpPr>
        <p:spPr>
          <a:xfrm>
            <a:off x="320040" y="4562856"/>
            <a:ext cx="11548872" cy="1444752"/>
          </a:xfrm>
          <a:prstGeom prst="rect">
            <a:avLst/>
          </a:prstGeom>
          <a:solidFill>
            <a:srgbClr val="F5F5F5"/>
          </a:solidFill>
          <a:ln w="12700">
            <a:solidFill>
              <a:srgbClr val="E0E0E0"/>
            </a:solidFill>
            <a:prstDash val="solid"/>
          </a:ln>
        </p:spPr>
      </p:sp>
      <p:sp>
        <p:nvSpPr>
          <p:cNvPr id="22" name="Shape 20"/>
          <p:cNvSpPr/>
          <p:nvPr/>
        </p:nvSpPr>
        <p:spPr>
          <a:xfrm>
            <a:off x="320040" y="4562856"/>
            <a:ext cx="54864" cy="1444752"/>
          </a:xfrm>
          <a:prstGeom prst="rect">
            <a:avLst/>
          </a:prstGeom>
          <a:solidFill>
            <a:srgbClr val="C0392B"/>
          </a:solidFill>
          <a:ln/>
        </p:spPr>
      </p:sp>
      <p:sp>
        <p:nvSpPr>
          <p:cNvPr id="23" name="Text 21"/>
          <p:cNvSpPr/>
          <p:nvPr/>
        </p:nvSpPr>
        <p:spPr>
          <a:xfrm>
            <a:off x="502920" y="4626864"/>
            <a:ext cx="4114800" cy="256032"/>
          </a:xfrm>
          <a:prstGeom prst="rect">
            <a:avLst/>
          </a:prstGeom>
          <a:noFill/>
          <a:ln/>
        </p:spPr>
        <p:txBody>
          <a:bodyPr wrap="square" rtlCol="0" anchor="ctr"/>
          <a:lstStyle/>
          <a:p>
            <a:pPr indent="0" marL="0">
              <a:buNone/>
            </a:pPr>
            <a:r>
              <a:rPr lang="en-US" sz="1200" b="1" dirty="0">
                <a:solidFill>
                  <a:srgbClr val="C0392B"/>
                </a:solidFill>
                <a:latin typeface="Courier New" pitchFamily="34" charset="0"/>
                <a:ea typeface="Courier New" pitchFamily="34" charset="-122"/>
                <a:cs typeface="Courier New" pitchFamily="34" charset="-120"/>
              </a:rPr>
              <a:t>phase2_spoof.py</a:t>
            </a:r>
            <a:endParaRPr lang="en-US" sz="1200" dirty="0"/>
          </a:p>
        </p:txBody>
      </p:sp>
      <p:sp>
        <p:nvSpPr>
          <p:cNvPr id="24" name="Text 22"/>
          <p:cNvSpPr/>
          <p:nvPr/>
        </p:nvSpPr>
        <p:spPr>
          <a:xfrm>
            <a:off x="502920" y="4864608"/>
            <a:ext cx="11365992"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Adversarial AE sensor spoofing via Sim tags</a:t>
            </a:r>
            <a:endParaRPr lang="en-US" sz="1000" dirty="0"/>
          </a:p>
        </p:txBody>
      </p:sp>
      <p:sp>
        <p:nvSpPr>
          <p:cNvPr id="25" name="Text 23"/>
          <p:cNvSpPr/>
          <p:nvPr/>
        </p:nvSpPr>
        <p:spPr>
          <a:xfrm>
            <a:off x="502920" y="5093208"/>
            <a:ext cx="11365992" cy="201168"/>
          </a:xfrm>
          <a:prstGeom prst="rect">
            <a:avLst/>
          </a:prstGeom>
          <a:noFill/>
          <a:ln/>
        </p:spPr>
        <p:txBody>
          <a:bodyPr wrap="square" rtlCol="0" anchor="ctr"/>
          <a:lstStyle/>
          <a:p>
            <a:pPr indent="0" marL="0">
              <a:buNone/>
            </a:pPr>
            <a:r>
              <a:rPr lang="en-US" sz="950" dirty="0">
                <a:solidFill>
                  <a:srgbClr val="1565C0"/>
                </a:solidFill>
                <a:latin typeface="Courier New" pitchFamily="34" charset="0"/>
                <a:ea typeface="Courier New" pitchFamily="34" charset="-122"/>
                <a:cs typeface="Courier New" pitchFamily="34" charset="-120"/>
              </a:rPr>
              <a:t>python3 attack/phase2_spoof.py attack --plc-ip 192.168.1.10 --model adv_model.pt</a:t>
            </a:r>
            <a:endParaRPr lang="en-US" sz="950" dirty="0"/>
          </a:p>
        </p:txBody>
      </p:sp>
      <p:sp>
        <p:nvSpPr>
          <p:cNvPr id="26" name="Text 24"/>
          <p:cNvSpPr/>
          <p:nvPr/>
        </p:nvSpPr>
        <p:spPr>
          <a:xfrm>
            <a:off x="502920" y="5312664"/>
            <a:ext cx="11365992" cy="201168"/>
          </a:xfrm>
          <a:prstGeom prst="rect">
            <a:avLst/>
          </a:prstGeom>
          <a:noFill/>
          <a:ln/>
        </p:spPr>
        <p:txBody>
          <a:bodyPr wrap="square" rtlCol="0" anchor="ctr"/>
          <a:lstStyle/>
          <a:p>
            <a:pPr indent="0" marL="0">
              <a:buNone/>
            </a:pPr>
            <a:r>
              <a:rPr lang="en-US" sz="900" dirty="0">
                <a:solidFill>
                  <a:srgbClr val="6B6B6B"/>
                </a:solidFill>
                <a:latin typeface="Calibri" pitchFamily="34" charset="0"/>
                <a:ea typeface="Calibri" pitchFamily="34" charset="-122"/>
                <a:cs typeface="Calibri" pitchFamily="34" charset="-120"/>
              </a:rPr>
              <a:t>deps: pylogix, torch, numpy     out: adv_model.pt (trained)  ·  live spoofed sensor writes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6510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LAB DAY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Before You Run — Lab Day Checklist</a:t>
            </a:r>
            <a:endParaRPr lang="en-US" sz="3200" dirty="0"/>
          </a:p>
        </p:txBody>
      </p:sp>
      <p:sp>
        <p:nvSpPr>
          <p:cNvPr id="9" name="Shape 7"/>
          <p:cNvSpPr/>
          <p:nvPr/>
        </p:nvSpPr>
        <p:spPr>
          <a:xfrm>
            <a:off x="320040" y="1417320"/>
            <a:ext cx="292608" cy="292608"/>
          </a:xfrm>
          <a:prstGeom prst="rect">
            <a:avLst/>
          </a:prstGeom>
          <a:solidFill>
            <a:srgbClr val="F5F5F5"/>
          </a:solidFill>
          <a:ln w="12700">
            <a:solidFill>
              <a:srgbClr val="E0E0E0"/>
            </a:solidFill>
            <a:prstDash val="solid"/>
          </a:ln>
        </p:spPr>
      </p:sp>
      <p:sp>
        <p:nvSpPr>
          <p:cNvPr id="10" name="Text 8"/>
          <p:cNvSpPr/>
          <p:nvPr/>
        </p:nvSpPr>
        <p:spPr>
          <a:xfrm>
            <a:off x="731520" y="1417320"/>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pip install pylogix torch numpy pandas scikit-learn on HMI Ubuntu machine</a:t>
            </a:r>
            <a:endParaRPr lang="en-US" sz="1050" dirty="0"/>
          </a:p>
        </p:txBody>
      </p:sp>
      <p:sp>
        <p:nvSpPr>
          <p:cNvPr id="11" name="Shape 9"/>
          <p:cNvSpPr/>
          <p:nvPr/>
        </p:nvSpPr>
        <p:spPr>
          <a:xfrm>
            <a:off x="320040" y="1856232"/>
            <a:ext cx="292608" cy="292608"/>
          </a:xfrm>
          <a:prstGeom prst="rect">
            <a:avLst/>
          </a:prstGeom>
          <a:solidFill>
            <a:srgbClr val="F5F5F5"/>
          </a:solidFill>
          <a:ln w="12700">
            <a:solidFill>
              <a:srgbClr val="E0E0E0"/>
            </a:solidFill>
            <a:prstDash val="solid"/>
          </a:ln>
        </p:spPr>
      </p:sp>
      <p:sp>
        <p:nvSpPr>
          <p:cNvPr id="12" name="Text 10"/>
          <p:cNvSpPr/>
          <p:nvPr/>
        </p:nvSpPr>
        <p:spPr>
          <a:xfrm>
            <a:off x="731520" y="1856232"/>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Test connectivity: python3 -c "from pylogix import PLC; plc=PLC(); plc.IPAddress='192.168.1.10'; print(plc.Read('HMI_LIT101.Pv').Value)"</a:t>
            </a:r>
            <a:endParaRPr lang="en-US" sz="1050" dirty="0"/>
          </a:p>
        </p:txBody>
      </p:sp>
      <p:sp>
        <p:nvSpPr>
          <p:cNvPr id="13" name="Shape 11"/>
          <p:cNvSpPr/>
          <p:nvPr/>
        </p:nvSpPr>
        <p:spPr>
          <a:xfrm>
            <a:off x="320040" y="2295144"/>
            <a:ext cx="292608" cy="292608"/>
          </a:xfrm>
          <a:prstGeom prst="rect">
            <a:avLst/>
          </a:prstGeom>
          <a:solidFill>
            <a:srgbClr val="F5F5F5"/>
          </a:solidFill>
          <a:ln w="12700">
            <a:solidFill>
              <a:srgbClr val="E0E0E0"/>
            </a:solidFill>
            <a:prstDash val="solid"/>
          </a:ln>
        </p:spPr>
      </p:sp>
      <p:sp>
        <p:nvSpPr>
          <p:cNvPr id="14" name="Text 12"/>
          <p:cNvSpPr/>
          <p:nvPr/>
        </p:nvSpPr>
        <p:spPr>
          <a:xfrm>
            <a:off x="731520" y="2295144"/>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Confirm tag names with lab engineer — run get_tag_list() if names differ from expected</a:t>
            </a:r>
            <a:endParaRPr lang="en-US" sz="1050" dirty="0"/>
          </a:p>
        </p:txBody>
      </p:sp>
      <p:sp>
        <p:nvSpPr>
          <p:cNvPr id="15" name="Shape 13"/>
          <p:cNvSpPr/>
          <p:nvPr/>
        </p:nvSpPr>
        <p:spPr>
          <a:xfrm>
            <a:off x="320040" y="2734056"/>
            <a:ext cx="292608" cy="292608"/>
          </a:xfrm>
          <a:prstGeom prst="rect">
            <a:avLst/>
          </a:prstGeom>
          <a:solidFill>
            <a:srgbClr val="F5F5F5"/>
          </a:solidFill>
          <a:ln w="12700">
            <a:solidFill>
              <a:srgbClr val="E0E0E0"/>
            </a:solidFill>
            <a:prstDash val="solid"/>
          </a:ln>
        </p:spPr>
      </p:sp>
      <p:sp>
        <p:nvSpPr>
          <p:cNvPr id="16" name="Text 14"/>
          <p:cNvSpPr/>
          <p:nvPr/>
        </p:nvSpPr>
        <p:spPr>
          <a:xfrm>
            <a:off x="731520" y="2734056"/>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Both ae_model.pt and adv_model.pt copied to HMI from thumb drive</a:t>
            </a:r>
            <a:endParaRPr lang="en-US" sz="1050" dirty="0"/>
          </a:p>
        </p:txBody>
      </p:sp>
      <p:sp>
        <p:nvSpPr>
          <p:cNvPr id="17" name="Shape 15"/>
          <p:cNvSpPr/>
          <p:nvPr/>
        </p:nvSpPr>
        <p:spPr>
          <a:xfrm>
            <a:off x="320040" y="3172968"/>
            <a:ext cx="292608" cy="292608"/>
          </a:xfrm>
          <a:prstGeom prst="rect">
            <a:avLst/>
          </a:prstGeom>
          <a:solidFill>
            <a:srgbClr val="F5F5F5"/>
          </a:solidFill>
          <a:ln w="12700">
            <a:solidFill>
              <a:srgbClr val="E0E0E0"/>
            </a:solidFill>
            <a:prstDash val="solid"/>
          </a:ln>
        </p:spPr>
      </p:sp>
      <p:sp>
        <p:nvSpPr>
          <p:cNvPr id="18" name="Text 16"/>
          <p:cNvSpPr/>
          <p:nvPr/>
        </p:nvSpPr>
        <p:spPr>
          <a:xfrm>
            <a:off x="731520" y="3172968"/>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Get iTrust lab engineer sign-off before running phase1_inject.py</a:t>
            </a:r>
            <a:endParaRPr lang="en-US" sz="1050" dirty="0"/>
          </a:p>
        </p:txBody>
      </p:sp>
      <p:sp>
        <p:nvSpPr>
          <p:cNvPr id="19" name="Shape 17"/>
          <p:cNvSpPr/>
          <p:nvPr/>
        </p:nvSpPr>
        <p:spPr>
          <a:xfrm>
            <a:off x="320040" y="3611880"/>
            <a:ext cx="292608" cy="292608"/>
          </a:xfrm>
          <a:prstGeom prst="rect">
            <a:avLst/>
          </a:prstGeom>
          <a:solidFill>
            <a:srgbClr val="F5F5F5"/>
          </a:solidFill>
          <a:ln w="12700">
            <a:solidFill>
              <a:srgbClr val="E0E0E0"/>
            </a:solidFill>
            <a:prstDash val="solid"/>
          </a:ln>
        </p:spPr>
      </p:sp>
      <p:sp>
        <p:nvSpPr>
          <p:cNvPr id="20" name="Text 18"/>
          <p:cNvSpPr/>
          <p:nvPr/>
        </p:nvSpPr>
        <p:spPr>
          <a:xfrm>
            <a:off x="731520" y="3611880"/>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TA must be physically present during all experiments</a:t>
            </a:r>
            <a:endParaRPr lang="en-US" sz="1050" dirty="0"/>
          </a:p>
        </p:txBody>
      </p:sp>
      <p:sp>
        <p:nvSpPr>
          <p:cNvPr id="21" name="Shape 19"/>
          <p:cNvSpPr/>
          <p:nvPr/>
        </p:nvSpPr>
        <p:spPr>
          <a:xfrm>
            <a:off x="320040" y="4050792"/>
            <a:ext cx="292608" cy="292608"/>
          </a:xfrm>
          <a:prstGeom prst="rect">
            <a:avLst/>
          </a:prstGeom>
          <a:solidFill>
            <a:srgbClr val="F5F5F5"/>
          </a:solidFill>
          <a:ln w="12700">
            <a:solidFill>
              <a:srgbClr val="E0E0E0"/>
            </a:solidFill>
            <a:prstDash val="solid"/>
          </a:ln>
        </p:spPr>
      </p:sp>
      <p:sp>
        <p:nvSpPr>
          <p:cNvPr id="22" name="Text 20"/>
          <p:cNvSpPr/>
          <p:nvPr/>
        </p:nvSpPr>
        <p:spPr>
          <a:xfrm>
            <a:off x="731520" y="4050792"/>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Open 5 terminal windows before starting demo</a:t>
            </a:r>
            <a:endParaRPr lang="en-US" sz="1050" dirty="0"/>
          </a:p>
        </p:txBody>
      </p:sp>
      <p:sp>
        <p:nvSpPr>
          <p:cNvPr id="23" name="Shape 21"/>
          <p:cNvSpPr/>
          <p:nvPr/>
        </p:nvSpPr>
        <p:spPr>
          <a:xfrm>
            <a:off x="320040" y="4489704"/>
            <a:ext cx="292608" cy="292608"/>
          </a:xfrm>
          <a:prstGeom prst="rect">
            <a:avLst/>
          </a:prstGeom>
          <a:solidFill>
            <a:srgbClr val="F5F5F5"/>
          </a:solidFill>
          <a:ln w="12700">
            <a:solidFill>
              <a:srgbClr val="E0E0E0"/>
            </a:solidFill>
            <a:prstDash val="solid"/>
          </a:ln>
        </p:spPr>
      </p:sp>
      <p:sp>
        <p:nvSpPr>
          <p:cNvPr id="24" name="Text 22"/>
          <p:cNvSpPr/>
          <p:nvPr/>
        </p:nvSpPr>
        <p:spPr>
          <a:xfrm>
            <a:off x="731520" y="4489704"/>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Confirm HMI IP address for slides/runbook</a:t>
            </a:r>
            <a:endParaRPr lang="en-US" sz="1050" dirty="0"/>
          </a:p>
        </p:txBody>
      </p:sp>
      <p:sp>
        <p:nvSpPr>
          <p:cNvPr id="25" name="Shape 23"/>
          <p:cNvSpPr/>
          <p:nvPr/>
        </p:nvSpPr>
        <p:spPr>
          <a:xfrm>
            <a:off x="320040" y="4928616"/>
            <a:ext cx="292608" cy="292608"/>
          </a:xfrm>
          <a:prstGeom prst="rect">
            <a:avLst/>
          </a:prstGeom>
          <a:solidFill>
            <a:srgbClr val="F5F5F5"/>
          </a:solidFill>
          <a:ln w="12700">
            <a:solidFill>
              <a:srgbClr val="E0E0E0"/>
            </a:solidFill>
            <a:prstDash val="solid"/>
          </a:ln>
        </p:spPr>
      </p:sp>
      <p:sp>
        <p:nvSpPr>
          <p:cNvPr id="26" name="Text 24"/>
          <p:cNvSpPr/>
          <p:nvPr/>
        </p:nvSpPr>
        <p:spPr>
          <a:xfrm>
            <a:off x="731520" y="4928616"/>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Verify PLC1B (192.168.1.11) is reachable for failover step</a:t>
            </a:r>
            <a:endParaRPr lang="en-US" sz="1050" dirty="0"/>
          </a:p>
        </p:txBody>
      </p:sp>
      <p:sp>
        <p:nvSpPr>
          <p:cNvPr id="27" name="Shape 25"/>
          <p:cNvSpPr/>
          <p:nvPr/>
        </p:nvSpPr>
        <p:spPr>
          <a:xfrm>
            <a:off x="320040" y="5367528"/>
            <a:ext cx="292608" cy="292608"/>
          </a:xfrm>
          <a:prstGeom prst="rect">
            <a:avLst/>
          </a:prstGeom>
          <a:solidFill>
            <a:srgbClr val="F5F5F5"/>
          </a:solidFill>
          <a:ln w="12700">
            <a:solidFill>
              <a:srgbClr val="E0E0E0"/>
            </a:solidFill>
            <a:prstDash val="solid"/>
          </a:ln>
        </p:spPr>
      </p:sp>
      <p:sp>
        <p:nvSpPr>
          <p:cNvPr id="28" name="Text 26"/>
          <p:cNvSpPr/>
          <p:nvPr/>
        </p:nvSpPr>
        <p:spPr>
          <a:xfrm>
            <a:off x="731520" y="5367528"/>
            <a:ext cx="11183112" cy="347472"/>
          </a:xfrm>
          <a:prstGeom prst="rect">
            <a:avLst/>
          </a:prstGeom>
          <a:noFill/>
          <a:ln/>
        </p:spPr>
        <p:txBody>
          <a:bodyPr wrap="square" rtlCol="0" anchor="ctr"/>
          <a:lstStyle/>
          <a:p>
            <a:pPr indent="0" marL="0">
              <a:buNone/>
            </a:pPr>
            <a:r>
              <a:rPr lang="en-US" sz="1050" dirty="0">
                <a:solidFill>
                  <a:srgbClr val="2D2D2D"/>
                </a:solidFill>
                <a:latin typeface="Calibri" pitchFamily="34" charset="0"/>
                <a:ea typeface="Calibri" pitchFamily="34" charset="-122"/>
                <a:cs typeface="Calibri" pitchFamily="34" charset="-120"/>
              </a:rPr>
              <a:t>Run phase0_recon.py first — confirm tag reads before injecting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920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11460480" cy="219456"/>
          </a:xfrm>
          <a:prstGeom prst="rect">
            <a:avLst/>
          </a:prstGeom>
          <a:noFill/>
        </p:spPr>
        <p:txBody>
          <a:bodyPr wrap="square">
            <a:spAutoFit/>
          </a:bodyPr>
          <a:lstStyle/>
          <a:p>
            <a:pPr algn="l"/>
            <a:r>
              <a:rPr sz="800" b="0" i="0">
                <a:solidFill>
                  <a:srgbClr val="6B6B6B"/>
                </a:solidFill>
                <a:latin typeface="Calibri"/>
              </a:rPr>
              <a:t>51.508 Secure Cyber Physical Systems  ·  SWaT Project  ·  iTrust Lab, SUTD</a:t>
            </a:r>
          </a:p>
        </p:txBody>
      </p:sp>
      <p:sp>
        <p:nvSpPr>
          <p:cNvPr id="7" name="Rectangle 6"/>
          <p:cNvSpPr/>
          <p:nvPr/>
        </p:nvSpPr>
        <p:spPr>
          <a:xfrm>
            <a:off x="502920" y="548640"/>
            <a:ext cx="182880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8640"/>
            <a:ext cx="1828800" cy="384048"/>
          </a:xfrm>
          <a:prstGeom prst="rect">
            <a:avLst/>
          </a:prstGeom>
          <a:noFill/>
        </p:spPr>
        <p:txBody>
          <a:bodyPr wrap="square">
            <a:spAutoFit/>
          </a:bodyPr>
          <a:lstStyle/>
          <a:p>
            <a:pPr algn="ctr"/>
            <a:r>
              <a:rPr sz="1100" b="1" i="0">
                <a:solidFill>
                  <a:srgbClr val="FFFFFF"/>
                </a:solidFill>
                <a:latin typeface="Calibri"/>
              </a:rPr>
              <a:t>SECTION 3</a:t>
            </a:r>
          </a:p>
        </p:txBody>
      </p:sp>
      <p:sp>
        <p:nvSpPr>
          <p:cNvPr id="9" name="TextBox 8"/>
          <p:cNvSpPr txBox="1"/>
          <p:nvPr/>
        </p:nvSpPr>
        <p:spPr>
          <a:xfrm>
            <a:off x="502920" y="1097280"/>
            <a:ext cx="8229600" cy="914400"/>
          </a:xfrm>
          <a:prstGeom prst="rect">
            <a:avLst/>
          </a:prstGeom>
          <a:noFill/>
        </p:spPr>
        <p:txBody>
          <a:bodyPr wrap="square">
            <a:spAutoFit/>
          </a:bodyPr>
          <a:lstStyle/>
          <a:p>
            <a:pPr algn="l"/>
            <a:r>
              <a:rPr sz="4200" b="1" i="0">
                <a:solidFill>
                  <a:srgbClr val="1A1A1A"/>
                </a:solidFill>
                <a:latin typeface="Calibri Light"/>
              </a:rPr>
              <a:t>Defending SWaT</a:t>
            </a:r>
          </a:p>
        </p:txBody>
      </p:sp>
      <p:sp>
        <p:nvSpPr>
          <p:cNvPr id="10" name="TextBox 9"/>
          <p:cNvSpPr txBox="1"/>
          <p:nvPr/>
        </p:nvSpPr>
        <p:spPr>
          <a:xfrm>
            <a:off x="502920" y="2029968"/>
            <a:ext cx="8229600" cy="475488"/>
          </a:xfrm>
          <a:prstGeom prst="rect">
            <a:avLst/>
          </a:prstGeom>
          <a:noFill/>
        </p:spPr>
        <p:txBody>
          <a:bodyPr wrap="square">
            <a:spAutoFit/>
          </a:bodyPr>
          <a:lstStyle/>
          <a:p>
            <a:pPr algn="l"/>
            <a:r>
              <a:rPr sz="2000" b="0" i="0">
                <a:solidFill>
                  <a:srgbClr val="E8243C"/>
                </a:solidFill>
                <a:latin typeface="Calibri Light"/>
              </a:rPr>
              <a:t>Against False CIP Tag Injection from Compromised HMI</a:t>
            </a:r>
          </a:p>
        </p:txBody>
      </p:sp>
      <p:sp>
        <p:nvSpPr>
          <p:cNvPr id="11" name="Rectangle 10"/>
          <p:cNvSpPr/>
          <p:nvPr/>
        </p:nvSpPr>
        <p:spPr>
          <a:xfrm>
            <a:off x="502920" y="2697480"/>
            <a:ext cx="2560320" cy="8686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97480"/>
            <a:ext cx="2560320" cy="868680"/>
          </a:xfrm>
          <a:prstGeom prst="rect">
            <a:avLst/>
          </a:prstGeom>
          <a:noFill/>
        </p:spPr>
        <p:txBody>
          <a:bodyPr wrap="square">
            <a:spAutoFit/>
          </a:bodyPr>
          <a:lstStyle/>
          <a:p>
            <a:pPr algn="ctr"/>
            <a:r>
              <a:rPr sz="1200" b="1" i="0">
                <a:solidFill>
                  <a:srgbClr val="FFFFFF"/>
                </a:solidFill>
                <a:latin typeface="Calibri"/>
              </a:rPr>
              <a:t>Layer 1
Process Invariant Checker</a:t>
            </a:r>
          </a:p>
        </p:txBody>
      </p:sp>
      <p:sp>
        <p:nvSpPr>
          <p:cNvPr id="13" name="Rectangle 12"/>
          <p:cNvSpPr/>
          <p:nvPr/>
        </p:nvSpPr>
        <p:spPr>
          <a:xfrm>
            <a:off x="3246120" y="2697480"/>
            <a:ext cx="2560320" cy="86868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697480"/>
            <a:ext cx="2560320" cy="868680"/>
          </a:xfrm>
          <a:prstGeom prst="rect">
            <a:avLst/>
          </a:prstGeom>
          <a:noFill/>
        </p:spPr>
        <p:txBody>
          <a:bodyPr wrap="square">
            <a:spAutoFit/>
          </a:bodyPr>
          <a:lstStyle/>
          <a:p>
            <a:pPr algn="ctr"/>
            <a:r>
              <a:rPr sz="1200" b="1" i="0">
                <a:solidFill>
                  <a:srgbClr val="FFFFFF"/>
                </a:solidFill>
                <a:latin typeface="Calibri"/>
              </a:rPr>
              <a:t>Layer 2
Reconstruction Autoencoder</a:t>
            </a:r>
          </a:p>
        </p:txBody>
      </p:sp>
      <p:sp>
        <p:nvSpPr>
          <p:cNvPr id="15" name="Rectangle 14"/>
          <p:cNvSpPr/>
          <p:nvPr/>
        </p:nvSpPr>
        <p:spPr>
          <a:xfrm>
            <a:off x="5989320" y="2697480"/>
            <a:ext cx="2560320" cy="8686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697480"/>
            <a:ext cx="2560320" cy="868680"/>
          </a:xfrm>
          <a:prstGeom prst="rect">
            <a:avLst/>
          </a:prstGeom>
          <a:noFill/>
        </p:spPr>
        <p:txBody>
          <a:bodyPr wrap="square">
            <a:spAutoFit/>
          </a:bodyPr>
          <a:lstStyle/>
          <a:p>
            <a:pPr algn="ctr"/>
            <a:r>
              <a:rPr sz="1200" b="1" i="0">
                <a:solidFill>
                  <a:srgbClr val="FFFFFF"/>
                </a:solidFill>
                <a:latin typeface="Calibri"/>
              </a:rPr>
              <a:t>Layer 3
Decision Fusion + Alert</a:t>
            </a:r>
          </a:p>
        </p:txBody>
      </p:sp>
      <p:sp>
        <p:nvSpPr>
          <p:cNvPr id="17" name="TextBox 16"/>
          <p:cNvSpPr txBox="1"/>
          <p:nvPr/>
        </p:nvSpPr>
        <p:spPr>
          <a:xfrm>
            <a:off x="502920" y="3730752"/>
            <a:ext cx="9144000" cy="347472"/>
          </a:xfrm>
          <a:prstGeom prst="rect">
            <a:avLst/>
          </a:prstGeom>
          <a:noFill/>
        </p:spPr>
        <p:txBody>
          <a:bodyPr wrap="square">
            <a:spAutoFit/>
          </a:bodyPr>
          <a:lstStyle/>
          <a:p>
            <a:pPr algn="l"/>
            <a:r>
              <a:rPr sz="1200" b="0" i="0">
                <a:solidFill>
                  <a:srgbClr val="6B6B6B"/>
                </a:solidFill>
                <a:latin typeface="Calibri"/>
              </a:rPr>
              <a:t>Recovery:  Detect → Contain → Safe State → PLC Failover → Invariant-Verified Resume</a:t>
            </a:r>
          </a:p>
        </p:txBody>
      </p:sp>
      <p:pic>
        <p:nvPicPr>
          <p:cNvPr id="18" name="Picture 17" descr="image.jpg"/>
          <p:cNvPicPr>
            <a:picLocks noChangeAspect="1"/>
          </p:cNvPicPr>
          <p:nvPr/>
        </p:nvPicPr>
        <p:blipFill>
          <a:blip r:embed="rId4"/>
          <a:stretch>
            <a:fillRect/>
          </a:stretch>
        </p:blipFill>
        <p:spPr>
          <a:xfrm>
            <a:off x="502920" y="4160520"/>
            <a:ext cx="11369040" cy="1828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Why Single-Layer Defenses Fail</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Neither layer alone is sufficient — the hybrid forces a harder constraint</a:t>
            </a:r>
            <a:endParaRPr lang="en-US" sz="1200" dirty="0"/>
          </a:p>
        </p:txBody>
      </p:sp>
      <p:sp>
        <p:nvSpPr>
          <p:cNvPr id="10" name="Shape 8"/>
          <p:cNvSpPr/>
          <p:nvPr/>
        </p:nvSpPr>
        <p:spPr>
          <a:xfrm>
            <a:off x="320040" y="1417320"/>
            <a:ext cx="5637276" cy="384048"/>
          </a:xfrm>
          <a:prstGeom prst="rect">
            <a:avLst/>
          </a:prstGeom>
          <a:solidFill>
            <a:srgbClr val="C0392B"/>
          </a:solidFill>
          <a:ln/>
        </p:spPr>
      </p:sp>
      <p:sp>
        <p:nvSpPr>
          <p:cNvPr id="11" name="Text 9"/>
          <p:cNvSpPr/>
          <p:nvPr/>
        </p:nvSpPr>
        <p:spPr>
          <a:xfrm>
            <a:off x="320040"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ML-Only Fails (Paper #31 Attack)</a:t>
            </a:r>
            <a:endParaRPr lang="en-US" sz="1100" dirty="0"/>
          </a:p>
        </p:txBody>
      </p:sp>
      <p:sp>
        <p:nvSpPr>
          <p:cNvPr id="12" name="Shape 10"/>
          <p:cNvSpPr/>
          <p:nvPr/>
        </p:nvSpPr>
        <p:spPr>
          <a:xfrm>
            <a:off x="429768" y="1938528"/>
            <a:ext cx="73152" cy="73152"/>
          </a:xfrm>
          <a:prstGeom prst="rect">
            <a:avLst/>
          </a:prstGeom>
          <a:solidFill>
            <a:srgbClr val="C0392B"/>
          </a:solidFill>
          <a:ln/>
        </p:spPr>
      </p:sp>
      <p:sp>
        <p:nvSpPr>
          <p:cNvPr id="13" name="Text 11"/>
          <p:cNvSpPr/>
          <p:nvPr/>
        </p:nvSpPr>
        <p:spPr>
          <a:xfrm>
            <a:off x="576072" y="1874520"/>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Adversarial AE crafts δ minimising MSE reconstruction error</a:t>
            </a:r>
            <a:endParaRPr lang="en-US" sz="1050" dirty="0"/>
          </a:p>
        </p:txBody>
      </p:sp>
      <p:sp>
        <p:nvSpPr>
          <p:cNvPr id="14" name="Shape 12"/>
          <p:cNvSpPr/>
          <p:nvPr/>
        </p:nvSpPr>
        <p:spPr>
          <a:xfrm>
            <a:off x="429768" y="2688336"/>
            <a:ext cx="73152" cy="73152"/>
          </a:xfrm>
          <a:prstGeom prst="rect">
            <a:avLst/>
          </a:prstGeom>
          <a:solidFill>
            <a:srgbClr val="C0392B"/>
          </a:solidFill>
          <a:ln/>
        </p:spPr>
      </p:sp>
      <p:sp>
        <p:nvSpPr>
          <p:cNvPr id="15" name="Text 13"/>
          <p:cNvSpPr/>
          <p:nvPr/>
        </p:nvSpPr>
        <p:spPr>
          <a:xfrm>
            <a:off x="576072" y="2624328"/>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Evasion rate ~94% at ε=0.1 on SWaT (Paper #31)</a:t>
            </a:r>
            <a:endParaRPr lang="en-US" sz="1050" dirty="0"/>
          </a:p>
        </p:txBody>
      </p:sp>
      <p:sp>
        <p:nvSpPr>
          <p:cNvPr id="16" name="Shape 14"/>
          <p:cNvSpPr/>
          <p:nvPr/>
        </p:nvSpPr>
        <p:spPr>
          <a:xfrm>
            <a:off x="429768" y="3438144"/>
            <a:ext cx="73152" cy="73152"/>
          </a:xfrm>
          <a:prstGeom prst="rect">
            <a:avLst/>
          </a:prstGeom>
          <a:solidFill>
            <a:srgbClr val="C0392B"/>
          </a:solidFill>
          <a:ln/>
        </p:spPr>
      </p:sp>
      <p:sp>
        <p:nvSpPr>
          <p:cNvPr id="17" name="Text 15"/>
          <p:cNvSpPr/>
          <p:nvPr/>
        </p:nvSpPr>
        <p:spPr>
          <a:xfrm>
            <a:off x="576072" y="3374136"/>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Black-box: no model internals needed</a:t>
            </a:r>
            <a:endParaRPr lang="en-US" sz="1050" dirty="0"/>
          </a:p>
        </p:txBody>
      </p:sp>
      <p:sp>
        <p:nvSpPr>
          <p:cNvPr id="18" name="Shape 16"/>
          <p:cNvSpPr/>
          <p:nvPr/>
        </p:nvSpPr>
        <p:spPr>
          <a:xfrm>
            <a:off x="429768" y="4187952"/>
            <a:ext cx="73152" cy="73152"/>
          </a:xfrm>
          <a:prstGeom prst="rect">
            <a:avLst/>
          </a:prstGeom>
          <a:solidFill>
            <a:srgbClr val="C0392B"/>
          </a:solidFill>
          <a:ln/>
        </p:spPr>
      </p:sp>
      <p:sp>
        <p:nvSpPr>
          <p:cNvPr id="19" name="Text 17"/>
          <p:cNvSpPr/>
          <p:nvPr/>
        </p:nvSpPr>
        <p:spPr>
          <a:xfrm>
            <a:off x="576072" y="4123944"/>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Runs in milliseconds — real-time EtherNet/IP compatible</a:t>
            </a:r>
            <a:endParaRPr lang="en-US" sz="1050" dirty="0"/>
          </a:p>
        </p:txBody>
      </p:sp>
      <p:sp>
        <p:nvSpPr>
          <p:cNvPr id="20" name="Shape 18"/>
          <p:cNvSpPr/>
          <p:nvPr/>
        </p:nvSpPr>
        <p:spPr>
          <a:xfrm>
            <a:off x="6231636" y="1417320"/>
            <a:ext cx="5637276" cy="384048"/>
          </a:xfrm>
          <a:prstGeom prst="rect">
            <a:avLst/>
          </a:prstGeom>
          <a:solidFill>
            <a:srgbClr val="2E7D32"/>
          </a:solidFill>
          <a:ln/>
        </p:spPr>
      </p:sp>
      <p:sp>
        <p:nvSpPr>
          <p:cNvPr id="21" name="Text 19"/>
          <p:cNvSpPr/>
          <p:nvPr/>
        </p:nvSpPr>
        <p:spPr>
          <a:xfrm>
            <a:off x="6231636"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Invariant-Only Fails (Paper #9 Attack)</a:t>
            </a:r>
            <a:endParaRPr lang="en-US" sz="1100" dirty="0"/>
          </a:p>
        </p:txBody>
      </p:sp>
      <p:sp>
        <p:nvSpPr>
          <p:cNvPr id="22" name="Shape 20"/>
          <p:cNvSpPr/>
          <p:nvPr/>
        </p:nvSpPr>
        <p:spPr>
          <a:xfrm>
            <a:off x="6341364" y="1938528"/>
            <a:ext cx="73152" cy="73152"/>
          </a:xfrm>
          <a:prstGeom prst="rect">
            <a:avLst/>
          </a:prstGeom>
          <a:solidFill>
            <a:srgbClr val="2E7D32"/>
          </a:solidFill>
          <a:ln/>
        </p:spPr>
      </p:sp>
      <p:sp>
        <p:nvSpPr>
          <p:cNvPr id="23" name="Text 21"/>
          <p:cNvSpPr/>
          <p:nvPr/>
        </p:nvSpPr>
        <p:spPr>
          <a:xfrm>
            <a:off x="6487668" y="1874520"/>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Only 24/36 SWaT attacks detected by invariants alone (Adepu 2016)</a:t>
            </a:r>
            <a:endParaRPr lang="en-US" sz="1050" dirty="0"/>
          </a:p>
        </p:txBody>
      </p:sp>
      <p:sp>
        <p:nvSpPr>
          <p:cNvPr id="24" name="Shape 22"/>
          <p:cNvSpPr/>
          <p:nvPr/>
        </p:nvSpPr>
        <p:spPr>
          <a:xfrm>
            <a:off x="6341364" y="2688336"/>
            <a:ext cx="73152" cy="73152"/>
          </a:xfrm>
          <a:prstGeom prst="rect">
            <a:avLst/>
          </a:prstGeom>
          <a:solidFill>
            <a:srgbClr val="2E7D32"/>
          </a:solidFill>
          <a:ln/>
        </p:spPr>
      </p:sp>
      <p:sp>
        <p:nvSpPr>
          <p:cNvPr id="25" name="Text 23"/>
          <p:cNvSpPr/>
          <p:nvPr/>
        </p:nvSpPr>
        <p:spPr>
          <a:xfrm>
            <a:off x="6487668" y="2624328"/>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Attacker can manipulate slowly within bounds</a:t>
            </a:r>
            <a:endParaRPr lang="en-US" sz="1050" dirty="0"/>
          </a:p>
        </p:txBody>
      </p:sp>
      <p:sp>
        <p:nvSpPr>
          <p:cNvPr id="26" name="Shape 24"/>
          <p:cNvSpPr/>
          <p:nvPr/>
        </p:nvSpPr>
        <p:spPr>
          <a:xfrm>
            <a:off x="6341364" y="3438144"/>
            <a:ext cx="73152" cy="73152"/>
          </a:xfrm>
          <a:prstGeom prst="rect">
            <a:avLst/>
          </a:prstGeom>
          <a:solidFill>
            <a:srgbClr val="2E7D32"/>
          </a:solidFill>
          <a:ln/>
        </p:spPr>
      </p:sp>
      <p:sp>
        <p:nvSpPr>
          <p:cNvPr id="27" name="Text 25"/>
          <p:cNvSpPr/>
          <p:nvPr/>
        </p:nvSpPr>
        <p:spPr>
          <a:xfrm>
            <a:off x="6487668" y="3374136"/>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Phase 2 sensor simulation bypasses pure statistical checks</a:t>
            </a:r>
            <a:endParaRPr lang="en-US" sz="1050" dirty="0"/>
          </a:p>
        </p:txBody>
      </p:sp>
      <p:sp>
        <p:nvSpPr>
          <p:cNvPr id="28" name="Shape 26"/>
          <p:cNvSpPr/>
          <p:nvPr/>
        </p:nvSpPr>
        <p:spPr>
          <a:xfrm>
            <a:off x="6341364" y="4187952"/>
            <a:ext cx="73152" cy="73152"/>
          </a:xfrm>
          <a:prstGeom prst="rect">
            <a:avLst/>
          </a:prstGeom>
          <a:solidFill>
            <a:srgbClr val="2E7D32"/>
          </a:solidFill>
          <a:ln/>
        </p:spPr>
      </p:sp>
      <p:sp>
        <p:nvSpPr>
          <p:cNvPr id="29" name="Text 27"/>
          <p:cNvSpPr/>
          <p:nvPr/>
        </p:nvSpPr>
        <p:spPr>
          <a:xfrm>
            <a:off x="6487668" y="4123944"/>
            <a:ext cx="5308092" cy="694944"/>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No ML component — blind to novel multi-sensor drift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Hybrid Defense Architecture</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Three cooperative layers — each compensates for the other's blind spots</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1565C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1 — Process Invariant Checker (invariant_checker.py)</a:t>
            </a:r>
            <a:endParaRPr lang="en-US" sz="1100" dirty="0"/>
          </a:p>
        </p:txBody>
      </p:sp>
      <p:sp>
        <p:nvSpPr>
          <p:cNvPr id="13" name="Text 11"/>
          <p:cNvSpPr/>
          <p:nvPr/>
        </p:nvSpPr>
        <p:spPr>
          <a:xfrm>
            <a:off x="502920" y="182880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Reads PLC1 coil registers directly via pylogix. 8 invariants from SWaT P1 P&amp;ID. Cannot be fooled by Sim tag spoofing — checks HMI_MV101.Cmd, HMI_P101.Auto directly. Writes /tmp/inv_flag.</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1565C0"/>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2 — Reconstruction Autoencoder (autoencoder_detector.py)</a:t>
            </a:r>
            <a:endParaRPr lang="en-US" sz="1100" dirty="0"/>
          </a:p>
        </p:txBody>
      </p:sp>
      <p:sp>
        <p:nvSpPr>
          <p:cNvPr id="17" name="Text 15"/>
          <p:cNvSpPr/>
          <p:nvPr/>
        </p:nvSpPr>
        <p:spPr>
          <a:xfrm>
            <a:off x="502920" y="310896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Trained on 19-Feb-2026 SWaT dataset (29,153 samples). Features: LIT101.Pv + AI_FIT_101_FLOW. Threshold = 0.000950 (95th pct of training MSE). Writes /tmp/ae_flag.</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1565C0"/>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Layer 3 — Decision Fusion (fusion.py)</a:t>
            </a:r>
            <a:endParaRPr lang="en-US" sz="1100" dirty="0"/>
          </a:p>
        </p:txBody>
      </p:sp>
      <p:sp>
        <p:nvSpPr>
          <p:cNvPr id="21" name="Text 19"/>
          <p:cNvSpPr/>
          <p:nvPr/>
        </p:nvSpPr>
        <p:spPr>
          <a:xfrm>
            <a:off x="502920" y="438912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score = 1.5 × inv_flag + 1.0 × ae_flag. ALERT if score ≥ 1.5 for 3 consecutive cycles. Automatically launches recovery_agent.py on ALERT. Logs to fusion_log.json.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txBody>
          <a:bodyPr/>
          <a:p/>
        </p:txBody>
      </p:sp>
      <p:sp>
        <p:nvSpPr>
          <p:cNvPr id="3" name="Shape 1"/>
          <p:cNvSpPr/>
          <p:nvPr/>
        </p:nvSpPr>
        <p:spPr>
          <a:xfrm>
            <a:off x="0" y="0"/>
            <a:ext cx="12188952" cy="64008"/>
          </a:xfrm>
          <a:prstGeom prst="rect">
            <a:avLst/>
          </a:prstGeom>
          <a:solidFill>
            <a:srgbClr val="E8243C"/>
          </a:solidFill>
          <a:ln/>
        </p:spPr>
        <p:txBody>
          <a:bodyPr/>
          <a:p/>
        </p:txBody>
      </p:sp>
      <p:sp>
        <p:nvSpPr>
          <p:cNvPr id="4" name="Shape 2"/>
          <p:cNvSpPr/>
          <p:nvPr/>
        </p:nvSpPr>
        <p:spPr>
          <a:xfrm>
            <a:off x="0" y="6510528"/>
            <a:ext cx="12188952" cy="347472"/>
          </a:xfrm>
          <a:prstGeom prst="rect">
            <a:avLst/>
          </a:prstGeom>
          <a:solidFill>
            <a:srgbClr val="F5F5F5"/>
          </a:solidFill>
          <a:ln/>
        </p:spPr>
        <p:txBody>
          <a:bodyPr/>
          <a:p/>
        </p:txBody>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txBody>
          <a:bodyPr/>
          <a:p/>
        </p:txBody>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LAYER 1</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Layer 1 — Process Invariant Checker</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Physics-based rules from SWaT P1 P&amp;ID — cannot be fooled by sensor simulation</a:t>
            </a:r>
            <a:endParaRPr lang="en-US" sz="1200" dirty="0"/>
          </a:p>
        </p:txBody>
      </p:sp>
      <p:sp>
        <p:nvSpPr>
          <p:cNvPr id="10" name="Shape 8"/>
          <p:cNvSpPr/>
          <p:nvPr/>
        </p:nvSpPr>
        <p:spPr>
          <a:xfrm>
            <a:off x="320040" y="1417320"/>
            <a:ext cx="457200" cy="320040"/>
          </a:xfrm>
          <a:prstGeom prst="rect">
            <a:avLst/>
          </a:prstGeom>
          <a:solidFill>
            <a:srgbClr val="E8243C"/>
          </a:solidFill>
          <a:ln w="12700">
            <a:solidFill>
              <a:srgbClr val="E0E0E0"/>
            </a:solidFill>
            <a:prstDash val="solid"/>
          </a:ln>
        </p:spPr>
        <p:txBody>
          <a:bodyPr/>
          <a:p/>
        </p:txBody>
      </p:sp>
      <p:sp>
        <p:nvSpPr>
          <p:cNvPr id="11" name="Text 9"/>
          <p:cNvSpPr/>
          <p:nvPr/>
        </p:nvSpPr>
        <p:spPr>
          <a:xfrm>
            <a:off x="393192" y="1417320"/>
            <a:ext cx="3108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ID</a:t>
            </a:r>
            <a:endParaRPr lang="en-US" sz="900" dirty="0"/>
          </a:p>
        </p:txBody>
      </p:sp>
      <p:sp>
        <p:nvSpPr>
          <p:cNvPr id="12" name="Shape 10"/>
          <p:cNvSpPr/>
          <p:nvPr/>
        </p:nvSpPr>
        <p:spPr>
          <a:xfrm>
            <a:off x="777240" y="1417320"/>
            <a:ext cx="2011680" cy="320040"/>
          </a:xfrm>
          <a:prstGeom prst="rect">
            <a:avLst/>
          </a:prstGeom>
          <a:solidFill>
            <a:srgbClr val="E8243C"/>
          </a:solidFill>
          <a:ln w="12700">
            <a:solidFill>
              <a:srgbClr val="E0E0E0"/>
            </a:solidFill>
            <a:prstDash val="solid"/>
          </a:ln>
        </p:spPr>
        <p:txBody>
          <a:bodyPr/>
          <a:p/>
        </p:txBody>
      </p:sp>
      <p:sp>
        <p:nvSpPr>
          <p:cNvPr id="13" name="Text 11"/>
          <p:cNvSpPr/>
          <p:nvPr/>
        </p:nvSpPr>
        <p:spPr>
          <a:xfrm>
            <a:off x="850392" y="1417320"/>
            <a:ext cx="186537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Condition</a:t>
            </a:r>
            <a:endParaRPr lang="en-US" sz="900" dirty="0"/>
          </a:p>
        </p:txBody>
      </p:sp>
      <p:sp>
        <p:nvSpPr>
          <p:cNvPr id="14" name="Shape 12"/>
          <p:cNvSpPr/>
          <p:nvPr/>
        </p:nvSpPr>
        <p:spPr>
          <a:xfrm>
            <a:off x="2788920" y="1417320"/>
            <a:ext cx="2103120" cy="320040"/>
          </a:xfrm>
          <a:prstGeom prst="rect">
            <a:avLst/>
          </a:prstGeom>
          <a:solidFill>
            <a:srgbClr val="E8243C"/>
          </a:solidFill>
          <a:ln w="12700">
            <a:solidFill>
              <a:srgbClr val="E0E0E0"/>
            </a:solidFill>
            <a:prstDash val="solid"/>
          </a:ln>
        </p:spPr>
        <p:txBody>
          <a:bodyPr/>
          <a:p/>
        </p:txBody>
      </p:sp>
      <p:sp>
        <p:nvSpPr>
          <p:cNvPr id="15" name="Text 13"/>
          <p:cNvSpPr/>
          <p:nvPr/>
        </p:nvSpPr>
        <p:spPr>
          <a:xfrm>
            <a:off x="2862072" y="1417320"/>
            <a:ext cx="195681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Invariant Rule</a:t>
            </a:r>
            <a:endParaRPr lang="en-US" sz="900" dirty="0"/>
          </a:p>
        </p:txBody>
      </p:sp>
      <p:sp>
        <p:nvSpPr>
          <p:cNvPr id="16" name="Shape 14"/>
          <p:cNvSpPr/>
          <p:nvPr/>
        </p:nvSpPr>
        <p:spPr>
          <a:xfrm>
            <a:off x="4892040" y="1417320"/>
            <a:ext cx="3081528" cy="320040"/>
          </a:xfrm>
          <a:prstGeom prst="rect">
            <a:avLst/>
          </a:prstGeom>
          <a:solidFill>
            <a:srgbClr val="E8243C"/>
          </a:solidFill>
          <a:ln w="12700">
            <a:solidFill>
              <a:srgbClr val="E0E0E0"/>
            </a:solidFill>
            <a:prstDash val="solid"/>
          </a:ln>
        </p:spPr>
        <p:txBody>
          <a:bodyPr/>
          <a:p/>
        </p:txBody>
      </p:sp>
      <p:sp>
        <p:nvSpPr>
          <p:cNvPr id="17" name="Text 15"/>
          <p:cNvSpPr/>
          <p:nvPr/>
        </p:nvSpPr>
        <p:spPr>
          <a:xfrm>
            <a:off x="4965192" y="1417320"/>
            <a:ext cx="2935224"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Physical Reason</a:t>
            </a:r>
            <a:endParaRPr lang="en-US" sz="900" dirty="0"/>
          </a:p>
        </p:txBody>
      </p:sp>
      <p:sp>
        <p:nvSpPr>
          <p:cNvPr id="18" name="Shape 16"/>
          <p:cNvSpPr/>
          <p:nvPr/>
        </p:nvSpPr>
        <p:spPr>
          <a:xfrm>
            <a:off x="320040" y="1837943"/>
            <a:ext cx="457200" cy="402336"/>
          </a:xfrm>
          <a:prstGeom prst="rect">
            <a:avLst/>
          </a:prstGeom>
          <a:solidFill>
            <a:srgbClr val="F5F5F5"/>
          </a:solidFill>
          <a:ln w="12700">
            <a:solidFill>
              <a:srgbClr val="E0E0E0"/>
            </a:solidFill>
            <a:prstDash val="solid"/>
          </a:ln>
        </p:spPr>
        <p:txBody>
          <a:bodyPr/>
          <a:p/>
        </p:txBody>
      </p:sp>
      <p:sp>
        <p:nvSpPr>
          <p:cNvPr id="19" name="Text 17"/>
          <p:cNvSpPr/>
          <p:nvPr/>
        </p:nvSpPr>
        <p:spPr>
          <a:xfrm>
            <a:off x="393192" y="1837943"/>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I-1</a:t>
            </a:r>
            <a:endParaRPr lang="en-US" sz="900" dirty="0"/>
          </a:p>
        </p:txBody>
      </p:sp>
      <p:sp>
        <p:nvSpPr>
          <p:cNvPr id="20" name="Shape 18"/>
          <p:cNvSpPr/>
          <p:nvPr/>
        </p:nvSpPr>
        <p:spPr>
          <a:xfrm>
            <a:off x="777240" y="1837943"/>
            <a:ext cx="2011680" cy="402336"/>
          </a:xfrm>
          <a:prstGeom prst="rect">
            <a:avLst/>
          </a:prstGeom>
          <a:solidFill>
            <a:srgbClr val="F5F5F5"/>
          </a:solidFill>
          <a:ln w="12700">
            <a:solidFill>
              <a:srgbClr val="E0E0E0"/>
            </a:solidFill>
            <a:prstDash val="solid"/>
          </a:ln>
        </p:spPr>
        <p:txBody>
          <a:bodyPr/>
          <a:p/>
        </p:txBody>
      </p:sp>
      <p:sp>
        <p:nvSpPr>
          <p:cNvPr id="21" name="Text 19"/>
          <p:cNvSpPr/>
          <p:nvPr/>
        </p:nvSpPr>
        <p:spPr>
          <a:xfrm>
            <a:off x="850392" y="1837943"/>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MV101=OPEN</a:t>
            </a:r>
            <a:endParaRPr lang="en-US" sz="900" dirty="0"/>
          </a:p>
        </p:txBody>
      </p:sp>
      <p:sp>
        <p:nvSpPr>
          <p:cNvPr id="22" name="Shape 20"/>
          <p:cNvSpPr/>
          <p:nvPr/>
        </p:nvSpPr>
        <p:spPr>
          <a:xfrm>
            <a:off x="2788920" y="1837943"/>
            <a:ext cx="2103120" cy="402336"/>
          </a:xfrm>
          <a:prstGeom prst="rect">
            <a:avLst/>
          </a:prstGeom>
          <a:solidFill>
            <a:srgbClr val="F5F5F5"/>
          </a:solidFill>
          <a:ln w="12700">
            <a:solidFill>
              <a:srgbClr val="E0E0E0"/>
            </a:solidFill>
            <a:prstDash val="solid"/>
          </a:ln>
        </p:spPr>
        <p:txBody>
          <a:bodyPr/>
          <a:p/>
        </p:txBody>
      </p:sp>
      <p:sp>
        <p:nvSpPr>
          <p:cNvPr id="23" name="Text 21"/>
          <p:cNvSpPr/>
          <p:nvPr/>
        </p:nvSpPr>
        <p:spPr>
          <a:xfrm>
            <a:off x="2862072" y="1837943"/>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FIT101 &gt; 0.4 L/s</a:t>
            </a:r>
            <a:endParaRPr lang="en-US" sz="900" dirty="0"/>
          </a:p>
        </p:txBody>
      </p:sp>
      <p:sp>
        <p:nvSpPr>
          <p:cNvPr id="24" name="Shape 22"/>
          <p:cNvSpPr/>
          <p:nvPr/>
        </p:nvSpPr>
        <p:spPr>
          <a:xfrm>
            <a:off x="4892040" y="1837943"/>
            <a:ext cx="3081528" cy="402336"/>
          </a:xfrm>
          <a:prstGeom prst="rect">
            <a:avLst/>
          </a:prstGeom>
          <a:solidFill>
            <a:srgbClr val="F5F5F5"/>
          </a:solidFill>
          <a:ln w="12700">
            <a:solidFill>
              <a:srgbClr val="E0E0E0"/>
            </a:solidFill>
            <a:prstDash val="solid"/>
          </a:ln>
        </p:spPr>
        <p:txBody>
          <a:bodyPr/>
          <a:p/>
        </p:txBody>
      </p:sp>
      <p:sp>
        <p:nvSpPr>
          <p:cNvPr id="25" name="Text 23"/>
          <p:cNvSpPr/>
          <p:nvPr/>
        </p:nvSpPr>
        <p:spPr>
          <a:xfrm>
            <a:off x="4965192" y="1837943"/>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Water flows when valve open</a:t>
            </a:r>
            <a:endParaRPr lang="en-US" sz="900" dirty="0"/>
          </a:p>
        </p:txBody>
      </p:sp>
      <p:sp>
        <p:nvSpPr>
          <p:cNvPr id="26" name="Shape 24"/>
          <p:cNvSpPr/>
          <p:nvPr/>
        </p:nvSpPr>
        <p:spPr>
          <a:xfrm>
            <a:off x="320040" y="2258568"/>
            <a:ext cx="457200" cy="402336"/>
          </a:xfrm>
          <a:prstGeom prst="rect">
            <a:avLst/>
          </a:prstGeom>
          <a:solidFill>
            <a:srgbClr val="FFFFFF"/>
          </a:solidFill>
          <a:ln w="12700">
            <a:solidFill>
              <a:srgbClr val="E0E0E0"/>
            </a:solidFill>
            <a:prstDash val="solid"/>
          </a:ln>
        </p:spPr>
        <p:txBody>
          <a:bodyPr/>
          <a:p/>
        </p:txBody>
      </p:sp>
      <p:sp>
        <p:nvSpPr>
          <p:cNvPr id="27" name="Text 25"/>
          <p:cNvSpPr/>
          <p:nvPr/>
        </p:nvSpPr>
        <p:spPr>
          <a:xfrm>
            <a:off x="393192" y="2258568"/>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I-2</a:t>
            </a:r>
            <a:endParaRPr lang="en-US" sz="900" dirty="0"/>
          </a:p>
        </p:txBody>
      </p:sp>
      <p:sp>
        <p:nvSpPr>
          <p:cNvPr id="28" name="Shape 26"/>
          <p:cNvSpPr/>
          <p:nvPr/>
        </p:nvSpPr>
        <p:spPr>
          <a:xfrm>
            <a:off x="777240" y="2258568"/>
            <a:ext cx="2011680" cy="402336"/>
          </a:xfrm>
          <a:prstGeom prst="rect">
            <a:avLst/>
          </a:prstGeom>
          <a:solidFill>
            <a:srgbClr val="FFFFFF"/>
          </a:solidFill>
          <a:ln w="12700">
            <a:solidFill>
              <a:srgbClr val="E0E0E0"/>
            </a:solidFill>
            <a:prstDash val="solid"/>
          </a:ln>
        </p:spPr>
        <p:txBody>
          <a:bodyPr/>
          <a:p/>
        </p:txBody>
      </p:sp>
      <p:sp>
        <p:nvSpPr>
          <p:cNvPr id="29" name="Text 27"/>
          <p:cNvSpPr/>
          <p:nvPr/>
        </p:nvSpPr>
        <p:spPr>
          <a:xfrm>
            <a:off x="850392" y="2258568"/>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P101=ON</a:t>
            </a:r>
            <a:endParaRPr lang="en-US" sz="900" dirty="0"/>
          </a:p>
        </p:txBody>
      </p:sp>
      <p:sp>
        <p:nvSpPr>
          <p:cNvPr id="30" name="Shape 28"/>
          <p:cNvSpPr/>
          <p:nvPr/>
        </p:nvSpPr>
        <p:spPr>
          <a:xfrm>
            <a:off x="2788920" y="2258568"/>
            <a:ext cx="2103120" cy="402336"/>
          </a:xfrm>
          <a:prstGeom prst="rect">
            <a:avLst/>
          </a:prstGeom>
          <a:solidFill>
            <a:srgbClr val="FFFFFF"/>
          </a:solidFill>
          <a:ln w="12700">
            <a:solidFill>
              <a:srgbClr val="E0E0E0"/>
            </a:solidFill>
            <a:prstDash val="solid"/>
          </a:ln>
        </p:spPr>
        <p:txBody>
          <a:bodyPr/>
          <a:p/>
        </p:txBody>
      </p:sp>
      <p:sp>
        <p:nvSpPr>
          <p:cNvPr id="31" name="Text 29"/>
          <p:cNvSpPr/>
          <p:nvPr/>
        </p:nvSpPr>
        <p:spPr>
          <a:xfrm>
            <a:off x="2862072" y="2258568"/>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FIT101 &gt; 0.3 L/s</a:t>
            </a:r>
            <a:endParaRPr lang="en-US" sz="900" dirty="0"/>
          </a:p>
        </p:txBody>
      </p:sp>
      <p:sp>
        <p:nvSpPr>
          <p:cNvPr id="32" name="Shape 30"/>
          <p:cNvSpPr/>
          <p:nvPr/>
        </p:nvSpPr>
        <p:spPr>
          <a:xfrm>
            <a:off x="4892040" y="2258568"/>
            <a:ext cx="3081528" cy="402336"/>
          </a:xfrm>
          <a:prstGeom prst="rect">
            <a:avLst/>
          </a:prstGeom>
          <a:solidFill>
            <a:srgbClr val="FFFFFF"/>
          </a:solidFill>
          <a:ln w="12700">
            <a:solidFill>
              <a:srgbClr val="E0E0E0"/>
            </a:solidFill>
            <a:prstDash val="solid"/>
          </a:ln>
        </p:spPr>
        <p:txBody>
          <a:bodyPr/>
          <a:p/>
        </p:txBody>
      </p:sp>
      <p:sp>
        <p:nvSpPr>
          <p:cNvPr id="33" name="Text 31"/>
          <p:cNvSpPr/>
          <p:nvPr/>
        </p:nvSpPr>
        <p:spPr>
          <a:xfrm>
            <a:off x="4965192" y="2258568"/>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Pump drives positive flow — catches Phase 1</a:t>
            </a:r>
            <a:endParaRPr lang="en-US" sz="900" dirty="0"/>
          </a:p>
        </p:txBody>
      </p:sp>
      <p:sp>
        <p:nvSpPr>
          <p:cNvPr id="34" name="Shape 32"/>
          <p:cNvSpPr/>
          <p:nvPr/>
        </p:nvSpPr>
        <p:spPr>
          <a:xfrm>
            <a:off x="320040" y="2679191"/>
            <a:ext cx="457200" cy="402336"/>
          </a:xfrm>
          <a:prstGeom prst="rect">
            <a:avLst/>
          </a:prstGeom>
          <a:solidFill>
            <a:srgbClr val="F5F5F5"/>
          </a:solidFill>
          <a:ln w="12700">
            <a:solidFill>
              <a:srgbClr val="E0E0E0"/>
            </a:solidFill>
            <a:prstDash val="solid"/>
          </a:ln>
        </p:spPr>
        <p:txBody>
          <a:bodyPr/>
          <a:p/>
        </p:txBody>
      </p:sp>
      <p:sp>
        <p:nvSpPr>
          <p:cNvPr id="35" name="Text 33"/>
          <p:cNvSpPr/>
          <p:nvPr/>
        </p:nvSpPr>
        <p:spPr>
          <a:xfrm>
            <a:off x="393192" y="2679191"/>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I-3</a:t>
            </a:r>
            <a:endParaRPr lang="en-US" sz="900" dirty="0"/>
          </a:p>
        </p:txBody>
      </p:sp>
      <p:sp>
        <p:nvSpPr>
          <p:cNvPr id="36" name="Shape 34"/>
          <p:cNvSpPr/>
          <p:nvPr/>
        </p:nvSpPr>
        <p:spPr>
          <a:xfrm>
            <a:off x="777240" y="2679191"/>
            <a:ext cx="2011680" cy="402336"/>
          </a:xfrm>
          <a:prstGeom prst="rect">
            <a:avLst/>
          </a:prstGeom>
          <a:solidFill>
            <a:srgbClr val="F5F5F5"/>
          </a:solidFill>
          <a:ln w="12700">
            <a:solidFill>
              <a:srgbClr val="E0E0E0"/>
            </a:solidFill>
            <a:prstDash val="solid"/>
          </a:ln>
        </p:spPr>
        <p:txBody>
          <a:bodyPr/>
          <a:p/>
        </p:txBody>
      </p:sp>
      <p:sp>
        <p:nvSpPr>
          <p:cNvPr id="37" name="Text 35"/>
          <p:cNvSpPr/>
          <p:nvPr/>
        </p:nvSpPr>
        <p:spPr>
          <a:xfrm>
            <a:off x="850392" y="2679191"/>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P101=ON</a:t>
            </a:r>
            <a:endParaRPr lang="en-US" sz="900" dirty="0"/>
          </a:p>
        </p:txBody>
      </p:sp>
      <p:sp>
        <p:nvSpPr>
          <p:cNvPr id="38" name="Shape 36"/>
          <p:cNvSpPr/>
          <p:nvPr/>
        </p:nvSpPr>
        <p:spPr>
          <a:xfrm>
            <a:off x="2788920" y="2679191"/>
            <a:ext cx="2103120" cy="402336"/>
          </a:xfrm>
          <a:prstGeom prst="rect">
            <a:avLst/>
          </a:prstGeom>
          <a:solidFill>
            <a:srgbClr val="F5F5F5"/>
          </a:solidFill>
          <a:ln w="12700">
            <a:solidFill>
              <a:srgbClr val="E0E0E0"/>
            </a:solidFill>
            <a:prstDash val="solid"/>
          </a:ln>
        </p:spPr>
        <p:txBody>
          <a:bodyPr/>
          <a:p/>
        </p:txBody>
      </p:sp>
      <p:sp>
        <p:nvSpPr>
          <p:cNvPr id="39" name="Text 37"/>
          <p:cNvSpPr/>
          <p:nvPr/>
        </p:nvSpPr>
        <p:spPr>
          <a:xfrm>
            <a:off x="2862072" y="2679191"/>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LIT101 not falling rapidly</a:t>
            </a:r>
            <a:endParaRPr lang="en-US" sz="900" dirty="0"/>
          </a:p>
        </p:txBody>
      </p:sp>
      <p:sp>
        <p:nvSpPr>
          <p:cNvPr id="40" name="Shape 38"/>
          <p:cNvSpPr/>
          <p:nvPr/>
        </p:nvSpPr>
        <p:spPr>
          <a:xfrm>
            <a:off x="4892040" y="2679191"/>
            <a:ext cx="3081528" cy="402336"/>
          </a:xfrm>
          <a:prstGeom prst="rect">
            <a:avLst/>
          </a:prstGeom>
          <a:solidFill>
            <a:srgbClr val="F5F5F5"/>
          </a:solidFill>
          <a:ln w="12700">
            <a:solidFill>
              <a:srgbClr val="E0E0E0"/>
            </a:solidFill>
            <a:prstDash val="solid"/>
          </a:ln>
        </p:spPr>
        <p:txBody>
          <a:bodyPr/>
          <a:p/>
        </p:txBody>
      </p:sp>
      <p:sp>
        <p:nvSpPr>
          <p:cNvPr id="41" name="Text 39"/>
          <p:cNvSpPr/>
          <p:nvPr/>
        </p:nvSpPr>
        <p:spPr>
          <a:xfrm>
            <a:off x="4965192" y="2679191"/>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Pump fills or holds tank</a:t>
            </a:r>
            <a:endParaRPr lang="en-US" sz="900" dirty="0"/>
          </a:p>
        </p:txBody>
      </p:sp>
      <p:sp>
        <p:nvSpPr>
          <p:cNvPr id="42" name="Shape 40"/>
          <p:cNvSpPr/>
          <p:nvPr/>
        </p:nvSpPr>
        <p:spPr>
          <a:xfrm>
            <a:off x="320040" y="3099815"/>
            <a:ext cx="457200" cy="402336"/>
          </a:xfrm>
          <a:prstGeom prst="rect">
            <a:avLst/>
          </a:prstGeom>
          <a:solidFill>
            <a:srgbClr val="F5F5F5"/>
          </a:solidFill>
          <a:ln w="12700">
            <a:solidFill>
              <a:srgbClr val="E0E0E0"/>
            </a:solidFill>
            <a:prstDash val="solid"/>
          </a:ln>
        </p:spPr>
        <p:txBody>
          <a:bodyPr/>
          <a:p/>
        </p:txBody>
      </p:sp>
      <p:sp>
        <p:nvSpPr>
          <p:cNvPr id="43" name="Text 41"/>
          <p:cNvSpPr/>
          <p:nvPr/>
        </p:nvSpPr>
        <p:spPr>
          <a:xfrm>
            <a:off x="393192" y="3099815"/>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I-4</a:t>
            </a:r>
            <a:endParaRPr lang="en-US" sz="900" dirty="0"/>
          </a:p>
        </p:txBody>
      </p:sp>
      <p:sp>
        <p:nvSpPr>
          <p:cNvPr id="44" name="Shape 42"/>
          <p:cNvSpPr/>
          <p:nvPr/>
        </p:nvSpPr>
        <p:spPr>
          <a:xfrm>
            <a:off x="777240" y="3099815"/>
            <a:ext cx="2011680" cy="402336"/>
          </a:xfrm>
          <a:prstGeom prst="rect">
            <a:avLst/>
          </a:prstGeom>
          <a:solidFill>
            <a:srgbClr val="F5F5F5"/>
          </a:solidFill>
          <a:ln w="12700">
            <a:solidFill>
              <a:srgbClr val="E0E0E0"/>
            </a:solidFill>
            <a:prstDash val="solid"/>
          </a:ln>
        </p:spPr>
        <p:txBody>
          <a:bodyPr/>
          <a:p/>
        </p:txBody>
      </p:sp>
      <p:sp>
        <p:nvSpPr>
          <p:cNvPr id="45" name="Text 43"/>
          <p:cNvSpPr/>
          <p:nvPr/>
        </p:nvSpPr>
        <p:spPr>
          <a:xfrm>
            <a:off x="850392" y="3099815"/>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LIT101 &gt; 800mm</a:t>
            </a:r>
            <a:endParaRPr lang="en-US" sz="900" dirty="0"/>
          </a:p>
        </p:txBody>
      </p:sp>
      <p:sp>
        <p:nvSpPr>
          <p:cNvPr id="46" name="Shape 44"/>
          <p:cNvSpPr/>
          <p:nvPr/>
        </p:nvSpPr>
        <p:spPr>
          <a:xfrm>
            <a:off x="2788920" y="3099815"/>
            <a:ext cx="2103120" cy="402336"/>
          </a:xfrm>
          <a:prstGeom prst="rect">
            <a:avLst/>
          </a:prstGeom>
          <a:solidFill>
            <a:srgbClr val="F5F5F5"/>
          </a:solidFill>
          <a:ln w="12700">
            <a:solidFill>
              <a:srgbClr val="E0E0E0"/>
            </a:solidFill>
            <a:prstDash val="solid"/>
          </a:ln>
        </p:spPr>
        <p:txBody>
          <a:bodyPr/>
          <a:p/>
        </p:txBody>
      </p:sp>
      <p:sp>
        <p:nvSpPr>
          <p:cNvPr id="47" name="Text 45"/>
          <p:cNvSpPr/>
          <p:nvPr/>
        </p:nvSpPr>
        <p:spPr>
          <a:xfrm>
            <a:off x="2862072" y="3099815"/>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 OFF within 2 cycles</a:t>
            </a:r>
            <a:endParaRPr lang="en-US" sz="900" dirty="0"/>
          </a:p>
        </p:txBody>
      </p:sp>
      <p:sp>
        <p:nvSpPr>
          <p:cNvPr id="48" name="Shape 46"/>
          <p:cNvSpPr/>
          <p:nvPr/>
        </p:nvSpPr>
        <p:spPr>
          <a:xfrm>
            <a:off x="4892040" y="3099815"/>
            <a:ext cx="3081528" cy="402336"/>
          </a:xfrm>
          <a:prstGeom prst="rect">
            <a:avLst/>
          </a:prstGeom>
          <a:solidFill>
            <a:srgbClr val="F5F5F5"/>
          </a:solidFill>
          <a:ln w="12700">
            <a:solidFill>
              <a:srgbClr val="E0E0E0"/>
            </a:solidFill>
            <a:prstDash val="solid"/>
          </a:ln>
        </p:spPr>
        <p:txBody>
          <a:bodyPr/>
          <a:p/>
        </p:txBody>
      </p:sp>
      <p:sp>
        <p:nvSpPr>
          <p:cNvPr id="49" name="Text 47"/>
          <p:cNvSpPr/>
          <p:nvPr/>
        </p:nvSpPr>
        <p:spPr>
          <a:xfrm>
            <a:off x="4965192" y="3099815"/>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Overflow protection</a:t>
            </a:r>
            <a:endParaRPr lang="en-US" sz="900" dirty="0"/>
          </a:p>
        </p:txBody>
      </p:sp>
      <p:sp>
        <p:nvSpPr>
          <p:cNvPr id="50" name="Shape 48"/>
          <p:cNvSpPr/>
          <p:nvPr/>
        </p:nvSpPr>
        <p:spPr>
          <a:xfrm>
            <a:off x="320040" y="3520439"/>
            <a:ext cx="457200" cy="402336"/>
          </a:xfrm>
          <a:prstGeom prst="rect">
            <a:avLst/>
          </a:prstGeom>
          <a:solidFill>
            <a:srgbClr val="FFFFFF"/>
          </a:solidFill>
          <a:ln w="12700">
            <a:solidFill>
              <a:srgbClr val="E0E0E0"/>
            </a:solidFill>
            <a:prstDash val="solid"/>
          </a:ln>
        </p:spPr>
        <p:txBody>
          <a:bodyPr/>
          <a:p/>
        </p:txBody>
      </p:sp>
      <p:sp>
        <p:nvSpPr>
          <p:cNvPr id="51" name="Text 49"/>
          <p:cNvSpPr/>
          <p:nvPr/>
        </p:nvSpPr>
        <p:spPr>
          <a:xfrm>
            <a:off x="393192" y="3520439"/>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I-5</a:t>
            </a:r>
            <a:endParaRPr lang="en-US" sz="900" dirty="0"/>
          </a:p>
        </p:txBody>
      </p:sp>
      <p:sp>
        <p:nvSpPr>
          <p:cNvPr id="52" name="Shape 50"/>
          <p:cNvSpPr/>
          <p:nvPr/>
        </p:nvSpPr>
        <p:spPr>
          <a:xfrm>
            <a:off x="777240" y="3520439"/>
            <a:ext cx="2011680" cy="402336"/>
          </a:xfrm>
          <a:prstGeom prst="rect">
            <a:avLst/>
          </a:prstGeom>
          <a:solidFill>
            <a:srgbClr val="FFFFFF"/>
          </a:solidFill>
          <a:ln w="12700">
            <a:solidFill>
              <a:srgbClr val="E0E0E0"/>
            </a:solidFill>
            <a:prstDash val="solid"/>
          </a:ln>
        </p:spPr>
        <p:txBody>
          <a:bodyPr/>
          <a:p/>
        </p:txBody>
      </p:sp>
      <p:sp>
        <p:nvSpPr>
          <p:cNvPr id="53" name="Text 51"/>
          <p:cNvSpPr/>
          <p:nvPr/>
        </p:nvSpPr>
        <p:spPr>
          <a:xfrm>
            <a:off x="850392" y="3520439"/>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LIT101 &lt; 250mm</a:t>
            </a:r>
            <a:endParaRPr lang="en-US" sz="900" dirty="0"/>
          </a:p>
        </p:txBody>
      </p:sp>
      <p:sp>
        <p:nvSpPr>
          <p:cNvPr id="54" name="Shape 52"/>
          <p:cNvSpPr/>
          <p:nvPr/>
        </p:nvSpPr>
        <p:spPr>
          <a:xfrm>
            <a:off x="2788920" y="3520439"/>
            <a:ext cx="2103120" cy="402336"/>
          </a:xfrm>
          <a:prstGeom prst="rect">
            <a:avLst/>
          </a:prstGeom>
          <a:solidFill>
            <a:srgbClr val="FFFFFF"/>
          </a:solidFill>
          <a:ln w="12700">
            <a:solidFill>
              <a:srgbClr val="E0E0E0"/>
            </a:solidFill>
            <a:prstDash val="solid"/>
          </a:ln>
        </p:spPr>
        <p:txBody>
          <a:bodyPr/>
          <a:p/>
        </p:txBody>
      </p:sp>
      <p:sp>
        <p:nvSpPr>
          <p:cNvPr id="55" name="Text 53"/>
          <p:cNvSpPr/>
          <p:nvPr/>
        </p:nvSpPr>
        <p:spPr>
          <a:xfrm>
            <a:off x="2862072" y="3520439"/>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MV101 OPEN + P101 ON</a:t>
            </a:r>
            <a:endParaRPr lang="en-US" sz="900" dirty="0"/>
          </a:p>
        </p:txBody>
      </p:sp>
      <p:sp>
        <p:nvSpPr>
          <p:cNvPr id="56" name="Shape 54"/>
          <p:cNvSpPr/>
          <p:nvPr/>
        </p:nvSpPr>
        <p:spPr>
          <a:xfrm>
            <a:off x="4892040" y="3520439"/>
            <a:ext cx="3081528" cy="402336"/>
          </a:xfrm>
          <a:prstGeom prst="rect">
            <a:avLst/>
          </a:prstGeom>
          <a:solidFill>
            <a:srgbClr val="FFFFFF"/>
          </a:solidFill>
          <a:ln w="12700">
            <a:solidFill>
              <a:srgbClr val="E0E0E0"/>
            </a:solidFill>
            <a:prstDash val="solid"/>
          </a:ln>
        </p:spPr>
        <p:txBody>
          <a:bodyPr/>
          <a:p/>
        </p:txBody>
      </p:sp>
      <p:sp>
        <p:nvSpPr>
          <p:cNvPr id="57" name="Text 55"/>
          <p:cNvSpPr/>
          <p:nvPr/>
        </p:nvSpPr>
        <p:spPr>
          <a:xfrm>
            <a:off x="4965192" y="3520439"/>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Dry-run protection</a:t>
            </a:r>
            <a:endParaRPr lang="en-US" sz="900" dirty="0"/>
          </a:p>
        </p:txBody>
      </p:sp>
      <p:sp>
        <p:nvSpPr>
          <p:cNvPr id="58" name="Shape 56"/>
          <p:cNvSpPr/>
          <p:nvPr/>
        </p:nvSpPr>
        <p:spPr>
          <a:xfrm>
            <a:off x="320040" y="3941064"/>
            <a:ext cx="457200" cy="402336"/>
          </a:xfrm>
          <a:prstGeom prst="rect">
            <a:avLst/>
          </a:prstGeom>
          <a:solidFill>
            <a:srgbClr val="FFFFFF"/>
          </a:solidFill>
          <a:ln w="12700">
            <a:solidFill>
              <a:srgbClr val="E0E0E0"/>
            </a:solidFill>
            <a:prstDash val="solid"/>
          </a:ln>
        </p:spPr>
        <p:txBody>
          <a:bodyPr/>
          <a:p/>
        </p:txBody>
      </p:sp>
      <p:sp>
        <p:nvSpPr>
          <p:cNvPr id="59" name="Text 57"/>
          <p:cNvSpPr/>
          <p:nvPr/>
        </p:nvSpPr>
        <p:spPr>
          <a:xfrm>
            <a:off x="393192" y="3941064"/>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I-6</a:t>
            </a:r>
            <a:endParaRPr lang="en-US" sz="900" dirty="0"/>
          </a:p>
        </p:txBody>
      </p:sp>
      <p:sp>
        <p:nvSpPr>
          <p:cNvPr id="60" name="Shape 58"/>
          <p:cNvSpPr/>
          <p:nvPr/>
        </p:nvSpPr>
        <p:spPr>
          <a:xfrm>
            <a:off x="777240" y="3941064"/>
            <a:ext cx="2011680" cy="402336"/>
          </a:xfrm>
          <a:prstGeom prst="rect">
            <a:avLst/>
          </a:prstGeom>
          <a:solidFill>
            <a:srgbClr val="FFFFFF"/>
          </a:solidFill>
          <a:ln w="12700">
            <a:solidFill>
              <a:srgbClr val="E0E0E0"/>
            </a:solidFill>
            <a:prstDash val="solid"/>
          </a:ln>
        </p:spPr>
        <p:txBody>
          <a:bodyPr/>
          <a:p/>
        </p:txBody>
      </p:sp>
      <p:sp>
        <p:nvSpPr>
          <p:cNvPr id="61" name="Text 59"/>
          <p:cNvSpPr/>
          <p:nvPr/>
        </p:nvSpPr>
        <p:spPr>
          <a:xfrm>
            <a:off x="850392" y="3941064"/>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MV101=CLOSED</a:t>
            </a:r>
            <a:endParaRPr lang="en-US" sz="900" dirty="0"/>
          </a:p>
        </p:txBody>
      </p:sp>
      <p:sp>
        <p:nvSpPr>
          <p:cNvPr id="62" name="Shape 60"/>
          <p:cNvSpPr/>
          <p:nvPr/>
        </p:nvSpPr>
        <p:spPr>
          <a:xfrm>
            <a:off x="2788920" y="3941064"/>
            <a:ext cx="2103120" cy="402336"/>
          </a:xfrm>
          <a:prstGeom prst="rect">
            <a:avLst/>
          </a:prstGeom>
          <a:solidFill>
            <a:srgbClr val="FFFFFF"/>
          </a:solidFill>
          <a:ln w="12700">
            <a:solidFill>
              <a:srgbClr val="E0E0E0"/>
            </a:solidFill>
            <a:prstDash val="solid"/>
          </a:ln>
        </p:spPr>
        <p:txBody>
          <a:bodyPr/>
          <a:p/>
        </p:txBody>
      </p:sp>
      <p:sp>
        <p:nvSpPr>
          <p:cNvPr id="63" name="Text 61"/>
          <p:cNvSpPr/>
          <p:nvPr/>
        </p:nvSpPr>
        <p:spPr>
          <a:xfrm>
            <a:off x="2862072" y="3941064"/>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FIT101 &lt; 0.05 L/s</a:t>
            </a:r>
            <a:endParaRPr lang="en-US" sz="900" dirty="0"/>
          </a:p>
        </p:txBody>
      </p:sp>
      <p:sp>
        <p:nvSpPr>
          <p:cNvPr id="64" name="Shape 62"/>
          <p:cNvSpPr/>
          <p:nvPr/>
        </p:nvSpPr>
        <p:spPr>
          <a:xfrm>
            <a:off x="4892040" y="3941064"/>
            <a:ext cx="3081528" cy="402336"/>
          </a:xfrm>
          <a:prstGeom prst="rect">
            <a:avLst/>
          </a:prstGeom>
          <a:solidFill>
            <a:srgbClr val="FFFFFF"/>
          </a:solidFill>
          <a:ln w="12700">
            <a:solidFill>
              <a:srgbClr val="E0E0E0"/>
            </a:solidFill>
            <a:prstDash val="solid"/>
          </a:ln>
        </p:spPr>
        <p:txBody>
          <a:bodyPr/>
          <a:p/>
        </p:txBody>
      </p:sp>
      <p:sp>
        <p:nvSpPr>
          <p:cNvPr id="65" name="Text 63"/>
          <p:cNvSpPr/>
          <p:nvPr/>
        </p:nvSpPr>
        <p:spPr>
          <a:xfrm>
            <a:off x="4965192" y="3941064"/>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 flow when valve shut</a:t>
            </a:r>
            <a:endParaRPr lang="en-US" sz="900" dirty="0"/>
          </a:p>
        </p:txBody>
      </p:sp>
      <p:sp>
        <p:nvSpPr>
          <p:cNvPr id="66" name="Shape 64"/>
          <p:cNvSpPr/>
          <p:nvPr/>
        </p:nvSpPr>
        <p:spPr>
          <a:xfrm>
            <a:off x="320040" y="4361688"/>
            <a:ext cx="457200" cy="402336"/>
          </a:xfrm>
          <a:prstGeom prst="rect">
            <a:avLst/>
          </a:prstGeom>
          <a:solidFill>
            <a:srgbClr val="F5F5F5"/>
          </a:solidFill>
          <a:ln w="12700">
            <a:solidFill>
              <a:srgbClr val="E0E0E0"/>
            </a:solidFill>
            <a:prstDash val="solid"/>
          </a:ln>
        </p:spPr>
        <p:txBody>
          <a:bodyPr/>
          <a:p/>
        </p:txBody>
      </p:sp>
      <p:sp>
        <p:nvSpPr>
          <p:cNvPr id="67" name="Text 65"/>
          <p:cNvSpPr/>
          <p:nvPr/>
        </p:nvSpPr>
        <p:spPr>
          <a:xfrm>
            <a:off x="393192" y="4361688"/>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I-7</a:t>
            </a:r>
            <a:endParaRPr lang="en-US" sz="900" dirty="0"/>
          </a:p>
        </p:txBody>
      </p:sp>
      <p:sp>
        <p:nvSpPr>
          <p:cNvPr id="68" name="Shape 66"/>
          <p:cNvSpPr/>
          <p:nvPr/>
        </p:nvSpPr>
        <p:spPr>
          <a:xfrm>
            <a:off x="777240" y="4361688"/>
            <a:ext cx="2011680" cy="402336"/>
          </a:xfrm>
          <a:prstGeom prst="rect">
            <a:avLst/>
          </a:prstGeom>
          <a:solidFill>
            <a:srgbClr val="F5F5F5"/>
          </a:solidFill>
          <a:ln w="12700">
            <a:solidFill>
              <a:srgbClr val="E0E0E0"/>
            </a:solidFill>
            <a:prstDash val="solid"/>
          </a:ln>
        </p:spPr>
        <p:txBody>
          <a:bodyPr/>
          <a:p/>
        </p:txBody>
      </p:sp>
      <p:sp>
        <p:nvSpPr>
          <p:cNvPr id="69" name="Text 67"/>
          <p:cNvSpPr/>
          <p:nvPr/>
        </p:nvSpPr>
        <p:spPr>
          <a:xfrm>
            <a:off x="850392" y="4361688"/>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P101=ON + MV101=CLOSED</a:t>
            </a:r>
            <a:endParaRPr lang="en-US" sz="900" dirty="0"/>
          </a:p>
        </p:txBody>
      </p:sp>
      <p:sp>
        <p:nvSpPr>
          <p:cNvPr id="70" name="Shape 68"/>
          <p:cNvSpPr/>
          <p:nvPr/>
        </p:nvSpPr>
        <p:spPr>
          <a:xfrm>
            <a:off x="2788920" y="4361688"/>
            <a:ext cx="2103120" cy="402336"/>
          </a:xfrm>
          <a:prstGeom prst="rect">
            <a:avLst/>
          </a:prstGeom>
          <a:solidFill>
            <a:srgbClr val="F5F5F5"/>
          </a:solidFill>
          <a:ln w="12700">
            <a:solidFill>
              <a:srgbClr val="E0E0E0"/>
            </a:solidFill>
            <a:prstDash val="solid"/>
          </a:ln>
        </p:spPr>
        <p:txBody>
          <a:bodyPr/>
          <a:p/>
        </p:txBody>
      </p:sp>
      <p:sp>
        <p:nvSpPr>
          <p:cNvPr id="71" name="Text 69"/>
          <p:cNvSpPr/>
          <p:nvPr/>
        </p:nvSpPr>
        <p:spPr>
          <a:xfrm>
            <a:off x="2862072" y="4361688"/>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VIOLATION (attack signature)</a:t>
            </a:r>
            <a:endParaRPr lang="en-US" sz="900" dirty="0"/>
          </a:p>
        </p:txBody>
      </p:sp>
      <p:sp>
        <p:nvSpPr>
          <p:cNvPr id="72" name="Shape 70"/>
          <p:cNvSpPr/>
          <p:nvPr/>
        </p:nvSpPr>
        <p:spPr>
          <a:xfrm>
            <a:off x="4892040" y="4361688"/>
            <a:ext cx="3081528" cy="402336"/>
          </a:xfrm>
          <a:prstGeom prst="rect">
            <a:avLst/>
          </a:prstGeom>
          <a:solidFill>
            <a:srgbClr val="F5F5F5"/>
          </a:solidFill>
          <a:ln w="12700">
            <a:solidFill>
              <a:srgbClr val="E0E0E0"/>
            </a:solidFill>
            <a:prstDash val="solid"/>
          </a:ln>
        </p:spPr>
        <p:txBody>
          <a:bodyPr/>
          <a:p/>
        </p:txBody>
      </p:sp>
      <p:sp>
        <p:nvSpPr>
          <p:cNvPr id="73" name="Text 71"/>
          <p:cNvSpPr/>
          <p:nvPr/>
        </p:nvSpPr>
        <p:spPr>
          <a:xfrm>
            <a:off x="4965192" y="4361688"/>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Impossible physics state</a:t>
            </a:r>
            <a:endParaRPr lang="en-US" sz="900" dirty="0"/>
          </a:p>
        </p:txBody>
      </p:sp>
      <p:sp>
        <p:nvSpPr>
          <p:cNvPr id="74" name="Shape 72"/>
          <p:cNvSpPr/>
          <p:nvPr/>
        </p:nvSpPr>
        <p:spPr>
          <a:xfrm>
            <a:off x="320040" y="4782312"/>
            <a:ext cx="457200" cy="402336"/>
          </a:xfrm>
          <a:prstGeom prst="rect">
            <a:avLst/>
          </a:prstGeom>
          <a:solidFill>
            <a:srgbClr val="FFFFFF"/>
          </a:solidFill>
          <a:ln w="12700">
            <a:solidFill>
              <a:srgbClr val="E0E0E0"/>
            </a:solidFill>
            <a:prstDash val="solid"/>
          </a:ln>
        </p:spPr>
        <p:txBody>
          <a:bodyPr/>
          <a:p/>
        </p:txBody>
      </p:sp>
      <p:sp>
        <p:nvSpPr>
          <p:cNvPr id="75" name="Text 73"/>
          <p:cNvSpPr/>
          <p:nvPr/>
        </p:nvSpPr>
        <p:spPr>
          <a:xfrm>
            <a:off x="393192" y="4782312"/>
            <a:ext cx="31089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I-8</a:t>
            </a:r>
            <a:endParaRPr lang="en-US" sz="900" dirty="0"/>
          </a:p>
        </p:txBody>
      </p:sp>
      <p:sp>
        <p:nvSpPr>
          <p:cNvPr id="76" name="Shape 74"/>
          <p:cNvSpPr/>
          <p:nvPr/>
        </p:nvSpPr>
        <p:spPr>
          <a:xfrm>
            <a:off x="777240" y="4782312"/>
            <a:ext cx="2011680" cy="402336"/>
          </a:xfrm>
          <a:prstGeom prst="rect">
            <a:avLst/>
          </a:prstGeom>
          <a:solidFill>
            <a:srgbClr val="FFFFFF"/>
          </a:solidFill>
          <a:ln w="12700">
            <a:solidFill>
              <a:srgbClr val="E0E0E0"/>
            </a:solidFill>
            <a:prstDash val="solid"/>
          </a:ln>
        </p:spPr>
        <p:txBody>
          <a:bodyPr/>
          <a:p/>
        </p:txBody>
      </p:sp>
      <p:sp>
        <p:nvSpPr>
          <p:cNvPr id="77" name="Text 75"/>
          <p:cNvSpPr/>
          <p:nvPr/>
        </p:nvSpPr>
        <p:spPr>
          <a:xfrm>
            <a:off x="850392" y="4782312"/>
            <a:ext cx="186537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P101=OFF</a:t>
            </a:r>
            <a:endParaRPr lang="en-US" sz="900" dirty="0"/>
          </a:p>
        </p:txBody>
      </p:sp>
      <p:sp>
        <p:nvSpPr>
          <p:cNvPr id="78" name="Shape 76"/>
          <p:cNvSpPr/>
          <p:nvPr/>
        </p:nvSpPr>
        <p:spPr>
          <a:xfrm>
            <a:off x="2788920" y="4782312"/>
            <a:ext cx="2103120" cy="402336"/>
          </a:xfrm>
          <a:prstGeom prst="rect">
            <a:avLst/>
          </a:prstGeom>
          <a:solidFill>
            <a:srgbClr val="FFFFFF"/>
          </a:solidFill>
          <a:ln w="12700">
            <a:solidFill>
              <a:srgbClr val="E0E0E0"/>
            </a:solidFill>
            <a:prstDash val="solid"/>
          </a:ln>
        </p:spPr>
        <p:txBody>
          <a:bodyPr/>
          <a:p/>
        </p:txBody>
      </p:sp>
      <p:sp>
        <p:nvSpPr>
          <p:cNvPr id="79" name="Text 77"/>
          <p:cNvSpPr/>
          <p:nvPr/>
        </p:nvSpPr>
        <p:spPr>
          <a:xfrm>
            <a:off x="2862072" y="4782312"/>
            <a:ext cx="1956816"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LIT101 non-increasing</a:t>
            </a:r>
            <a:endParaRPr lang="en-US" sz="900" dirty="0"/>
          </a:p>
        </p:txBody>
      </p:sp>
      <p:sp>
        <p:nvSpPr>
          <p:cNvPr id="80" name="Shape 78"/>
          <p:cNvSpPr/>
          <p:nvPr/>
        </p:nvSpPr>
        <p:spPr>
          <a:xfrm>
            <a:off x="4892040" y="4782312"/>
            <a:ext cx="3081528" cy="402336"/>
          </a:xfrm>
          <a:prstGeom prst="rect">
            <a:avLst/>
          </a:prstGeom>
          <a:solidFill>
            <a:srgbClr val="FFFFFF"/>
          </a:solidFill>
          <a:ln w="12700">
            <a:solidFill>
              <a:srgbClr val="E0E0E0"/>
            </a:solidFill>
            <a:prstDash val="solid"/>
          </a:ln>
        </p:spPr>
        <p:txBody>
          <a:bodyPr/>
          <a:p/>
        </p:txBody>
      </p:sp>
      <p:sp>
        <p:nvSpPr>
          <p:cNvPr id="81" name="Text 79"/>
          <p:cNvSpPr/>
          <p:nvPr/>
        </p:nvSpPr>
        <p:spPr>
          <a:xfrm>
            <a:off x="4965192" y="4782312"/>
            <a:ext cx="2935224" cy="402336"/>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Tank drains only if pump off</a:t>
            </a:r>
            <a:endParaRPr lang="en-US" sz="900" dirty="0"/>
          </a:p>
        </p:txBody>
      </p:sp>
      <p:sp>
        <p:nvSpPr>
          <p:cNvPr id="82" name="Rectangle 81"/>
          <p:cNvSpPr/>
          <p:nvPr/>
        </p:nvSpPr>
        <p:spPr>
          <a:xfrm>
            <a:off x="320040" y="5202936"/>
            <a:ext cx="7653528" cy="420624"/>
          </a:xfrm>
          <a:prstGeom prst="rect">
            <a:avLst/>
          </a:prstGeom>
          <a:solidFill>
            <a:srgbClr val="E8F5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20040" y="5202936"/>
            <a:ext cx="54864" cy="42062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3192" y="5294375"/>
            <a:ext cx="347472" cy="384048"/>
          </a:xfrm>
          <a:prstGeom prst="rect">
            <a:avLst/>
          </a:prstGeom>
          <a:noFill/>
        </p:spPr>
        <p:txBody>
          <a:bodyPr wrap="square">
            <a:spAutoFit/>
          </a:bodyPr>
          <a:lstStyle/>
          <a:p>
            <a:pPr algn="ctr"/>
            <a:r>
              <a:rPr sz="800" b="1" i="0">
                <a:solidFill>
                  <a:srgbClr val="2E7D32"/>
                </a:solidFill>
                <a:latin typeface="Calibri"/>
              </a:rPr>
              <a:t>I-9</a:t>
            </a:r>
          </a:p>
        </p:txBody>
      </p:sp>
      <p:sp>
        <p:nvSpPr>
          <p:cNvPr id="85" name="TextBox 84"/>
          <p:cNvSpPr txBox="1"/>
          <p:nvPr/>
        </p:nvSpPr>
        <p:spPr>
          <a:xfrm>
            <a:off x="850392" y="5221223"/>
            <a:ext cx="1901952" cy="384048"/>
          </a:xfrm>
          <a:prstGeom prst="rect">
            <a:avLst/>
          </a:prstGeom>
          <a:noFill/>
        </p:spPr>
        <p:txBody>
          <a:bodyPr wrap="square">
            <a:spAutoFit/>
          </a:bodyPr>
          <a:lstStyle/>
          <a:p>
            <a:pPr algn="l"/>
            <a:r>
              <a:rPr sz="800" b="1" i="0">
                <a:solidFill>
                  <a:srgbClr val="2E7D32"/>
                </a:solidFill>
                <a:latin typeface="Calibri"/>
              </a:rPr>
              <a:t>MV101=CLOSED AND P101=OFF
(300mm &lt; LIT101 &lt; 850mm)</a:t>
            </a:r>
          </a:p>
        </p:txBody>
      </p:sp>
      <p:sp>
        <p:nvSpPr>
          <p:cNvPr id="86" name="TextBox 85"/>
          <p:cNvSpPr txBox="1"/>
          <p:nvPr/>
        </p:nvSpPr>
        <p:spPr>
          <a:xfrm>
            <a:off x="2862072" y="5221223"/>
            <a:ext cx="1993391" cy="384048"/>
          </a:xfrm>
          <a:prstGeom prst="rect">
            <a:avLst/>
          </a:prstGeom>
          <a:noFill/>
        </p:spPr>
        <p:txBody>
          <a:bodyPr wrap="square">
            <a:spAutoFit/>
          </a:bodyPr>
          <a:lstStyle/>
          <a:p>
            <a:pPr algn="l"/>
            <a:r>
              <a:rPr sz="800" b="1" i="0">
                <a:solidFill>
                  <a:srgbClr val="2E7D32"/>
                </a:solidFill>
                <a:latin typeface="Calibri"/>
              </a:rPr>
              <a:t>VIOLATION — Phase 1 attack
detected in &lt;1 second</a:t>
            </a:r>
          </a:p>
        </p:txBody>
      </p:sp>
      <p:sp>
        <p:nvSpPr>
          <p:cNvPr id="87" name="TextBox 86"/>
          <p:cNvSpPr txBox="1"/>
          <p:nvPr/>
        </p:nvSpPr>
        <p:spPr>
          <a:xfrm>
            <a:off x="4965192" y="5221223"/>
            <a:ext cx="2971800" cy="384048"/>
          </a:xfrm>
          <a:prstGeom prst="rect">
            <a:avLst/>
          </a:prstGeom>
          <a:noFill/>
        </p:spPr>
        <p:txBody>
          <a:bodyPr wrap="square">
            <a:spAutoFit/>
          </a:bodyPr>
          <a:lstStyle/>
          <a:p>
            <a:pPr algn="l"/>
            <a:r>
              <a:rPr sz="800" b="0" i="0">
                <a:solidFill>
                  <a:srgbClr val="1A1A1A"/>
                </a:solidFill>
                <a:latin typeface="Calibri"/>
              </a:rPr>
              <a:t>Both off simultaneously in normal operating range is impossible in SWaT. Direct signature of compromised HMI attack.</a:t>
            </a:r>
          </a:p>
        </p:txBody>
      </p:sp>
      <p:sp>
        <p:nvSpPr>
          <p:cNvPr id="88" name="Rectangle 87"/>
          <p:cNvSpPr/>
          <p:nvPr/>
        </p:nvSpPr>
        <p:spPr>
          <a:xfrm>
            <a:off x="320040" y="4983479"/>
            <a:ext cx="2377440" cy="2011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8328" y="5084064"/>
            <a:ext cx="2340864" cy="182880"/>
          </a:xfrm>
          <a:prstGeom prst="rect">
            <a:avLst/>
          </a:prstGeom>
          <a:noFill/>
        </p:spPr>
        <p:txBody>
          <a:bodyPr wrap="square">
            <a:spAutoFit/>
          </a:bodyPr>
          <a:lstStyle/>
          <a:p>
            <a:pPr algn="l"/>
            <a:r>
              <a:rPr sz="750" b="1" i="0">
                <a:solidFill>
                  <a:srgbClr val="FFFFFF"/>
                </a:solidFill>
                <a:latin typeface="Calibri"/>
              </a:rPr>
              <a:t>★  NEW — Discovered via simulator testing</a:t>
            </a:r>
          </a:p>
        </p:txBody>
      </p:sp>
      <p:sp>
        <p:nvSpPr>
          <p:cNvPr id="90" name="TextBox 89"/>
          <p:cNvSpPr txBox="1"/>
          <p:nvPr/>
        </p:nvSpPr>
        <p:spPr>
          <a:xfrm>
            <a:off x="320040" y="5733288"/>
            <a:ext cx="11521440" cy="320040"/>
          </a:xfrm>
          <a:prstGeom prst="rect">
            <a:avLst/>
          </a:prstGeom>
          <a:noFill/>
        </p:spPr>
        <p:txBody>
          <a:bodyPr wrap="square">
            <a:spAutoFit/>
          </a:bodyPr>
          <a:lstStyle/>
          <a:p>
            <a:pPr algn="l"/>
            <a:r>
              <a:rPr sz="900" b="0" i="1">
                <a:solidFill>
                  <a:srgbClr val="2E7D32"/>
                </a:solidFill>
                <a:latin typeface="Calibri"/>
              </a:rPr>
              <a:t>I-9 catches the Phase 1 attack immediately (&lt;1s) — without it, detection requires LIT101 to drop below 250mm (hours). Discovered empirically via PLC simulator testing.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976D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LAYER 2</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Layer 2 — Reconstruction Autoencoder</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Trained on normal SWaT data — flags deviations from learned correlations</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1976D2"/>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976D2"/>
                </a:solidFill>
                <a:latin typeface="Calibri" pitchFamily="34" charset="0"/>
                <a:ea typeface="Calibri" pitchFamily="34" charset="-122"/>
                <a:cs typeface="Calibri" pitchFamily="34" charset="-120"/>
              </a:rPr>
              <a:t>Architecture</a:t>
            </a:r>
            <a:endParaRPr lang="en-US" sz="1100" dirty="0"/>
          </a:p>
        </p:txBody>
      </p:sp>
      <p:sp>
        <p:nvSpPr>
          <p:cNvPr id="13" name="Text 11"/>
          <p:cNvSpPr/>
          <p:nvPr/>
        </p:nvSpPr>
        <p:spPr>
          <a:xfrm>
            <a:off x="502920" y="182880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Input (20 dims = 2 features × 10 window) → Linear(32)→ReLU → Linear(16)→ReLU → Latent(8) → Linear(16)→ReLU → Linear(32)→ReLU → Output.</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1976D2"/>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1976D2"/>
                </a:solidFill>
                <a:latin typeface="Calibri" pitchFamily="34" charset="0"/>
                <a:ea typeface="Calibri" pitchFamily="34" charset="-122"/>
                <a:cs typeface="Calibri" pitchFamily="34" charset="-120"/>
              </a:rPr>
              <a:t>Training</a:t>
            </a:r>
            <a:endParaRPr lang="en-US" sz="1100" dirty="0"/>
          </a:p>
        </p:txBody>
      </p:sp>
      <p:sp>
        <p:nvSpPr>
          <p:cNvPr id="17" name="Text 15"/>
          <p:cNvSpPr/>
          <p:nvPr/>
        </p:nvSpPr>
        <p:spPr>
          <a:xfrm>
            <a:off x="502920" y="310896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Dataset: 19-Feb-2026_0930_1735.csv (29,153 samples, 8.1 hours). Features: LIT101.Pv, AI_FIT_101_FLOW. 500 epochs, Adam lr=1e-3. Final loss: 0.001346. Threshold: 0.000950.</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1976D2"/>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1976D2"/>
                </a:solidFill>
                <a:latin typeface="Calibri" pitchFamily="34" charset="0"/>
                <a:ea typeface="Calibri" pitchFamily="34" charset="-122"/>
                <a:cs typeface="Calibri" pitchFamily="34" charset="-120"/>
              </a:rPr>
              <a:t>Why AE Alone Fails (Paper #31)</a:t>
            </a:r>
            <a:endParaRPr lang="en-US" sz="1100" dirty="0"/>
          </a:p>
        </p:txBody>
      </p:sp>
      <p:sp>
        <p:nvSpPr>
          <p:cNvPr id="21" name="Text 19"/>
          <p:cNvSpPr/>
          <p:nvPr/>
        </p:nvSpPr>
        <p:spPr>
          <a:xfrm>
            <a:off x="502920" y="438912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Adversarial model trained to minimise victim AE reconstruction error. Perturbation δ constrained to ||δ||∞ ≤ 0.1. Bypasses AE in ~94% of cycles. Layer 1 invariant catches what AE misses.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6510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LAYER 3</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Layer 3 — Decision Fusion &amp; Alert</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Combines both signals — minimises false positives while maximising coverage</a:t>
            </a:r>
            <a:endParaRPr lang="en-US" sz="1200" dirty="0"/>
          </a:p>
        </p:txBody>
      </p:sp>
      <p:sp>
        <p:nvSpPr>
          <p:cNvPr id="10" name="Shape 8"/>
          <p:cNvSpPr/>
          <p:nvPr/>
        </p:nvSpPr>
        <p:spPr>
          <a:xfrm>
            <a:off x="320040" y="1417320"/>
            <a:ext cx="2011680" cy="320040"/>
          </a:xfrm>
          <a:prstGeom prst="rect">
            <a:avLst/>
          </a:prstGeom>
          <a:solidFill>
            <a:srgbClr val="E8243C"/>
          </a:solidFill>
          <a:ln w="12700">
            <a:solidFill>
              <a:srgbClr val="E0E0E0"/>
            </a:solidFill>
            <a:prstDash val="solid"/>
          </a:ln>
        </p:spPr>
      </p:sp>
      <p:sp>
        <p:nvSpPr>
          <p:cNvPr id="11" name="Text 9"/>
          <p:cNvSpPr/>
          <p:nvPr/>
        </p:nvSpPr>
        <p:spPr>
          <a:xfrm>
            <a:off x="393192" y="1417320"/>
            <a:ext cx="186537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inv_flag</a:t>
            </a:r>
            <a:endParaRPr lang="en-US" sz="900" dirty="0"/>
          </a:p>
        </p:txBody>
      </p:sp>
      <p:sp>
        <p:nvSpPr>
          <p:cNvPr id="12" name="Shape 10"/>
          <p:cNvSpPr/>
          <p:nvPr/>
        </p:nvSpPr>
        <p:spPr>
          <a:xfrm>
            <a:off x="2331720" y="1417320"/>
            <a:ext cx="1828800" cy="320040"/>
          </a:xfrm>
          <a:prstGeom prst="rect">
            <a:avLst/>
          </a:prstGeom>
          <a:solidFill>
            <a:srgbClr val="E8243C"/>
          </a:solidFill>
          <a:ln w="12700">
            <a:solidFill>
              <a:srgbClr val="E0E0E0"/>
            </a:solidFill>
            <a:prstDash val="solid"/>
          </a:ln>
        </p:spPr>
      </p:sp>
      <p:sp>
        <p:nvSpPr>
          <p:cNvPr id="13" name="Text 11"/>
          <p:cNvSpPr/>
          <p:nvPr/>
        </p:nvSpPr>
        <p:spPr>
          <a:xfrm>
            <a:off x="2404872" y="1417320"/>
            <a:ext cx="16824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ae_flag</a:t>
            </a:r>
            <a:endParaRPr lang="en-US" sz="900" dirty="0"/>
          </a:p>
        </p:txBody>
      </p:sp>
      <p:sp>
        <p:nvSpPr>
          <p:cNvPr id="14" name="Shape 12"/>
          <p:cNvSpPr/>
          <p:nvPr/>
        </p:nvSpPr>
        <p:spPr>
          <a:xfrm>
            <a:off x="4160520" y="1417320"/>
            <a:ext cx="640080" cy="320040"/>
          </a:xfrm>
          <a:prstGeom prst="rect">
            <a:avLst/>
          </a:prstGeom>
          <a:solidFill>
            <a:srgbClr val="E8243C"/>
          </a:solidFill>
          <a:ln w="12700">
            <a:solidFill>
              <a:srgbClr val="E0E0E0"/>
            </a:solidFill>
            <a:prstDash val="solid"/>
          </a:ln>
        </p:spPr>
      </p:sp>
      <p:sp>
        <p:nvSpPr>
          <p:cNvPr id="15" name="Text 13"/>
          <p:cNvSpPr/>
          <p:nvPr/>
        </p:nvSpPr>
        <p:spPr>
          <a:xfrm>
            <a:off x="4233672" y="1417320"/>
            <a:ext cx="49377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Score</a:t>
            </a:r>
            <a:endParaRPr lang="en-US" sz="900" dirty="0"/>
          </a:p>
        </p:txBody>
      </p:sp>
      <p:sp>
        <p:nvSpPr>
          <p:cNvPr id="16" name="Shape 14"/>
          <p:cNvSpPr/>
          <p:nvPr/>
        </p:nvSpPr>
        <p:spPr>
          <a:xfrm>
            <a:off x="4800600" y="1417320"/>
            <a:ext cx="1828800" cy="320040"/>
          </a:xfrm>
          <a:prstGeom prst="rect">
            <a:avLst/>
          </a:prstGeom>
          <a:solidFill>
            <a:srgbClr val="E8243C"/>
          </a:solidFill>
          <a:ln w="12700">
            <a:solidFill>
              <a:srgbClr val="E0E0E0"/>
            </a:solidFill>
            <a:prstDash val="solid"/>
          </a:ln>
        </p:spPr>
      </p:sp>
      <p:sp>
        <p:nvSpPr>
          <p:cNvPr id="17" name="Text 15"/>
          <p:cNvSpPr/>
          <p:nvPr/>
        </p:nvSpPr>
        <p:spPr>
          <a:xfrm>
            <a:off x="4873752" y="1417320"/>
            <a:ext cx="16824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p:txBody>
      </p:sp>
      <p:sp>
        <p:nvSpPr>
          <p:cNvPr id="18" name="Shape 16"/>
          <p:cNvSpPr/>
          <p:nvPr/>
        </p:nvSpPr>
        <p:spPr>
          <a:xfrm>
            <a:off x="6629400" y="1417320"/>
            <a:ext cx="3081528" cy="320040"/>
          </a:xfrm>
          <a:prstGeom prst="rect">
            <a:avLst/>
          </a:prstGeom>
          <a:solidFill>
            <a:srgbClr val="E8243C"/>
          </a:solidFill>
          <a:ln w="12700">
            <a:solidFill>
              <a:srgbClr val="E0E0E0"/>
            </a:solidFill>
            <a:prstDash val="solid"/>
          </a:ln>
        </p:spPr>
      </p:sp>
      <p:sp>
        <p:nvSpPr>
          <p:cNvPr id="19" name="Text 17"/>
          <p:cNvSpPr/>
          <p:nvPr/>
        </p:nvSpPr>
        <p:spPr>
          <a:xfrm>
            <a:off x="6702552" y="1417320"/>
            <a:ext cx="2935224"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p>
        </p:txBody>
      </p:sp>
      <p:sp>
        <p:nvSpPr>
          <p:cNvPr id="20" name="Shape 18"/>
          <p:cNvSpPr/>
          <p:nvPr/>
        </p:nvSpPr>
        <p:spPr>
          <a:xfrm>
            <a:off x="320040" y="1737360"/>
            <a:ext cx="2011680" cy="320040"/>
          </a:xfrm>
          <a:prstGeom prst="rect">
            <a:avLst/>
          </a:prstGeom>
          <a:solidFill>
            <a:srgbClr val="F5F5F5"/>
          </a:solidFill>
          <a:ln w="12700">
            <a:solidFill>
              <a:srgbClr val="E0E0E0"/>
            </a:solidFill>
            <a:prstDash val="solid"/>
          </a:ln>
        </p:spPr>
      </p:sp>
      <p:sp>
        <p:nvSpPr>
          <p:cNvPr id="21" name="Text 19"/>
          <p:cNvSpPr/>
          <p:nvPr/>
        </p:nvSpPr>
        <p:spPr>
          <a:xfrm>
            <a:off x="393192" y="17373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TRIGGERED</a:t>
            </a:r>
            <a:endParaRPr lang="en-US" sz="900" dirty="0"/>
          </a:p>
        </p:txBody>
      </p:sp>
      <p:sp>
        <p:nvSpPr>
          <p:cNvPr id="22" name="Shape 20"/>
          <p:cNvSpPr/>
          <p:nvPr/>
        </p:nvSpPr>
        <p:spPr>
          <a:xfrm>
            <a:off x="2331720" y="1737360"/>
            <a:ext cx="1828800" cy="320040"/>
          </a:xfrm>
          <a:prstGeom prst="rect">
            <a:avLst/>
          </a:prstGeom>
          <a:solidFill>
            <a:srgbClr val="F5F5F5"/>
          </a:solidFill>
          <a:ln w="12700">
            <a:solidFill>
              <a:srgbClr val="E0E0E0"/>
            </a:solidFill>
            <a:prstDash val="solid"/>
          </a:ln>
        </p:spPr>
      </p:sp>
      <p:sp>
        <p:nvSpPr>
          <p:cNvPr id="23" name="Text 21"/>
          <p:cNvSpPr/>
          <p:nvPr/>
        </p:nvSpPr>
        <p:spPr>
          <a:xfrm>
            <a:off x="2404872" y="1737360"/>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TRIGGERED</a:t>
            </a:r>
            <a:endParaRPr lang="en-US" sz="900" dirty="0"/>
          </a:p>
        </p:txBody>
      </p:sp>
      <p:sp>
        <p:nvSpPr>
          <p:cNvPr id="24" name="Shape 22"/>
          <p:cNvSpPr/>
          <p:nvPr/>
        </p:nvSpPr>
        <p:spPr>
          <a:xfrm>
            <a:off x="4160520" y="1737360"/>
            <a:ext cx="640080" cy="320040"/>
          </a:xfrm>
          <a:prstGeom prst="rect">
            <a:avLst/>
          </a:prstGeom>
          <a:solidFill>
            <a:srgbClr val="F5F5F5"/>
          </a:solidFill>
          <a:ln w="12700">
            <a:solidFill>
              <a:srgbClr val="E0E0E0"/>
            </a:solidFill>
            <a:prstDash val="solid"/>
          </a:ln>
        </p:spPr>
      </p:sp>
      <p:sp>
        <p:nvSpPr>
          <p:cNvPr id="25" name="Text 23"/>
          <p:cNvSpPr/>
          <p:nvPr/>
        </p:nvSpPr>
        <p:spPr>
          <a:xfrm>
            <a:off x="4233672" y="1737360"/>
            <a:ext cx="4937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2.5</a:t>
            </a:r>
            <a:endParaRPr lang="en-US" sz="900" dirty="0"/>
          </a:p>
        </p:txBody>
      </p:sp>
      <p:sp>
        <p:nvSpPr>
          <p:cNvPr id="26" name="Shape 24"/>
          <p:cNvSpPr/>
          <p:nvPr/>
        </p:nvSpPr>
        <p:spPr>
          <a:xfrm>
            <a:off x="4800600" y="1737360"/>
            <a:ext cx="1828800" cy="320040"/>
          </a:xfrm>
          <a:prstGeom prst="rect">
            <a:avLst/>
          </a:prstGeom>
          <a:solidFill>
            <a:srgbClr val="F5F5F5"/>
          </a:solidFill>
          <a:ln w="12700">
            <a:solidFill>
              <a:srgbClr val="E0E0E0"/>
            </a:solidFill>
            <a:prstDash val="solid"/>
          </a:ln>
        </p:spPr>
      </p:sp>
      <p:sp>
        <p:nvSpPr>
          <p:cNvPr id="27" name="Text 25"/>
          <p:cNvSpPr/>
          <p:nvPr/>
        </p:nvSpPr>
        <p:spPr>
          <a:xfrm>
            <a:off x="4873752" y="1737360"/>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ALERT HIGH</a:t>
            </a:r>
            <a:endParaRPr lang="en-US" sz="900" dirty="0"/>
          </a:p>
        </p:txBody>
      </p:sp>
      <p:sp>
        <p:nvSpPr>
          <p:cNvPr id="28" name="Shape 26"/>
          <p:cNvSpPr/>
          <p:nvPr/>
        </p:nvSpPr>
        <p:spPr>
          <a:xfrm>
            <a:off x="6629400" y="1737360"/>
            <a:ext cx="3081528" cy="320040"/>
          </a:xfrm>
          <a:prstGeom prst="rect">
            <a:avLst/>
          </a:prstGeom>
          <a:solidFill>
            <a:srgbClr val="F5F5F5"/>
          </a:solidFill>
          <a:ln w="12700">
            <a:solidFill>
              <a:srgbClr val="E0E0E0"/>
            </a:solidFill>
            <a:prstDash val="solid"/>
          </a:ln>
        </p:spPr>
      </p:sp>
      <p:sp>
        <p:nvSpPr>
          <p:cNvPr id="29" name="Text 27"/>
          <p:cNvSpPr/>
          <p:nvPr/>
        </p:nvSpPr>
        <p:spPr>
          <a:xfrm>
            <a:off x="6702552" y="1737360"/>
            <a:ext cx="29352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Full recovery pipeline</a:t>
            </a:r>
            <a:endParaRPr lang="en-US" sz="900" dirty="0"/>
          </a:p>
        </p:txBody>
      </p:sp>
      <p:sp>
        <p:nvSpPr>
          <p:cNvPr id="30" name="Shape 28"/>
          <p:cNvSpPr/>
          <p:nvPr/>
        </p:nvSpPr>
        <p:spPr>
          <a:xfrm>
            <a:off x="320040" y="2176272"/>
            <a:ext cx="2011680" cy="320040"/>
          </a:xfrm>
          <a:prstGeom prst="rect">
            <a:avLst/>
          </a:prstGeom>
          <a:solidFill>
            <a:srgbClr val="F5F5F5"/>
          </a:solidFill>
          <a:ln w="12700">
            <a:solidFill>
              <a:srgbClr val="E0E0E0"/>
            </a:solidFill>
            <a:prstDash val="solid"/>
          </a:ln>
        </p:spPr>
      </p:sp>
      <p:sp>
        <p:nvSpPr>
          <p:cNvPr id="31" name="Text 29"/>
          <p:cNvSpPr/>
          <p:nvPr/>
        </p:nvSpPr>
        <p:spPr>
          <a:xfrm>
            <a:off x="393192" y="2176272"/>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TRIGGERED</a:t>
            </a:r>
            <a:endParaRPr lang="en-US" sz="900" dirty="0"/>
          </a:p>
        </p:txBody>
      </p:sp>
      <p:sp>
        <p:nvSpPr>
          <p:cNvPr id="32" name="Shape 30"/>
          <p:cNvSpPr/>
          <p:nvPr/>
        </p:nvSpPr>
        <p:spPr>
          <a:xfrm>
            <a:off x="2331720" y="2176272"/>
            <a:ext cx="1828800" cy="320040"/>
          </a:xfrm>
          <a:prstGeom prst="rect">
            <a:avLst/>
          </a:prstGeom>
          <a:solidFill>
            <a:srgbClr val="F5F5F5"/>
          </a:solidFill>
          <a:ln w="12700">
            <a:solidFill>
              <a:srgbClr val="E0E0E0"/>
            </a:solidFill>
            <a:prstDash val="solid"/>
          </a:ln>
        </p:spPr>
      </p:sp>
      <p:sp>
        <p:nvSpPr>
          <p:cNvPr id="33" name="Text 31"/>
          <p:cNvSpPr/>
          <p:nvPr/>
        </p:nvSpPr>
        <p:spPr>
          <a:xfrm>
            <a:off x="2404872" y="2176272"/>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Clean</a:t>
            </a:r>
            <a:endParaRPr lang="en-US" sz="900" dirty="0"/>
          </a:p>
        </p:txBody>
      </p:sp>
      <p:sp>
        <p:nvSpPr>
          <p:cNvPr id="34" name="Shape 32"/>
          <p:cNvSpPr/>
          <p:nvPr/>
        </p:nvSpPr>
        <p:spPr>
          <a:xfrm>
            <a:off x="4160520" y="2176272"/>
            <a:ext cx="640080" cy="320040"/>
          </a:xfrm>
          <a:prstGeom prst="rect">
            <a:avLst/>
          </a:prstGeom>
          <a:solidFill>
            <a:srgbClr val="F5F5F5"/>
          </a:solidFill>
          <a:ln w="12700">
            <a:solidFill>
              <a:srgbClr val="E0E0E0"/>
            </a:solidFill>
            <a:prstDash val="solid"/>
          </a:ln>
        </p:spPr>
      </p:sp>
      <p:sp>
        <p:nvSpPr>
          <p:cNvPr id="35" name="Text 33"/>
          <p:cNvSpPr/>
          <p:nvPr/>
        </p:nvSpPr>
        <p:spPr>
          <a:xfrm>
            <a:off x="4233672" y="2176272"/>
            <a:ext cx="4937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1.5</a:t>
            </a:r>
            <a:endParaRPr lang="en-US" sz="900" dirty="0"/>
          </a:p>
        </p:txBody>
      </p:sp>
      <p:sp>
        <p:nvSpPr>
          <p:cNvPr id="36" name="Shape 34"/>
          <p:cNvSpPr/>
          <p:nvPr/>
        </p:nvSpPr>
        <p:spPr>
          <a:xfrm>
            <a:off x="4800600" y="2176272"/>
            <a:ext cx="1828800" cy="320040"/>
          </a:xfrm>
          <a:prstGeom prst="rect">
            <a:avLst/>
          </a:prstGeom>
          <a:solidFill>
            <a:srgbClr val="F5F5F5"/>
          </a:solidFill>
          <a:ln w="12700">
            <a:solidFill>
              <a:srgbClr val="E0E0E0"/>
            </a:solidFill>
            <a:prstDash val="solid"/>
          </a:ln>
        </p:spPr>
      </p:sp>
      <p:sp>
        <p:nvSpPr>
          <p:cNvPr id="37" name="Text 35"/>
          <p:cNvSpPr/>
          <p:nvPr/>
        </p:nvSpPr>
        <p:spPr>
          <a:xfrm>
            <a:off x="4873752" y="2176272"/>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ALERT</a:t>
            </a:r>
            <a:endParaRPr lang="en-US" sz="900" dirty="0"/>
          </a:p>
        </p:txBody>
      </p:sp>
      <p:sp>
        <p:nvSpPr>
          <p:cNvPr id="38" name="Shape 36"/>
          <p:cNvSpPr/>
          <p:nvPr/>
        </p:nvSpPr>
        <p:spPr>
          <a:xfrm>
            <a:off x="6629400" y="2176272"/>
            <a:ext cx="3081528" cy="320040"/>
          </a:xfrm>
          <a:prstGeom prst="rect">
            <a:avLst/>
          </a:prstGeom>
          <a:solidFill>
            <a:srgbClr val="F5F5F5"/>
          </a:solidFill>
          <a:ln w="12700">
            <a:solidFill>
              <a:srgbClr val="E0E0E0"/>
            </a:solidFill>
            <a:prstDash val="solid"/>
          </a:ln>
        </p:spPr>
      </p:sp>
      <p:sp>
        <p:nvSpPr>
          <p:cNvPr id="39" name="Text 37"/>
          <p:cNvSpPr/>
          <p:nvPr/>
        </p:nvSpPr>
        <p:spPr>
          <a:xfrm>
            <a:off x="6702552" y="2176272"/>
            <a:ext cx="29352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Alert + log (Phase 1+2 scenario)</a:t>
            </a:r>
            <a:endParaRPr lang="en-US" sz="900" dirty="0"/>
          </a:p>
        </p:txBody>
      </p:sp>
      <p:sp>
        <p:nvSpPr>
          <p:cNvPr id="40" name="Shape 38"/>
          <p:cNvSpPr/>
          <p:nvPr/>
        </p:nvSpPr>
        <p:spPr>
          <a:xfrm>
            <a:off x="320040" y="2615184"/>
            <a:ext cx="2011680" cy="320040"/>
          </a:xfrm>
          <a:prstGeom prst="rect">
            <a:avLst/>
          </a:prstGeom>
          <a:solidFill>
            <a:srgbClr val="FFFFFF"/>
          </a:solidFill>
          <a:ln w="12700">
            <a:solidFill>
              <a:srgbClr val="E0E0E0"/>
            </a:solidFill>
            <a:prstDash val="solid"/>
          </a:ln>
        </p:spPr>
      </p:sp>
      <p:sp>
        <p:nvSpPr>
          <p:cNvPr id="41" name="Text 39"/>
          <p:cNvSpPr/>
          <p:nvPr/>
        </p:nvSpPr>
        <p:spPr>
          <a:xfrm>
            <a:off x="393192" y="2615184"/>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Clean</a:t>
            </a:r>
            <a:endParaRPr lang="en-US" sz="900" dirty="0"/>
          </a:p>
        </p:txBody>
      </p:sp>
      <p:sp>
        <p:nvSpPr>
          <p:cNvPr id="42" name="Shape 40"/>
          <p:cNvSpPr/>
          <p:nvPr/>
        </p:nvSpPr>
        <p:spPr>
          <a:xfrm>
            <a:off x="2331720" y="2615184"/>
            <a:ext cx="1828800" cy="320040"/>
          </a:xfrm>
          <a:prstGeom prst="rect">
            <a:avLst/>
          </a:prstGeom>
          <a:solidFill>
            <a:srgbClr val="FFFFFF"/>
          </a:solidFill>
          <a:ln w="12700">
            <a:solidFill>
              <a:srgbClr val="E0E0E0"/>
            </a:solidFill>
            <a:prstDash val="solid"/>
          </a:ln>
        </p:spPr>
      </p:sp>
      <p:sp>
        <p:nvSpPr>
          <p:cNvPr id="43" name="Text 41"/>
          <p:cNvSpPr/>
          <p:nvPr/>
        </p:nvSpPr>
        <p:spPr>
          <a:xfrm>
            <a:off x="2404872" y="2615184"/>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TRIGGERED</a:t>
            </a:r>
            <a:endParaRPr lang="en-US" sz="900" dirty="0"/>
          </a:p>
        </p:txBody>
      </p:sp>
      <p:sp>
        <p:nvSpPr>
          <p:cNvPr id="44" name="Shape 42"/>
          <p:cNvSpPr/>
          <p:nvPr/>
        </p:nvSpPr>
        <p:spPr>
          <a:xfrm>
            <a:off x="4160520" y="2615184"/>
            <a:ext cx="640080" cy="320040"/>
          </a:xfrm>
          <a:prstGeom prst="rect">
            <a:avLst/>
          </a:prstGeom>
          <a:solidFill>
            <a:srgbClr val="FFFFFF"/>
          </a:solidFill>
          <a:ln w="12700">
            <a:solidFill>
              <a:srgbClr val="E0E0E0"/>
            </a:solidFill>
            <a:prstDash val="solid"/>
          </a:ln>
        </p:spPr>
      </p:sp>
      <p:sp>
        <p:nvSpPr>
          <p:cNvPr id="45" name="Text 43"/>
          <p:cNvSpPr/>
          <p:nvPr/>
        </p:nvSpPr>
        <p:spPr>
          <a:xfrm>
            <a:off x="4233672" y="2615184"/>
            <a:ext cx="4937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1.0</a:t>
            </a:r>
            <a:endParaRPr lang="en-US" sz="900" dirty="0"/>
          </a:p>
        </p:txBody>
      </p:sp>
      <p:sp>
        <p:nvSpPr>
          <p:cNvPr id="46" name="Shape 44"/>
          <p:cNvSpPr/>
          <p:nvPr/>
        </p:nvSpPr>
        <p:spPr>
          <a:xfrm>
            <a:off x="4800600" y="2615184"/>
            <a:ext cx="1828800" cy="320040"/>
          </a:xfrm>
          <a:prstGeom prst="rect">
            <a:avLst/>
          </a:prstGeom>
          <a:solidFill>
            <a:srgbClr val="FFFFFF"/>
          </a:solidFill>
          <a:ln w="12700">
            <a:solidFill>
              <a:srgbClr val="E0E0E0"/>
            </a:solidFill>
            <a:prstDash val="solid"/>
          </a:ln>
        </p:spPr>
      </p:sp>
      <p:sp>
        <p:nvSpPr>
          <p:cNvPr id="47" name="Text 45"/>
          <p:cNvSpPr/>
          <p:nvPr/>
        </p:nvSpPr>
        <p:spPr>
          <a:xfrm>
            <a:off x="4873752" y="2615184"/>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WARN</a:t>
            </a:r>
            <a:endParaRPr lang="en-US" sz="900" dirty="0"/>
          </a:p>
        </p:txBody>
      </p:sp>
      <p:sp>
        <p:nvSpPr>
          <p:cNvPr id="48" name="Shape 46"/>
          <p:cNvSpPr/>
          <p:nvPr/>
        </p:nvSpPr>
        <p:spPr>
          <a:xfrm>
            <a:off x="6629400" y="2615184"/>
            <a:ext cx="3081528" cy="320040"/>
          </a:xfrm>
          <a:prstGeom prst="rect">
            <a:avLst/>
          </a:prstGeom>
          <a:solidFill>
            <a:srgbClr val="FFFFFF"/>
          </a:solidFill>
          <a:ln w="12700">
            <a:solidFill>
              <a:srgbClr val="E0E0E0"/>
            </a:solidFill>
            <a:prstDash val="solid"/>
          </a:ln>
        </p:spPr>
      </p:sp>
      <p:sp>
        <p:nvSpPr>
          <p:cNvPr id="49" name="Text 47"/>
          <p:cNvSpPr/>
          <p:nvPr/>
        </p:nvSpPr>
        <p:spPr>
          <a:xfrm>
            <a:off x="6702552" y="2615184"/>
            <a:ext cx="29352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Investigate — possible drift</a:t>
            </a:r>
            <a:endParaRPr lang="en-US" sz="900" dirty="0"/>
          </a:p>
        </p:txBody>
      </p:sp>
      <p:sp>
        <p:nvSpPr>
          <p:cNvPr id="50" name="Shape 48"/>
          <p:cNvSpPr/>
          <p:nvPr/>
        </p:nvSpPr>
        <p:spPr>
          <a:xfrm>
            <a:off x="320040" y="3054096"/>
            <a:ext cx="2011680" cy="320040"/>
          </a:xfrm>
          <a:prstGeom prst="rect">
            <a:avLst/>
          </a:prstGeom>
          <a:solidFill>
            <a:srgbClr val="F5F5F5"/>
          </a:solidFill>
          <a:ln w="12700">
            <a:solidFill>
              <a:srgbClr val="E0E0E0"/>
            </a:solidFill>
            <a:prstDash val="solid"/>
          </a:ln>
        </p:spPr>
      </p:sp>
      <p:sp>
        <p:nvSpPr>
          <p:cNvPr id="51" name="Text 49"/>
          <p:cNvSpPr/>
          <p:nvPr/>
        </p:nvSpPr>
        <p:spPr>
          <a:xfrm>
            <a:off x="393192" y="3054096"/>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Clean</a:t>
            </a:r>
            <a:endParaRPr lang="en-US" sz="900" dirty="0"/>
          </a:p>
        </p:txBody>
      </p:sp>
      <p:sp>
        <p:nvSpPr>
          <p:cNvPr id="52" name="Shape 50"/>
          <p:cNvSpPr/>
          <p:nvPr/>
        </p:nvSpPr>
        <p:spPr>
          <a:xfrm>
            <a:off x="2331720" y="3054096"/>
            <a:ext cx="1828800" cy="320040"/>
          </a:xfrm>
          <a:prstGeom prst="rect">
            <a:avLst/>
          </a:prstGeom>
          <a:solidFill>
            <a:srgbClr val="F5F5F5"/>
          </a:solidFill>
          <a:ln w="12700">
            <a:solidFill>
              <a:srgbClr val="E0E0E0"/>
            </a:solidFill>
            <a:prstDash val="solid"/>
          </a:ln>
        </p:spPr>
      </p:sp>
      <p:sp>
        <p:nvSpPr>
          <p:cNvPr id="53" name="Text 51"/>
          <p:cNvSpPr/>
          <p:nvPr/>
        </p:nvSpPr>
        <p:spPr>
          <a:xfrm>
            <a:off x="2404872" y="3054096"/>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Clean</a:t>
            </a:r>
            <a:endParaRPr lang="en-US" sz="900" dirty="0"/>
          </a:p>
        </p:txBody>
      </p:sp>
      <p:sp>
        <p:nvSpPr>
          <p:cNvPr id="54" name="Shape 52"/>
          <p:cNvSpPr/>
          <p:nvPr/>
        </p:nvSpPr>
        <p:spPr>
          <a:xfrm>
            <a:off x="4160520" y="3054096"/>
            <a:ext cx="640080" cy="320040"/>
          </a:xfrm>
          <a:prstGeom prst="rect">
            <a:avLst/>
          </a:prstGeom>
          <a:solidFill>
            <a:srgbClr val="F5F5F5"/>
          </a:solidFill>
          <a:ln w="12700">
            <a:solidFill>
              <a:srgbClr val="E0E0E0"/>
            </a:solidFill>
            <a:prstDash val="solid"/>
          </a:ln>
        </p:spPr>
      </p:sp>
      <p:sp>
        <p:nvSpPr>
          <p:cNvPr id="55" name="Text 53"/>
          <p:cNvSpPr/>
          <p:nvPr/>
        </p:nvSpPr>
        <p:spPr>
          <a:xfrm>
            <a:off x="4233672" y="3054096"/>
            <a:ext cx="4937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0.0</a:t>
            </a:r>
            <a:endParaRPr lang="en-US" sz="900" dirty="0"/>
          </a:p>
        </p:txBody>
      </p:sp>
      <p:sp>
        <p:nvSpPr>
          <p:cNvPr id="56" name="Shape 54"/>
          <p:cNvSpPr/>
          <p:nvPr/>
        </p:nvSpPr>
        <p:spPr>
          <a:xfrm>
            <a:off x="4800600" y="3054096"/>
            <a:ext cx="1828800" cy="320040"/>
          </a:xfrm>
          <a:prstGeom prst="rect">
            <a:avLst/>
          </a:prstGeom>
          <a:solidFill>
            <a:srgbClr val="F5F5F5"/>
          </a:solidFill>
          <a:ln w="12700">
            <a:solidFill>
              <a:srgbClr val="E0E0E0"/>
            </a:solidFill>
            <a:prstDash val="solid"/>
          </a:ln>
        </p:spPr>
      </p:sp>
      <p:sp>
        <p:nvSpPr>
          <p:cNvPr id="57" name="Text 55"/>
          <p:cNvSpPr/>
          <p:nvPr/>
        </p:nvSpPr>
        <p:spPr>
          <a:xfrm>
            <a:off x="4873752" y="3054096"/>
            <a:ext cx="16824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NORMAL</a:t>
            </a:r>
            <a:endParaRPr lang="en-US" sz="900" dirty="0"/>
          </a:p>
        </p:txBody>
      </p:sp>
      <p:sp>
        <p:nvSpPr>
          <p:cNvPr id="58" name="Shape 56"/>
          <p:cNvSpPr/>
          <p:nvPr/>
        </p:nvSpPr>
        <p:spPr>
          <a:xfrm>
            <a:off x="6629400" y="3054096"/>
            <a:ext cx="3081528" cy="320040"/>
          </a:xfrm>
          <a:prstGeom prst="rect">
            <a:avLst/>
          </a:prstGeom>
          <a:solidFill>
            <a:srgbClr val="F5F5F5"/>
          </a:solidFill>
          <a:ln w="12700">
            <a:solidFill>
              <a:srgbClr val="E0E0E0"/>
            </a:solidFill>
            <a:prstDash val="solid"/>
          </a:ln>
        </p:spPr>
      </p:sp>
      <p:sp>
        <p:nvSpPr>
          <p:cNvPr id="59" name="Text 57"/>
          <p:cNvSpPr/>
          <p:nvPr/>
        </p:nvSpPr>
        <p:spPr>
          <a:xfrm>
            <a:off x="6702552" y="3054096"/>
            <a:ext cx="29352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Continue normal operation</a:t>
            </a:r>
            <a:endParaRPr lang="en-US" sz="900" dirty="0"/>
          </a:p>
        </p:txBody>
      </p:sp>
      <p:sp>
        <p:nvSpPr>
          <p:cNvPr id="60" name="Shape 58"/>
          <p:cNvSpPr/>
          <p:nvPr/>
        </p:nvSpPr>
        <p:spPr>
          <a:xfrm>
            <a:off x="320040" y="3611880"/>
            <a:ext cx="5486400" cy="1371600"/>
          </a:xfrm>
          <a:prstGeom prst="rect">
            <a:avLst/>
          </a:prstGeom>
          <a:solidFill>
            <a:srgbClr val="F5F5F5"/>
          </a:solidFill>
          <a:ln w="12700">
            <a:solidFill>
              <a:srgbClr val="E0E0E0"/>
            </a:solidFill>
            <a:prstDash val="solid"/>
          </a:ln>
        </p:spPr>
      </p:sp>
      <p:sp>
        <p:nvSpPr>
          <p:cNvPr id="61" name="Text 59"/>
          <p:cNvSpPr/>
          <p:nvPr/>
        </p:nvSpPr>
        <p:spPr>
          <a:xfrm>
            <a:off x="457200" y="3675888"/>
            <a:ext cx="5212080" cy="274320"/>
          </a:xfrm>
          <a:prstGeom prst="rect">
            <a:avLst/>
          </a:prstGeom>
          <a:noFill/>
          <a:ln/>
        </p:spPr>
        <p:txBody>
          <a:bodyPr wrap="square"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Fusion Formula</a:t>
            </a:r>
            <a:endParaRPr lang="en-US" sz="1200" dirty="0"/>
          </a:p>
        </p:txBody>
      </p:sp>
      <p:sp>
        <p:nvSpPr>
          <p:cNvPr id="62" name="Text 60"/>
          <p:cNvSpPr/>
          <p:nvPr/>
        </p:nvSpPr>
        <p:spPr>
          <a:xfrm>
            <a:off x="457200" y="3977640"/>
            <a:ext cx="5212080" cy="640080"/>
          </a:xfrm>
          <a:prstGeom prst="rect">
            <a:avLst/>
          </a:prstGeom>
          <a:noFill/>
          <a:ln/>
        </p:spPr>
        <p:txBody>
          <a:bodyPr wrap="square" rtlCol="0" anchor="ctr"/>
          <a:lstStyle/>
          <a:p>
            <a:pPr indent="0" marL="0">
              <a:buNone/>
            </a:pPr>
            <a:r>
              <a:rPr lang="en-US" sz="1200" dirty="0">
                <a:solidFill>
                  <a:srgbClr val="E65100"/>
                </a:solidFill>
                <a:latin typeface="Courier New" pitchFamily="34" charset="0"/>
                <a:ea typeface="Courier New" pitchFamily="34" charset="-122"/>
                <a:cs typeface="Courier New" pitchFamily="34" charset="-120"/>
              </a:rPr>
              <a:t>score = 1.5 × inv_flag + 1.0 × ae_flag</a:t>
            </a:r>
            <a:endParaRPr lang="en-US" sz="1200" dirty="0"/>
          </a:p>
          <a:p>
            <a:pPr indent="0" marL="0">
              <a:buNone/>
            </a:pPr>
            <a:r>
              <a:rPr lang="en-US" sz="1200" dirty="0">
                <a:solidFill>
                  <a:srgbClr val="E65100"/>
                </a:solidFill>
                <a:latin typeface="Courier New" pitchFamily="34" charset="0"/>
                <a:ea typeface="Courier New" pitchFamily="34" charset="-122"/>
                <a:cs typeface="Courier New" pitchFamily="34" charset="-120"/>
              </a:rPr>
              <a:t>ALERT if score ≥ 1.5 for 3 consecutive cycles</a:t>
            </a:r>
            <a:endParaRPr lang="en-US" sz="1200" dirty="0"/>
          </a:p>
        </p:txBody>
      </p:sp>
      <p:sp>
        <p:nvSpPr>
          <p:cNvPr id="63" name="Shape 61"/>
          <p:cNvSpPr/>
          <p:nvPr/>
        </p:nvSpPr>
        <p:spPr>
          <a:xfrm>
            <a:off x="5989320" y="3611880"/>
            <a:ext cx="5852160" cy="1371600"/>
          </a:xfrm>
          <a:prstGeom prst="rect">
            <a:avLst/>
          </a:prstGeom>
          <a:solidFill>
            <a:srgbClr val="F5F5F5"/>
          </a:solidFill>
          <a:ln w="12700">
            <a:solidFill>
              <a:srgbClr val="E0E0E0"/>
            </a:solidFill>
            <a:prstDash val="solid"/>
          </a:ln>
        </p:spPr>
      </p:sp>
      <p:sp>
        <p:nvSpPr>
          <p:cNvPr id="64" name="Text 62"/>
          <p:cNvSpPr/>
          <p:nvPr/>
        </p:nvSpPr>
        <p:spPr>
          <a:xfrm>
            <a:off x="6126480" y="3675888"/>
            <a:ext cx="5577840" cy="274320"/>
          </a:xfrm>
          <a:prstGeom prst="rect">
            <a:avLst/>
          </a:prstGeom>
          <a:noFill/>
          <a:ln/>
        </p:spPr>
        <p:txBody>
          <a:bodyPr wrap="square" rtlCol="0" anchor="ctr"/>
          <a:lstStyle/>
          <a:p>
            <a:pPr indent="0" marL="0">
              <a:buNone/>
            </a:pPr>
            <a:r>
              <a:rPr lang="en-US" sz="1200" b="1" dirty="0">
                <a:solidFill>
                  <a:srgbClr val="2D2D2D"/>
                </a:solidFill>
                <a:latin typeface="Calibri" pitchFamily="34" charset="0"/>
                <a:ea typeface="Calibri" pitchFamily="34" charset="-122"/>
                <a:cs typeface="Calibri" pitchFamily="34" charset="-120"/>
              </a:rPr>
              <a:t>Timing (SWaT)</a:t>
            </a:r>
            <a:endParaRPr lang="en-US" sz="1200" dirty="0"/>
          </a:p>
        </p:txBody>
      </p:sp>
      <p:sp>
        <p:nvSpPr>
          <p:cNvPr id="65" name="Text 63"/>
          <p:cNvSpPr/>
          <p:nvPr/>
        </p:nvSpPr>
        <p:spPr>
          <a:xfrm>
            <a:off x="6126480" y="3977640"/>
            <a:ext cx="5577840"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  PLC polling: 1–2 seconds</a:t>
            </a:r>
            <a:endParaRPr lang="en-US" sz="1000" dirty="0"/>
          </a:p>
        </p:txBody>
      </p:sp>
      <p:sp>
        <p:nvSpPr>
          <p:cNvPr id="66" name="Text 64"/>
          <p:cNvSpPr/>
          <p:nvPr/>
        </p:nvSpPr>
        <p:spPr>
          <a:xfrm>
            <a:off x="6126480" y="4178808"/>
            <a:ext cx="5577840"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  Invariant check: &lt;1 ms</a:t>
            </a:r>
            <a:endParaRPr lang="en-US" sz="1000" dirty="0"/>
          </a:p>
        </p:txBody>
      </p:sp>
      <p:sp>
        <p:nvSpPr>
          <p:cNvPr id="67" name="Text 65"/>
          <p:cNvSpPr/>
          <p:nvPr/>
        </p:nvSpPr>
        <p:spPr>
          <a:xfrm>
            <a:off x="6126480" y="4379976"/>
            <a:ext cx="5577840"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  AE inference: ~45 ms (CPU)</a:t>
            </a:r>
            <a:endParaRPr lang="en-US" sz="1000" dirty="0"/>
          </a:p>
        </p:txBody>
      </p:sp>
      <p:sp>
        <p:nvSpPr>
          <p:cNvPr id="68" name="Text 66"/>
          <p:cNvSpPr/>
          <p:nvPr/>
        </p:nvSpPr>
        <p:spPr>
          <a:xfrm>
            <a:off x="6126480" y="4581144"/>
            <a:ext cx="5577840"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  Detection latency: &lt;50 ms/cycle</a:t>
            </a:r>
            <a:endParaRPr lang="en-US" sz="1000" dirty="0"/>
          </a:p>
        </p:txBody>
      </p:sp>
      <p:sp>
        <p:nvSpPr>
          <p:cNvPr id="69" name="Text 67"/>
          <p:cNvSpPr/>
          <p:nvPr/>
        </p:nvSpPr>
        <p:spPr>
          <a:xfrm>
            <a:off x="6126480" y="4782312"/>
            <a:ext cx="5577840" cy="201168"/>
          </a:xfrm>
          <a:prstGeom prst="rect">
            <a:avLst/>
          </a:prstGeom>
          <a:noFill/>
          <a:ln/>
        </p:spPr>
        <p:txBody>
          <a:bodyPr wrap="square" rtlCol="0" anchor="ctr"/>
          <a:lstStyle/>
          <a:p>
            <a:pPr indent="0" marL="0">
              <a:buNone/>
            </a:pPr>
            <a:r>
              <a:rPr lang="en-US" sz="1000" dirty="0">
                <a:solidFill>
                  <a:srgbClr val="2D2D2D"/>
                </a:solidFill>
                <a:latin typeface="Calibri" pitchFamily="34" charset="0"/>
                <a:ea typeface="Calibri" pitchFamily="34" charset="-122"/>
                <a:cs typeface="Calibri" pitchFamily="34" charset="-120"/>
              </a:rPr>
              <a:t>▸  Alert after 3 cycles: 3–6 seconds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DEFENSE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The Attacker's Dilemma</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Adversarial AE evades ML layer — but cannot satisfy physics simultaneously</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1565C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What Phase 2 Can Do</a:t>
            </a:r>
            <a:endParaRPr lang="en-US" sz="1100" dirty="0"/>
          </a:p>
        </p:txBody>
      </p:sp>
      <p:sp>
        <p:nvSpPr>
          <p:cNvPr id="13" name="Text 11"/>
          <p:cNvSpPr/>
          <p:nvPr/>
        </p:nvSpPr>
        <p:spPr>
          <a:xfrm>
            <a:off x="502920" y="182880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Perturbs LIT101.Pv and AI_FIT_101_FLOW via HMI_LIT101.Sim_PV. The victim AE sees (x + δ) with low reconstruction error. AE flag stays 0 — Layer 2 is blind to the attack.</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1565C0"/>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What Phase 2 Cannot Do</a:t>
            </a:r>
            <a:endParaRPr lang="en-US" sz="1100" dirty="0"/>
          </a:p>
        </p:txBody>
      </p:sp>
      <p:sp>
        <p:nvSpPr>
          <p:cNvPr id="17" name="Text 15"/>
          <p:cNvSpPr/>
          <p:nvPr/>
        </p:nvSpPr>
        <p:spPr>
          <a:xfrm>
            <a:off x="502920" y="310896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Cannot change the actual PLC coil states HMI_MV101.Cmd=1 and HMI_P101.Auto=False. Layer 1 reads these registers directly. Invariant I-2 (P101=ON but FIT101 &lt; 0.4) fires regardless of Sim tag values.</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1565C0"/>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Result: Hybrid Wins</a:t>
            </a:r>
            <a:endParaRPr lang="en-US" sz="1100" dirty="0"/>
          </a:p>
        </p:txBody>
      </p:sp>
      <p:sp>
        <p:nvSpPr>
          <p:cNvPr id="21" name="Text 19"/>
          <p:cNvSpPr/>
          <p:nvPr/>
        </p:nvSpPr>
        <p:spPr>
          <a:xfrm>
            <a:off x="502920" y="438912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Fusion score = 1.5 × 1 (inv) + 1.0 × 0 (ae evaded) = 1.5 → ALERT immediately. The attacker cannot simultaneously fool physics AND ML. Must choose one — and physics catches the other.</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RECOVERY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Recovery Pipeline</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Five deterministic steps — from detection to verified normal operation</a:t>
            </a:r>
            <a:endParaRPr lang="en-US" sz="1200" dirty="0"/>
          </a:p>
        </p:txBody>
      </p:sp>
      <p:sp>
        <p:nvSpPr>
          <p:cNvPr id="10" name="Shape 8"/>
          <p:cNvSpPr/>
          <p:nvPr/>
        </p:nvSpPr>
        <p:spPr>
          <a:xfrm>
            <a:off x="320040" y="1417320"/>
            <a:ext cx="2148840" cy="502920"/>
          </a:xfrm>
          <a:prstGeom prst="rect">
            <a:avLst/>
          </a:prstGeom>
          <a:solidFill>
            <a:srgbClr val="2E7D32"/>
          </a:solidFill>
          <a:ln/>
        </p:spPr>
      </p:sp>
      <p:sp>
        <p:nvSpPr>
          <p:cNvPr id="11" name="Text 9"/>
          <p:cNvSpPr/>
          <p:nvPr/>
        </p:nvSpPr>
        <p:spPr>
          <a:xfrm>
            <a:off x="320040" y="1417320"/>
            <a:ext cx="2148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Detect</a:t>
            </a:r>
            <a:endParaRPr lang="en-US" sz="1300" dirty="0"/>
          </a:p>
        </p:txBody>
      </p:sp>
      <p:sp>
        <p:nvSpPr>
          <p:cNvPr id="12" name="Text 10"/>
          <p:cNvSpPr/>
          <p:nvPr/>
        </p:nvSpPr>
        <p:spPr>
          <a:xfrm>
            <a:off x="2468880" y="1508760"/>
            <a:ext cx="164592" cy="320040"/>
          </a:xfrm>
          <a:prstGeom prst="rect">
            <a:avLst/>
          </a:prstGeom>
          <a:noFill/>
          <a:ln/>
        </p:spPr>
        <p:txBody>
          <a:bodyPr wrap="square" rtlCol="0" anchor="ctr"/>
          <a:lstStyle/>
          <a:p>
            <a:pPr algn="ctr" indent="0" marL="0">
              <a:buNone/>
            </a:pPr>
            <a:r>
              <a:rPr lang="en-US" sz="1400" b="1" dirty="0">
                <a:solidFill>
                  <a:srgbClr val="6B6B6B"/>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320040" y="1965960"/>
            <a:ext cx="2148840" cy="3383280"/>
          </a:xfrm>
          <a:prstGeom prst="rect">
            <a:avLst/>
          </a:prstGeom>
          <a:solidFill>
            <a:srgbClr val="F5F5F5"/>
          </a:solidFill>
          <a:ln w="12700">
            <a:solidFill>
              <a:srgbClr val="E0E0E0"/>
            </a:solidFill>
            <a:prstDash val="solid"/>
          </a:ln>
        </p:spPr>
      </p:sp>
      <p:sp>
        <p:nvSpPr>
          <p:cNvPr id="14" name="Text 12"/>
          <p:cNvSpPr/>
          <p:nvPr/>
        </p:nvSpPr>
        <p:spPr>
          <a:xfrm>
            <a:off x="411480" y="2057400"/>
            <a:ext cx="1965960" cy="32004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Fusion score ≥ 1.5 for 3 cycles → log timestamp, sensor snapshot, alert details</a:t>
            </a:r>
            <a:endParaRPr lang="en-US" sz="1000" dirty="0"/>
          </a:p>
        </p:txBody>
      </p:sp>
      <p:sp>
        <p:nvSpPr>
          <p:cNvPr id="15" name="Shape 13"/>
          <p:cNvSpPr/>
          <p:nvPr/>
        </p:nvSpPr>
        <p:spPr>
          <a:xfrm>
            <a:off x="2651760" y="1417320"/>
            <a:ext cx="2148840" cy="502920"/>
          </a:xfrm>
          <a:prstGeom prst="rect">
            <a:avLst/>
          </a:prstGeom>
          <a:solidFill>
            <a:srgbClr val="1565C0"/>
          </a:solidFill>
          <a:ln/>
        </p:spPr>
      </p:sp>
      <p:sp>
        <p:nvSpPr>
          <p:cNvPr id="16" name="Text 14"/>
          <p:cNvSpPr/>
          <p:nvPr/>
        </p:nvSpPr>
        <p:spPr>
          <a:xfrm>
            <a:off x="2651760" y="1417320"/>
            <a:ext cx="2148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  Contain</a:t>
            </a:r>
            <a:endParaRPr lang="en-US" sz="1300" dirty="0"/>
          </a:p>
        </p:txBody>
      </p:sp>
      <p:sp>
        <p:nvSpPr>
          <p:cNvPr id="17" name="Text 15"/>
          <p:cNvSpPr/>
          <p:nvPr/>
        </p:nvSpPr>
        <p:spPr>
          <a:xfrm>
            <a:off x="4800600" y="1508760"/>
            <a:ext cx="164592" cy="320040"/>
          </a:xfrm>
          <a:prstGeom prst="rect">
            <a:avLst/>
          </a:prstGeom>
          <a:noFill/>
          <a:ln/>
        </p:spPr>
        <p:txBody>
          <a:bodyPr wrap="square" rtlCol="0" anchor="ctr"/>
          <a:lstStyle/>
          <a:p>
            <a:pPr algn="ctr" indent="0" marL="0">
              <a:buNone/>
            </a:pPr>
            <a:r>
              <a:rPr lang="en-US" sz="1400" b="1" dirty="0">
                <a:solidFill>
                  <a:srgbClr val="6B6B6B"/>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2651760" y="1965960"/>
            <a:ext cx="2148840" cy="3383280"/>
          </a:xfrm>
          <a:prstGeom prst="rect">
            <a:avLst/>
          </a:prstGeom>
          <a:solidFill>
            <a:srgbClr val="F5F5F5"/>
          </a:solidFill>
          <a:ln w="12700">
            <a:solidFill>
              <a:srgbClr val="E0E0E0"/>
            </a:solidFill>
            <a:prstDash val="solid"/>
          </a:ln>
        </p:spPr>
      </p:sp>
      <p:sp>
        <p:nvSpPr>
          <p:cNvPr id="19" name="Text 17"/>
          <p:cNvSpPr/>
          <p:nvPr/>
        </p:nvSpPr>
        <p:spPr>
          <a:xfrm>
            <a:off x="2743200" y="2057400"/>
            <a:ext cx="1965960" cy="32004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iptables DROP port 44818. Isolate attacker process. VLAN isolation at L2 switch</a:t>
            </a:r>
            <a:endParaRPr lang="en-US" sz="1000" dirty="0"/>
          </a:p>
        </p:txBody>
      </p:sp>
      <p:sp>
        <p:nvSpPr>
          <p:cNvPr id="20" name="Shape 18"/>
          <p:cNvSpPr/>
          <p:nvPr/>
        </p:nvSpPr>
        <p:spPr>
          <a:xfrm>
            <a:off x="4983480" y="1417320"/>
            <a:ext cx="2148840" cy="502920"/>
          </a:xfrm>
          <a:prstGeom prst="rect">
            <a:avLst/>
          </a:prstGeom>
          <a:solidFill>
            <a:srgbClr val="E65100"/>
          </a:solidFill>
          <a:ln/>
        </p:spPr>
      </p:sp>
      <p:sp>
        <p:nvSpPr>
          <p:cNvPr id="21" name="Text 19"/>
          <p:cNvSpPr/>
          <p:nvPr/>
        </p:nvSpPr>
        <p:spPr>
          <a:xfrm>
            <a:off x="4983480" y="1417320"/>
            <a:ext cx="2148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Safe State</a:t>
            </a:r>
            <a:endParaRPr lang="en-US" sz="1300" dirty="0"/>
          </a:p>
        </p:txBody>
      </p:sp>
      <p:sp>
        <p:nvSpPr>
          <p:cNvPr id="22" name="Text 20"/>
          <p:cNvSpPr/>
          <p:nvPr/>
        </p:nvSpPr>
        <p:spPr>
          <a:xfrm>
            <a:off x="7132320" y="1508760"/>
            <a:ext cx="164592" cy="320040"/>
          </a:xfrm>
          <a:prstGeom prst="rect">
            <a:avLst/>
          </a:prstGeom>
          <a:noFill/>
          <a:ln/>
        </p:spPr>
        <p:txBody>
          <a:bodyPr wrap="square" rtlCol="0" anchor="ctr"/>
          <a:lstStyle/>
          <a:p>
            <a:pPr algn="ctr" indent="0" marL="0">
              <a:buNone/>
            </a:pPr>
            <a:r>
              <a:rPr lang="en-US" sz="1400" b="1" dirty="0">
                <a:solidFill>
                  <a:srgbClr val="6B6B6B"/>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4983480" y="1965960"/>
            <a:ext cx="2148840" cy="3383280"/>
          </a:xfrm>
          <a:prstGeom prst="rect">
            <a:avLst/>
          </a:prstGeom>
          <a:solidFill>
            <a:srgbClr val="F5F5F5"/>
          </a:solidFill>
          <a:ln w="12700">
            <a:solidFill>
              <a:srgbClr val="E0E0E0"/>
            </a:solidFill>
            <a:prstDash val="solid"/>
          </a:ln>
        </p:spPr>
      </p:sp>
      <p:sp>
        <p:nvSpPr>
          <p:cNvPr id="24" name="Text 22"/>
          <p:cNvSpPr/>
          <p:nvPr/>
        </p:nvSpPr>
        <p:spPr>
          <a:xfrm>
            <a:off x="5074920" y="2057400"/>
            <a:ext cx="1965960" cy="32004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pylogix writes to PLC1: MV101.Cmd=2(OPEN), P101.Cmd=2(ON)</a:t>
            </a:r>
            <a:endParaRPr lang="en-US" sz="1000" dirty="0"/>
          </a:p>
        </p:txBody>
      </p:sp>
      <p:sp>
        <p:nvSpPr>
          <p:cNvPr id="25" name="Shape 23"/>
          <p:cNvSpPr/>
          <p:nvPr/>
        </p:nvSpPr>
        <p:spPr>
          <a:xfrm>
            <a:off x="7315200" y="1417320"/>
            <a:ext cx="2148840" cy="502920"/>
          </a:xfrm>
          <a:prstGeom prst="rect">
            <a:avLst/>
          </a:prstGeom>
          <a:solidFill>
            <a:srgbClr val="C0392B"/>
          </a:solidFill>
          <a:ln/>
        </p:spPr>
      </p:sp>
      <p:sp>
        <p:nvSpPr>
          <p:cNvPr id="26" name="Text 24"/>
          <p:cNvSpPr/>
          <p:nvPr/>
        </p:nvSpPr>
        <p:spPr>
          <a:xfrm>
            <a:off x="7315200" y="1417320"/>
            <a:ext cx="2148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PLC Failover</a:t>
            </a:r>
            <a:endParaRPr lang="en-US" sz="1300" dirty="0"/>
          </a:p>
        </p:txBody>
      </p:sp>
      <p:sp>
        <p:nvSpPr>
          <p:cNvPr id="27" name="Text 25"/>
          <p:cNvSpPr/>
          <p:nvPr/>
        </p:nvSpPr>
        <p:spPr>
          <a:xfrm>
            <a:off x="9464040" y="1508760"/>
            <a:ext cx="164592" cy="320040"/>
          </a:xfrm>
          <a:prstGeom prst="rect">
            <a:avLst/>
          </a:prstGeom>
          <a:noFill/>
          <a:ln/>
        </p:spPr>
        <p:txBody>
          <a:bodyPr wrap="square" rtlCol="0" anchor="ctr"/>
          <a:lstStyle/>
          <a:p>
            <a:pPr algn="ctr" indent="0" marL="0">
              <a:buNone/>
            </a:pPr>
            <a:r>
              <a:rPr lang="en-US" sz="1400" b="1" dirty="0">
                <a:solidFill>
                  <a:srgbClr val="6B6B6B"/>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315200" y="1965960"/>
            <a:ext cx="2148840" cy="3383280"/>
          </a:xfrm>
          <a:prstGeom prst="rect">
            <a:avLst/>
          </a:prstGeom>
          <a:solidFill>
            <a:srgbClr val="F5F5F5"/>
          </a:solidFill>
          <a:ln w="12700">
            <a:solidFill>
              <a:srgbClr val="E0E0E0"/>
            </a:solidFill>
            <a:prstDash val="solid"/>
          </a:ln>
        </p:spPr>
      </p:sp>
      <p:sp>
        <p:nvSpPr>
          <p:cNvPr id="29" name="Text 27"/>
          <p:cNvSpPr/>
          <p:nvPr/>
        </p:nvSpPr>
        <p:spPr>
          <a:xfrm>
            <a:off x="7406640" y="2057400"/>
            <a:ext cx="1965960" cy="32004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EtherNet/IP handshake activates PLC1B (192.168.1.11) as primary controller</a:t>
            </a:r>
            <a:endParaRPr lang="en-US" sz="1000" dirty="0"/>
          </a:p>
        </p:txBody>
      </p:sp>
      <p:sp>
        <p:nvSpPr>
          <p:cNvPr id="30" name="Shape 28"/>
          <p:cNvSpPr/>
          <p:nvPr/>
        </p:nvSpPr>
        <p:spPr>
          <a:xfrm>
            <a:off x="9646920" y="1417320"/>
            <a:ext cx="2148840" cy="502920"/>
          </a:xfrm>
          <a:prstGeom prst="rect">
            <a:avLst/>
          </a:prstGeom>
          <a:solidFill>
            <a:srgbClr val="6A1B9A"/>
          </a:solidFill>
          <a:ln/>
        </p:spPr>
      </p:sp>
      <p:sp>
        <p:nvSpPr>
          <p:cNvPr id="31" name="Text 29"/>
          <p:cNvSpPr/>
          <p:nvPr/>
        </p:nvSpPr>
        <p:spPr>
          <a:xfrm>
            <a:off x="9646920" y="1417320"/>
            <a:ext cx="21488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  Verify &amp; Resume</a:t>
            </a:r>
            <a:endParaRPr lang="en-US" sz="1300" dirty="0"/>
          </a:p>
        </p:txBody>
      </p:sp>
      <p:sp>
        <p:nvSpPr>
          <p:cNvPr id="32" name="Shape 30"/>
          <p:cNvSpPr/>
          <p:nvPr/>
        </p:nvSpPr>
        <p:spPr>
          <a:xfrm>
            <a:off x="9646920" y="1965960"/>
            <a:ext cx="2148840" cy="3383280"/>
          </a:xfrm>
          <a:prstGeom prst="rect">
            <a:avLst/>
          </a:prstGeom>
          <a:solidFill>
            <a:srgbClr val="F5F5F5"/>
          </a:solidFill>
          <a:ln w="12700">
            <a:solidFill>
              <a:srgbClr val="E0E0E0"/>
            </a:solidFill>
            <a:prstDash val="solid"/>
          </a:ln>
        </p:spPr>
      </p:sp>
      <p:sp>
        <p:nvSpPr>
          <p:cNvPr id="33" name="Text 31"/>
          <p:cNvSpPr/>
          <p:nvPr/>
        </p:nvSpPr>
        <p:spPr>
          <a:xfrm>
            <a:off x="9738360" y="2057400"/>
            <a:ext cx="1965960" cy="3200400"/>
          </a:xfrm>
          <a:prstGeom prst="rect">
            <a:avLst/>
          </a:prstGeom>
          <a:noFill/>
          <a:ln/>
        </p:spPr>
        <p:txBody>
          <a:bodyPr wrap="square" rtlCol="0" anchor="t"/>
          <a:lstStyle/>
          <a:p>
            <a:pPr indent="0" marL="0">
              <a:buNone/>
            </a:pPr>
            <a:r>
              <a:rPr lang="en-US" sz="1000" dirty="0">
                <a:solidFill>
                  <a:srgbClr val="2D2D2D"/>
                </a:solidFill>
                <a:latin typeface="Calibri" pitchFamily="34" charset="0"/>
                <a:ea typeface="Calibri" pitchFamily="34" charset="-122"/>
                <a:cs typeface="Calibri" pitchFamily="34" charset="-120"/>
              </a:rPr>
              <a:t>Poll all 8 invariants. 5 consecutive clean cycles required before resuming</a:t>
            </a:r>
            <a:endParaRPr lang="en-US" sz="1000" dirty="0"/>
          </a:p>
        </p:txBody>
      </p:sp>
      <p:sp>
        <p:nvSpPr>
          <p:cNvPr id="34" name="Text 32"/>
          <p:cNvSpPr/>
          <p:nvPr/>
        </p:nvSpPr>
        <p:spPr>
          <a:xfrm>
            <a:off x="320040" y="5486400"/>
            <a:ext cx="11548872" cy="256032"/>
          </a:xfrm>
          <a:prstGeom prst="rect">
            <a:avLst/>
          </a:prstGeom>
          <a:noFill/>
          <a:ln/>
        </p:spPr>
        <p:txBody>
          <a:bodyPr wrap="square"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Total recovery target: &lt; 15 seconds from ALERT to verified safe state  ·  PLC1B failover &lt; 3 seconds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RECOVERY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Safe State Table &amp; PLC Failover</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Exact actuator targets written to PLC registers before failover handshake</a:t>
            </a:r>
            <a:endParaRPr lang="en-US" sz="1200" dirty="0"/>
          </a:p>
        </p:txBody>
      </p:sp>
      <p:sp>
        <p:nvSpPr>
          <p:cNvPr id="10" name="Shape 8"/>
          <p:cNvSpPr/>
          <p:nvPr/>
        </p:nvSpPr>
        <p:spPr>
          <a:xfrm>
            <a:off x="320040" y="1417320"/>
            <a:ext cx="548640" cy="320040"/>
          </a:xfrm>
          <a:prstGeom prst="rect">
            <a:avLst/>
          </a:prstGeom>
          <a:solidFill>
            <a:srgbClr val="E8243C"/>
          </a:solidFill>
          <a:ln w="12700">
            <a:solidFill>
              <a:srgbClr val="E0E0E0"/>
            </a:solidFill>
            <a:prstDash val="solid"/>
          </a:ln>
        </p:spPr>
      </p:sp>
      <p:sp>
        <p:nvSpPr>
          <p:cNvPr id="11" name="Text 9"/>
          <p:cNvSpPr/>
          <p:nvPr/>
        </p:nvSpPr>
        <p:spPr>
          <a:xfrm>
            <a:off x="393192" y="1417320"/>
            <a:ext cx="40233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p>
        </p:txBody>
      </p:sp>
      <p:sp>
        <p:nvSpPr>
          <p:cNvPr id="12" name="Shape 10"/>
          <p:cNvSpPr/>
          <p:nvPr/>
        </p:nvSpPr>
        <p:spPr>
          <a:xfrm>
            <a:off x="868680" y="1417320"/>
            <a:ext cx="2011680" cy="320040"/>
          </a:xfrm>
          <a:prstGeom prst="rect">
            <a:avLst/>
          </a:prstGeom>
          <a:solidFill>
            <a:srgbClr val="E8243C"/>
          </a:solidFill>
          <a:ln w="12700">
            <a:solidFill>
              <a:srgbClr val="E0E0E0"/>
            </a:solidFill>
            <a:prstDash val="solid"/>
          </a:ln>
        </p:spPr>
      </p:sp>
      <p:sp>
        <p:nvSpPr>
          <p:cNvPr id="13" name="Text 11"/>
          <p:cNvSpPr/>
          <p:nvPr/>
        </p:nvSpPr>
        <p:spPr>
          <a:xfrm>
            <a:off x="941832" y="1417320"/>
            <a:ext cx="186537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Actuator</a:t>
            </a:r>
            <a:endParaRPr lang="en-US" sz="900" dirty="0"/>
          </a:p>
        </p:txBody>
      </p:sp>
      <p:sp>
        <p:nvSpPr>
          <p:cNvPr id="14" name="Shape 12"/>
          <p:cNvSpPr/>
          <p:nvPr/>
        </p:nvSpPr>
        <p:spPr>
          <a:xfrm>
            <a:off x="2880360" y="1417320"/>
            <a:ext cx="1920240" cy="320040"/>
          </a:xfrm>
          <a:prstGeom prst="rect">
            <a:avLst/>
          </a:prstGeom>
          <a:solidFill>
            <a:srgbClr val="E8243C"/>
          </a:solidFill>
          <a:ln w="12700">
            <a:solidFill>
              <a:srgbClr val="E0E0E0"/>
            </a:solidFill>
            <a:prstDash val="solid"/>
          </a:ln>
        </p:spPr>
      </p:sp>
      <p:sp>
        <p:nvSpPr>
          <p:cNvPr id="15" name="Text 13"/>
          <p:cNvSpPr/>
          <p:nvPr/>
        </p:nvSpPr>
        <p:spPr>
          <a:xfrm>
            <a:off x="2953512" y="1417320"/>
            <a:ext cx="177393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Safe Value</a:t>
            </a:r>
            <a:endParaRPr lang="en-US" sz="900" dirty="0"/>
          </a:p>
        </p:txBody>
      </p:sp>
      <p:sp>
        <p:nvSpPr>
          <p:cNvPr id="16" name="Shape 14"/>
          <p:cNvSpPr/>
          <p:nvPr/>
        </p:nvSpPr>
        <p:spPr>
          <a:xfrm>
            <a:off x="4800600" y="1417320"/>
            <a:ext cx="2194560" cy="320040"/>
          </a:xfrm>
          <a:prstGeom prst="rect">
            <a:avLst/>
          </a:prstGeom>
          <a:solidFill>
            <a:srgbClr val="E8243C"/>
          </a:solidFill>
          <a:ln w="12700">
            <a:solidFill>
              <a:srgbClr val="E0E0E0"/>
            </a:solidFill>
            <a:prstDash val="solid"/>
          </a:ln>
        </p:spPr>
      </p:sp>
      <p:sp>
        <p:nvSpPr>
          <p:cNvPr id="17" name="Text 15"/>
          <p:cNvSpPr/>
          <p:nvPr/>
        </p:nvSpPr>
        <p:spPr>
          <a:xfrm>
            <a:off x="4873752" y="1417320"/>
            <a:ext cx="204825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Physical Reason</a:t>
            </a:r>
            <a:endParaRPr lang="en-US" sz="900" dirty="0"/>
          </a:p>
        </p:txBody>
      </p:sp>
      <p:sp>
        <p:nvSpPr>
          <p:cNvPr id="18" name="Shape 16"/>
          <p:cNvSpPr/>
          <p:nvPr/>
        </p:nvSpPr>
        <p:spPr>
          <a:xfrm>
            <a:off x="6995160" y="1417320"/>
            <a:ext cx="2167128" cy="320040"/>
          </a:xfrm>
          <a:prstGeom prst="rect">
            <a:avLst/>
          </a:prstGeom>
          <a:solidFill>
            <a:srgbClr val="E8243C"/>
          </a:solidFill>
          <a:ln w="12700">
            <a:solidFill>
              <a:srgbClr val="E0E0E0"/>
            </a:solidFill>
            <a:prstDash val="solid"/>
          </a:ln>
        </p:spPr>
      </p:sp>
      <p:sp>
        <p:nvSpPr>
          <p:cNvPr id="19" name="Text 17"/>
          <p:cNvSpPr/>
          <p:nvPr/>
        </p:nvSpPr>
        <p:spPr>
          <a:xfrm>
            <a:off x="7068312" y="1417320"/>
            <a:ext cx="2020824"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Risk if Wrong</a:t>
            </a:r>
            <a:endParaRPr lang="en-US" sz="900" dirty="0"/>
          </a:p>
        </p:txBody>
      </p:sp>
      <p:sp>
        <p:nvSpPr>
          <p:cNvPr id="20" name="Shape 18"/>
          <p:cNvSpPr/>
          <p:nvPr/>
        </p:nvSpPr>
        <p:spPr>
          <a:xfrm>
            <a:off x="320040" y="1737360"/>
            <a:ext cx="548640" cy="320040"/>
          </a:xfrm>
          <a:prstGeom prst="rect">
            <a:avLst/>
          </a:prstGeom>
          <a:solidFill>
            <a:srgbClr val="F5F5F5"/>
          </a:solidFill>
          <a:ln w="12700">
            <a:solidFill>
              <a:srgbClr val="E0E0E0"/>
            </a:solidFill>
            <a:prstDash val="solid"/>
          </a:ln>
        </p:spPr>
      </p:sp>
      <p:sp>
        <p:nvSpPr>
          <p:cNvPr id="21" name="Text 19"/>
          <p:cNvSpPr/>
          <p:nvPr/>
        </p:nvSpPr>
        <p:spPr>
          <a:xfrm>
            <a:off x="393192" y="17373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a:t>
            </a:r>
            <a:endParaRPr lang="en-US" sz="900" dirty="0"/>
          </a:p>
        </p:txBody>
      </p:sp>
      <p:sp>
        <p:nvSpPr>
          <p:cNvPr id="22" name="Shape 20"/>
          <p:cNvSpPr/>
          <p:nvPr/>
        </p:nvSpPr>
        <p:spPr>
          <a:xfrm>
            <a:off x="868680" y="1737360"/>
            <a:ext cx="2011680" cy="320040"/>
          </a:xfrm>
          <a:prstGeom prst="rect">
            <a:avLst/>
          </a:prstGeom>
          <a:solidFill>
            <a:srgbClr val="F5F5F5"/>
          </a:solidFill>
          <a:ln w="12700">
            <a:solidFill>
              <a:srgbClr val="E0E0E0"/>
            </a:solidFill>
            <a:prstDash val="solid"/>
          </a:ln>
        </p:spPr>
      </p:sp>
      <p:sp>
        <p:nvSpPr>
          <p:cNvPr id="23" name="Text 21"/>
          <p:cNvSpPr/>
          <p:nvPr/>
        </p:nvSpPr>
        <p:spPr>
          <a:xfrm>
            <a:off x="941832" y="17373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MV101</a:t>
            </a:r>
            <a:endParaRPr lang="en-US" sz="900" dirty="0"/>
          </a:p>
        </p:txBody>
      </p:sp>
      <p:sp>
        <p:nvSpPr>
          <p:cNvPr id="24" name="Shape 22"/>
          <p:cNvSpPr/>
          <p:nvPr/>
        </p:nvSpPr>
        <p:spPr>
          <a:xfrm>
            <a:off x="2880360" y="1737360"/>
            <a:ext cx="1920240" cy="320040"/>
          </a:xfrm>
          <a:prstGeom prst="rect">
            <a:avLst/>
          </a:prstGeom>
          <a:solidFill>
            <a:srgbClr val="F5F5F5"/>
          </a:solidFill>
          <a:ln w="12700">
            <a:solidFill>
              <a:srgbClr val="E0E0E0"/>
            </a:solidFill>
            <a:prstDash val="solid"/>
          </a:ln>
        </p:spPr>
      </p:sp>
      <p:sp>
        <p:nvSpPr>
          <p:cNvPr id="25" name="Text 23"/>
          <p:cNvSpPr/>
          <p:nvPr/>
        </p:nvSpPr>
        <p:spPr>
          <a:xfrm>
            <a:off x="2953512" y="17373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CLOSED → OPEN</a:t>
            </a:r>
            <a:endParaRPr lang="en-US" sz="900" dirty="0"/>
          </a:p>
        </p:txBody>
      </p:sp>
      <p:sp>
        <p:nvSpPr>
          <p:cNvPr id="26" name="Shape 24"/>
          <p:cNvSpPr/>
          <p:nvPr/>
        </p:nvSpPr>
        <p:spPr>
          <a:xfrm>
            <a:off x="4800600" y="1737360"/>
            <a:ext cx="2194560" cy="320040"/>
          </a:xfrm>
          <a:prstGeom prst="rect">
            <a:avLst/>
          </a:prstGeom>
          <a:solidFill>
            <a:srgbClr val="F5F5F5"/>
          </a:solidFill>
          <a:ln w="12700">
            <a:solidFill>
              <a:srgbClr val="E0E0E0"/>
            </a:solidFill>
            <a:prstDash val="solid"/>
          </a:ln>
        </p:spPr>
      </p:sp>
      <p:sp>
        <p:nvSpPr>
          <p:cNvPr id="27" name="Text 25"/>
          <p:cNvSpPr/>
          <p:nvPr/>
        </p:nvSpPr>
        <p:spPr>
          <a:xfrm>
            <a:off x="4873752" y="17373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Allow tank to refill</a:t>
            </a:r>
            <a:endParaRPr lang="en-US" sz="900" dirty="0"/>
          </a:p>
        </p:txBody>
      </p:sp>
      <p:sp>
        <p:nvSpPr>
          <p:cNvPr id="28" name="Shape 26"/>
          <p:cNvSpPr/>
          <p:nvPr/>
        </p:nvSpPr>
        <p:spPr>
          <a:xfrm>
            <a:off x="6995160" y="1737360"/>
            <a:ext cx="2167128" cy="320040"/>
          </a:xfrm>
          <a:prstGeom prst="rect">
            <a:avLst/>
          </a:prstGeom>
          <a:solidFill>
            <a:srgbClr val="F5F5F5"/>
          </a:solidFill>
          <a:ln w="12700">
            <a:solidFill>
              <a:srgbClr val="E0E0E0"/>
            </a:solidFill>
            <a:prstDash val="solid"/>
          </a:ln>
        </p:spPr>
      </p:sp>
      <p:sp>
        <p:nvSpPr>
          <p:cNvPr id="29" name="Text 27"/>
          <p:cNvSpPr/>
          <p:nvPr/>
        </p:nvSpPr>
        <p:spPr>
          <a:xfrm>
            <a:off x="7068312" y="17373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Tank starvation</a:t>
            </a:r>
            <a:endParaRPr lang="en-US" sz="900" dirty="0"/>
          </a:p>
        </p:txBody>
      </p:sp>
      <p:sp>
        <p:nvSpPr>
          <p:cNvPr id="30" name="Shape 28"/>
          <p:cNvSpPr/>
          <p:nvPr/>
        </p:nvSpPr>
        <p:spPr>
          <a:xfrm>
            <a:off x="320040" y="2194560"/>
            <a:ext cx="548640" cy="320040"/>
          </a:xfrm>
          <a:prstGeom prst="rect">
            <a:avLst/>
          </a:prstGeom>
          <a:solidFill>
            <a:srgbClr val="FFFFFF"/>
          </a:solidFill>
          <a:ln w="12700">
            <a:solidFill>
              <a:srgbClr val="E0E0E0"/>
            </a:solidFill>
            <a:prstDash val="solid"/>
          </a:ln>
        </p:spPr>
      </p:sp>
      <p:sp>
        <p:nvSpPr>
          <p:cNvPr id="31" name="Text 29"/>
          <p:cNvSpPr/>
          <p:nvPr/>
        </p:nvSpPr>
        <p:spPr>
          <a:xfrm>
            <a:off x="393192" y="21945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a:t>
            </a:r>
            <a:endParaRPr lang="en-US" sz="900" dirty="0"/>
          </a:p>
        </p:txBody>
      </p:sp>
      <p:sp>
        <p:nvSpPr>
          <p:cNvPr id="32" name="Shape 30"/>
          <p:cNvSpPr/>
          <p:nvPr/>
        </p:nvSpPr>
        <p:spPr>
          <a:xfrm>
            <a:off x="868680" y="2194560"/>
            <a:ext cx="2011680" cy="320040"/>
          </a:xfrm>
          <a:prstGeom prst="rect">
            <a:avLst/>
          </a:prstGeom>
          <a:solidFill>
            <a:srgbClr val="FFFFFF"/>
          </a:solidFill>
          <a:ln w="12700">
            <a:solidFill>
              <a:srgbClr val="E0E0E0"/>
            </a:solidFill>
            <a:prstDash val="solid"/>
          </a:ln>
        </p:spPr>
      </p:sp>
      <p:sp>
        <p:nvSpPr>
          <p:cNvPr id="33" name="Text 31"/>
          <p:cNvSpPr/>
          <p:nvPr/>
        </p:nvSpPr>
        <p:spPr>
          <a:xfrm>
            <a:off x="941832" y="21945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P101 / P102</a:t>
            </a:r>
            <a:endParaRPr lang="en-US" sz="900" dirty="0"/>
          </a:p>
        </p:txBody>
      </p:sp>
      <p:sp>
        <p:nvSpPr>
          <p:cNvPr id="34" name="Shape 32"/>
          <p:cNvSpPr/>
          <p:nvPr/>
        </p:nvSpPr>
        <p:spPr>
          <a:xfrm>
            <a:off x="2880360" y="2194560"/>
            <a:ext cx="1920240" cy="320040"/>
          </a:xfrm>
          <a:prstGeom prst="rect">
            <a:avLst/>
          </a:prstGeom>
          <a:solidFill>
            <a:srgbClr val="FFFFFF"/>
          </a:solidFill>
          <a:ln w="12700">
            <a:solidFill>
              <a:srgbClr val="E0E0E0"/>
            </a:solidFill>
            <a:prstDash val="solid"/>
          </a:ln>
        </p:spPr>
      </p:sp>
      <p:sp>
        <p:nvSpPr>
          <p:cNvPr id="35" name="Text 33"/>
          <p:cNvSpPr/>
          <p:nvPr/>
        </p:nvSpPr>
        <p:spPr>
          <a:xfrm>
            <a:off x="2953512" y="21945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OFF</a:t>
            </a:r>
            <a:endParaRPr lang="en-US" sz="900" dirty="0"/>
          </a:p>
        </p:txBody>
      </p:sp>
      <p:sp>
        <p:nvSpPr>
          <p:cNvPr id="36" name="Shape 34"/>
          <p:cNvSpPr/>
          <p:nvPr/>
        </p:nvSpPr>
        <p:spPr>
          <a:xfrm>
            <a:off x="4800600" y="2194560"/>
            <a:ext cx="2194560" cy="320040"/>
          </a:xfrm>
          <a:prstGeom prst="rect">
            <a:avLst/>
          </a:prstGeom>
          <a:solidFill>
            <a:srgbClr val="FFFFFF"/>
          </a:solidFill>
          <a:ln w="12700">
            <a:solidFill>
              <a:srgbClr val="E0E0E0"/>
            </a:solidFill>
            <a:prstDash val="solid"/>
          </a:ln>
        </p:spPr>
      </p:sp>
      <p:sp>
        <p:nvSpPr>
          <p:cNvPr id="37" name="Text 35"/>
          <p:cNvSpPr/>
          <p:nvPr/>
        </p:nvSpPr>
        <p:spPr>
          <a:xfrm>
            <a:off x="4873752" y="21945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Prevent dry-run damage</a:t>
            </a:r>
            <a:endParaRPr lang="en-US" sz="900" dirty="0"/>
          </a:p>
        </p:txBody>
      </p:sp>
      <p:sp>
        <p:nvSpPr>
          <p:cNvPr id="38" name="Shape 36"/>
          <p:cNvSpPr/>
          <p:nvPr/>
        </p:nvSpPr>
        <p:spPr>
          <a:xfrm>
            <a:off x="6995160" y="2194560"/>
            <a:ext cx="2167128" cy="320040"/>
          </a:xfrm>
          <a:prstGeom prst="rect">
            <a:avLst/>
          </a:prstGeom>
          <a:solidFill>
            <a:srgbClr val="FFFFFF"/>
          </a:solidFill>
          <a:ln w="12700">
            <a:solidFill>
              <a:srgbClr val="E0E0E0"/>
            </a:solidFill>
            <a:prstDash val="solid"/>
          </a:ln>
        </p:spPr>
      </p:sp>
      <p:sp>
        <p:nvSpPr>
          <p:cNvPr id="39" name="Text 37"/>
          <p:cNvSpPr/>
          <p:nvPr/>
        </p:nvSpPr>
        <p:spPr>
          <a:xfrm>
            <a:off x="7068312" y="21945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Pump cavitation</a:t>
            </a:r>
            <a:endParaRPr lang="en-US" sz="900" dirty="0"/>
          </a:p>
        </p:txBody>
      </p:sp>
      <p:sp>
        <p:nvSpPr>
          <p:cNvPr id="40" name="Shape 38"/>
          <p:cNvSpPr/>
          <p:nvPr/>
        </p:nvSpPr>
        <p:spPr>
          <a:xfrm>
            <a:off x="320040" y="2651760"/>
            <a:ext cx="548640" cy="320040"/>
          </a:xfrm>
          <a:prstGeom prst="rect">
            <a:avLst/>
          </a:prstGeom>
          <a:solidFill>
            <a:srgbClr val="F5F5F5"/>
          </a:solidFill>
          <a:ln w="12700">
            <a:solidFill>
              <a:srgbClr val="E0E0E0"/>
            </a:solidFill>
            <a:prstDash val="solid"/>
          </a:ln>
        </p:spPr>
      </p:sp>
      <p:sp>
        <p:nvSpPr>
          <p:cNvPr id="41" name="Text 39"/>
          <p:cNvSpPr/>
          <p:nvPr/>
        </p:nvSpPr>
        <p:spPr>
          <a:xfrm>
            <a:off x="393192" y="26517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P2</a:t>
            </a:r>
            <a:endParaRPr lang="en-US" sz="900" dirty="0"/>
          </a:p>
        </p:txBody>
      </p:sp>
      <p:sp>
        <p:nvSpPr>
          <p:cNvPr id="42" name="Shape 40"/>
          <p:cNvSpPr/>
          <p:nvPr/>
        </p:nvSpPr>
        <p:spPr>
          <a:xfrm>
            <a:off x="868680" y="2651760"/>
            <a:ext cx="2011680" cy="320040"/>
          </a:xfrm>
          <a:prstGeom prst="rect">
            <a:avLst/>
          </a:prstGeom>
          <a:solidFill>
            <a:srgbClr val="F5F5F5"/>
          </a:solidFill>
          <a:ln w="12700">
            <a:solidFill>
              <a:srgbClr val="E0E0E0"/>
            </a:solidFill>
            <a:prstDash val="solid"/>
          </a:ln>
        </p:spPr>
      </p:sp>
      <p:sp>
        <p:nvSpPr>
          <p:cNvPr id="43" name="Text 41"/>
          <p:cNvSpPr/>
          <p:nvPr/>
        </p:nvSpPr>
        <p:spPr>
          <a:xfrm>
            <a:off x="941832" y="26517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P201–P206</a:t>
            </a:r>
            <a:endParaRPr lang="en-US" sz="900" dirty="0"/>
          </a:p>
        </p:txBody>
      </p:sp>
      <p:sp>
        <p:nvSpPr>
          <p:cNvPr id="44" name="Shape 42"/>
          <p:cNvSpPr/>
          <p:nvPr/>
        </p:nvSpPr>
        <p:spPr>
          <a:xfrm>
            <a:off x="2880360" y="2651760"/>
            <a:ext cx="1920240" cy="320040"/>
          </a:xfrm>
          <a:prstGeom prst="rect">
            <a:avLst/>
          </a:prstGeom>
          <a:solidFill>
            <a:srgbClr val="F5F5F5"/>
          </a:solidFill>
          <a:ln w="12700">
            <a:solidFill>
              <a:srgbClr val="E0E0E0"/>
            </a:solidFill>
            <a:prstDash val="solid"/>
          </a:ln>
        </p:spPr>
      </p:sp>
      <p:sp>
        <p:nvSpPr>
          <p:cNvPr id="45" name="Text 43"/>
          <p:cNvSpPr/>
          <p:nvPr/>
        </p:nvSpPr>
        <p:spPr>
          <a:xfrm>
            <a:off x="2953512" y="26517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ALL OFF</a:t>
            </a:r>
            <a:endParaRPr lang="en-US" sz="900" dirty="0"/>
          </a:p>
        </p:txBody>
      </p:sp>
      <p:sp>
        <p:nvSpPr>
          <p:cNvPr id="46" name="Shape 44"/>
          <p:cNvSpPr/>
          <p:nvPr/>
        </p:nvSpPr>
        <p:spPr>
          <a:xfrm>
            <a:off x="4800600" y="2651760"/>
            <a:ext cx="2194560" cy="320040"/>
          </a:xfrm>
          <a:prstGeom prst="rect">
            <a:avLst/>
          </a:prstGeom>
          <a:solidFill>
            <a:srgbClr val="F5F5F5"/>
          </a:solidFill>
          <a:ln w="12700">
            <a:solidFill>
              <a:srgbClr val="E0E0E0"/>
            </a:solidFill>
            <a:prstDash val="solid"/>
          </a:ln>
        </p:spPr>
      </p:sp>
      <p:sp>
        <p:nvSpPr>
          <p:cNvPr id="47" name="Text 45"/>
          <p:cNvSpPr/>
          <p:nvPr/>
        </p:nvSpPr>
        <p:spPr>
          <a:xfrm>
            <a:off x="4873752" y="26517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 dosing without P1 feed</a:t>
            </a:r>
            <a:endParaRPr lang="en-US" sz="900" dirty="0"/>
          </a:p>
        </p:txBody>
      </p:sp>
      <p:sp>
        <p:nvSpPr>
          <p:cNvPr id="48" name="Shape 46"/>
          <p:cNvSpPr/>
          <p:nvPr/>
        </p:nvSpPr>
        <p:spPr>
          <a:xfrm>
            <a:off x="6995160" y="2651760"/>
            <a:ext cx="2167128" cy="320040"/>
          </a:xfrm>
          <a:prstGeom prst="rect">
            <a:avLst/>
          </a:prstGeom>
          <a:solidFill>
            <a:srgbClr val="F5F5F5"/>
          </a:solidFill>
          <a:ln w="12700">
            <a:solidFill>
              <a:srgbClr val="E0E0E0"/>
            </a:solidFill>
            <a:prstDash val="solid"/>
          </a:ln>
        </p:spPr>
      </p:sp>
      <p:sp>
        <p:nvSpPr>
          <p:cNvPr id="49" name="Text 47"/>
          <p:cNvSpPr/>
          <p:nvPr/>
        </p:nvSpPr>
        <p:spPr>
          <a:xfrm>
            <a:off x="7068312" y="26517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Chemical overdose</a:t>
            </a:r>
            <a:endParaRPr lang="en-US" sz="900" dirty="0"/>
          </a:p>
        </p:txBody>
      </p:sp>
      <p:sp>
        <p:nvSpPr>
          <p:cNvPr id="50" name="Shape 48"/>
          <p:cNvSpPr/>
          <p:nvPr/>
        </p:nvSpPr>
        <p:spPr>
          <a:xfrm>
            <a:off x="320040" y="3108960"/>
            <a:ext cx="548640" cy="320040"/>
          </a:xfrm>
          <a:prstGeom prst="rect">
            <a:avLst/>
          </a:prstGeom>
          <a:solidFill>
            <a:srgbClr val="FFFFFF"/>
          </a:solidFill>
          <a:ln w="12700">
            <a:solidFill>
              <a:srgbClr val="E0E0E0"/>
            </a:solidFill>
            <a:prstDash val="solid"/>
          </a:ln>
        </p:spPr>
      </p:sp>
      <p:sp>
        <p:nvSpPr>
          <p:cNvPr id="51" name="Text 49"/>
          <p:cNvSpPr/>
          <p:nvPr/>
        </p:nvSpPr>
        <p:spPr>
          <a:xfrm>
            <a:off x="393192" y="31089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P3</a:t>
            </a:r>
            <a:endParaRPr lang="en-US" sz="900" dirty="0"/>
          </a:p>
        </p:txBody>
      </p:sp>
      <p:sp>
        <p:nvSpPr>
          <p:cNvPr id="52" name="Shape 50"/>
          <p:cNvSpPr/>
          <p:nvPr/>
        </p:nvSpPr>
        <p:spPr>
          <a:xfrm>
            <a:off x="868680" y="3108960"/>
            <a:ext cx="2011680" cy="320040"/>
          </a:xfrm>
          <a:prstGeom prst="rect">
            <a:avLst/>
          </a:prstGeom>
          <a:solidFill>
            <a:srgbClr val="FFFFFF"/>
          </a:solidFill>
          <a:ln w="12700">
            <a:solidFill>
              <a:srgbClr val="E0E0E0"/>
            </a:solidFill>
            <a:prstDash val="solid"/>
          </a:ln>
        </p:spPr>
      </p:sp>
      <p:sp>
        <p:nvSpPr>
          <p:cNvPr id="53" name="Text 51"/>
          <p:cNvSpPr/>
          <p:nvPr/>
        </p:nvSpPr>
        <p:spPr>
          <a:xfrm>
            <a:off x="941832" y="31089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MV301 / P301/302</a:t>
            </a:r>
            <a:endParaRPr lang="en-US" sz="900" dirty="0"/>
          </a:p>
        </p:txBody>
      </p:sp>
      <p:sp>
        <p:nvSpPr>
          <p:cNvPr id="54" name="Shape 52"/>
          <p:cNvSpPr/>
          <p:nvPr/>
        </p:nvSpPr>
        <p:spPr>
          <a:xfrm>
            <a:off x="2880360" y="3108960"/>
            <a:ext cx="1920240" cy="320040"/>
          </a:xfrm>
          <a:prstGeom prst="rect">
            <a:avLst/>
          </a:prstGeom>
          <a:solidFill>
            <a:srgbClr val="FFFFFF"/>
          </a:solidFill>
          <a:ln w="12700">
            <a:solidFill>
              <a:srgbClr val="E0E0E0"/>
            </a:solidFill>
            <a:prstDash val="solid"/>
          </a:ln>
        </p:spPr>
      </p:sp>
      <p:sp>
        <p:nvSpPr>
          <p:cNvPr id="55" name="Text 53"/>
          <p:cNvSpPr/>
          <p:nvPr/>
        </p:nvSpPr>
        <p:spPr>
          <a:xfrm>
            <a:off x="2953512" y="31089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CLOSED / OFF</a:t>
            </a:r>
            <a:endParaRPr lang="en-US" sz="900" dirty="0"/>
          </a:p>
        </p:txBody>
      </p:sp>
      <p:sp>
        <p:nvSpPr>
          <p:cNvPr id="56" name="Shape 54"/>
          <p:cNvSpPr/>
          <p:nvPr/>
        </p:nvSpPr>
        <p:spPr>
          <a:xfrm>
            <a:off x="4800600" y="3108960"/>
            <a:ext cx="2194560" cy="320040"/>
          </a:xfrm>
          <a:prstGeom prst="rect">
            <a:avLst/>
          </a:prstGeom>
          <a:solidFill>
            <a:srgbClr val="FFFFFF"/>
          </a:solidFill>
          <a:ln w="12700">
            <a:solidFill>
              <a:srgbClr val="E0E0E0"/>
            </a:solidFill>
            <a:prstDash val="solid"/>
          </a:ln>
        </p:spPr>
      </p:sp>
      <p:sp>
        <p:nvSpPr>
          <p:cNvPr id="57" name="Text 55"/>
          <p:cNvSpPr/>
          <p:nvPr/>
        </p:nvSpPr>
        <p:spPr>
          <a:xfrm>
            <a:off x="4873752" y="31089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Isolate UF feed</a:t>
            </a:r>
            <a:endParaRPr lang="en-US" sz="900" dirty="0"/>
          </a:p>
        </p:txBody>
      </p:sp>
      <p:sp>
        <p:nvSpPr>
          <p:cNvPr id="58" name="Shape 56"/>
          <p:cNvSpPr/>
          <p:nvPr/>
        </p:nvSpPr>
        <p:spPr>
          <a:xfrm>
            <a:off x="6995160" y="3108960"/>
            <a:ext cx="2167128" cy="320040"/>
          </a:xfrm>
          <a:prstGeom prst="rect">
            <a:avLst/>
          </a:prstGeom>
          <a:solidFill>
            <a:srgbClr val="FFFFFF"/>
          </a:solidFill>
          <a:ln w="12700">
            <a:solidFill>
              <a:srgbClr val="E0E0E0"/>
            </a:solidFill>
            <a:prstDash val="solid"/>
          </a:ln>
        </p:spPr>
      </p:sp>
      <p:sp>
        <p:nvSpPr>
          <p:cNvPr id="59" name="Text 57"/>
          <p:cNvSpPr/>
          <p:nvPr/>
        </p:nvSpPr>
        <p:spPr>
          <a:xfrm>
            <a:off x="7068312" y="31089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Membrane pressure spike</a:t>
            </a:r>
            <a:endParaRPr lang="en-US" sz="900" dirty="0"/>
          </a:p>
        </p:txBody>
      </p:sp>
      <p:sp>
        <p:nvSpPr>
          <p:cNvPr id="60" name="Shape 58"/>
          <p:cNvSpPr/>
          <p:nvPr/>
        </p:nvSpPr>
        <p:spPr>
          <a:xfrm>
            <a:off x="320040" y="3566160"/>
            <a:ext cx="548640" cy="320040"/>
          </a:xfrm>
          <a:prstGeom prst="rect">
            <a:avLst/>
          </a:prstGeom>
          <a:solidFill>
            <a:srgbClr val="F5F5F5"/>
          </a:solidFill>
          <a:ln w="12700">
            <a:solidFill>
              <a:srgbClr val="E0E0E0"/>
            </a:solidFill>
            <a:prstDash val="solid"/>
          </a:ln>
        </p:spPr>
      </p:sp>
      <p:sp>
        <p:nvSpPr>
          <p:cNvPr id="61" name="Text 59"/>
          <p:cNvSpPr/>
          <p:nvPr/>
        </p:nvSpPr>
        <p:spPr>
          <a:xfrm>
            <a:off x="393192" y="35661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P4</a:t>
            </a:r>
            <a:endParaRPr lang="en-US" sz="900" dirty="0"/>
          </a:p>
        </p:txBody>
      </p:sp>
      <p:sp>
        <p:nvSpPr>
          <p:cNvPr id="62" name="Shape 60"/>
          <p:cNvSpPr/>
          <p:nvPr/>
        </p:nvSpPr>
        <p:spPr>
          <a:xfrm>
            <a:off x="868680" y="3566160"/>
            <a:ext cx="2011680" cy="320040"/>
          </a:xfrm>
          <a:prstGeom prst="rect">
            <a:avLst/>
          </a:prstGeom>
          <a:solidFill>
            <a:srgbClr val="F5F5F5"/>
          </a:solidFill>
          <a:ln w="12700">
            <a:solidFill>
              <a:srgbClr val="E0E0E0"/>
            </a:solidFill>
            <a:prstDash val="solid"/>
          </a:ln>
        </p:spPr>
      </p:sp>
      <p:sp>
        <p:nvSpPr>
          <p:cNvPr id="63" name="Text 61"/>
          <p:cNvSpPr/>
          <p:nvPr/>
        </p:nvSpPr>
        <p:spPr>
          <a:xfrm>
            <a:off x="941832" y="35661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UV401</a:t>
            </a:r>
            <a:endParaRPr lang="en-US" sz="900" dirty="0"/>
          </a:p>
        </p:txBody>
      </p:sp>
      <p:sp>
        <p:nvSpPr>
          <p:cNvPr id="64" name="Shape 62"/>
          <p:cNvSpPr/>
          <p:nvPr/>
        </p:nvSpPr>
        <p:spPr>
          <a:xfrm>
            <a:off x="2880360" y="3566160"/>
            <a:ext cx="1920240" cy="320040"/>
          </a:xfrm>
          <a:prstGeom prst="rect">
            <a:avLst/>
          </a:prstGeom>
          <a:solidFill>
            <a:srgbClr val="F5F5F5"/>
          </a:solidFill>
          <a:ln w="12700">
            <a:solidFill>
              <a:srgbClr val="E0E0E0"/>
            </a:solidFill>
            <a:prstDash val="solid"/>
          </a:ln>
        </p:spPr>
      </p:sp>
      <p:sp>
        <p:nvSpPr>
          <p:cNvPr id="65" name="Text 63"/>
          <p:cNvSpPr/>
          <p:nvPr/>
        </p:nvSpPr>
        <p:spPr>
          <a:xfrm>
            <a:off x="2953512" y="35661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OFF</a:t>
            </a:r>
            <a:endParaRPr lang="en-US" sz="900" dirty="0"/>
          </a:p>
        </p:txBody>
      </p:sp>
      <p:sp>
        <p:nvSpPr>
          <p:cNvPr id="66" name="Shape 64"/>
          <p:cNvSpPr/>
          <p:nvPr/>
        </p:nvSpPr>
        <p:spPr>
          <a:xfrm>
            <a:off x="4800600" y="3566160"/>
            <a:ext cx="2194560" cy="320040"/>
          </a:xfrm>
          <a:prstGeom prst="rect">
            <a:avLst/>
          </a:prstGeom>
          <a:solidFill>
            <a:srgbClr val="F5F5F5"/>
          </a:solidFill>
          <a:ln w="12700">
            <a:solidFill>
              <a:srgbClr val="E0E0E0"/>
            </a:solidFill>
            <a:prstDash val="solid"/>
          </a:ln>
        </p:spPr>
      </p:sp>
      <p:sp>
        <p:nvSpPr>
          <p:cNvPr id="67" name="Text 65"/>
          <p:cNvSpPr/>
          <p:nvPr/>
        </p:nvSpPr>
        <p:spPr>
          <a:xfrm>
            <a:off x="4873752" y="35661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 water to treat</a:t>
            </a:r>
            <a:endParaRPr lang="en-US" sz="900" dirty="0"/>
          </a:p>
        </p:txBody>
      </p:sp>
      <p:sp>
        <p:nvSpPr>
          <p:cNvPr id="68" name="Shape 66"/>
          <p:cNvSpPr/>
          <p:nvPr/>
        </p:nvSpPr>
        <p:spPr>
          <a:xfrm>
            <a:off x="6995160" y="3566160"/>
            <a:ext cx="2167128" cy="320040"/>
          </a:xfrm>
          <a:prstGeom prst="rect">
            <a:avLst/>
          </a:prstGeom>
          <a:solidFill>
            <a:srgbClr val="F5F5F5"/>
          </a:solidFill>
          <a:ln w="12700">
            <a:solidFill>
              <a:srgbClr val="E0E0E0"/>
            </a:solidFill>
            <a:prstDash val="solid"/>
          </a:ln>
        </p:spPr>
      </p:sp>
      <p:sp>
        <p:nvSpPr>
          <p:cNvPr id="69" name="Text 67"/>
          <p:cNvSpPr/>
          <p:nvPr/>
        </p:nvSpPr>
        <p:spPr>
          <a:xfrm>
            <a:off x="7068312" y="35661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UV element overheating</a:t>
            </a:r>
            <a:endParaRPr lang="en-US" sz="900" dirty="0"/>
          </a:p>
        </p:txBody>
      </p:sp>
      <p:sp>
        <p:nvSpPr>
          <p:cNvPr id="70" name="Shape 68"/>
          <p:cNvSpPr/>
          <p:nvPr/>
        </p:nvSpPr>
        <p:spPr>
          <a:xfrm>
            <a:off x="320040" y="4023360"/>
            <a:ext cx="548640" cy="320040"/>
          </a:xfrm>
          <a:prstGeom prst="rect">
            <a:avLst/>
          </a:prstGeom>
          <a:solidFill>
            <a:srgbClr val="FFFFFF"/>
          </a:solidFill>
          <a:ln w="12700">
            <a:solidFill>
              <a:srgbClr val="E0E0E0"/>
            </a:solidFill>
            <a:prstDash val="solid"/>
          </a:ln>
        </p:spPr>
      </p:sp>
      <p:sp>
        <p:nvSpPr>
          <p:cNvPr id="71" name="Text 69"/>
          <p:cNvSpPr/>
          <p:nvPr/>
        </p:nvSpPr>
        <p:spPr>
          <a:xfrm>
            <a:off x="393192" y="4023360"/>
            <a:ext cx="4023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P6</a:t>
            </a:r>
            <a:endParaRPr lang="en-US" sz="900" dirty="0"/>
          </a:p>
        </p:txBody>
      </p:sp>
      <p:sp>
        <p:nvSpPr>
          <p:cNvPr id="72" name="Shape 70"/>
          <p:cNvSpPr/>
          <p:nvPr/>
        </p:nvSpPr>
        <p:spPr>
          <a:xfrm>
            <a:off x="868680" y="4023360"/>
            <a:ext cx="2011680" cy="320040"/>
          </a:xfrm>
          <a:prstGeom prst="rect">
            <a:avLst/>
          </a:prstGeom>
          <a:solidFill>
            <a:srgbClr val="FFFFFF"/>
          </a:solidFill>
          <a:ln w="12700">
            <a:solidFill>
              <a:srgbClr val="E0E0E0"/>
            </a:solidFill>
            <a:prstDash val="solid"/>
          </a:ln>
        </p:spPr>
      </p:sp>
      <p:sp>
        <p:nvSpPr>
          <p:cNvPr id="73" name="Text 71"/>
          <p:cNvSpPr/>
          <p:nvPr/>
        </p:nvSpPr>
        <p:spPr>
          <a:xfrm>
            <a:off x="941832" y="4023360"/>
            <a:ext cx="186537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P602</a:t>
            </a:r>
            <a:endParaRPr lang="en-US" sz="900" dirty="0"/>
          </a:p>
        </p:txBody>
      </p:sp>
      <p:sp>
        <p:nvSpPr>
          <p:cNvPr id="74" name="Shape 72"/>
          <p:cNvSpPr/>
          <p:nvPr/>
        </p:nvSpPr>
        <p:spPr>
          <a:xfrm>
            <a:off x="2880360" y="4023360"/>
            <a:ext cx="1920240" cy="320040"/>
          </a:xfrm>
          <a:prstGeom prst="rect">
            <a:avLst/>
          </a:prstGeom>
          <a:solidFill>
            <a:srgbClr val="FFFFFF"/>
          </a:solidFill>
          <a:ln w="12700">
            <a:solidFill>
              <a:srgbClr val="E0E0E0"/>
            </a:solidFill>
            <a:prstDash val="solid"/>
          </a:ln>
        </p:spPr>
      </p:sp>
      <p:sp>
        <p:nvSpPr>
          <p:cNvPr id="75" name="Text 73"/>
          <p:cNvSpPr/>
          <p:nvPr/>
        </p:nvSpPr>
        <p:spPr>
          <a:xfrm>
            <a:off x="2953512" y="4023360"/>
            <a:ext cx="177393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OFF</a:t>
            </a:r>
            <a:endParaRPr lang="en-US" sz="900" dirty="0"/>
          </a:p>
        </p:txBody>
      </p:sp>
      <p:sp>
        <p:nvSpPr>
          <p:cNvPr id="76" name="Shape 74"/>
          <p:cNvSpPr/>
          <p:nvPr/>
        </p:nvSpPr>
        <p:spPr>
          <a:xfrm>
            <a:off x="4800600" y="4023360"/>
            <a:ext cx="2194560" cy="320040"/>
          </a:xfrm>
          <a:prstGeom prst="rect">
            <a:avLst/>
          </a:prstGeom>
          <a:solidFill>
            <a:srgbClr val="FFFFFF"/>
          </a:solidFill>
          <a:ln w="12700">
            <a:solidFill>
              <a:srgbClr val="E0E0E0"/>
            </a:solidFill>
            <a:prstDash val="solid"/>
          </a:ln>
        </p:spPr>
      </p:sp>
      <p:sp>
        <p:nvSpPr>
          <p:cNvPr id="77" name="Text 75"/>
          <p:cNvSpPr/>
          <p:nvPr/>
        </p:nvSpPr>
        <p:spPr>
          <a:xfrm>
            <a:off x="4873752" y="4023360"/>
            <a:ext cx="204825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RO pump off</a:t>
            </a:r>
            <a:endParaRPr lang="en-US" sz="900" dirty="0"/>
          </a:p>
        </p:txBody>
      </p:sp>
      <p:sp>
        <p:nvSpPr>
          <p:cNvPr id="78" name="Shape 76"/>
          <p:cNvSpPr/>
          <p:nvPr/>
        </p:nvSpPr>
        <p:spPr>
          <a:xfrm>
            <a:off x="6995160" y="4023360"/>
            <a:ext cx="2167128" cy="320040"/>
          </a:xfrm>
          <a:prstGeom prst="rect">
            <a:avLst/>
          </a:prstGeom>
          <a:solidFill>
            <a:srgbClr val="FFFFFF"/>
          </a:solidFill>
          <a:ln w="12700">
            <a:solidFill>
              <a:srgbClr val="E0E0E0"/>
            </a:solidFill>
            <a:prstDash val="solid"/>
          </a:ln>
        </p:spPr>
      </p:sp>
      <p:sp>
        <p:nvSpPr>
          <p:cNvPr id="79" name="Text 77"/>
          <p:cNvSpPr/>
          <p:nvPr/>
        </p:nvSpPr>
        <p:spPr>
          <a:xfrm>
            <a:off x="7068312" y="4023360"/>
            <a:ext cx="2020824"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Membrane damage</a:t>
            </a:r>
            <a:endParaRPr lang="en-US" sz="900" dirty="0"/>
          </a:p>
        </p:txBody>
      </p:sp>
      <p:sp>
        <p:nvSpPr>
          <p:cNvPr id="80" name="Shape 78"/>
          <p:cNvSpPr/>
          <p:nvPr/>
        </p:nvSpPr>
        <p:spPr>
          <a:xfrm>
            <a:off x="320040" y="4617720"/>
            <a:ext cx="11548872" cy="1097280"/>
          </a:xfrm>
          <a:prstGeom prst="rect">
            <a:avLst/>
          </a:prstGeom>
          <a:solidFill>
            <a:srgbClr val="F0FFF4"/>
          </a:solidFill>
          <a:ln w="12700">
            <a:solidFill>
              <a:srgbClr val="2E7D32"/>
            </a:solidFill>
            <a:prstDash val="solid"/>
          </a:ln>
        </p:spPr>
      </p:sp>
      <p:sp>
        <p:nvSpPr>
          <p:cNvPr id="81" name="Text 79"/>
          <p:cNvSpPr/>
          <p:nvPr/>
        </p:nvSpPr>
        <p:spPr>
          <a:xfrm>
            <a:off x="457200" y="4709160"/>
            <a:ext cx="11274552" cy="822960"/>
          </a:xfrm>
          <a:prstGeom prst="rect">
            <a:avLst/>
          </a:prstGeom>
          <a:noFill/>
          <a:ln/>
        </p:spPr>
        <p:txBody>
          <a:bodyPr wrap="square" rtlCol="0" anchor="t"/>
          <a:lstStyle/>
          <a:p>
            <a:pPr indent="0" marL="0">
              <a:buNone/>
            </a:pPr>
            <a:r>
              <a:rPr lang="en-US" sz="1050" dirty="0">
                <a:solidFill>
                  <a:srgbClr val="2E7D32"/>
                </a:solidFill>
                <a:latin typeface="Calibri" pitchFamily="34" charset="0"/>
                <a:ea typeface="Calibri" pitchFamily="34" charset="-122"/>
                <a:cs typeface="Calibri" pitchFamily="34" charset="-120"/>
              </a:rPr>
              <a:t>PLC1B Failover: SWaT runs dual PLCs per stage. After safe state is written to PLC1A, PLC1B (192.168.1.11) takes control via EtherNet/IP handshake. PLC1B has identical ladder logic and resumes from the last safe register state. PLC1A is isolated until re-verified.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Defense Implementation &amp; Evaluation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Live testbed results (16 Apr 2026) + simulated validation (test_detectors.py)</a:t>
            </a:r>
            <a:endParaRPr lang="en-US" sz="1200" dirty="0"/>
          </a:p>
        </p:txBody>
      </p:sp>
      <p:sp>
        <p:nvSpPr>
          <p:cNvPr id="10" name="Shape 8"/>
          <p:cNvSpPr/>
          <p:nvPr/>
        </p:nvSpPr>
        <p:spPr>
          <a:xfrm>
            <a:off x="320040" y="1463040"/>
            <a:ext cx="11548872" cy="1143000"/>
          </a:xfrm>
          <a:prstGeom prst="rect">
            <a:avLst/>
          </a:prstGeom>
          <a:solidFill>
            <a:srgbClr val="F5F5F5"/>
          </a:solidFill>
          <a:ln w="12700">
            <a:solidFill>
              <a:srgbClr val="E0E0E0"/>
            </a:solidFill>
            <a:prstDash val="solid"/>
          </a:ln>
        </p:spPr>
      </p:sp>
      <p:sp>
        <p:nvSpPr>
          <p:cNvPr id="11" name="Shape 9"/>
          <p:cNvSpPr/>
          <p:nvPr/>
        </p:nvSpPr>
        <p:spPr>
          <a:xfrm>
            <a:off x="320040" y="1463040"/>
            <a:ext cx="54864" cy="1143000"/>
          </a:xfrm>
          <a:prstGeom prst="rect">
            <a:avLst/>
          </a:prstGeom>
          <a:solidFill>
            <a:srgbClr val="2E7D32"/>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Detection Rate (DR)</a:t>
            </a:r>
            <a:endParaRPr lang="en-US" sz="1100" dirty="0"/>
          </a:p>
        </p:txBody>
      </p:sp>
      <p:sp>
        <p:nvSpPr>
          <p:cNvPr id="13" name="Text 11"/>
          <p:cNvSpPr/>
          <p:nvPr/>
        </p:nvSpPr>
        <p:spPr>
          <a:xfrm>
            <a:off x="502920" y="182880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Live: Invariant detected on cycle 1 — I-2, I-6, I-9, I-9b, I-9c fired. 104 violation cycles logged. AE flagged MSE=367 (sensor fault). Simulated (LIT-only AE): 94/100 detection, 0% FPR. Hybrid catches all scenarios.</a:t>
            </a:r>
            <a:endParaRPr lang="en-US" sz="1050" dirty="0"/>
          </a:p>
        </p:txBody>
      </p:sp>
      <p:sp>
        <p:nvSpPr>
          <p:cNvPr id="14" name="Shape 12"/>
          <p:cNvSpPr/>
          <p:nvPr/>
        </p:nvSpPr>
        <p:spPr>
          <a:xfrm>
            <a:off x="320040" y="2743200"/>
            <a:ext cx="11548872" cy="1143000"/>
          </a:xfrm>
          <a:prstGeom prst="rect">
            <a:avLst/>
          </a:prstGeom>
          <a:solidFill>
            <a:srgbClr val="F5F5F5"/>
          </a:solidFill>
          <a:ln w="12700">
            <a:solidFill>
              <a:srgbClr val="E0E0E0"/>
            </a:solidFill>
            <a:prstDash val="solid"/>
          </a:ln>
        </p:spPr>
      </p:sp>
      <p:sp>
        <p:nvSpPr>
          <p:cNvPr id="15" name="Shape 13"/>
          <p:cNvSpPr/>
          <p:nvPr/>
        </p:nvSpPr>
        <p:spPr>
          <a:xfrm>
            <a:off x="320040" y="2743200"/>
            <a:ext cx="54864" cy="1143000"/>
          </a:xfrm>
          <a:prstGeom prst="rect">
            <a:avLst/>
          </a:prstGeom>
          <a:solidFill>
            <a:srgbClr val="2E7D32"/>
          </a:solidFill>
          <a:ln/>
        </p:spPr>
      </p:sp>
      <p:sp>
        <p:nvSpPr>
          <p:cNvPr id="16" name="Text 14"/>
          <p:cNvSpPr/>
          <p:nvPr/>
        </p:nvSpPr>
        <p:spPr>
          <a:xfrm>
            <a:off x="502920" y="281635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False Positive Rate (FPR)</a:t>
            </a:r>
            <a:endParaRPr lang="en-US" sz="1100" dirty="0"/>
          </a:p>
        </p:txBody>
      </p:sp>
      <p:sp>
        <p:nvSpPr>
          <p:cNvPr id="17" name="Text 15"/>
          <p:cNvSpPr/>
          <p:nvPr/>
        </p:nvSpPr>
        <p:spPr>
          <a:xfrm>
            <a:off x="502920" y="310896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Live: Phase 2 spoofed LIT101 from 609mm to 1345mm on HMI while physical tank drained to 502mm — 736mm concealment gap. Simulated (LIT-only AE): 0/500 false alarms (0.0% FPR), MSE 19x below threshold.</a:t>
            </a:r>
            <a:endParaRPr lang="en-US" sz="1050" dirty="0"/>
          </a:p>
        </p:txBody>
      </p:sp>
      <p:sp>
        <p:nvSpPr>
          <p:cNvPr id="18" name="Shape 16"/>
          <p:cNvSpPr/>
          <p:nvPr/>
        </p:nvSpPr>
        <p:spPr>
          <a:xfrm>
            <a:off x="320040" y="4023360"/>
            <a:ext cx="11548872" cy="1143000"/>
          </a:xfrm>
          <a:prstGeom prst="rect">
            <a:avLst/>
          </a:prstGeom>
          <a:solidFill>
            <a:srgbClr val="F5F5F5"/>
          </a:solidFill>
          <a:ln w="12700">
            <a:solidFill>
              <a:srgbClr val="E0E0E0"/>
            </a:solidFill>
            <a:prstDash val="solid"/>
          </a:ln>
        </p:spPr>
      </p:sp>
      <p:sp>
        <p:nvSpPr>
          <p:cNvPr id="19" name="Shape 17"/>
          <p:cNvSpPr/>
          <p:nvPr/>
        </p:nvSpPr>
        <p:spPr>
          <a:xfrm>
            <a:off x="320040" y="4023360"/>
            <a:ext cx="54864" cy="1143000"/>
          </a:xfrm>
          <a:prstGeom prst="rect">
            <a:avLst/>
          </a:prstGeom>
          <a:solidFill>
            <a:srgbClr val="2E7D32"/>
          </a:solidFill>
          <a:ln/>
        </p:spPr>
      </p:sp>
      <p:sp>
        <p:nvSpPr>
          <p:cNvPr id="20" name="Text 18"/>
          <p:cNvSpPr/>
          <p:nvPr/>
        </p:nvSpPr>
        <p:spPr>
          <a:xfrm>
            <a:off x="502920" y="409651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Recovery Time (RT)</a:t>
            </a:r>
            <a:endParaRPr lang="en-US" sz="1100" dirty="0"/>
          </a:p>
        </p:txBody>
      </p:sp>
      <p:sp>
        <p:nvSpPr>
          <p:cNvPr id="21" name="Text 19"/>
          <p:cNvSpPr/>
          <p:nvPr/>
        </p:nvSpPr>
        <p:spPr>
          <a:xfrm>
            <a:off x="502920" y="4389120"/>
            <a:ext cx="11365992" cy="66751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Live: Fusion ALERT at 16:33:11 (3s after defence started). Recovery restored safe state on PLC1+PLC2, disabled Sim tags. Post-recovery LIT101=502mm. Simulated: full 5-step recovery in &lt;12s on PLC simulator.</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8243C"/>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REF</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References (Defense)</a:t>
            </a:r>
            <a:endParaRPr lang="en-US" sz="3200" dirty="0"/>
          </a:p>
        </p:txBody>
      </p:sp>
      <p:sp>
        <p:nvSpPr>
          <p:cNvPr id="9" name="Text 7"/>
          <p:cNvSpPr/>
          <p:nvPr/>
        </p:nvSpPr>
        <p:spPr>
          <a:xfrm>
            <a:off x="320040" y="1463040"/>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[1] S. Adepu &amp; A. Mathur. "Using Process Invariants to Detect Cyber Attacks on a Water Treatment System." IFIP SEC 2016. (Paper #88)</a:t>
            </a:r>
            <a:endParaRPr lang="en-US" sz="1050" dirty="0"/>
          </a:p>
        </p:txBody>
      </p:sp>
      <p:sp>
        <p:nvSpPr>
          <p:cNvPr id="10" name="Text 8"/>
          <p:cNvSpPr/>
          <p:nvPr/>
        </p:nvSpPr>
        <p:spPr>
          <a:xfrm>
            <a:off x="320040" y="2212848"/>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[2] J. H. Castellanos et al. "Constrained Concealment Attacks against Reconstruction-based Anomaly Detectors in ICS." ACM ACSAC 2020. (Paper #31)</a:t>
            </a:r>
            <a:endParaRPr lang="en-US" sz="1050" dirty="0"/>
          </a:p>
        </p:txBody>
      </p:sp>
      <p:sp>
        <p:nvSpPr>
          <p:cNvPr id="11" name="Text 9"/>
          <p:cNvSpPr/>
          <p:nvPr/>
        </p:nvSpPr>
        <p:spPr>
          <a:xfrm>
            <a:off x="320040" y="2962656"/>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[3] S. Adepu &amp; A. Mathur. "Distributed Detection of Single-Stage Multipoint Cyber Attacks." ACM AsiaCCS 2016.</a:t>
            </a:r>
            <a:endParaRPr lang="en-US" sz="1050" dirty="0"/>
          </a:p>
        </p:txBody>
      </p:sp>
      <p:sp>
        <p:nvSpPr>
          <p:cNvPr id="12" name="Text 10"/>
          <p:cNvSpPr/>
          <p:nvPr/>
        </p:nvSpPr>
        <p:spPr>
          <a:xfrm>
            <a:off x="320040" y="3712464"/>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[4] C. M. Ahmed, J. Zhou &amp; A. P. Mathur. "Attacking Fieldbus Communications in ICS." SG-CRC 2016.</a:t>
            </a:r>
            <a:endParaRPr lang="en-US" sz="1050" dirty="0"/>
          </a:p>
        </p:txBody>
      </p:sp>
      <p:sp>
        <p:nvSpPr>
          <p:cNvPr id="13" name="Text 11"/>
          <p:cNvSpPr/>
          <p:nvPr/>
        </p:nvSpPr>
        <p:spPr>
          <a:xfrm>
            <a:off x="320040" y="4462272"/>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[5] iTrust, SUTD. "SWaT: Secure Water Treatment Testbed." https://itrust.sutd.edu.sg</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920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11460480" cy="219456"/>
          </a:xfrm>
          <a:prstGeom prst="rect">
            <a:avLst/>
          </a:prstGeom>
          <a:noFill/>
        </p:spPr>
        <p:txBody>
          <a:bodyPr wrap="square">
            <a:spAutoFit/>
          </a:bodyPr>
          <a:lstStyle/>
          <a:p>
            <a:pPr algn="l"/>
            <a:r>
              <a:rPr sz="800" b="0" i="0">
                <a:solidFill>
                  <a:srgbClr val="6B6B6B"/>
                </a:solidFill>
                <a:latin typeface="Calibri"/>
              </a:rPr>
              <a:t>51.508 Secure Cyber Physical Systems  ·  SWaT Project  ·  iTrust Lab, SUTD</a:t>
            </a:r>
          </a:p>
        </p:txBody>
      </p:sp>
      <p:sp>
        <p:nvSpPr>
          <p:cNvPr id="7" name="Rectangle 6"/>
          <p:cNvSpPr/>
          <p:nvPr/>
        </p:nvSpPr>
        <p:spPr>
          <a:xfrm>
            <a:off x="502920" y="548640"/>
            <a:ext cx="182880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8640"/>
            <a:ext cx="1828800" cy="384048"/>
          </a:xfrm>
          <a:prstGeom prst="rect">
            <a:avLst/>
          </a:prstGeom>
          <a:noFill/>
        </p:spPr>
        <p:txBody>
          <a:bodyPr wrap="square">
            <a:spAutoFit/>
          </a:bodyPr>
          <a:lstStyle/>
          <a:p>
            <a:pPr algn="ctr"/>
            <a:r>
              <a:rPr sz="1100" b="1" i="0">
                <a:solidFill>
                  <a:srgbClr val="FFFFFF"/>
                </a:solidFill>
                <a:latin typeface="Calibri"/>
              </a:rPr>
              <a:t>SECTION 4</a:t>
            </a:r>
          </a:p>
        </p:txBody>
      </p:sp>
      <p:sp>
        <p:nvSpPr>
          <p:cNvPr id="9" name="TextBox 8"/>
          <p:cNvSpPr txBox="1"/>
          <p:nvPr/>
        </p:nvSpPr>
        <p:spPr>
          <a:xfrm>
            <a:off x="502920" y="1097280"/>
            <a:ext cx="9144000" cy="914400"/>
          </a:xfrm>
          <a:prstGeom prst="rect">
            <a:avLst/>
          </a:prstGeom>
          <a:noFill/>
        </p:spPr>
        <p:txBody>
          <a:bodyPr wrap="square">
            <a:spAutoFit/>
          </a:bodyPr>
          <a:lstStyle/>
          <a:p>
            <a:pPr algn="l"/>
            <a:r>
              <a:rPr sz="3800" b="1" i="0">
                <a:solidFill>
                  <a:srgbClr val="1A1A1A"/>
                </a:solidFill>
                <a:latin typeface="Calibri Light"/>
              </a:rPr>
              <a:t>CPS Cyber Attack Recovery</a:t>
            </a:r>
          </a:p>
        </p:txBody>
      </p:sp>
      <p:sp>
        <p:nvSpPr>
          <p:cNvPr id="10" name="TextBox 9"/>
          <p:cNvSpPr txBox="1"/>
          <p:nvPr/>
        </p:nvSpPr>
        <p:spPr>
          <a:xfrm>
            <a:off x="502920" y="2029968"/>
            <a:ext cx="9144000" cy="475488"/>
          </a:xfrm>
          <a:prstGeom prst="rect">
            <a:avLst/>
          </a:prstGeom>
          <a:noFill/>
        </p:spPr>
        <p:txBody>
          <a:bodyPr wrap="square">
            <a:spAutoFit/>
          </a:bodyPr>
          <a:lstStyle/>
          <a:p>
            <a:pPr algn="l"/>
            <a:r>
              <a:rPr sz="2000" b="0" i="0">
                <a:solidFill>
                  <a:srgbClr val="E8243C"/>
                </a:solidFill>
                <a:latin typeface="Calibri Light"/>
              </a:rPr>
              <a:t>Methods, Taxonomy &amp; Application to SWaT</a:t>
            </a:r>
          </a:p>
        </p:txBody>
      </p:sp>
      <p:sp>
        <p:nvSpPr>
          <p:cNvPr id="11" name="Rectangle 10"/>
          <p:cNvSpPr/>
          <p:nvPr/>
        </p:nvSpPr>
        <p:spPr>
          <a:xfrm>
            <a:off x="502920" y="2697480"/>
            <a:ext cx="2560320" cy="8686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97480"/>
            <a:ext cx="2560320" cy="868680"/>
          </a:xfrm>
          <a:prstGeom prst="rect">
            <a:avLst/>
          </a:prstGeom>
          <a:noFill/>
        </p:spPr>
        <p:txBody>
          <a:bodyPr wrap="square">
            <a:spAutoFit/>
          </a:bodyPr>
          <a:lstStyle/>
          <a:p>
            <a:pPr algn="ctr"/>
            <a:r>
              <a:rPr sz="1100" b="1" i="0">
                <a:solidFill>
                  <a:srgbClr val="FFFFFF"/>
                </a:solidFill>
                <a:latin typeface="Calibri"/>
              </a:rPr>
              <a:t>Shallow Recovery
Safe-state + failover</a:t>
            </a:r>
          </a:p>
        </p:txBody>
      </p:sp>
      <p:sp>
        <p:nvSpPr>
          <p:cNvPr id="13" name="Rectangle 12"/>
          <p:cNvSpPr/>
          <p:nvPr/>
        </p:nvSpPr>
        <p:spPr>
          <a:xfrm>
            <a:off x="3246120" y="2697480"/>
            <a:ext cx="2560320" cy="868680"/>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697480"/>
            <a:ext cx="2560320" cy="868680"/>
          </a:xfrm>
          <a:prstGeom prst="rect">
            <a:avLst/>
          </a:prstGeom>
          <a:noFill/>
        </p:spPr>
        <p:txBody>
          <a:bodyPr wrap="square">
            <a:spAutoFit/>
          </a:bodyPr>
          <a:lstStyle/>
          <a:p>
            <a:pPr algn="ctr"/>
            <a:r>
              <a:rPr sz="1100" b="1" i="0">
                <a:solidFill>
                  <a:srgbClr val="FFFFFF"/>
                </a:solidFill>
                <a:latin typeface="Calibri"/>
              </a:rPr>
              <a:t>Deep Recovery
Dedicated controller</a:t>
            </a:r>
          </a:p>
        </p:txBody>
      </p:sp>
      <p:sp>
        <p:nvSpPr>
          <p:cNvPr id="15" name="Rectangle 14"/>
          <p:cNvSpPr/>
          <p:nvPr/>
        </p:nvSpPr>
        <p:spPr>
          <a:xfrm>
            <a:off x="5989320" y="2697480"/>
            <a:ext cx="2560320" cy="8686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2697480"/>
            <a:ext cx="2560320" cy="868680"/>
          </a:xfrm>
          <a:prstGeom prst="rect">
            <a:avLst/>
          </a:prstGeom>
          <a:noFill/>
        </p:spPr>
        <p:txBody>
          <a:bodyPr wrap="square">
            <a:spAutoFit/>
          </a:bodyPr>
          <a:lstStyle/>
          <a:p>
            <a:pPr algn="ctr"/>
            <a:r>
              <a:rPr sz="1100" b="1" i="0">
                <a:solidFill>
                  <a:srgbClr val="FFFFFF"/>
                </a:solidFill>
                <a:latin typeface="Calibri"/>
              </a:rPr>
              <a:t>State Estimation
Kalman / Luenberger</a:t>
            </a:r>
          </a:p>
        </p:txBody>
      </p:sp>
      <p:sp>
        <p:nvSpPr>
          <p:cNvPr id="17" name="Rectangle 16"/>
          <p:cNvSpPr/>
          <p:nvPr/>
        </p:nvSpPr>
        <p:spPr>
          <a:xfrm>
            <a:off x="8732520" y="2697480"/>
            <a:ext cx="2560320" cy="86868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20" y="2697480"/>
            <a:ext cx="2560320" cy="868680"/>
          </a:xfrm>
          <a:prstGeom prst="rect">
            <a:avLst/>
          </a:prstGeom>
          <a:noFill/>
        </p:spPr>
        <p:txBody>
          <a:bodyPr wrap="square">
            <a:spAutoFit/>
          </a:bodyPr>
          <a:lstStyle/>
          <a:p>
            <a:pPr algn="ctr"/>
            <a:r>
              <a:rPr sz="1100" b="1" i="0">
                <a:solidFill>
                  <a:srgbClr val="FFFFFF"/>
                </a:solidFill>
                <a:latin typeface="Calibri"/>
              </a:rPr>
              <a:t>NIST SP 800-82r3
OT incident response</a:t>
            </a:r>
          </a:p>
        </p:txBody>
      </p:sp>
      <p:sp>
        <p:nvSpPr>
          <p:cNvPr id="19" name="TextBox 18"/>
          <p:cNvSpPr txBox="1"/>
          <p:nvPr/>
        </p:nvSpPr>
        <p:spPr>
          <a:xfrm>
            <a:off x="502920" y="3749039"/>
            <a:ext cx="11369040" cy="347472"/>
          </a:xfrm>
          <a:prstGeom prst="rect">
            <a:avLst/>
          </a:prstGeom>
          <a:noFill/>
        </p:spPr>
        <p:txBody>
          <a:bodyPr wrap="square">
            <a:spAutoFit/>
          </a:bodyPr>
          <a:lstStyle/>
          <a:p>
            <a:pPr algn="l"/>
            <a:r>
              <a:rPr sz="1100" b="0" i="1">
                <a:solidFill>
                  <a:srgbClr val="6B6B6B"/>
                </a:solidFill>
                <a:latin typeface="Calibri"/>
              </a:rPr>
              <a:t>Key finding (ACM Survey 2024): Most CPS research focuses on detection — recovery is the least studied phase.</a:t>
            </a:r>
          </a:p>
        </p:txBody>
      </p:sp>
      <p:pic>
        <p:nvPicPr>
          <p:cNvPr id="20" name="Picture 19" descr="image.jpg"/>
          <p:cNvPicPr>
            <a:picLocks noChangeAspect="1"/>
          </p:cNvPicPr>
          <p:nvPr/>
        </p:nvPicPr>
        <p:blipFill>
          <a:blip r:embed="rId4"/>
          <a:stretch>
            <a:fillRect/>
          </a:stretch>
        </p:blipFill>
        <p:spPr>
          <a:xfrm>
            <a:off x="502920" y="4187952"/>
            <a:ext cx="11369040" cy="1828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RECOVERY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Recovery Taxonomy: Shallow vs Deep</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ACM Computing Surveys (2024) — two fundamental strategies identified</a:t>
            </a:r>
            <a:endParaRPr lang="en-US" sz="1200" dirty="0"/>
          </a:p>
        </p:txBody>
      </p:sp>
      <p:sp>
        <p:nvSpPr>
          <p:cNvPr id="10" name="Shape 8"/>
          <p:cNvSpPr/>
          <p:nvPr/>
        </p:nvSpPr>
        <p:spPr>
          <a:xfrm>
            <a:off x="320040" y="1417320"/>
            <a:ext cx="5637276" cy="384048"/>
          </a:xfrm>
          <a:prstGeom prst="rect">
            <a:avLst/>
          </a:prstGeom>
          <a:solidFill>
            <a:srgbClr val="2E7D32"/>
          </a:solidFill>
          <a:ln/>
        </p:spPr>
      </p:sp>
      <p:sp>
        <p:nvSpPr>
          <p:cNvPr id="11" name="Text 9"/>
          <p:cNvSpPr/>
          <p:nvPr/>
        </p:nvSpPr>
        <p:spPr>
          <a:xfrm>
            <a:off x="320040"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Shallow Recovery (Ours — Deployable Now)</a:t>
            </a:r>
            <a:endParaRPr lang="en-US" sz="1100" dirty="0"/>
          </a:p>
        </p:txBody>
      </p:sp>
      <p:sp>
        <p:nvSpPr>
          <p:cNvPr id="12" name="Shape 10"/>
          <p:cNvSpPr/>
          <p:nvPr/>
        </p:nvSpPr>
        <p:spPr>
          <a:xfrm>
            <a:off x="429768" y="1938528"/>
            <a:ext cx="73152" cy="73152"/>
          </a:xfrm>
          <a:prstGeom prst="rect">
            <a:avLst/>
          </a:prstGeom>
          <a:solidFill>
            <a:srgbClr val="2E7D32"/>
          </a:solidFill>
          <a:ln/>
        </p:spPr>
      </p:sp>
      <p:sp>
        <p:nvSpPr>
          <p:cNvPr id="13" name="Text 11"/>
          <p:cNvSpPr/>
          <p:nvPr/>
        </p:nvSpPr>
        <p:spPr>
          <a:xfrm>
            <a:off x="576072" y="187452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Safe-State Transition: deterministic lookup → write to PLC registers</a:t>
            </a:r>
            <a:endParaRPr lang="en-US" sz="1050" dirty="0"/>
          </a:p>
        </p:txBody>
      </p:sp>
      <p:sp>
        <p:nvSpPr>
          <p:cNvPr id="14" name="Shape 12"/>
          <p:cNvSpPr/>
          <p:nvPr/>
        </p:nvSpPr>
        <p:spPr>
          <a:xfrm>
            <a:off x="429768" y="2761488"/>
            <a:ext cx="73152" cy="73152"/>
          </a:xfrm>
          <a:prstGeom prst="rect">
            <a:avLst/>
          </a:prstGeom>
          <a:solidFill>
            <a:srgbClr val="2E7D32"/>
          </a:solidFill>
          <a:ln/>
        </p:spPr>
      </p:sp>
      <p:sp>
        <p:nvSpPr>
          <p:cNvPr id="15" name="Text 13"/>
          <p:cNvSpPr/>
          <p:nvPr/>
        </p:nvSpPr>
        <p:spPr>
          <a:xfrm>
            <a:off x="576072" y="269748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Hot-Standby PLC Failover: EtherNet/IP handshake → PLC1B &lt; 3s</a:t>
            </a:r>
            <a:endParaRPr lang="en-US" sz="1050" dirty="0"/>
          </a:p>
        </p:txBody>
      </p:sp>
      <p:sp>
        <p:nvSpPr>
          <p:cNvPr id="16" name="Shape 14"/>
          <p:cNvSpPr/>
          <p:nvPr/>
        </p:nvSpPr>
        <p:spPr>
          <a:xfrm>
            <a:off x="429768" y="3584448"/>
            <a:ext cx="73152" cy="73152"/>
          </a:xfrm>
          <a:prstGeom prst="rect">
            <a:avLst/>
          </a:prstGeom>
          <a:solidFill>
            <a:srgbClr val="2E7D32"/>
          </a:solidFill>
          <a:ln/>
        </p:spPr>
      </p:sp>
      <p:sp>
        <p:nvSpPr>
          <p:cNvPr id="17" name="Text 15"/>
          <p:cNvSpPr/>
          <p:nvPr/>
        </p:nvSpPr>
        <p:spPr>
          <a:xfrm>
            <a:off x="576072" y="352044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Network Isolation: iptables + VLAN at L2 switch</a:t>
            </a:r>
            <a:endParaRPr lang="en-US" sz="1050" dirty="0"/>
          </a:p>
        </p:txBody>
      </p:sp>
      <p:sp>
        <p:nvSpPr>
          <p:cNvPr id="18" name="Shape 16"/>
          <p:cNvSpPr/>
          <p:nvPr/>
        </p:nvSpPr>
        <p:spPr>
          <a:xfrm>
            <a:off x="429768" y="4407408"/>
            <a:ext cx="73152" cy="73152"/>
          </a:xfrm>
          <a:prstGeom prst="rect">
            <a:avLst/>
          </a:prstGeom>
          <a:solidFill>
            <a:srgbClr val="2E7D32"/>
          </a:solidFill>
          <a:ln/>
        </p:spPr>
      </p:sp>
      <p:sp>
        <p:nvSpPr>
          <p:cNvPr id="19" name="Text 17"/>
          <p:cNvSpPr/>
          <p:nvPr/>
        </p:nvSpPr>
        <p:spPr>
          <a:xfrm>
            <a:off x="576072" y="434340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Checkpoint &amp; Restore: HMI historian snapshot rollback</a:t>
            </a:r>
            <a:endParaRPr lang="en-US" sz="1050" dirty="0"/>
          </a:p>
        </p:txBody>
      </p:sp>
      <p:sp>
        <p:nvSpPr>
          <p:cNvPr id="20" name="Shape 18"/>
          <p:cNvSpPr/>
          <p:nvPr/>
        </p:nvSpPr>
        <p:spPr>
          <a:xfrm>
            <a:off x="6231636" y="1417320"/>
            <a:ext cx="5637276" cy="384048"/>
          </a:xfrm>
          <a:prstGeom prst="rect">
            <a:avLst/>
          </a:prstGeom>
          <a:solidFill>
            <a:srgbClr val="1565C0"/>
          </a:solidFill>
          <a:ln/>
        </p:spPr>
      </p:sp>
      <p:sp>
        <p:nvSpPr>
          <p:cNvPr id="21" name="Text 19"/>
          <p:cNvSpPr/>
          <p:nvPr/>
        </p:nvSpPr>
        <p:spPr>
          <a:xfrm>
            <a:off x="6231636"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Deep Recovery (Research Extension)</a:t>
            </a:r>
            <a:endParaRPr lang="en-US" sz="1100" dirty="0"/>
          </a:p>
        </p:txBody>
      </p:sp>
      <p:sp>
        <p:nvSpPr>
          <p:cNvPr id="22" name="Shape 20"/>
          <p:cNvSpPr/>
          <p:nvPr/>
        </p:nvSpPr>
        <p:spPr>
          <a:xfrm>
            <a:off x="6341364" y="1938528"/>
            <a:ext cx="73152" cy="73152"/>
          </a:xfrm>
          <a:prstGeom prst="rect">
            <a:avLst/>
          </a:prstGeom>
          <a:solidFill>
            <a:srgbClr val="1565C0"/>
          </a:solidFill>
          <a:ln/>
        </p:spPr>
      </p:sp>
      <p:sp>
        <p:nvSpPr>
          <p:cNvPr id="23" name="Text 21"/>
          <p:cNvSpPr/>
          <p:nvPr/>
        </p:nvSpPr>
        <p:spPr>
          <a:xfrm>
            <a:off x="6487668" y="187452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Secure State Estimation: Luenberger/Kalman observer reconstructs true state</a:t>
            </a:r>
            <a:endParaRPr lang="en-US" sz="1050" dirty="0"/>
          </a:p>
        </p:txBody>
      </p:sp>
      <p:sp>
        <p:nvSpPr>
          <p:cNvPr id="24" name="Shape 22"/>
          <p:cNvSpPr/>
          <p:nvPr/>
        </p:nvSpPr>
        <p:spPr>
          <a:xfrm>
            <a:off x="6341364" y="2761488"/>
            <a:ext cx="73152" cy="73152"/>
          </a:xfrm>
          <a:prstGeom prst="rect">
            <a:avLst/>
          </a:prstGeom>
          <a:solidFill>
            <a:srgbClr val="1565C0"/>
          </a:solidFill>
          <a:ln/>
        </p:spPr>
      </p:sp>
      <p:sp>
        <p:nvSpPr>
          <p:cNvPr id="25" name="Text 23"/>
          <p:cNvSpPr/>
          <p:nvPr/>
        </p:nvSpPr>
        <p:spPr>
          <a:xfrm>
            <a:off x="6487668" y="269748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Model Predictive Control Recovery (He et al. 2021): resilient MPC</a:t>
            </a:r>
            <a:endParaRPr lang="en-US" sz="1050" dirty="0"/>
          </a:p>
        </p:txBody>
      </p:sp>
      <p:sp>
        <p:nvSpPr>
          <p:cNvPr id="26" name="Shape 24"/>
          <p:cNvSpPr/>
          <p:nvPr/>
        </p:nvSpPr>
        <p:spPr>
          <a:xfrm>
            <a:off x="6341364" y="3584448"/>
            <a:ext cx="73152" cy="73152"/>
          </a:xfrm>
          <a:prstGeom prst="rect">
            <a:avLst/>
          </a:prstGeom>
          <a:solidFill>
            <a:srgbClr val="1565C0"/>
          </a:solidFill>
          <a:ln/>
        </p:spPr>
      </p:sp>
      <p:sp>
        <p:nvSpPr>
          <p:cNvPr id="27" name="Text 25"/>
          <p:cNvSpPr/>
          <p:nvPr/>
        </p:nvSpPr>
        <p:spPr>
          <a:xfrm>
            <a:off x="6487668" y="352044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Sliding Mode Observer: reconstructs sensor/actuator attacks online</a:t>
            </a:r>
            <a:endParaRPr lang="en-US" sz="1050" dirty="0"/>
          </a:p>
        </p:txBody>
      </p:sp>
      <p:sp>
        <p:nvSpPr>
          <p:cNvPr id="28" name="Shape 26"/>
          <p:cNvSpPr/>
          <p:nvPr/>
        </p:nvSpPr>
        <p:spPr>
          <a:xfrm>
            <a:off x="6341364" y="4407408"/>
            <a:ext cx="73152" cy="73152"/>
          </a:xfrm>
          <a:prstGeom prst="rect">
            <a:avLst/>
          </a:prstGeom>
          <a:solidFill>
            <a:srgbClr val="1565C0"/>
          </a:solidFill>
          <a:ln/>
        </p:spPr>
      </p:sp>
      <p:sp>
        <p:nvSpPr>
          <p:cNvPr id="29" name="Text 27"/>
          <p:cNvSpPr/>
          <p:nvPr/>
        </p:nvSpPr>
        <p:spPr>
          <a:xfrm>
            <a:off x="6487668" y="434340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Invariant-Guided Reconstruction: physics-constrained sensor re-entry</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SSE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Secure State Estimation (SSE) Methods</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Core academic methods for reconstructing plant state under sensor attack</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1565C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Luenberger Observer (Lu &amp; Yang, Info. Sci. 2017)</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Augments system state with attack signals. Switched observer selects attack-free sensor subsets. Guarantees exponential convergence under sparse attacks. Requires linear P1 hydraulic model.</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1565C0"/>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Kalman-based Secure Estimator (Chang, Hu &amp; Tomlin, 2015)</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Treats attack as sparse coding error. Recovers true state if system is 2s-sparse observable. Extended Kalman generalises to nonlinear SWaT tank dynamics.</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1565C0"/>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Sliding Mode Observer (SMO, 2016)</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Finite-time convergent observer. Reconstructs both sensor and actuator attacks online. Super-twisting variant handles time-varying attacks without a priori attack model.</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1565C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THEORY</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Fundamental Limit: 2s-Sparse Observability</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How many sensors can be corrupted before state reconstruction becomes impossible?</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1565C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Theorem (Shoukry &amp; Tabuada, IEEE TAC 2016)</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True state uniquely recoverable despite attacks on ≤ s sensors IF AND ONLY IF the system remains observable after removing any 2s sensor rows from C. This is called 2s-sparse observability.</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1565C0"/>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SWaT P1 Sparse Observability Analysis</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P1 has 5 sensors/actuators. Phase 1 targets MV101 + P101 coils (2 sensors). Need 2×1=2-sparse observability. P1 satisfies this: FIT101 + LIT101 + process ODE fully determine tank state.</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1565C0"/>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1565C0"/>
                </a:solidFill>
                <a:latin typeface="Calibri" pitchFamily="34" charset="0"/>
                <a:ea typeface="Calibri" pitchFamily="34" charset="-122"/>
                <a:cs typeface="Calibri" pitchFamily="34" charset="-120"/>
              </a:rPr>
              <a:t>Practical Implication for Recovery</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Even if both MV101 and P101 coil reads are compromised, LIT101.Pv and AI_FIT_101_FLOW plus the ODE model can reconstruct the true plant state during recovery.</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Proposed: Invariant-Guided Sensor Reconstruction</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SWaT-specific deep recovery — physics-constrained re-entry after safe state</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2E7D32"/>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P1 Tank ODE Model</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dL/dt = (Q_in - Q_out) / A_tank  where  Q_in = MV101_state × FIT101, Q_out = P101_state × rated_flow, A_tank ≈ 1.5 m². In safe state: pumps OFF → dL/dt = 0 → LIT101 predictable.</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2E7D32"/>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Sequential Sensor Re-entry Algorithm</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Steps: 1) Reach safe state. 2) Isolate attack channel. 3) Reconstruct LIT101 from ODE. 4) Re-enable FIT101 first (reads ~0 — valve closed). 5) Accept each sensor only if all 8 invariants pass for 5+ cycles.</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2E7D32"/>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Why This Matters</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Attacker may still have Sim tags active during recovery window. Invariant-gated acceptance rejects spoofed readings before they reach PLC control loop. No external trusted sensor needed — ODE provides ground truth.</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6510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NIST</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NIST SP 800-82r3 Alignment</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Our recovery design maps directly to OT security framework principles</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E6510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RC.RP-1: Recovery plan executed automatically</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recovery_agent.py launches automatically on ALERT — no human in the loop for Phase 1 containment. Pre-coded, tested, deterministic.</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E65100"/>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RS.CO-3: Consistent stakeholder communication</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SCADA HMI alarm triggers notification. PLC1B takeover reflected in all monitoring dashboards within 1 cycle.</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E65100"/>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RS.AN-1: Detection notifications investigated</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Fusion engine logs: which layer fired, sensor snapshot at T=alert — sufficient for post-incident forensic root cause analysis.</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65100"/>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CASES</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Real-World Recovery Case Studies</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What actually happened in water/ICS attacks — lessons for SWaT</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E65100"/>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 Oldsmar, Florida (Feb 2021)</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 remote NaOH modification to 111× normal via TeamViewer. Recovery: operator noticed cursor moving — manual revert. Lesson: human-in-the-loop worked, but automated alert would have fired faster.</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E65100"/>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 Texas Water Utilities (Apr 2024)</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 Unitronics PLCs targeted, tank overflowed. Recovery: manual override, days to verify integrity. Lesson: no hot-standby PLC, no automated safe-state — recovery took days vs our &lt;15s target.</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E65100"/>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 Stuxnet (Natanz, 2009–2010)</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Attack: centrifuge speed manipulation + HMI spoofing. Recovery: none — no invariant checker. Lesson: I-7 equivalent would have caught actuator/sensor inconsistency in &lt;3 cycles.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COMPARE</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Recovery Methods — Comparison Matrix</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Evaluating methods against SWaT constraints: real-time PLC, EtherNet/IP attack, sensor spoofing</a:t>
            </a:r>
            <a:endParaRPr lang="en-US" sz="1200" dirty="0"/>
          </a:p>
        </p:txBody>
      </p:sp>
      <p:sp>
        <p:nvSpPr>
          <p:cNvPr id="10" name="Shape 8"/>
          <p:cNvSpPr/>
          <p:nvPr/>
        </p:nvSpPr>
        <p:spPr>
          <a:xfrm>
            <a:off x="320040" y="1417320"/>
            <a:ext cx="2560320" cy="320040"/>
          </a:xfrm>
          <a:prstGeom prst="rect">
            <a:avLst/>
          </a:prstGeom>
          <a:solidFill>
            <a:srgbClr val="E8243C"/>
          </a:solidFill>
          <a:ln w="12700">
            <a:solidFill>
              <a:srgbClr val="E0E0E0"/>
            </a:solidFill>
            <a:prstDash val="solid"/>
          </a:ln>
        </p:spPr>
      </p:sp>
      <p:sp>
        <p:nvSpPr>
          <p:cNvPr id="11" name="Text 9"/>
          <p:cNvSpPr/>
          <p:nvPr/>
        </p:nvSpPr>
        <p:spPr>
          <a:xfrm>
            <a:off x="393192" y="1417320"/>
            <a:ext cx="241401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Method</a:t>
            </a:r>
            <a:endParaRPr lang="en-US" sz="900" dirty="0"/>
          </a:p>
        </p:txBody>
      </p:sp>
      <p:sp>
        <p:nvSpPr>
          <p:cNvPr id="12" name="Shape 10"/>
          <p:cNvSpPr/>
          <p:nvPr/>
        </p:nvSpPr>
        <p:spPr>
          <a:xfrm>
            <a:off x="2880360" y="1417320"/>
            <a:ext cx="914400" cy="320040"/>
          </a:xfrm>
          <a:prstGeom prst="rect">
            <a:avLst/>
          </a:prstGeom>
          <a:solidFill>
            <a:srgbClr val="E8243C"/>
          </a:solidFill>
          <a:ln w="12700">
            <a:solidFill>
              <a:srgbClr val="E0E0E0"/>
            </a:solidFill>
            <a:prstDash val="solid"/>
          </a:ln>
        </p:spPr>
      </p:sp>
      <p:sp>
        <p:nvSpPr>
          <p:cNvPr id="13" name="Text 11"/>
          <p:cNvSpPr/>
          <p:nvPr/>
        </p:nvSpPr>
        <p:spPr>
          <a:xfrm>
            <a:off x="2953512" y="141732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RT</a:t>
            </a:r>
            <a:endParaRPr lang="en-US" sz="900" dirty="0"/>
          </a:p>
        </p:txBody>
      </p:sp>
      <p:sp>
        <p:nvSpPr>
          <p:cNvPr id="14" name="Shape 12"/>
          <p:cNvSpPr/>
          <p:nvPr/>
        </p:nvSpPr>
        <p:spPr>
          <a:xfrm>
            <a:off x="3794760" y="1417320"/>
            <a:ext cx="914400" cy="320040"/>
          </a:xfrm>
          <a:prstGeom prst="rect">
            <a:avLst/>
          </a:prstGeom>
          <a:solidFill>
            <a:srgbClr val="E8243C"/>
          </a:solidFill>
          <a:ln w="12700">
            <a:solidFill>
              <a:srgbClr val="E0E0E0"/>
            </a:solidFill>
            <a:prstDash val="solid"/>
          </a:ln>
        </p:spPr>
      </p:sp>
      <p:sp>
        <p:nvSpPr>
          <p:cNvPr id="15" name="Text 13"/>
          <p:cNvSpPr/>
          <p:nvPr/>
        </p:nvSpPr>
        <p:spPr>
          <a:xfrm>
            <a:off x="3867912" y="141732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16" name="Shape 14"/>
          <p:cNvSpPr/>
          <p:nvPr/>
        </p:nvSpPr>
        <p:spPr>
          <a:xfrm>
            <a:off x="4709160" y="1417320"/>
            <a:ext cx="914400" cy="320040"/>
          </a:xfrm>
          <a:prstGeom prst="rect">
            <a:avLst/>
          </a:prstGeom>
          <a:solidFill>
            <a:srgbClr val="E8243C"/>
          </a:solidFill>
          <a:ln w="12700">
            <a:solidFill>
              <a:srgbClr val="E0E0E0"/>
            </a:solidFill>
            <a:prstDash val="solid"/>
          </a:ln>
        </p:spPr>
      </p:sp>
      <p:sp>
        <p:nvSpPr>
          <p:cNvPr id="17" name="Text 15"/>
          <p:cNvSpPr/>
          <p:nvPr/>
        </p:nvSpPr>
        <p:spPr>
          <a:xfrm>
            <a:off x="4782312" y="141732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Spoofing</a:t>
            </a:r>
            <a:endParaRPr lang="en-US" sz="900" dirty="0"/>
          </a:p>
        </p:txBody>
      </p:sp>
      <p:sp>
        <p:nvSpPr>
          <p:cNvPr id="18" name="Shape 16"/>
          <p:cNvSpPr/>
          <p:nvPr/>
        </p:nvSpPr>
        <p:spPr>
          <a:xfrm>
            <a:off x="5623560" y="1417320"/>
            <a:ext cx="914400" cy="320040"/>
          </a:xfrm>
          <a:prstGeom prst="rect">
            <a:avLst/>
          </a:prstGeom>
          <a:solidFill>
            <a:srgbClr val="E8243C"/>
          </a:solidFill>
          <a:ln w="12700">
            <a:solidFill>
              <a:srgbClr val="E0E0E0"/>
            </a:solidFill>
            <a:prstDash val="solid"/>
          </a:ln>
        </p:spPr>
      </p:sp>
      <p:sp>
        <p:nvSpPr>
          <p:cNvPr id="19" name="Text 17"/>
          <p:cNvSpPr/>
          <p:nvPr/>
        </p:nvSpPr>
        <p:spPr>
          <a:xfrm>
            <a:off x="5696712" y="1417320"/>
            <a:ext cx="7680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SWaT</a:t>
            </a:r>
            <a:endParaRPr lang="en-US" sz="900" dirty="0"/>
          </a:p>
        </p:txBody>
      </p:sp>
      <p:sp>
        <p:nvSpPr>
          <p:cNvPr id="20" name="Shape 18"/>
          <p:cNvSpPr/>
          <p:nvPr/>
        </p:nvSpPr>
        <p:spPr>
          <a:xfrm>
            <a:off x="6537960" y="1417320"/>
            <a:ext cx="1143000" cy="320040"/>
          </a:xfrm>
          <a:prstGeom prst="rect">
            <a:avLst/>
          </a:prstGeom>
          <a:solidFill>
            <a:srgbClr val="E8243C"/>
          </a:solidFill>
          <a:ln w="12700">
            <a:solidFill>
              <a:srgbClr val="E0E0E0"/>
            </a:solidFill>
            <a:prstDash val="solid"/>
          </a:ln>
        </p:spPr>
      </p:sp>
      <p:sp>
        <p:nvSpPr>
          <p:cNvPr id="21" name="Text 19"/>
          <p:cNvSpPr/>
          <p:nvPr/>
        </p:nvSpPr>
        <p:spPr>
          <a:xfrm>
            <a:off x="6611112" y="1417320"/>
            <a:ext cx="996696"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Paper#9</a:t>
            </a:r>
            <a:endParaRPr lang="en-US" sz="900" dirty="0"/>
          </a:p>
        </p:txBody>
      </p:sp>
      <p:sp>
        <p:nvSpPr>
          <p:cNvPr id="22" name="Shape 20"/>
          <p:cNvSpPr/>
          <p:nvPr/>
        </p:nvSpPr>
        <p:spPr>
          <a:xfrm>
            <a:off x="7680960" y="1417320"/>
            <a:ext cx="1124712" cy="320040"/>
          </a:xfrm>
          <a:prstGeom prst="rect">
            <a:avLst/>
          </a:prstGeom>
          <a:solidFill>
            <a:srgbClr val="E8243C"/>
          </a:solidFill>
          <a:ln w="12700">
            <a:solidFill>
              <a:srgbClr val="E0E0E0"/>
            </a:solidFill>
            <a:prstDash val="solid"/>
          </a:ln>
        </p:spPr>
      </p:sp>
      <p:sp>
        <p:nvSpPr>
          <p:cNvPr id="23" name="Text 21"/>
          <p:cNvSpPr/>
          <p:nvPr/>
        </p:nvSpPr>
        <p:spPr>
          <a:xfrm>
            <a:off x="7754112" y="1417320"/>
            <a:ext cx="978408" cy="32004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Paper#31</a:t>
            </a:r>
            <a:endParaRPr lang="en-US" sz="900" dirty="0"/>
          </a:p>
        </p:txBody>
      </p:sp>
      <p:sp>
        <p:nvSpPr>
          <p:cNvPr id="24" name="Shape 22"/>
          <p:cNvSpPr/>
          <p:nvPr/>
        </p:nvSpPr>
        <p:spPr>
          <a:xfrm>
            <a:off x="320040" y="1737360"/>
            <a:ext cx="2560320" cy="320040"/>
          </a:xfrm>
          <a:prstGeom prst="rect">
            <a:avLst/>
          </a:prstGeom>
          <a:solidFill>
            <a:srgbClr val="F5F5F5"/>
          </a:solidFill>
          <a:ln w="12700">
            <a:solidFill>
              <a:srgbClr val="E0E0E0"/>
            </a:solidFill>
            <a:prstDash val="solid"/>
          </a:ln>
        </p:spPr>
      </p:sp>
      <p:sp>
        <p:nvSpPr>
          <p:cNvPr id="25" name="Text 23"/>
          <p:cNvSpPr/>
          <p:nvPr/>
        </p:nvSpPr>
        <p:spPr>
          <a:xfrm>
            <a:off x="393192" y="1737360"/>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Safe State + Failover (Ours)</a:t>
            </a:r>
            <a:endParaRPr lang="en-US" sz="900" dirty="0"/>
          </a:p>
        </p:txBody>
      </p:sp>
      <p:sp>
        <p:nvSpPr>
          <p:cNvPr id="26" name="Shape 24"/>
          <p:cNvSpPr/>
          <p:nvPr/>
        </p:nvSpPr>
        <p:spPr>
          <a:xfrm>
            <a:off x="2880360" y="1737360"/>
            <a:ext cx="914400" cy="320040"/>
          </a:xfrm>
          <a:prstGeom prst="rect">
            <a:avLst/>
          </a:prstGeom>
          <a:solidFill>
            <a:srgbClr val="F5F5F5"/>
          </a:solidFill>
          <a:ln w="12700">
            <a:solidFill>
              <a:srgbClr val="E0E0E0"/>
            </a:solidFill>
            <a:prstDash val="solid"/>
          </a:ln>
        </p:spPr>
      </p:sp>
      <p:sp>
        <p:nvSpPr>
          <p:cNvPr id="27" name="Text 25"/>
          <p:cNvSpPr/>
          <p:nvPr/>
        </p:nvSpPr>
        <p:spPr>
          <a:xfrm>
            <a:off x="2953512" y="173736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&lt; 15s</a:t>
            </a:r>
            <a:endParaRPr lang="en-US" sz="900" dirty="0"/>
          </a:p>
        </p:txBody>
      </p:sp>
      <p:sp>
        <p:nvSpPr>
          <p:cNvPr id="28" name="Shape 26"/>
          <p:cNvSpPr/>
          <p:nvPr/>
        </p:nvSpPr>
        <p:spPr>
          <a:xfrm>
            <a:off x="3794760" y="1737360"/>
            <a:ext cx="914400" cy="320040"/>
          </a:xfrm>
          <a:prstGeom prst="rect">
            <a:avLst/>
          </a:prstGeom>
          <a:solidFill>
            <a:srgbClr val="F5F5F5"/>
          </a:solidFill>
          <a:ln w="12700">
            <a:solidFill>
              <a:srgbClr val="E0E0E0"/>
            </a:solidFill>
            <a:prstDash val="solid"/>
          </a:ln>
        </p:spPr>
      </p:sp>
      <p:sp>
        <p:nvSpPr>
          <p:cNvPr id="29" name="Text 27"/>
          <p:cNvSpPr/>
          <p:nvPr/>
        </p:nvSpPr>
        <p:spPr>
          <a:xfrm>
            <a:off x="3867912" y="173736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a:t>
            </a:r>
            <a:endParaRPr lang="en-US" sz="900" dirty="0"/>
          </a:p>
        </p:txBody>
      </p:sp>
      <p:sp>
        <p:nvSpPr>
          <p:cNvPr id="30" name="Shape 28"/>
          <p:cNvSpPr/>
          <p:nvPr/>
        </p:nvSpPr>
        <p:spPr>
          <a:xfrm>
            <a:off x="4709160" y="1737360"/>
            <a:ext cx="914400" cy="320040"/>
          </a:xfrm>
          <a:prstGeom prst="rect">
            <a:avLst/>
          </a:prstGeom>
          <a:solidFill>
            <a:srgbClr val="F5F5F5"/>
          </a:solidFill>
          <a:ln w="12700">
            <a:solidFill>
              <a:srgbClr val="E0E0E0"/>
            </a:solidFill>
            <a:prstDash val="solid"/>
          </a:ln>
        </p:spPr>
      </p:sp>
      <p:sp>
        <p:nvSpPr>
          <p:cNvPr id="31" name="Text 29"/>
          <p:cNvSpPr/>
          <p:nvPr/>
        </p:nvSpPr>
        <p:spPr>
          <a:xfrm>
            <a:off x="4782312" y="173736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Partial</a:t>
            </a:r>
            <a:endParaRPr lang="en-US" sz="900" dirty="0"/>
          </a:p>
        </p:txBody>
      </p:sp>
      <p:sp>
        <p:nvSpPr>
          <p:cNvPr id="32" name="Shape 30"/>
          <p:cNvSpPr/>
          <p:nvPr/>
        </p:nvSpPr>
        <p:spPr>
          <a:xfrm>
            <a:off x="5623560" y="1737360"/>
            <a:ext cx="914400" cy="320040"/>
          </a:xfrm>
          <a:prstGeom prst="rect">
            <a:avLst/>
          </a:prstGeom>
          <a:solidFill>
            <a:srgbClr val="F5F5F5"/>
          </a:solidFill>
          <a:ln w="12700">
            <a:solidFill>
              <a:srgbClr val="E0E0E0"/>
            </a:solidFill>
            <a:prstDash val="solid"/>
          </a:ln>
        </p:spPr>
      </p:sp>
      <p:sp>
        <p:nvSpPr>
          <p:cNvPr id="33" name="Text 31"/>
          <p:cNvSpPr/>
          <p:nvPr/>
        </p:nvSpPr>
        <p:spPr>
          <a:xfrm>
            <a:off x="5696712" y="173736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Yes</a:t>
            </a:r>
            <a:endParaRPr lang="en-US" sz="900" dirty="0"/>
          </a:p>
        </p:txBody>
      </p:sp>
      <p:sp>
        <p:nvSpPr>
          <p:cNvPr id="34" name="Shape 32"/>
          <p:cNvSpPr/>
          <p:nvPr/>
        </p:nvSpPr>
        <p:spPr>
          <a:xfrm>
            <a:off x="6537960" y="1737360"/>
            <a:ext cx="1143000" cy="320040"/>
          </a:xfrm>
          <a:prstGeom prst="rect">
            <a:avLst/>
          </a:prstGeom>
          <a:solidFill>
            <a:srgbClr val="F5F5F5"/>
          </a:solidFill>
          <a:ln w="12700">
            <a:solidFill>
              <a:srgbClr val="E0E0E0"/>
            </a:solidFill>
            <a:prstDash val="solid"/>
          </a:ln>
        </p:spPr>
      </p:sp>
      <p:sp>
        <p:nvSpPr>
          <p:cNvPr id="35" name="Text 33"/>
          <p:cNvSpPr/>
          <p:nvPr/>
        </p:nvSpPr>
        <p:spPr>
          <a:xfrm>
            <a:off x="6611112" y="1737360"/>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36" name="Shape 34"/>
          <p:cNvSpPr/>
          <p:nvPr/>
        </p:nvSpPr>
        <p:spPr>
          <a:xfrm>
            <a:off x="7680960" y="1737360"/>
            <a:ext cx="1124712" cy="320040"/>
          </a:xfrm>
          <a:prstGeom prst="rect">
            <a:avLst/>
          </a:prstGeom>
          <a:solidFill>
            <a:srgbClr val="F5F5F5"/>
          </a:solidFill>
          <a:ln w="12700">
            <a:solidFill>
              <a:srgbClr val="E0E0E0"/>
            </a:solidFill>
            <a:prstDash val="solid"/>
          </a:ln>
        </p:spPr>
      </p:sp>
      <p:sp>
        <p:nvSpPr>
          <p:cNvPr id="37" name="Text 35"/>
          <p:cNvSpPr/>
          <p:nvPr/>
        </p:nvSpPr>
        <p:spPr>
          <a:xfrm>
            <a:off x="7754112" y="1737360"/>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Partial</a:t>
            </a:r>
            <a:endParaRPr lang="en-US" sz="900" dirty="0"/>
          </a:p>
        </p:txBody>
      </p:sp>
      <p:sp>
        <p:nvSpPr>
          <p:cNvPr id="38" name="Shape 36"/>
          <p:cNvSpPr/>
          <p:nvPr/>
        </p:nvSpPr>
        <p:spPr>
          <a:xfrm>
            <a:off x="320040" y="2231136"/>
            <a:ext cx="2560320" cy="320040"/>
          </a:xfrm>
          <a:prstGeom prst="rect">
            <a:avLst/>
          </a:prstGeom>
          <a:solidFill>
            <a:srgbClr val="FFFFFF"/>
          </a:solidFill>
          <a:ln w="12700">
            <a:solidFill>
              <a:srgbClr val="E0E0E0"/>
            </a:solidFill>
            <a:prstDash val="solid"/>
          </a:ln>
        </p:spPr>
      </p:sp>
      <p:sp>
        <p:nvSpPr>
          <p:cNvPr id="39" name="Text 37"/>
          <p:cNvSpPr/>
          <p:nvPr/>
        </p:nvSpPr>
        <p:spPr>
          <a:xfrm>
            <a:off x="393192" y="2231136"/>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Checkpoint &amp; Restore (Kong 2018)</a:t>
            </a:r>
            <a:endParaRPr lang="en-US" sz="900" dirty="0"/>
          </a:p>
        </p:txBody>
      </p:sp>
      <p:sp>
        <p:nvSpPr>
          <p:cNvPr id="40" name="Shape 38"/>
          <p:cNvSpPr/>
          <p:nvPr/>
        </p:nvSpPr>
        <p:spPr>
          <a:xfrm>
            <a:off x="2880360" y="2231136"/>
            <a:ext cx="914400" cy="320040"/>
          </a:xfrm>
          <a:prstGeom prst="rect">
            <a:avLst/>
          </a:prstGeom>
          <a:solidFill>
            <a:srgbClr val="FFFFFF"/>
          </a:solidFill>
          <a:ln w="12700">
            <a:solidFill>
              <a:srgbClr val="E0E0E0"/>
            </a:solidFill>
            <a:prstDash val="solid"/>
          </a:ln>
        </p:spPr>
      </p:sp>
      <p:sp>
        <p:nvSpPr>
          <p:cNvPr id="41" name="Text 39"/>
          <p:cNvSpPr/>
          <p:nvPr/>
        </p:nvSpPr>
        <p:spPr>
          <a:xfrm>
            <a:off x="2953512" y="2231136"/>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Minutes</a:t>
            </a:r>
            <a:endParaRPr lang="en-US" sz="900" dirty="0"/>
          </a:p>
        </p:txBody>
      </p:sp>
      <p:sp>
        <p:nvSpPr>
          <p:cNvPr id="42" name="Shape 40"/>
          <p:cNvSpPr/>
          <p:nvPr/>
        </p:nvSpPr>
        <p:spPr>
          <a:xfrm>
            <a:off x="3794760" y="2231136"/>
            <a:ext cx="914400" cy="320040"/>
          </a:xfrm>
          <a:prstGeom prst="rect">
            <a:avLst/>
          </a:prstGeom>
          <a:solidFill>
            <a:srgbClr val="FFFFFF"/>
          </a:solidFill>
          <a:ln w="12700">
            <a:solidFill>
              <a:srgbClr val="E0E0E0"/>
            </a:solidFill>
            <a:prstDash val="solid"/>
          </a:ln>
        </p:spPr>
      </p:sp>
      <p:sp>
        <p:nvSpPr>
          <p:cNvPr id="43" name="Text 41"/>
          <p:cNvSpPr/>
          <p:nvPr/>
        </p:nvSpPr>
        <p:spPr>
          <a:xfrm>
            <a:off x="3867912" y="2231136"/>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a:t>
            </a:r>
            <a:endParaRPr lang="en-US" sz="900" dirty="0"/>
          </a:p>
        </p:txBody>
      </p:sp>
      <p:sp>
        <p:nvSpPr>
          <p:cNvPr id="44" name="Shape 42"/>
          <p:cNvSpPr/>
          <p:nvPr/>
        </p:nvSpPr>
        <p:spPr>
          <a:xfrm>
            <a:off x="4709160" y="2231136"/>
            <a:ext cx="914400" cy="320040"/>
          </a:xfrm>
          <a:prstGeom prst="rect">
            <a:avLst/>
          </a:prstGeom>
          <a:solidFill>
            <a:srgbClr val="FFFFFF"/>
          </a:solidFill>
          <a:ln w="12700">
            <a:solidFill>
              <a:srgbClr val="E0E0E0"/>
            </a:solidFill>
            <a:prstDash val="solid"/>
          </a:ln>
        </p:spPr>
      </p:sp>
      <p:sp>
        <p:nvSpPr>
          <p:cNvPr id="45" name="Text 43"/>
          <p:cNvSpPr/>
          <p:nvPr/>
        </p:nvSpPr>
        <p:spPr>
          <a:xfrm>
            <a:off x="4782312" y="2231136"/>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a:t>
            </a:r>
            <a:endParaRPr lang="en-US" sz="900" dirty="0"/>
          </a:p>
        </p:txBody>
      </p:sp>
      <p:sp>
        <p:nvSpPr>
          <p:cNvPr id="46" name="Shape 44"/>
          <p:cNvSpPr/>
          <p:nvPr/>
        </p:nvSpPr>
        <p:spPr>
          <a:xfrm>
            <a:off x="5623560" y="2231136"/>
            <a:ext cx="914400" cy="320040"/>
          </a:xfrm>
          <a:prstGeom prst="rect">
            <a:avLst/>
          </a:prstGeom>
          <a:solidFill>
            <a:srgbClr val="FFFFFF"/>
          </a:solidFill>
          <a:ln w="12700">
            <a:solidFill>
              <a:srgbClr val="E0E0E0"/>
            </a:solidFill>
            <a:prstDash val="solid"/>
          </a:ln>
        </p:spPr>
      </p:sp>
      <p:sp>
        <p:nvSpPr>
          <p:cNvPr id="47" name="Text 45"/>
          <p:cNvSpPr/>
          <p:nvPr/>
        </p:nvSpPr>
        <p:spPr>
          <a:xfrm>
            <a:off x="5696712" y="2231136"/>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HMI</a:t>
            </a:r>
            <a:endParaRPr lang="en-US" sz="900" dirty="0"/>
          </a:p>
        </p:txBody>
      </p:sp>
      <p:sp>
        <p:nvSpPr>
          <p:cNvPr id="48" name="Shape 46"/>
          <p:cNvSpPr/>
          <p:nvPr/>
        </p:nvSpPr>
        <p:spPr>
          <a:xfrm>
            <a:off x="6537960" y="2231136"/>
            <a:ext cx="1143000" cy="320040"/>
          </a:xfrm>
          <a:prstGeom prst="rect">
            <a:avLst/>
          </a:prstGeom>
          <a:solidFill>
            <a:srgbClr val="FFFFFF"/>
          </a:solidFill>
          <a:ln w="12700">
            <a:solidFill>
              <a:srgbClr val="E0E0E0"/>
            </a:solidFill>
            <a:prstDash val="solid"/>
          </a:ln>
        </p:spPr>
      </p:sp>
      <p:sp>
        <p:nvSpPr>
          <p:cNvPr id="49" name="Text 47"/>
          <p:cNvSpPr/>
          <p:nvPr/>
        </p:nvSpPr>
        <p:spPr>
          <a:xfrm>
            <a:off x="6611112" y="2231136"/>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50" name="Shape 48"/>
          <p:cNvSpPr/>
          <p:nvPr/>
        </p:nvSpPr>
        <p:spPr>
          <a:xfrm>
            <a:off x="7680960" y="2231136"/>
            <a:ext cx="1124712" cy="320040"/>
          </a:xfrm>
          <a:prstGeom prst="rect">
            <a:avLst/>
          </a:prstGeom>
          <a:solidFill>
            <a:srgbClr val="FFFFFF"/>
          </a:solidFill>
          <a:ln w="12700">
            <a:solidFill>
              <a:srgbClr val="E0E0E0"/>
            </a:solidFill>
            <a:prstDash val="solid"/>
          </a:ln>
        </p:spPr>
      </p:sp>
      <p:sp>
        <p:nvSpPr>
          <p:cNvPr id="51" name="Text 49"/>
          <p:cNvSpPr/>
          <p:nvPr/>
        </p:nvSpPr>
        <p:spPr>
          <a:xfrm>
            <a:off x="7754112" y="2231136"/>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No</a:t>
            </a:r>
            <a:endParaRPr lang="en-US" sz="900" dirty="0"/>
          </a:p>
        </p:txBody>
      </p:sp>
      <p:sp>
        <p:nvSpPr>
          <p:cNvPr id="52" name="Shape 50"/>
          <p:cNvSpPr/>
          <p:nvPr/>
        </p:nvSpPr>
        <p:spPr>
          <a:xfrm>
            <a:off x="320040" y="2724912"/>
            <a:ext cx="2560320" cy="320040"/>
          </a:xfrm>
          <a:prstGeom prst="rect">
            <a:avLst/>
          </a:prstGeom>
          <a:solidFill>
            <a:srgbClr val="F5F5F5"/>
          </a:solidFill>
          <a:ln w="12700">
            <a:solidFill>
              <a:srgbClr val="E0E0E0"/>
            </a:solidFill>
            <a:prstDash val="solid"/>
          </a:ln>
        </p:spPr>
      </p:sp>
      <p:sp>
        <p:nvSpPr>
          <p:cNvPr id="53" name="Text 51"/>
          <p:cNvSpPr/>
          <p:nvPr/>
        </p:nvSpPr>
        <p:spPr>
          <a:xfrm>
            <a:off x="393192" y="2724912"/>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Luenberger SSE (Lu 2017)</a:t>
            </a:r>
            <a:endParaRPr lang="en-US" sz="900" dirty="0"/>
          </a:p>
        </p:txBody>
      </p:sp>
      <p:sp>
        <p:nvSpPr>
          <p:cNvPr id="54" name="Shape 52"/>
          <p:cNvSpPr/>
          <p:nvPr/>
        </p:nvSpPr>
        <p:spPr>
          <a:xfrm>
            <a:off x="2880360" y="2724912"/>
            <a:ext cx="914400" cy="320040"/>
          </a:xfrm>
          <a:prstGeom prst="rect">
            <a:avLst/>
          </a:prstGeom>
          <a:solidFill>
            <a:srgbClr val="F5F5F5"/>
          </a:solidFill>
          <a:ln w="12700">
            <a:solidFill>
              <a:srgbClr val="E0E0E0"/>
            </a:solidFill>
            <a:prstDash val="solid"/>
          </a:ln>
        </p:spPr>
      </p:sp>
      <p:sp>
        <p:nvSpPr>
          <p:cNvPr id="55" name="Text 53"/>
          <p:cNvSpPr/>
          <p:nvPr/>
        </p:nvSpPr>
        <p:spPr>
          <a:xfrm>
            <a:off x="2953512" y="2724912"/>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1–3 cycles</a:t>
            </a:r>
            <a:endParaRPr lang="en-US" sz="900" dirty="0"/>
          </a:p>
        </p:txBody>
      </p:sp>
      <p:sp>
        <p:nvSpPr>
          <p:cNvPr id="56" name="Shape 54"/>
          <p:cNvSpPr/>
          <p:nvPr/>
        </p:nvSpPr>
        <p:spPr>
          <a:xfrm>
            <a:off x="3794760" y="2724912"/>
            <a:ext cx="914400" cy="320040"/>
          </a:xfrm>
          <a:prstGeom prst="rect">
            <a:avLst/>
          </a:prstGeom>
          <a:solidFill>
            <a:srgbClr val="F5F5F5"/>
          </a:solidFill>
          <a:ln w="12700">
            <a:solidFill>
              <a:srgbClr val="E0E0E0"/>
            </a:solidFill>
            <a:prstDash val="solid"/>
          </a:ln>
        </p:spPr>
      </p:sp>
      <p:sp>
        <p:nvSpPr>
          <p:cNvPr id="57" name="Text 55"/>
          <p:cNvSpPr/>
          <p:nvPr/>
        </p:nvSpPr>
        <p:spPr>
          <a:xfrm>
            <a:off x="3867912" y="2724912"/>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Linear</a:t>
            </a:r>
            <a:endParaRPr lang="en-US" sz="900" dirty="0"/>
          </a:p>
        </p:txBody>
      </p:sp>
      <p:sp>
        <p:nvSpPr>
          <p:cNvPr id="58" name="Shape 56"/>
          <p:cNvSpPr/>
          <p:nvPr/>
        </p:nvSpPr>
        <p:spPr>
          <a:xfrm>
            <a:off x="4709160" y="2724912"/>
            <a:ext cx="914400" cy="320040"/>
          </a:xfrm>
          <a:prstGeom prst="rect">
            <a:avLst/>
          </a:prstGeom>
          <a:solidFill>
            <a:srgbClr val="F5F5F5"/>
          </a:solidFill>
          <a:ln w="12700">
            <a:solidFill>
              <a:srgbClr val="E0E0E0"/>
            </a:solidFill>
            <a:prstDash val="solid"/>
          </a:ln>
        </p:spPr>
      </p:sp>
      <p:sp>
        <p:nvSpPr>
          <p:cNvPr id="59" name="Text 57"/>
          <p:cNvSpPr/>
          <p:nvPr/>
        </p:nvSpPr>
        <p:spPr>
          <a:xfrm>
            <a:off x="4782312" y="2724912"/>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Yes</a:t>
            </a:r>
            <a:endParaRPr lang="en-US" sz="900" dirty="0"/>
          </a:p>
        </p:txBody>
      </p:sp>
      <p:sp>
        <p:nvSpPr>
          <p:cNvPr id="60" name="Shape 58"/>
          <p:cNvSpPr/>
          <p:nvPr/>
        </p:nvSpPr>
        <p:spPr>
          <a:xfrm>
            <a:off x="5623560" y="2724912"/>
            <a:ext cx="914400" cy="320040"/>
          </a:xfrm>
          <a:prstGeom prst="rect">
            <a:avLst/>
          </a:prstGeom>
          <a:solidFill>
            <a:srgbClr val="F5F5F5"/>
          </a:solidFill>
          <a:ln w="12700">
            <a:solidFill>
              <a:srgbClr val="E0E0E0"/>
            </a:solidFill>
            <a:prstDash val="solid"/>
          </a:ln>
        </p:spPr>
      </p:sp>
      <p:sp>
        <p:nvSpPr>
          <p:cNvPr id="61" name="Text 59"/>
          <p:cNvSpPr/>
          <p:nvPr/>
        </p:nvSpPr>
        <p:spPr>
          <a:xfrm>
            <a:off x="5696712" y="2724912"/>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Feasible</a:t>
            </a:r>
            <a:endParaRPr lang="en-US" sz="900" dirty="0"/>
          </a:p>
        </p:txBody>
      </p:sp>
      <p:sp>
        <p:nvSpPr>
          <p:cNvPr id="62" name="Shape 60"/>
          <p:cNvSpPr/>
          <p:nvPr/>
        </p:nvSpPr>
        <p:spPr>
          <a:xfrm>
            <a:off x="6537960" y="2724912"/>
            <a:ext cx="1143000" cy="320040"/>
          </a:xfrm>
          <a:prstGeom prst="rect">
            <a:avLst/>
          </a:prstGeom>
          <a:solidFill>
            <a:srgbClr val="F5F5F5"/>
          </a:solidFill>
          <a:ln w="12700">
            <a:solidFill>
              <a:srgbClr val="E0E0E0"/>
            </a:solidFill>
            <a:prstDash val="solid"/>
          </a:ln>
        </p:spPr>
      </p:sp>
      <p:sp>
        <p:nvSpPr>
          <p:cNvPr id="63" name="Text 61"/>
          <p:cNvSpPr/>
          <p:nvPr/>
        </p:nvSpPr>
        <p:spPr>
          <a:xfrm>
            <a:off x="6611112" y="2724912"/>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64" name="Shape 62"/>
          <p:cNvSpPr/>
          <p:nvPr/>
        </p:nvSpPr>
        <p:spPr>
          <a:xfrm>
            <a:off x="7680960" y="2724912"/>
            <a:ext cx="1124712" cy="320040"/>
          </a:xfrm>
          <a:prstGeom prst="rect">
            <a:avLst/>
          </a:prstGeom>
          <a:solidFill>
            <a:srgbClr val="F5F5F5"/>
          </a:solidFill>
          <a:ln w="12700">
            <a:solidFill>
              <a:srgbClr val="E0E0E0"/>
            </a:solidFill>
            <a:prstDash val="solid"/>
          </a:ln>
        </p:spPr>
      </p:sp>
      <p:sp>
        <p:nvSpPr>
          <p:cNvPr id="65" name="Text 63"/>
          <p:cNvSpPr/>
          <p:nvPr/>
        </p:nvSpPr>
        <p:spPr>
          <a:xfrm>
            <a:off x="7754112" y="2724912"/>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66" name="Shape 64"/>
          <p:cNvSpPr/>
          <p:nvPr/>
        </p:nvSpPr>
        <p:spPr>
          <a:xfrm>
            <a:off x="320040" y="3218688"/>
            <a:ext cx="2560320" cy="320040"/>
          </a:xfrm>
          <a:prstGeom prst="rect">
            <a:avLst/>
          </a:prstGeom>
          <a:solidFill>
            <a:srgbClr val="F5F5F5"/>
          </a:solidFill>
          <a:ln w="12700">
            <a:solidFill>
              <a:srgbClr val="E0E0E0"/>
            </a:solidFill>
            <a:prstDash val="solid"/>
          </a:ln>
        </p:spPr>
      </p:sp>
      <p:sp>
        <p:nvSpPr>
          <p:cNvPr id="67" name="Text 65"/>
          <p:cNvSpPr/>
          <p:nvPr/>
        </p:nvSpPr>
        <p:spPr>
          <a:xfrm>
            <a:off x="393192" y="3218688"/>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Kalman Secure Est. (Chang 2015)</a:t>
            </a:r>
            <a:endParaRPr lang="en-US" sz="900" dirty="0"/>
          </a:p>
        </p:txBody>
      </p:sp>
      <p:sp>
        <p:nvSpPr>
          <p:cNvPr id="68" name="Shape 66"/>
          <p:cNvSpPr/>
          <p:nvPr/>
        </p:nvSpPr>
        <p:spPr>
          <a:xfrm>
            <a:off x="2880360" y="3218688"/>
            <a:ext cx="914400" cy="320040"/>
          </a:xfrm>
          <a:prstGeom prst="rect">
            <a:avLst/>
          </a:prstGeom>
          <a:solidFill>
            <a:srgbClr val="F5F5F5"/>
          </a:solidFill>
          <a:ln w="12700">
            <a:solidFill>
              <a:srgbClr val="E0E0E0"/>
            </a:solidFill>
            <a:prstDash val="solid"/>
          </a:ln>
        </p:spPr>
      </p:sp>
      <p:sp>
        <p:nvSpPr>
          <p:cNvPr id="69" name="Text 67"/>
          <p:cNvSpPr/>
          <p:nvPr/>
        </p:nvSpPr>
        <p:spPr>
          <a:xfrm>
            <a:off x="2953512" y="3218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1–3 cycles</a:t>
            </a:r>
            <a:endParaRPr lang="en-US" sz="900" dirty="0"/>
          </a:p>
        </p:txBody>
      </p:sp>
      <p:sp>
        <p:nvSpPr>
          <p:cNvPr id="70" name="Shape 68"/>
          <p:cNvSpPr/>
          <p:nvPr/>
        </p:nvSpPr>
        <p:spPr>
          <a:xfrm>
            <a:off x="3794760" y="3218688"/>
            <a:ext cx="914400" cy="320040"/>
          </a:xfrm>
          <a:prstGeom prst="rect">
            <a:avLst/>
          </a:prstGeom>
          <a:solidFill>
            <a:srgbClr val="F5F5F5"/>
          </a:solidFill>
          <a:ln w="12700">
            <a:solidFill>
              <a:srgbClr val="E0E0E0"/>
            </a:solidFill>
            <a:prstDash val="solid"/>
          </a:ln>
        </p:spPr>
      </p:sp>
      <p:sp>
        <p:nvSpPr>
          <p:cNvPr id="71" name="Text 69"/>
          <p:cNvSpPr/>
          <p:nvPr/>
        </p:nvSpPr>
        <p:spPr>
          <a:xfrm>
            <a:off x="3867912" y="3218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Stochastic</a:t>
            </a:r>
            <a:endParaRPr lang="en-US" sz="900" dirty="0"/>
          </a:p>
        </p:txBody>
      </p:sp>
      <p:sp>
        <p:nvSpPr>
          <p:cNvPr id="72" name="Shape 70"/>
          <p:cNvSpPr/>
          <p:nvPr/>
        </p:nvSpPr>
        <p:spPr>
          <a:xfrm>
            <a:off x="4709160" y="3218688"/>
            <a:ext cx="914400" cy="320040"/>
          </a:xfrm>
          <a:prstGeom prst="rect">
            <a:avLst/>
          </a:prstGeom>
          <a:solidFill>
            <a:srgbClr val="F5F5F5"/>
          </a:solidFill>
          <a:ln w="12700">
            <a:solidFill>
              <a:srgbClr val="E0E0E0"/>
            </a:solidFill>
            <a:prstDash val="solid"/>
          </a:ln>
        </p:spPr>
      </p:sp>
      <p:sp>
        <p:nvSpPr>
          <p:cNvPr id="73" name="Text 71"/>
          <p:cNvSpPr/>
          <p:nvPr/>
        </p:nvSpPr>
        <p:spPr>
          <a:xfrm>
            <a:off x="4782312" y="3218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Yes</a:t>
            </a:r>
            <a:endParaRPr lang="en-US" sz="900" dirty="0"/>
          </a:p>
        </p:txBody>
      </p:sp>
      <p:sp>
        <p:nvSpPr>
          <p:cNvPr id="74" name="Shape 72"/>
          <p:cNvSpPr/>
          <p:nvPr/>
        </p:nvSpPr>
        <p:spPr>
          <a:xfrm>
            <a:off x="5623560" y="3218688"/>
            <a:ext cx="914400" cy="320040"/>
          </a:xfrm>
          <a:prstGeom prst="rect">
            <a:avLst/>
          </a:prstGeom>
          <a:solidFill>
            <a:srgbClr val="F5F5F5"/>
          </a:solidFill>
          <a:ln w="12700">
            <a:solidFill>
              <a:srgbClr val="E0E0E0"/>
            </a:solidFill>
            <a:prstDash val="solid"/>
          </a:ln>
        </p:spPr>
      </p:sp>
      <p:sp>
        <p:nvSpPr>
          <p:cNvPr id="75" name="Text 73"/>
          <p:cNvSpPr/>
          <p:nvPr/>
        </p:nvSpPr>
        <p:spPr>
          <a:xfrm>
            <a:off x="5696712" y="3218688"/>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Feasible</a:t>
            </a:r>
            <a:endParaRPr lang="en-US" sz="900" dirty="0"/>
          </a:p>
        </p:txBody>
      </p:sp>
      <p:sp>
        <p:nvSpPr>
          <p:cNvPr id="76" name="Shape 74"/>
          <p:cNvSpPr/>
          <p:nvPr/>
        </p:nvSpPr>
        <p:spPr>
          <a:xfrm>
            <a:off x="6537960" y="3218688"/>
            <a:ext cx="1143000" cy="320040"/>
          </a:xfrm>
          <a:prstGeom prst="rect">
            <a:avLst/>
          </a:prstGeom>
          <a:solidFill>
            <a:srgbClr val="F5F5F5"/>
          </a:solidFill>
          <a:ln w="12700">
            <a:solidFill>
              <a:srgbClr val="E0E0E0"/>
            </a:solidFill>
            <a:prstDash val="solid"/>
          </a:ln>
        </p:spPr>
      </p:sp>
      <p:sp>
        <p:nvSpPr>
          <p:cNvPr id="77" name="Text 75"/>
          <p:cNvSpPr/>
          <p:nvPr/>
        </p:nvSpPr>
        <p:spPr>
          <a:xfrm>
            <a:off x="6611112" y="3218688"/>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78" name="Shape 76"/>
          <p:cNvSpPr/>
          <p:nvPr/>
        </p:nvSpPr>
        <p:spPr>
          <a:xfrm>
            <a:off x="7680960" y="3218688"/>
            <a:ext cx="1124712" cy="320040"/>
          </a:xfrm>
          <a:prstGeom prst="rect">
            <a:avLst/>
          </a:prstGeom>
          <a:solidFill>
            <a:srgbClr val="F5F5F5"/>
          </a:solidFill>
          <a:ln w="12700">
            <a:solidFill>
              <a:srgbClr val="E0E0E0"/>
            </a:solidFill>
            <a:prstDash val="solid"/>
          </a:ln>
        </p:spPr>
      </p:sp>
      <p:sp>
        <p:nvSpPr>
          <p:cNvPr id="79" name="Text 77"/>
          <p:cNvSpPr/>
          <p:nvPr/>
        </p:nvSpPr>
        <p:spPr>
          <a:xfrm>
            <a:off x="7754112" y="3218688"/>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80" name="Shape 78"/>
          <p:cNvSpPr/>
          <p:nvPr/>
        </p:nvSpPr>
        <p:spPr>
          <a:xfrm>
            <a:off x="320040" y="3712464"/>
            <a:ext cx="2560320" cy="320040"/>
          </a:xfrm>
          <a:prstGeom prst="rect">
            <a:avLst/>
          </a:prstGeom>
          <a:solidFill>
            <a:srgbClr val="FFFFFF"/>
          </a:solidFill>
          <a:ln w="12700">
            <a:solidFill>
              <a:srgbClr val="E0E0E0"/>
            </a:solidFill>
            <a:prstDash val="solid"/>
          </a:ln>
        </p:spPr>
      </p:sp>
      <p:sp>
        <p:nvSpPr>
          <p:cNvPr id="81" name="Text 79"/>
          <p:cNvSpPr/>
          <p:nvPr/>
        </p:nvSpPr>
        <p:spPr>
          <a:xfrm>
            <a:off x="393192" y="3712464"/>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Sliding Mode Obs.</a:t>
            </a:r>
            <a:endParaRPr lang="en-US" sz="900" dirty="0"/>
          </a:p>
        </p:txBody>
      </p:sp>
      <p:sp>
        <p:nvSpPr>
          <p:cNvPr id="82" name="Shape 80"/>
          <p:cNvSpPr/>
          <p:nvPr/>
        </p:nvSpPr>
        <p:spPr>
          <a:xfrm>
            <a:off x="2880360" y="3712464"/>
            <a:ext cx="914400" cy="320040"/>
          </a:xfrm>
          <a:prstGeom prst="rect">
            <a:avLst/>
          </a:prstGeom>
          <a:solidFill>
            <a:srgbClr val="FFFFFF"/>
          </a:solidFill>
          <a:ln w="12700">
            <a:solidFill>
              <a:srgbClr val="E0E0E0"/>
            </a:solidFill>
            <a:prstDash val="solid"/>
          </a:ln>
        </p:spPr>
      </p:sp>
      <p:sp>
        <p:nvSpPr>
          <p:cNvPr id="83" name="Text 81"/>
          <p:cNvSpPr/>
          <p:nvPr/>
        </p:nvSpPr>
        <p:spPr>
          <a:xfrm>
            <a:off x="2953512" y="3712464"/>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&lt; 1 cycle</a:t>
            </a:r>
            <a:endParaRPr lang="en-US" sz="900" dirty="0"/>
          </a:p>
        </p:txBody>
      </p:sp>
      <p:sp>
        <p:nvSpPr>
          <p:cNvPr id="84" name="Shape 82"/>
          <p:cNvSpPr/>
          <p:nvPr/>
        </p:nvSpPr>
        <p:spPr>
          <a:xfrm>
            <a:off x="3794760" y="3712464"/>
            <a:ext cx="914400" cy="320040"/>
          </a:xfrm>
          <a:prstGeom prst="rect">
            <a:avLst/>
          </a:prstGeom>
          <a:solidFill>
            <a:srgbClr val="FFFFFF"/>
          </a:solidFill>
          <a:ln w="12700">
            <a:solidFill>
              <a:srgbClr val="E0E0E0"/>
            </a:solidFill>
            <a:prstDash val="solid"/>
          </a:ln>
        </p:spPr>
      </p:sp>
      <p:sp>
        <p:nvSpPr>
          <p:cNvPr id="85" name="Text 83"/>
          <p:cNvSpPr/>
          <p:nvPr/>
        </p:nvSpPr>
        <p:spPr>
          <a:xfrm>
            <a:off x="3867912" y="3712464"/>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Partial</a:t>
            </a:r>
            <a:endParaRPr lang="en-US" sz="900" dirty="0"/>
          </a:p>
        </p:txBody>
      </p:sp>
      <p:sp>
        <p:nvSpPr>
          <p:cNvPr id="86" name="Shape 84"/>
          <p:cNvSpPr/>
          <p:nvPr/>
        </p:nvSpPr>
        <p:spPr>
          <a:xfrm>
            <a:off x="4709160" y="3712464"/>
            <a:ext cx="914400" cy="320040"/>
          </a:xfrm>
          <a:prstGeom prst="rect">
            <a:avLst/>
          </a:prstGeom>
          <a:solidFill>
            <a:srgbClr val="FFFFFF"/>
          </a:solidFill>
          <a:ln w="12700">
            <a:solidFill>
              <a:srgbClr val="E0E0E0"/>
            </a:solidFill>
            <a:prstDash val="solid"/>
          </a:ln>
        </p:spPr>
      </p:sp>
      <p:sp>
        <p:nvSpPr>
          <p:cNvPr id="87" name="Text 85"/>
          <p:cNvSpPr/>
          <p:nvPr/>
        </p:nvSpPr>
        <p:spPr>
          <a:xfrm>
            <a:off x="4782312" y="3712464"/>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Explicit</a:t>
            </a:r>
            <a:endParaRPr lang="en-US" sz="900" dirty="0"/>
          </a:p>
        </p:txBody>
      </p:sp>
      <p:sp>
        <p:nvSpPr>
          <p:cNvPr id="88" name="Shape 86"/>
          <p:cNvSpPr/>
          <p:nvPr/>
        </p:nvSpPr>
        <p:spPr>
          <a:xfrm>
            <a:off x="5623560" y="3712464"/>
            <a:ext cx="914400" cy="320040"/>
          </a:xfrm>
          <a:prstGeom prst="rect">
            <a:avLst/>
          </a:prstGeom>
          <a:solidFill>
            <a:srgbClr val="FFFFFF"/>
          </a:solidFill>
          <a:ln w="12700">
            <a:solidFill>
              <a:srgbClr val="E0E0E0"/>
            </a:solidFill>
            <a:prstDash val="solid"/>
          </a:ln>
        </p:spPr>
      </p:sp>
      <p:sp>
        <p:nvSpPr>
          <p:cNvPr id="89" name="Text 87"/>
          <p:cNvSpPr/>
          <p:nvPr/>
        </p:nvSpPr>
        <p:spPr>
          <a:xfrm>
            <a:off x="5696712" y="3712464"/>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Feasible</a:t>
            </a:r>
            <a:endParaRPr lang="en-US" sz="900" dirty="0"/>
          </a:p>
        </p:txBody>
      </p:sp>
      <p:sp>
        <p:nvSpPr>
          <p:cNvPr id="90" name="Shape 88"/>
          <p:cNvSpPr/>
          <p:nvPr/>
        </p:nvSpPr>
        <p:spPr>
          <a:xfrm>
            <a:off x="6537960" y="3712464"/>
            <a:ext cx="1143000" cy="320040"/>
          </a:xfrm>
          <a:prstGeom prst="rect">
            <a:avLst/>
          </a:prstGeom>
          <a:solidFill>
            <a:srgbClr val="FFFFFF"/>
          </a:solidFill>
          <a:ln w="12700">
            <a:solidFill>
              <a:srgbClr val="E0E0E0"/>
            </a:solidFill>
            <a:prstDash val="solid"/>
          </a:ln>
        </p:spPr>
      </p:sp>
      <p:sp>
        <p:nvSpPr>
          <p:cNvPr id="91" name="Text 89"/>
          <p:cNvSpPr/>
          <p:nvPr/>
        </p:nvSpPr>
        <p:spPr>
          <a:xfrm>
            <a:off x="6611112" y="3712464"/>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92" name="Shape 90"/>
          <p:cNvSpPr/>
          <p:nvPr/>
        </p:nvSpPr>
        <p:spPr>
          <a:xfrm>
            <a:off x="7680960" y="3712464"/>
            <a:ext cx="1124712" cy="320040"/>
          </a:xfrm>
          <a:prstGeom prst="rect">
            <a:avLst/>
          </a:prstGeom>
          <a:solidFill>
            <a:srgbClr val="FFFFFF"/>
          </a:solidFill>
          <a:ln w="12700">
            <a:solidFill>
              <a:srgbClr val="E0E0E0"/>
            </a:solidFill>
            <a:prstDash val="solid"/>
          </a:ln>
        </p:spPr>
      </p:sp>
      <p:sp>
        <p:nvSpPr>
          <p:cNvPr id="93" name="Text 91"/>
          <p:cNvSpPr/>
          <p:nvPr/>
        </p:nvSpPr>
        <p:spPr>
          <a:xfrm>
            <a:off x="7754112" y="3712464"/>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Best</a:t>
            </a:r>
            <a:endParaRPr lang="en-US" sz="900" dirty="0"/>
          </a:p>
        </p:txBody>
      </p:sp>
      <p:sp>
        <p:nvSpPr>
          <p:cNvPr id="94" name="Shape 92"/>
          <p:cNvSpPr/>
          <p:nvPr/>
        </p:nvSpPr>
        <p:spPr>
          <a:xfrm>
            <a:off x="320040" y="4206240"/>
            <a:ext cx="2560320" cy="320040"/>
          </a:xfrm>
          <a:prstGeom prst="rect">
            <a:avLst/>
          </a:prstGeom>
          <a:solidFill>
            <a:srgbClr val="FFFFFF"/>
          </a:solidFill>
          <a:ln w="12700">
            <a:solidFill>
              <a:srgbClr val="E0E0E0"/>
            </a:solidFill>
            <a:prstDash val="solid"/>
          </a:ln>
        </p:spPr>
      </p:sp>
      <p:sp>
        <p:nvSpPr>
          <p:cNvPr id="95" name="Text 93"/>
          <p:cNvSpPr/>
          <p:nvPr/>
        </p:nvSpPr>
        <p:spPr>
          <a:xfrm>
            <a:off x="393192" y="4206240"/>
            <a:ext cx="241401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Inv-Guided Re-entry (Proposed)</a:t>
            </a:r>
            <a:endParaRPr lang="en-US" sz="900" dirty="0"/>
          </a:p>
        </p:txBody>
      </p:sp>
      <p:sp>
        <p:nvSpPr>
          <p:cNvPr id="96" name="Shape 94"/>
          <p:cNvSpPr/>
          <p:nvPr/>
        </p:nvSpPr>
        <p:spPr>
          <a:xfrm>
            <a:off x="2880360" y="4206240"/>
            <a:ext cx="914400" cy="320040"/>
          </a:xfrm>
          <a:prstGeom prst="rect">
            <a:avLst/>
          </a:prstGeom>
          <a:solidFill>
            <a:srgbClr val="FFFFFF"/>
          </a:solidFill>
          <a:ln w="12700">
            <a:solidFill>
              <a:srgbClr val="E0E0E0"/>
            </a:solidFill>
            <a:prstDash val="solid"/>
          </a:ln>
        </p:spPr>
      </p:sp>
      <p:sp>
        <p:nvSpPr>
          <p:cNvPr id="97" name="Text 95"/>
          <p:cNvSpPr/>
          <p:nvPr/>
        </p:nvSpPr>
        <p:spPr>
          <a:xfrm>
            <a:off x="2953512" y="420624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&lt; 30s</a:t>
            </a:r>
            <a:endParaRPr lang="en-US" sz="900" dirty="0"/>
          </a:p>
        </p:txBody>
      </p:sp>
      <p:sp>
        <p:nvSpPr>
          <p:cNvPr id="98" name="Shape 96"/>
          <p:cNvSpPr/>
          <p:nvPr/>
        </p:nvSpPr>
        <p:spPr>
          <a:xfrm>
            <a:off x="3794760" y="4206240"/>
            <a:ext cx="914400" cy="320040"/>
          </a:xfrm>
          <a:prstGeom prst="rect">
            <a:avLst/>
          </a:prstGeom>
          <a:solidFill>
            <a:srgbClr val="FFFFFF"/>
          </a:solidFill>
          <a:ln w="12700">
            <a:solidFill>
              <a:srgbClr val="E0E0E0"/>
            </a:solidFill>
            <a:prstDash val="solid"/>
          </a:ln>
        </p:spPr>
      </p:sp>
      <p:sp>
        <p:nvSpPr>
          <p:cNvPr id="99" name="Text 97"/>
          <p:cNvSpPr/>
          <p:nvPr/>
        </p:nvSpPr>
        <p:spPr>
          <a:xfrm>
            <a:off x="3867912" y="420624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ODE only</a:t>
            </a:r>
            <a:endParaRPr lang="en-US" sz="900" dirty="0"/>
          </a:p>
        </p:txBody>
      </p:sp>
      <p:sp>
        <p:nvSpPr>
          <p:cNvPr id="100" name="Shape 98"/>
          <p:cNvSpPr/>
          <p:nvPr/>
        </p:nvSpPr>
        <p:spPr>
          <a:xfrm>
            <a:off x="4709160" y="4206240"/>
            <a:ext cx="914400" cy="320040"/>
          </a:xfrm>
          <a:prstGeom prst="rect">
            <a:avLst/>
          </a:prstGeom>
          <a:solidFill>
            <a:srgbClr val="FFFFFF"/>
          </a:solidFill>
          <a:ln w="12700">
            <a:solidFill>
              <a:srgbClr val="E0E0E0"/>
            </a:solidFill>
            <a:prstDash val="solid"/>
          </a:ln>
        </p:spPr>
      </p:sp>
      <p:sp>
        <p:nvSpPr>
          <p:cNvPr id="101" name="Text 99"/>
          <p:cNvSpPr/>
          <p:nvPr/>
        </p:nvSpPr>
        <p:spPr>
          <a:xfrm>
            <a:off x="4782312" y="420624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Yes</a:t>
            </a:r>
            <a:endParaRPr lang="en-US" sz="900" dirty="0"/>
          </a:p>
        </p:txBody>
      </p:sp>
      <p:sp>
        <p:nvSpPr>
          <p:cNvPr id="102" name="Shape 100"/>
          <p:cNvSpPr/>
          <p:nvPr/>
        </p:nvSpPr>
        <p:spPr>
          <a:xfrm>
            <a:off x="5623560" y="4206240"/>
            <a:ext cx="914400" cy="320040"/>
          </a:xfrm>
          <a:prstGeom prst="rect">
            <a:avLst/>
          </a:prstGeom>
          <a:solidFill>
            <a:srgbClr val="FFFFFF"/>
          </a:solidFill>
          <a:ln w="12700">
            <a:solidFill>
              <a:srgbClr val="E0E0E0"/>
            </a:solidFill>
            <a:prstDash val="solid"/>
          </a:ln>
        </p:spPr>
      </p:sp>
      <p:sp>
        <p:nvSpPr>
          <p:cNvPr id="103" name="Text 101"/>
          <p:cNvSpPr/>
          <p:nvPr/>
        </p:nvSpPr>
        <p:spPr>
          <a:xfrm>
            <a:off x="5696712" y="4206240"/>
            <a:ext cx="7680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Yes</a:t>
            </a:r>
            <a:endParaRPr lang="en-US" sz="900" dirty="0"/>
          </a:p>
        </p:txBody>
      </p:sp>
      <p:sp>
        <p:nvSpPr>
          <p:cNvPr id="104" name="Shape 102"/>
          <p:cNvSpPr/>
          <p:nvPr/>
        </p:nvSpPr>
        <p:spPr>
          <a:xfrm>
            <a:off x="6537960" y="4206240"/>
            <a:ext cx="1143000" cy="320040"/>
          </a:xfrm>
          <a:prstGeom prst="rect">
            <a:avLst/>
          </a:prstGeom>
          <a:solidFill>
            <a:srgbClr val="FFFFFF"/>
          </a:solidFill>
          <a:ln w="12700">
            <a:solidFill>
              <a:srgbClr val="E0E0E0"/>
            </a:solidFill>
            <a:prstDash val="solid"/>
          </a:ln>
        </p:spPr>
      </p:sp>
      <p:sp>
        <p:nvSpPr>
          <p:cNvPr id="105" name="Text 103"/>
          <p:cNvSpPr/>
          <p:nvPr/>
        </p:nvSpPr>
        <p:spPr>
          <a:xfrm>
            <a:off x="6611112" y="4206240"/>
            <a:ext cx="996696"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106" name="Shape 104"/>
          <p:cNvSpPr/>
          <p:nvPr/>
        </p:nvSpPr>
        <p:spPr>
          <a:xfrm>
            <a:off x="7680960" y="4206240"/>
            <a:ext cx="1124712" cy="320040"/>
          </a:xfrm>
          <a:prstGeom prst="rect">
            <a:avLst/>
          </a:prstGeom>
          <a:solidFill>
            <a:srgbClr val="FFFFFF"/>
          </a:solidFill>
          <a:ln w="12700">
            <a:solidFill>
              <a:srgbClr val="E0E0E0"/>
            </a:solidFill>
            <a:prstDash val="solid"/>
          </a:ln>
        </p:spPr>
      </p:sp>
      <p:sp>
        <p:nvSpPr>
          <p:cNvPr id="107" name="Text 105"/>
          <p:cNvSpPr/>
          <p:nvPr/>
        </p:nvSpPr>
        <p:spPr>
          <a:xfrm>
            <a:off x="7754112" y="4206240"/>
            <a:ext cx="978408" cy="320040"/>
          </a:xfrm>
          <a:prstGeom prst="rect">
            <a:avLst/>
          </a:prstGeom>
          <a:noFill/>
          <a:ln/>
        </p:spPr>
        <p:txBody>
          <a:bodyPr wrap="square" rtlCol="0" anchor="ctr"/>
          <a:lstStyle/>
          <a:p>
            <a:pPr indent="0" marL="0">
              <a:buNone/>
            </a:pPr>
            <a:r>
              <a:rPr lang="en-US" sz="900" dirty="0">
                <a:solidFill>
                  <a:srgbClr val="2D2D2D"/>
                </a:solidFill>
                <a:latin typeface="Calibri" pitchFamily="34" charset="0"/>
                <a:ea typeface="Calibri" pitchFamily="34" charset="-122"/>
                <a:cs typeface="Calibri" pitchFamily="34" charset="-120"/>
              </a:rPr>
              <a:t>✓ Full</a:t>
            </a:r>
            <a:endParaRPr lang="en-US" sz="900" dirty="0"/>
          </a:p>
        </p:txBody>
      </p:sp>
      <p:sp>
        <p:nvSpPr>
          <p:cNvPr id="108" name="Text 106"/>
          <p:cNvSpPr/>
          <p:nvPr/>
        </p:nvSpPr>
        <p:spPr>
          <a:xfrm>
            <a:off x="320040" y="5715000"/>
            <a:ext cx="11548872" cy="256032"/>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Recommended: Shallow (Safe State + Failover) immediately. Layer in Invariant-Guided Re-entry. Luenberger SSE for academic deep recovery.</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ARCH</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Integrated Recovery Architecture</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Shallow + deep recovery in a single automated pipeline triggered by hybrid detector</a:t>
            </a:r>
            <a:endParaRPr lang="en-US" sz="1200" dirty="0"/>
          </a:p>
        </p:txBody>
      </p:sp>
      <p:sp>
        <p:nvSpPr>
          <p:cNvPr id="10" name="Shape 8"/>
          <p:cNvSpPr/>
          <p:nvPr/>
        </p:nvSpPr>
        <p:spPr>
          <a:xfrm>
            <a:off x="320040" y="1463040"/>
            <a:ext cx="11548872" cy="1234440"/>
          </a:xfrm>
          <a:prstGeom prst="rect">
            <a:avLst/>
          </a:prstGeom>
          <a:solidFill>
            <a:srgbClr val="F5F5F5"/>
          </a:solidFill>
          <a:ln w="12700">
            <a:solidFill>
              <a:srgbClr val="E0E0E0"/>
            </a:solidFill>
            <a:prstDash val="solid"/>
          </a:ln>
        </p:spPr>
      </p:sp>
      <p:sp>
        <p:nvSpPr>
          <p:cNvPr id="11" name="Shape 9"/>
          <p:cNvSpPr/>
          <p:nvPr/>
        </p:nvSpPr>
        <p:spPr>
          <a:xfrm>
            <a:off x="320040" y="1463040"/>
            <a:ext cx="54864" cy="1234440"/>
          </a:xfrm>
          <a:prstGeom prst="rect">
            <a:avLst/>
          </a:prstGeom>
          <a:solidFill>
            <a:srgbClr val="2E7D32"/>
          </a:solidFill>
          <a:ln/>
        </p:spPr>
      </p:sp>
      <p:sp>
        <p:nvSpPr>
          <p:cNvPr id="12" name="Text 10"/>
          <p:cNvSpPr/>
          <p:nvPr/>
        </p:nvSpPr>
        <p:spPr>
          <a:xfrm>
            <a:off x="502920" y="15361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Path A — Shallow Recovery (Immediate, Deployed)</a:t>
            </a:r>
            <a:endParaRPr lang="en-US" sz="1100" dirty="0"/>
          </a:p>
        </p:txBody>
      </p:sp>
      <p:sp>
        <p:nvSpPr>
          <p:cNvPr id="13" name="Text 11"/>
          <p:cNvSpPr/>
          <p:nvPr/>
        </p:nvSpPr>
        <p:spPr>
          <a:xfrm>
            <a:off x="502920" y="18288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recovery_agent.py runs automatically on ALERT. iptables block, safe-state CIP writes, PLC1B EtherNet/IP handshake. Total target: &lt;15 seconds. No additional development needed.</a:t>
            </a:r>
            <a:endParaRPr lang="en-US" sz="1050" dirty="0"/>
          </a:p>
        </p:txBody>
      </p:sp>
      <p:sp>
        <p:nvSpPr>
          <p:cNvPr id="14" name="Shape 12"/>
          <p:cNvSpPr/>
          <p:nvPr/>
        </p:nvSpPr>
        <p:spPr>
          <a:xfrm>
            <a:off x="320040" y="2834640"/>
            <a:ext cx="11548872" cy="1234440"/>
          </a:xfrm>
          <a:prstGeom prst="rect">
            <a:avLst/>
          </a:prstGeom>
          <a:solidFill>
            <a:srgbClr val="F5F5F5"/>
          </a:solidFill>
          <a:ln w="12700">
            <a:solidFill>
              <a:srgbClr val="E0E0E0"/>
            </a:solidFill>
            <a:prstDash val="solid"/>
          </a:ln>
        </p:spPr>
      </p:sp>
      <p:sp>
        <p:nvSpPr>
          <p:cNvPr id="15" name="Shape 13"/>
          <p:cNvSpPr/>
          <p:nvPr/>
        </p:nvSpPr>
        <p:spPr>
          <a:xfrm>
            <a:off x="320040" y="2834640"/>
            <a:ext cx="54864" cy="1234440"/>
          </a:xfrm>
          <a:prstGeom prst="rect">
            <a:avLst/>
          </a:prstGeom>
          <a:solidFill>
            <a:srgbClr val="2E7D32"/>
          </a:solidFill>
          <a:ln/>
        </p:spPr>
      </p:sp>
      <p:sp>
        <p:nvSpPr>
          <p:cNvPr id="16" name="Text 14"/>
          <p:cNvSpPr/>
          <p:nvPr/>
        </p:nvSpPr>
        <p:spPr>
          <a:xfrm>
            <a:off x="502920" y="29077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Path B — Deep Recovery (Research Extension)</a:t>
            </a:r>
            <a:endParaRPr lang="en-US" sz="1100" dirty="0"/>
          </a:p>
        </p:txBody>
      </p:sp>
      <p:sp>
        <p:nvSpPr>
          <p:cNvPr id="17" name="Text 15"/>
          <p:cNvSpPr/>
          <p:nvPr/>
        </p:nvSpPr>
        <p:spPr>
          <a:xfrm>
            <a:off x="502920" y="32004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Luenberger SSE runs on parallel thread. Reconstructs LIT101/FIT101 from uncorrupted sensor subset. ODE-based LIT101 prediction. Invariant-guided sensor re-entry gates acceptance.</a:t>
            </a:r>
            <a:endParaRPr lang="en-US" sz="1050" dirty="0"/>
          </a:p>
        </p:txBody>
      </p:sp>
      <p:sp>
        <p:nvSpPr>
          <p:cNvPr id="18" name="Shape 16"/>
          <p:cNvSpPr/>
          <p:nvPr/>
        </p:nvSpPr>
        <p:spPr>
          <a:xfrm>
            <a:off x="320040" y="4206240"/>
            <a:ext cx="11548872" cy="1234440"/>
          </a:xfrm>
          <a:prstGeom prst="rect">
            <a:avLst/>
          </a:prstGeom>
          <a:solidFill>
            <a:srgbClr val="F5F5F5"/>
          </a:solidFill>
          <a:ln w="12700">
            <a:solidFill>
              <a:srgbClr val="E0E0E0"/>
            </a:solidFill>
            <a:prstDash val="solid"/>
          </a:ln>
        </p:spPr>
      </p:sp>
      <p:sp>
        <p:nvSpPr>
          <p:cNvPr id="19" name="Shape 17"/>
          <p:cNvSpPr/>
          <p:nvPr/>
        </p:nvSpPr>
        <p:spPr>
          <a:xfrm>
            <a:off x="320040" y="4206240"/>
            <a:ext cx="54864" cy="1234440"/>
          </a:xfrm>
          <a:prstGeom prst="rect">
            <a:avLst/>
          </a:prstGeom>
          <a:solidFill>
            <a:srgbClr val="2E7D32"/>
          </a:solidFill>
          <a:ln/>
        </p:spPr>
      </p:sp>
      <p:sp>
        <p:nvSpPr>
          <p:cNvPr id="20" name="Text 18"/>
          <p:cNvSpPr/>
          <p:nvPr/>
        </p:nvSpPr>
        <p:spPr>
          <a:xfrm>
            <a:off x="502920" y="4279392"/>
            <a:ext cx="11365992" cy="274320"/>
          </a:xfrm>
          <a:prstGeom prst="rect">
            <a:avLst/>
          </a:prstGeom>
          <a:noFill/>
          <a:ln/>
        </p:spPr>
        <p:txBody>
          <a:bodyPr wrap="square"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Timeline</a:t>
            </a:r>
            <a:endParaRPr lang="en-US" sz="1100" dirty="0"/>
          </a:p>
        </p:txBody>
      </p:sp>
      <p:sp>
        <p:nvSpPr>
          <p:cNvPr id="21" name="Text 19"/>
          <p:cNvSpPr/>
          <p:nvPr/>
        </p:nvSpPr>
        <p:spPr>
          <a:xfrm>
            <a:off x="502920" y="4572000"/>
            <a:ext cx="11365992" cy="758952"/>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0s: ALERT → &lt;3s: Contain → &lt;5s: Safe State → &lt;8s: PLC1B Failover → &lt;30s: SSE Reconstruction → &lt;60s: Full Automated Resume</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2E7D32"/>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Implementation Plan &amp; Open Challenges</a:t>
            </a:r>
            <a:endParaRPr lang="en-US" sz="3200" dirty="0"/>
          </a:p>
        </p:txBody>
      </p:sp>
      <p:sp>
        <p:nvSpPr>
          <p:cNvPr id="9" name="Text 7"/>
          <p:cNvSpPr/>
          <p:nvPr/>
        </p:nvSpPr>
        <p:spPr>
          <a:xfrm>
            <a:off x="320040" y="1051560"/>
            <a:ext cx="11548872" cy="256032"/>
          </a:xfrm>
          <a:prstGeom prst="rect">
            <a:avLst/>
          </a:prstGeom>
          <a:noFill/>
          <a:ln/>
        </p:spPr>
        <p:txBody>
          <a:bodyPr wrap="square"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What is built now vs what remains as open research</a:t>
            </a:r>
            <a:endParaRPr lang="en-US" sz="1200" dirty="0"/>
          </a:p>
        </p:txBody>
      </p:sp>
      <p:sp>
        <p:nvSpPr>
          <p:cNvPr id="10" name="Shape 8"/>
          <p:cNvSpPr/>
          <p:nvPr/>
        </p:nvSpPr>
        <p:spPr>
          <a:xfrm>
            <a:off x="320040" y="1417320"/>
            <a:ext cx="5637276" cy="384048"/>
          </a:xfrm>
          <a:prstGeom prst="rect">
            <a:avLst/>
          </a:prstGeom>
          <a:solidFill>
            <a:srgbClr val="2E7D32"/>
          </a:solidFill>
          <a:ln/>
        </p:spPr>
      </p:sp>
      <p:sp>
        <p:nvSpPr>
          <p:cNvPr id="11" name="Text 9"/>
          <p:cNvSpPr/>
          <p:nvPr/>
        </p:nvSpPr>
        <p:spPr>
          <a:xfrm>
            <a:off x="320040"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Buildable Now — Deliverables</a:t>
            </a:r>
            <a:endParaRPr lang="en-US" sz="1100" dirty="0"/>
          </a:p>
        </p:txBody>
      </p:sp>
      <p:sp>
        <p:nvSpPr>
          <p:cNvPr id="12" name="Shape 10"/>
          <p:cNvSpPr/>
          <p:nvPr/>
        </p:nvSpPr>
        <p:spPr>
          <a:xfrm>
            <a:off x="429768" y="1938528"/>
            <a:ext cx="73152" cy="73152"/>
          </a:xfrm>
          <a:prstGeom prst="rect">
            <a:avLst/>
          </a:prstGeom>
          <a:solidFill>
            <a:srgbClr val="2E7D32"/>
          </a:solidFill>
          <a:ln/>
        </p:spPr>
      </p:sp>
      <p:sp>
        <p:nvSpPr>
          <p:cNvPr id="13" name="Text 11"/>
          <p:cNvSpPr/>
          <p:nvPr/>
        </p:nvSpPr>
        <p:spPr>
          <a:xfrm>
            <a:off x="576072" y="187452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recovery_agent.py — automated 5-step pipeline (READY)</a:t>
            </a:r>
            <a:endParaRPr lang="en-US" sz="1050" dirty="0"/>
          </a:p>
        </p:txBody>
      </p:sp>
      <p:sp>
        <p:nvSpPr>
          <p:cNvPr id="14" name="Shape 12"/>
          <p:cNvSpPr/>
          <p:nvPr/>
        </p:nvSpPr>
        <p:spPr>
          <a:xfrm>
            <a:off x="429768" y="2761488"/>
            <a:ext cx="73152" cy="73152"/>
          </a:xfrm>
          <a:prstGeom prst="rect">
            <a:avLst/>
          </a:prstGeom>
          <a:solidFill>
            <a:srgbClr val="2E7D32"/>
          </a:solidFill>
          <a:ln/>
        </p:spPr>
      </p:sp>
      <p:sp>
        <p:nvSpPr>
          <p:cNvPr id="15" name="Text 13"/>
          <p:cNvSpPr/>
          <p:nvPr/>
        </p:nvSpPr>
        <p:spPr>
          <a:xfrm>
            <a:off x="576072" y="269748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ode_estimator.py — LIT101 ODE integrator (READY)</a:t>
            </a:r>
            <a:endParaRPr lang="en-US" sz="1050" dirty="0"/>
          </a:p>
        </p:txBody>
      </p:sp>
      <p:sp>
        <p:nvSpPr>
          <p:cNvPr id="16" name="Shape 14"/>
          <p:cNvSpPr/>
          <p:nvPr/>
        </p:nvSpPr>
        <p:spPr>
          <a:xfrm>
            <a:off x="429768" y="3584448"/>
            <a:ext cx="73152" cy="73152"/>
          </a:xfrm>
          <a:prstGeom prst="rect">
            <a:avLst/>
          </a:prstGeom>
          <a:solidFill>
            <a:srgbClr val="2E7D32"/>
          </a:solidFill>
          <a:ln/>
        </p:spPr>
      </p:sp>
      <p:sp>
        <p:nvSpPr>
          <p:cNvPr id="17" name="Text 15"/>
          <p:cNvSpPr/>
          <p:nvPr/>
        </p:nvSpPr>
        <p:spPr>
          <a:xfrm>
            <a:off x="576072" y="352044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reentry_gate.py — invariant-gated sensor re-entry (READY)</a:t>
            </a:r>
            <a:endParaRPr lang="en-US" sz="1050" dirty="0"/>
          </a:p>
        </p:txBody>
      </p:sp>
      <p:sp>
        <p:nvSpPr>
          <p:cNvPr id="18" name="Shape 16"/>
          <p:cNvSpPr/>
          <p:nvPr/>
        </p:nvSpPr>
        <p:spPr>
          <a:xfrm>
            <a:off x="429768" y="4407408"/>
            <a:ext cx="73152" cy="73152"/>
          </a:xfrm>
          <a:prstGeom prst="rect">
            <a:avLst/>
          </a:prstGeom>
          <a:solidFill>
            <a:srgbClr val="2E7D32"/>
          </a:solidFill>
          <a:ln/>
        </p:spPr>
      </p:sp>
      <p:sp>
        <p:nvSpPr>
          <p:cNvPr id="19" name="Text 17"/>
          <p:cNvSpPr/>
          <p:nvPr/>
        </p:nvSpPr>
        <p:spPr>
          <a:xfrm>
            <a:off x="576072" y="434340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Full integration test on SWaT testbed (DEMO)</a:t>
            </a:r>
            <a:endParaRPr lang="en-US" sz="1050" dirty="0"/>
          </a:p>
        </p:txBody>
      </p:sp>
      <p:sp>
        <p:nvSpPr>
          <p:cNvPr id="20" name="Shape 18"/>
          <p:cNvSpPr/>
          <p:nvPr/>
        </p:nvSpPr>
        <p:spPr>
          <a:xfrm>
            <a:off x="6231636" y="1417320"/>
            <a:ext cx="5637276" cy="384048"/>
          </a:xfrm>
          <a:prstGeom prst="rect">
            <a:avLst/>
          </a:prstGeom>
          <a:solidFill>
            <a:srgbClr val="1565C0"/>
          </a:solidFill>
          <a:ln/>
        </p:spPr>
      </p:sp>
      <p:sp>
        <p:nvSpPr>
          <p:cNvPr id="21" name="Text 19"/>
          <p:cNvSpPr/>
          <p:nvPr/>
        </p:nvSpPr>
        <p:spPr>
          <a:xfrm>
            <a:off x="6231636" y="1417320"/>
            <a:ext cx="563727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Open Research Challenges</a:t>
            </a:r>
            <a:endParaRPr lang="en-US" sz="1100" dirty="0"/>
          </a:p>
        </p:txBody>
      </p:sp>
      <p:sp>
        <p:nvSpPr>
          <p:cNvPr id="22" name="Shape 20"/>
          <p:cNvSpPr/>
          <p:nvPr/>
        </p:nvSpPr>
        <p:spPr>
          <a:xfrm>
            <a:off x="6341364" y="1938528"/>
            <a:ext cx="73152" cy="73152"/>
          </a:xfrm>
          <a:prstGeom prst="rect">
            <a:avLst/>
          </a:prstGeom>
          <a:solidFill>
            <a:srgbClr val="1565C0"/>
          </a:solidFill>
          <a:ln/>
        </p:spPr>
      </p:sp>
      <p:sp>
        <p:nvSpPr>
          <p:cNvPr id="23" name="Text 21"/>
          <p:cNvSpPr/>
          <p:nvPr/>
        </p:nvSpPr>
        <p:spPr>
          <a:xfrm>
            <a:off x="6487668" y="187452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System ID for SWaT P1: Luenberger SSE needs state-space matrices (A,B,C)</a:t>
            </a:r>
            <a:endParaRPr lang="en-US" sz="1050" dirty="0"/>
          </a:p>
        </p:txBody>
      </p:sp>
      <p:sp>
        <p:nvSpPr>
          <p:cNvPr id="24" name="Shape 22"/>
          <p:cNvSpPr/>
          <p:nvPr/>
        </p:nvSpPr>
        <p:spPr>
          <a:xfrm>
            <a:off x="6341364" y="2761488"/>
            <a:ext cx="73152" cy="73152"/>
          </a:xfrm>
          <a:prstGeom prst="rect">
            <a:avLst/>
          </a:prstGeom>
          <a:solidFill>
            <a:srgbClr val="1565C0"/>
          </a:solidFill>
          <a:ln/>
        </p:spPr>
      </p:sp>
      <p:sp>
        <p:nvSpPr>
          <p:cNvPr id="25" name="Text 23"/>
          <p:cNvSpPr/>
          <p:nvPr/>
        </p:nvSpPr>
        <p:spPr>
          <a:xfrm>
            <a:off x="6487668" y="269748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Multi-stage cascading recovery (Paper #9 can attack all 6 stages)</a:t>
            </a:r>
            <a:endParaRPr lang="en-US" sz="1050" dirty="0"/>
          </a:p>
        </p:txBody>
      </p:sp>
      <p:sp>
        <p:nvSpPr>
          <p:cNvPr id="26" name="Shape 24"/>
          <p:cNvSpPr/>
          <p:nvPr/>
        </p:nvSpPr>
        <p:spPr>
          <a:xfrm>
            <a:off x="6341364" y="3584448"/>
            <a:ext cx="73152" cy="73152"/>
          </a:xfrm>
          <a:prstGeom prst="rect">
            <a:avLst/>
          </a:prstGeom>
          <a:solidFill>
            <a:srgbClr val="1565C0"/>
          </a:solidFill>
          <a:ln/>
        </p:spPr>
      </p:sp>
      <p:sp>
        <p:nvSpPr>
          <p:cNvPr id="27" name="Text 25"/>
          <p:cNvSpPr/>
          <p:nvPr/>
        </p:nvSpPr>
        <p:spPr>
          <a:xfrm>
            <a:off x="6487668" y="352044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Adversarial recovery evasion: attacker spoofs ODE predictions during re-entry</a:t>
            </a:r>
            <a:endParaRPr lang="en-US" sz="1050" dirty="0"/>
          </a:p>
        </p:txBody>
      </p:sp>
      <p:sp>
        <p:nvSpPr>
          <p:cNvPr id="28" name="Shape 26"/>
          <p:cNvSpPr/>
          <p:nvPr/>
        </p:nvSpPr>
        <p:spPr>
          <a:xfrm>
            <a:off x="6341364" y="4407408"/>
            <a:ext cx="73152" cy="73152"/>
          </a:xfrm>
          <a:prstGeom prst="rect">
            <a:avLst/>
          </a:prstGeom>
          <a:solidFill>
            <a:srgbClr val="1565C0"/>
          </a:solidFill>
          <a:ln/>
        </p:spPr>
      </p:sp>
      <p:sp>
        <p:nvSpPr>
          <p:cNvPr id="29" name="Text 27"/>
          <p:cNvSpPr/>
          <p:nvPr/>
        </p:nvSpPr>
        <p:spPr>
          <a:xfrm>
            <a:off x="6487668" y="4343400"/>
            <a:ext cx="5308092" cy="768096"/>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Formal real-time guarantees for PLC embedded environments (RTAS venue)</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64008"/>
          </a:xfrm>
          <a:prstGeom prst="rect">
            <a:avLst/>
          </a:prstGeom>
          <a:solidFill>
            <a:srgbClr val="E8243C"/>
          </a:solidFill>
          <a:ln/>
        </p:spPr>
      </p:sp>
      <p:sp>
        <p:nvSpPr>
          <p:cNvPr id="4" name="Shape 2"/>
          <p:cNvSpPr/>
          <p:nvPr/>
        </p:nvSpPr>
        <p:spPr>
          <a:xfrm>
            <a:off x="0" y="6510528"/>
            <a:ext cx="12188952" cy="347472"/>
          </a:xfrm>
          <a:prstGeom prst="rect">
            <a:avLst/>
          </a:prstGeom>
          <a:solidFill>
            <a:srgbClr val="F5F5F5"/>
          </a:solidFill>
          <a:ln/>
        </p:spPr>
      </p:sp>
      <p:sp>
        <p:nvSpPr>
          <p:cNvPr id="5" name="Text 3"/>
          <p:cNvSpPr/>
          <p:nvPr/>
        </p:nvSpPr>
        <p:spPr>
          <a:xfrm>
            <a:off x="274320" y="6565392"/>
            <a:ext cx="11640312" cy="219456"/>
          </a:xfrm>
          <a:prstGeom prst="rect">
            <a:avLst/>
          </a:prstGeom>
          <a:noFill/>
          <a:ln/>
        </p:spPr>
        <p:txBody>
          <a:bodyPr wrap="square" rtlCol="0" anchor="ctr"/>
          <a:lstStyle/>
          <a:p>
            <a:pPr algn="l" indent="0" marL="0">
              <a:buNone/>
            </a:pPr>
            <a:r>
              <a:rPr lang="en-US" sz="800" dirty="0">
                <a:solidFill>
                  <a:srgbClr val="6B6B6B"/>
                </a:solidFill>
                <a:latin typeface="Calibri" pitchFamily="34" charset="0"/>
                <a:ea typeface="Calibri" pitchFamily="34" charset="-122"/>
                <a:cs typeface="Calibri" pitchFamily="34" charset="-120"/>
              </a:rPr>
              <a:t>51.508 Secure Cyber Physical Systems  ·  SWaT Project  ·  iTrust Lab, SUTD</a:t>
            </a:r>
            <a:endParaRPr lang="en-US" sz="800" dirty="0"/>
          </a:p>
        </p:txBody>
      </p:sp>
      <p:sp>
        <p:nvSpPr>
          <p:cNvPr id="6" name="Shape 4"/>
          <p:cNvSpPr/>
          <p:nvPr/>
        </p:nvSpPr>
        <p:spPr>
          <a:xfrm>
            <a:off x="320040" y="109728"/>
            <a:ext cx="1280160" cy="292608"/>
          </a:xfrm>
          <a:prstGeom prst="rect">
            <a:avLst/>
          </a:prstGeom>
          <a:solidFill>
            <a:srgbClr val="E8243C"/>
          </a:solidFill>
          <a:ln/>
        </p:spPr>
      </p:sp>
      <p:sp>
        <p:nvSpPr>
          <p:cNvPr id="7" name="Text 5"/>
          <p:cNvSpPr/>
          <p:nvPr/>
        </p:nvSpPr>
        <p:spPr>
          <a:xfrm>
            <a:off x="320040" y="109728"/>
            <a:ext cx="1280160" cy="29260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REF</a:t>
            </a:r>
            <a:endParaRPr lang="en-US" sz="1000" dirty="0"/>
          </a:p>
        </p:txBody>
      </p:sp>
      <p:sp>
        <p:nvSpPr>
          <p:cNvPr id="8" name="Text 6"/>
          <p:cNvSpPr/>
          <p:nvPr/>
        </p:nvSpPr>
        <p:spPr>
          <a:xfrm>
            <a:off x="320040" y="457200"/>
            <a:ext cx="11548872" cy="640080"/>
          </a:xfrm>
          <a:prstGeom prst="rect">
            <a:avLst/>
          </a:prstGeom>
          <a:noFill/>
          <a:ln/>
        </p:spPr>
        <p:txBody>
          <a:bodyPr wrap="square" rtlCol="0" anchor="ctr"/>
          <a:lstStyle/>
          <a:p>
            <a:pPr indent="0" marL="0">
              <a:buNone/>
            </a:pPr>
            <a:r>
              <a:rPr lang="en-US" sz="3200" b="1" dirty="0">
                <a:solidFill>
                  <a:srgbClr val="1A1A1A"/>
                </a:solidFill>
                <a:latin typeface="Calibri Light" pitchFamily="34" charset="0"/>
                <a:ea typeface="Calibri Light" pitchFamily="34" charset="-122"/>
                <a:cs typeface="Calibri Light" pitchFamily="34" charset="-120"/>
              </a:rPr>
              <a:t>Recovery Research References</a:t>
            </a:r>
            <a:endParaRPr lang="en-US" sz="3200" dirty="0"/>
          </a:p>
        </p:txBody>
      </p:sp>
      <p:sp>
        <p:nvSpPr>
          <p:cNvPr id="9" name="Text 7"/>
          <p:cNvSpPr/>
          <p:nvPr/>
        </p:nvSpPr>
        <p:spPr>
          <a:xfrm>
            <a:off x="320040" y="1463040"/>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[R1] ACM Computing Surveys 2024. "Recovery from Adversarial Attacks in CPS." doi:10.1145/3653974</a:t>
            </a:r>
            <a:endParaRPr lang="en-US" sz="1050" dirty="0"/>
          </a:p>
        </p:txBody>
      </p:sp>
      <p:sp>
        <p:nvSpPr>
          <p:cNvPr id="10" name="Text 8"/>
          <p:cNvSpPr/>
          <p:nvPr/>
        </p:nvSpPr>
        <p:spPr>
          <a:xfrm>
            <a:off x="320040" y="2212848"/>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[R2] A. Y. Lu &amp; G. H. Yang. "Secure State Estimation for CPS under Sparse Sensor Attacks via Switched Luenberger Observer." Info. Sci. 417, 2017.</a:t>
            </a:r>
            <a:endParaRPr lang="en-US" sz="1050" dirty="0"/>
          </a:p>
        </p:txBody>
      </p:sp>
      <p:sp>
        <p:nvSpPr>
          <p:cNvPr id="11" name="Text 9"/>
          <p:cNvSpPr/>
          <p:nvPr/>
        </p:nvSpPr>
        <p:spPr>
          <a:xfrm>
            <a:off x="320040" y="2962656"/>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[R3] Y. Shoukry &amp; P. Tabuada. "Event-Triggered State Observers for Sparse Sensor Noise/Attacks." IEEE TAC 61(8), 2016.</a:t>
            </a:r>
            <a:endParaRPr lang="en-US" sz="1050" dirty="0"/>
          </a:p>
        </p:txBody>
      </p:sp>
      <p:sp>
        <p:nvSpPr>
          <p:cNvPr id="12" name="Text 10"/>
          <p:cNvSpPr/>
          <p:nvPr/>
        </p:nvSpPr>
        <p:spPr>
          <a:xfrm>
            <a:off x="320040" y="3712464"/>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[R4] Y. H. Chang, Q. Hu &amp; C. Tomlin. "Secure Estimation based Kalman Filter for CPS against Adversarial Attacks." ArXiv 2015.</a:t>
            </a:r>
            <a:endParaRPr lang="en-US" sz="1050" dirty="0"/>
          </a:p>
        </p:txBody>
      </p:sp>
      <p:sp>
        <p:nvSpPr>
          <p:cNvPr id="13" name="Text 11"/>
          <p:cNvSpPr/>
          <p:nvPr/>
        </p:nvSpPr>
        <p:spPr>
          <a:xfrm>
            <a:off x="320040" y="4462272"/>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[R5] NIST SP 800-82 Revision 3. "Guide to Operational Technology (OT) Security." September 2023.</a:t>
            </a:r>
            <a:endParaRPr lang="en-US" sz="1050" dirty="0"/>
          </a:p>
        </p:txBody>
      </p:sp>
      <p:sp>
        <p:nvSpPr>
          <p:cNvPr id="14" name="Text 12"/>
          <p:cNvSpPr/>
          <p:nvPr/>
        </p:nvSpPr>
        <p:spPr>
          <a:xfrm>
            <a:off x="320040" y="5212080"/>
            <a:ext cx="11548872" cy="658368"/>
          </a:xfrm>
          <a:prstGeom prst="rect">
            <a:avLst/>
          </a:prstGeom>
          <a:noFill/>
          <a:ln/>
        </p:spPr>
        <p:txBody>
          <a:bodyPr wrap="square" rtlCol="0" anchor="t"/>
          <a:lstStyle/>
          <a:p>
            <a:pPr indent="0" marL="0">
              <a:buNone/>
            </a:pPr>
            <a:r>
              <a:rPr lang="en-US" sz="1050" dirty="0">
                <a:solidFill>
                  <a:srgbClr val="2D2D2D"/>
                </a:solidFill>
                <a:latin typeface="Calibri" pitchFamily="34" charset="0"/>
                <a:ea typeface="Calibri" pitchFamily="34" charset="-122"/>
                <a:cs typeface="Calibri" pitchFamily="34" charset="-120"/>
              </a:rPr>
              <a:t>[R6] F. Kong et al. "Cyber-Physical System Checkpointing and Recovery." ICCPS 2018.</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1145743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7" name="Rectangle 6"/>
          <p:cNvSpPr/>
          <p:nvPr/>
        </p:nvSpPr>
        <p:spPr>
          <a:xfrm>
            <a:off x="502920" y="548640"/>
            <a:ext cx="210312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8640"/>
            <a:ext cx="2103120" cy="384048"/>
          </a:xfrm>
          <a:prstGeom prst="rect">
            <a:avLst/>
          </a:prstGeom>
          <a:noFill/>
        </p:spPr>
        <p:txBody>
          <a:bodyPr wrap="square">
            <a:spAutoFit/>
          </a:bodyPr>
          <a:lstStyle/>
          <a:p>
            <a:pPr algn="ctr"/>
            <a:r>
              <a:rPr sz="1100" b="1" i="0">
                <a:solidFill>
                  <a:srgbClr val="FFFFFF"/>
                </a:solidFill>
                <a:latin typeface="Calibri"/>
              </a:rPr>
              <a:t>BROADER IMPACT</a:t>
            </a:r>
          </a:p>
        </p:txBody>
      </p:sp>
      <p:sp>
        <p:nvSpPr>
          <p:cNvPr id="9" name="TextBox 8"/>
          <p:cNvSpPr txBox="1"/>
          <p:nvPr/>
        </p:nvSpPr>
        <p:spPr>
          <a:xfrm>
            <a:off x="502920" y="1188720"/>
            <a:ext cx="9601200" cy="777240"/>
          </a:xfrm>
          <a:prstGeom prst="rect">
            <a:avLst/>
          </a:prstGeom>
          <a:noFill/>
        </p:spPr>
        <p:txBody>
          <a:bodyPr wrap="square">
            <a:spAutoFit/>
          </a:bodyPr>
          <a:lstStyle/>
          <a:p>
            <a:pPr algn="l"/>
            <a:r>
              <a:rPr sz="4200" b="1" i="0">
                <a:solidFill>
                  <a:srgbClr val="1A1A1A"/>
                </a:solidFill>
                <a:latin typeface="Calibri Light"/>
              </a:rPr>
              <a:t>Beyond Stage 1:</a:t>
            </a:r>
          </a:p>
        </p:txBody>
      </p:sp>
      <p:sp>
        <p:nvSpPr>
          <p:cNvPr id="10" name="TextBox 9"/>
          <p:cNvSpPr txBox="1"/>
          <p:nvPr/>
        </p:nvSpPr>
        <p:spPr>
          <a:xfrm>
            <a:off x="502920" y="1938528"/>
            <a:ext cx="9601200" cy="502920"/>
          </a:xfrm>
          <a:prstGeom prst="rect">
            <a:avLst/>
          </a:prstGeom>
          <a:noFill/>
        </p:spPr>
        <p:txBody>
          <a:bodyPr wrap="square">
            <a:spAutoFit/>
          </a:bodyPr>
          <a:lstStyle/>
          <a:p>
            <a:pPr algn="l"/>
            <a:r>
              <a:rPr sz="2200" b="0" i="0">
                <a:solidFill>
                  <a:srgbClr val="E8243C"/>
                </a:solidFill>
                <a:latin typeface="Calibri Light"/>
              </a:rPr>
              <a:t>What Happens When the Water Stops</a:t>
            </a:r>
          </a:p>
        </p:txBody>
      </p:sp>
      <p:sp>
        <p:nvSpPr>
          <p:cNvPr id="11" name="TextBox 10"/>
          <p:cNvSpPr txBox="1"/>
          <p:nvPr/>
        </p:nvSpPr>
        <p:spPr>
          <a:xfrm>
            <a:off x="502920" y="2606040"/>
            <a:ext cx="8686800" cy="594360"/>
          </a:xfrm>
          <a:prstGeom prst="rect">
            <a:avLst/>
          </a:prstGeom>
          <a:noFill/>
        </p:spPr>
        <p:txBody>
          <a:bodyPr wrap="square">
            <a:spAutoFit/>
          </a:bodyPr>
          <a:lstStyle/>
          <a:p>
            <a:pPr algn="l"/>
            <a:r>
              <a:rPr sz="1300" b="0" i="1">
                <a:solidFill>
                  <a:srgbClr val="6B6B6B"/>
                </a:solidFill>
                <a:latin typeface="Calibri"/>
              </a:rPr>
              <a:t>Our demo is a proof-of-concept on P1. The same attack pattern
scales across all 6 stages and can cripple the entire plant from one compromised HMI.</a:t>
            </a:r>
          </a:p>
        </p:txBody>
      </p:sp>
      <p:pic>
        <p:nvPicPr>
          <p:cNvPr id="12" name="Picture 11" descr="image.jpg"/>
          <p:cNvPicPr>
            <a:picLocks noChangeAspect="1"/>
          </p:cNvPicPr>
          <p:nvPr/>
        </p:nvPicPr>
        <p:blipFill>
          <a:blip r:embed="rId2"/>
          <a:stretch>
            <a:fillRect/>
          </a:stretch>
        </p:blipFill>
        <p:spPr>
          <a:xfrm>
            <a:off x="502920" y="3337560"/>
            <a:ext cx="11365992" cy="2743200"/>
          </a:xfrm>
          <a:prstGeom prst="rect">
            <a:avLst/>
          </a:prstGeom>
        </p:spPr>
      </p:pic>
      <p:sp>
        <p:nvSpPr>
          <p:cNvPr id="13" name="TextBox 12"/>
          <p:cNvSpPr txBox="1"/>
          <p:nvPr/>
        </p:nvSpPr>
        <p:spPr>
          <a:xfrm>
            <a:off x="502920" y="6062472"/>
            <a:ext cx="11365992" cy="182880"/>
          </a:xfrm>
          <a:prstGeom prst="rect">
            <a:avLst/>
          </a:prstGeom>
          <a:noFill/>
        </p:spPr>
        <p:txBody>
          <a:bodyPr wrap="square">
            <a:spAutoFit/>
          </a:bodyPr>
          <a:lstStyle/>
          <a:p>
            <a:pPr algn="ctr"/>
            <a:r>
              <a:rPr sz="750" b="0" i="1">
                <a:solidFill>
                  <a:srgbClr val="6B6B6B"/>
                </a:solidFill>
                <a:latin typeface="Calibri"/>
              </a:rPr>
              <a:t>SWaT 6-stage water treatment testbed — iTrust Lab, SUTD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BROADER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3000" b="1" i="0">
                <a:solidFill>
                  <a:srgbClr val="1A1A1A"/>
                </a:solidFill>
                <a:latin typeface="Calibri Light"/>
              </a:rPr>
              <a:t>The Cascade Effect</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50" b="0" i="1">
                <a:solidFill>
                  <a:srgbClr val="6B6B6B"/>
                </a:solidFill>
                <a:latin typeface="Calibri"/>
              </a:rPr>
              <a:t>Starve Stage 1 — every downstream stage fails in sequence</a:t>
            </a:r>
          </a:p>
        </p:txBody>
      </p:sp>
      <p:pic>
        <p:nvPicPr>
          <p:cNvPr id="10" name="Picture 9" descr="image.png"/>
          <p:cNvPicPr>
            <a:picLocks noChangeAspect="1"/>
          </p:cNvPicPr>
          <p:nvPr/>
        </p:nvPicPr>
        <p:blipFill>
          <a:blip r:embed="rId2"/>
          <a:stretch>
            <a:fillRect/>
          </a:stretch>
        </p:blipFill>
        <p:spPr>
          <a:xfrm>
            <a:off x="320040" y="1353312"/>
            <a:ext cx="4937760" cy="4251960"/>
          </a:xfrm>
          <a:prstGeom prst="rect">
            <a:avLst/>
          </a:prstGeom>
        </p:spPr>
      </p:pic>
      <p:sp>
        <p:nvSpPr>
          <p:cNvPr id="11" name="TextBox 10"/>
          <p:cNvSpPr txBox="1"/>
          <p:nvPr/>
        </p:nvSpPr>
        <p:spPr>
          <a:xfrm>
            <a:off x="320040" y="5577840"/>
            <a:ext cx="4937760" cy="182880"/>
          </a:xfrm>
          <a:prstGeom prst="rect">
            <a:avLst/>
          </a:prstGeom>
          <a:noFill/>
        </p:spPr>
        <p:txBody>
          <a:bodyPr wrap="square">
            <a:spAutoFit/>
          </a:bodyPr>
          <a:lstStyle/>
          <a:p>
            <a:pPr algn="ctr"/>
            <a:r>
              <a:rPr sz="750" b="0" i="1">
                <a:solidFill>
                  <a:srgbClr val="6B6B6B"/>
                </a:solidFill>
                <a:latin typeface="Calibri"/>
              </a:rPr>
              <a:t>SWaT network — 6 stages, each with independent PLC</a:t>
            </a:r>
          </a:p>
        </p:txBody>
      </p:sp>
      <p:sp>
        <p:nvSpPr>
          <p:cNvPr id="12" name="Rectangle 11"/>
          <p:cNvSpPr/>
          <p:nvPr/>
        </p:nvSpPr>
        <p:spPr>
          <a:xfrm>
            <a:off x="5468112" y="1353312"/>
            <a:ext cx="6400800" cy="7498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1408176"/>
            <a:ext cx="6217920" cy="274320"/>
          </a:xfrm>
          <a:prstGeom prst="rect">
            <a:avLst/>
          </a:prstGeom>
          <a:noFill/>
        </p:spPr>
        <p:txBody>
          <a:bodyPr wrap="square">
            <a:spAutoFit/>
          </a:bodyPr>
          <a:lstStyle/>
          <a:p>
            <a:pPr algn="l"/>
            <a:r>
              <a:rPr sz="1100" b="1" i="0">
                <a:solidFill>
                  <a:srgbClr val="FFFFFF"/>
                </a:solidFill>
                <a:latin typeface="Calibri"/>
              </a:rPr>
              <a:t>P1 — Raw Water</a:t>
            </a:r>
          </a:p>
        </p:txBody>
      </p:sp>
      <p:sp>
        <p:nvSpPr>
          <p:cNvPr id="14" name="TextBox 13"/>
          <p:cNvSpPr txBox="1"/>
          <p:nvPr/>
        </p:nvSpPr>
        <p:spPr>
          <a:xfrm>
            <a:off x="5577840" y="1700784"/>
            <a:ext cx="6217920" cy="365760"/>
          </a:xfrm>
          <a:prstGeom prst="rect">
            <a:avLst/>
          </a:prstGeom>
          <a:noFill/>
        </p:spPr>
        <p:txBody>
          <a:bodyPr wrap="square">
            <a:spAutoFit/>
          </a:bodyPr>
          <a:lstStyle/>
          <a:p>
            <a:pPr algn="l"/>
            <a:r>
              <a:rPr sz="950" b="0" i="0">
                <a:solidFill>
                  <a:srgbClr val="FFFFFF"/>
                </a:solidFill>
                <a:latin typeface="Calibri"/>
              </a:rPr>
              <a:t>MV101 CLOSED, P101 OFF → T101 drains → zero feed to P2</a:t>
            </a:r>
          </a:p>
        </p:txBody>
      </p:sp>
      <p:sp>
        <p:nvSpPr>
          <p:cNvPr id="15" name="Rectangle 14"/>
          <p:cNvSpPr/>
          <p:nvPr/>
        </p:nvSpPr>
        <p:spPr>
          <a:xfrm>
            <a:off x="5468112" y="2212848"/>
            <a:ext cx="6400800" cy="74980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2267712"/>
            <a:ext cx="6217920" cy="274320"/>
          </a:xfrm>
          <a:prstGeom prst="rect">
            <a:avLst/>
          </a:prstGeom>
          <a:noFill/>
        </p:spPr>
        <p:txBody>
          <a:bodyPr wrap="square">
            <a:spAutoFit/>
          </a:bodyPr>
          <a:lstStyle/>
          <a:p>
            <a:pPr algn="l"/>
            <a:r>
              <a:rPr sz="1100" b="1" i="0">
                <a:solidFill>
                  <a:srgbClr val="FFFFFF"/>
                </a:solidFill>
                <a:latin typeface="Calibri"/>
              </a:rPr>
              <a:t>P2 — Pre-Treatment</a:t>
            </a:r>
          </a:p>
        </p:txBody>
      </p:sp>
      <p:sp>
        <p:nvSpPr>
          <p:cNvPr id="17" name="TextBox 16"/>
          <p:cNvSpPr txBox="1"/>
          <p:nvPr/>
        </p:nvSpPr>
        <p:spPr>
          <a:xfrm>
            <a:off x="5577840" y="2560320"/>
            <a:ext cx="6217920" cy="365760"/>
          </a:xfrm>
          <a:prstGeom prst="rect">
            <a:avLst/>
          </a:prstGeom>
          <a:noFill/>
        </p:spPr>
        <p:txBody>
          <a:bodyPr wrap="square">
            <a:spAutoFit/>
          </a:bodyPr>
          <a:lstStyle/>
          <a:p>
            <a:pPr algn="l"/>
            <a:r>
              <a:rPr sz="950" b="0" i="0">
                <a:solidFill>
                  <a:srgbClr val="FFFFFF"/>
                </a:solidFill>
                <a:latin typeface="Calibri"/>
              </a:rPr>
              <a:t>Dosing pumps inject chemicals into empty pipe → concentration spike</a:t>
            </a:r>
          </a:p>
        </p:txBody>
      </p:sp>
      <p:sp>
        <p:nvSpPr>
          <p:cNvPr id="18" name="Rectangle 17"/>
          <p:cNvSpPr/>
          <p:nvPr/>
        </p:nvSpPr>
        <p:spPr>
          <a:xfrm>
            <a:off x="5468112" y="3072384"/>
            <a:ext cx="6400800" cy="749808"/>
          </a:xfrm>
          <a:prstGeom prst="rect">
            <a:avLst/>
          </a:prstGeom>
          <a:solidFill>
            <a:srgbClr val="AD1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0" y="3127248"/>
            <a:ext cx="6217920" cy="274320"/>
          </a:xfrm>
          <a:prstGeom prst="rect">
            <a:avLst/>
          </a:prstGeom>
          <a:noFill/>
        </p:spPr>
        <p:txBody>
          <a:bodyPr wrap="square">
            <a:spAutoFit/>
          </a:bodyPr>
          <a:lstStyle/>
          <a:p>
            <a:pPr algn="l"/>
            <a:r>
              <a:rPr sz="1100" b="1" i="0">
                <a:solidFill>
                  <a:srgbClr val="FFFFFF"/>
                </a:solidFill>
                <a:latin typeface="Calibri"/>
              </a:rPr>
              <a:t>P3 — Ultrafiltration</a:t>
            </a:r>
          </a:p>
        </p:txBody>
      </p:sp>
      <p:sp>
        <p:nvSpPr>
          <p:cNvPr id="20" name="TextBox 19"/>
          <p:cNvSpPr txBox="1"/>
          <p:nvPr/>
        </p:nvSpPr>
        <p:spPr>
          <a:xfrm>
            <a:off x="5577840" y="3419856"/>
            <a:ext cx="6217920" cy="365760"/>
          </a:xfrm>
          <a:prstGeom prst="rect">
            <a:avLst/>
          </a:prstGeom>
          <a:noFill/>
        </p:spPr>
        <p:txBody>
          <a:bodyPr wrap="square">
            <a:spAutoFit/>
          </a:bodyPr>
          <a:lstStyle/>
          <a:p>
            <a:pPr algn="l"/>
            <a:r>
              <a:rPr sz="950" b="0" i="0">
                <a:solidFill>
                  <a:srgbClr val="FFFFFF"/>
                </a:solidFill>
                <a:latin typeface="Calibri"/>
              </a:rPr>
              <a:t>P301 runs dry → cavitation → UF pump destroyed in minutes</a:t>
            </a:r>
          </a:p>
        </p:txBody>
      </p:sp>
      <p:sp>
        <p:nvSpPr>
          <p:cNvPr id="21" name="Rectangle 20"/>
          <p:cNvSpPr/>
          <p:nvPr/>
        </p:nvSpPr>
        <p:spPr>
          <a:xfrm>
            <a:off x="5468112" y="3931920"/>
            <a:ext cx="6400800" cy="749808"/>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3986783"/>
            <a:ext cx="6217920" cy="274320"/>
          </a:xfrm>
          <a:prstGeom prst="rect">
            <a:avLst/>
          </a:prstGeom>
          <a:noFill/>
        </p:spPr>
        <p:txBody>
          <a:bodyPr wrap="square">
            <a:spAutoFit/>
          </a:bodyPr>
          <a:lstStyle/>
          <a:p>
            <a:pPr algn="l"/>
            <a:r>
              <a:rPr sz="1100" b="1" i="0">
                <a:solidFill>
                  <a:srgbClr val="FFFFFF"/>
                </a:solidFill>
                <a:latin typeface="Calibri"/>
              </a:rPr>
              <a:t>P4/P5 — RO System</a:t>
            </a:r>
          </a:p>
        </p:txBody>
      </p:sp>
      <p:sp>
        <p:nvSpPr>
          <p:cNvPr id="23" name="TextBox 22"/>
          <p:cNvSpPr txBox="1"/>
          <p:nvPr/>
        </p:nvSpPr>
        <p:spPr>
          <a:xfrm>
            <a:off x="5577840" y="4279392"/>
            <a:ext cx="6217920" cy="365760"/>
          </a:xfrm>
          <a:prstGeom prst="rect">
            <a:avLst/>
          </a:prstGeom>
          <a:noFill/>
        </p:spPr>
        <p:txBody>
          <a:bodyPr wrap="square">
            <a:spAutoFit/>
          </a:bodyPr>
          <a:lstStyle/>
          <a:p>
            <a:pPr algn="l"/>
            <a:r>
              <a:rPr sz="950" b="0" i="0">
                <a:solidFill>
                  <a:srgbClr val="FFFFFF"/>
                </a:solidFill>
                <a:latin typeface="Calibri"/>
              </a:rPr>
              <a:t>High-pressure membranes lose flow → pressure swings → seal damage</a:t>
            </a:r>
          </a:p>
        </p:txBody>
      </p:sp>
      <p:sp>
        <p:nvSpPr>
          <p:cNvPr id="24" name="Rectangle 23"/>
          <p:cNvSpPr/>
          <p:nvPr/>
        </p:nvSpPr>
        <p:spPr>
          <a:xfrm>
            <a:off x="5468112" y="4791456"/>
            <a:ext cx="6400800" cy="749808"/>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4846320"/>
            <a:ext cx="6217920" cy="274320"/>
          </a:xfrm>
          <a:prstGeom prst="rect">
            <a:avLst/>
          </a:prstGeom>
          <a:noFill/>
        </p:spPr>
        <p:txBody>
          <a:bodyPr wrap="square">
            <a:spAutoFit/>
          </a:bodyPr>
          <a:lstStyle/>
          <a:p>
            <a:pPr algn="l"/>
            <a:r>
              <a:rPr sz="1100" b="1" i="0">
                <a:solidFill>
                  <a:srgbClr val="FFFFFF"/>
                </a:solidFill>
                <a:latin typeface="Calibri"/>
              </a:rPr>
              <a:t>P6 — Product Water</a:t>
            </a:r>
          </a:p>
        </p:txBody>
      </p:sp>
      <p:sp>
        <p:nvSpPr>
          <p:cNvPr id="26" name="TextBox 25"/>
          <p:cNvSpPr txBox="1"/>
          <p:nvPr/>
        </p:nvSpPr>
        <p:spPr>
          <a:xfrm>
            <a:off x="5577840" y="5138928"/>
            <a:ext cx="6217920" cy="365760"/>
          </a:xfrm>
          <a:prstGeom prst="rect">
            <a:avLst/>
          </a:prstGeom>
          <a:noFill/>
        </p:spPr>
        <p:txBody>
          <a:bodyPr wrap="square">
            <a:spAutoFit/>
          </a:bodyPr>
          <a:lstStyle/>
          <a:p>
            <a:pPr algn="l"/>
            <a:r>
              <a:rPr sz="950" b="0" i="0">
                <a:solidFill>
                  <a:srgbClr val="FFFFFF"/>
                </a:solidFill>
                <a:latin typeface="Calibri"/>
              </a:rPr>
              <a:t>LIT601 drops → LIT602 drops → plant-wide emergency shutdown</a:t>
            </a:r>
          </a:p>
        </p:txBody>
      </p:sp>
      <p:sp>
        <p:nvSpPr>
          <p:cNvPr id="27" name="TextBox 26"/>
          <p:cNvSpPr txBox="1"/>
          <p:nvPr/>
        </p:nvSpPr>
        <p:spPr>
          <a:xfrm>
            <a:off x="320040" y="5806440"/>
            <a:ext cx="11548872" cy="237744"/>
          </a:xfrm>
          <a:prstGeom prst="rect">
            <a:avLst/>
          </a:prstGeom>
          <a:noFill/>
        </p:spPr>
        <p:txBody>
          <a:bodyPr wrap="square">
            <a:spAutoFit/>
          </a:bodyPr>
          <a:lstStyle/>
          <a:p>
            <a:pPr algn="ctr"/>
            <a:r>
              <a:rPr sz="1000" b="1" i="0">
                <a:solidFill>
                  <a:srgbClr val="E8243C"/>
                </a:solidFill>
                <a:latin typeface="Calibri"/>
              </a:rPr>
              <a:t>One compromised HMI. One valve closed. The cascade does the rest.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BROADER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2600" b="1" i="0">
                <a:solidFill>
                  <a:srgbClr val="1A1A1A"/>
                </a:solidFill>
                <a:latin typeface="Calibri Light"/>
              </a:rPr>
              <a:t>The Attack Generalises to All 6 Stages</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50" b="0" i="1">
                <a:solidFill>
                  <a:srgbClr val="6B6B6B"/>
                </a:solidFill>
                <a:latin typeface="Calibri"/>
              </a:rPr>
              <a:t>Same two-line pylogix write — different PLC IP and tag names</a:t>
            </a:r>
          </a:p>
        </p:txBody>
      </p:sp>
      <p:sp>
        <p:nvSpPr>
          <p:cNvPr id="10" name="Rectangle 9"/>
          <p:cNvSpPr/>
          <p:nvPr/>
        </p:nvSpPr>
        <p:spPr>
          <a:xfrm>
            <a:off x="320040" y="1325880"/>
            <a:ext cx="7040880" cy="470916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17320"/>
            <a:ext cx="6858000" cy="256032"/>
          </a:xfrm>
          <a:prstGeom prst="rect">
            <a:avLst/>
          </a:prstGeom>
          <a:noFill/>
        </p:spPr>
        <p:txBody>
          <a:bodyPr wrap="square">
            <a:spAutoFit/>
          </a:bodyPr>
          <a:lstStyle/>
          <a:p>
            <a:pPr algn="l"/>
            <a:r>
              <a:rPr sz="900" b="0" i="0">
                <a:solidFill>
                  <a:srgbClr val="6B6B6B"/>
                </a:solidFill>
                <a:latin typeface="Courier New"/>
              </a:rPr>
              <a:t># Stage 1 — Raw Water       (PLC1: 192.168.1.10)</a:t>
            </a:r>
          </a:p>
        </p:txBody>
      </p:sp>
      <p:sp>
        <p:nvSpPr>
          <p:cNvPr id="12" name="TextBox 11"/>
          <p:cNvSpPr txBox="1"/>
          <p:nvPr/>
        </p:nvSpPr>
        <p:spPr>
          <a:xfrm>
            <a:off x="457200" y="1659636"/>
            <a:ext cx="6858000" cy="256032"/>
          </a:xfrm>
          <a:prstGeom prst="rect">
            <a:avLst/>
          </a:prstGeom>
          <a:noFill/>
        </p:spPr>
        <p:txBody>
          <a:bodyPr wrap="square">
            <a:spAutoFit/>
          </a:bodyPr>
          <a:lstStyle/>
          <a:p>
            <a:pPr algn="l"/>
            <a:r>
              <a:rPr sz="900" b="0" i="0">
                <a:solidFill>
                  <a:srgbClr val="00FF88"/>
                </a:solidFill>
                <a:latin typeface="Courier New"/>
              </a:rPr>
              <a:t>plc.Write('HMI_MV101.Auto', False);  plc.Write('HMI_MV101.Cmd', 1)</a:t>
            </a:r>
          </a:p>
        </p:txBody>
      </p:sp>
      <p:sp>
        <p:nvSpPr>
          <p:cNvPr id="13" name="TextBox 12"/>
          <p:cNvSpPr txBox="1"/>
          <p:nvPr/>
        </p:nvSpPr>
        <p:spPr>
          <a:xfrm>
            <a:off x="457200" y="1901952"/>
            <a:ext cx="6858000" cy="256032"/>
          </a:xfrm>
          <a:prstGeom prst="rect">
            <a:avLst/>
          </a:prstGeom>
          <a:noFill/>
        </p:spPr>
        <p:txBody>
          <a:bodyPr wrap="square">
            <a:spAutoFit/>
          </a:bodyPr>
          <a:lstStyle/>
          <a:p>
            <a:pPr algn="l"/>
            <a:r>
              <a:rPr sz="900" b="0" i="0">
                <a:solidFill>
                  <a:srgbClr val="00FF88"/>
                </a:solidFill>
                <a:latin typeface="Courier New"/>
              </a:rPr>
              <a:t>plc.Write('HMI_P101.Auto',  False);  plc.Write('HMI_P101.Cmd',  1)</a:t>
            </a:r>
          </a:p>
        </p:txBody>
      </p:sp>
      <p:sp>
        <p:nvSpPr>
          <p:cNvPr id="14" name="TextBox 13"/>
          <p:cNvSpPr txBox="1"/>
          <p:nvPr/>
        </p:nvSpPr>
        <p:spPr>
          <a:xfrm>
            <a:off x="457200" y="2144268"/>
            <a:ext cx="6858000" cy="256032"/>
          </a:xfrm>
          <a:prstGeom prst="rect">
            <a:avLst/>
          </a:prstGeom>
          <a:noFill/>
        </p:spPr>
        <p:txBody>
          <a:bodyPr wrap="square">
            <a:spAutoFit/>
          </a:bodyPr>
          <a:lstStyle/>
          <a:p>
            <a:pPr algn="l"/>
            <a:r>
              <a:rPr sz="900" b="0" i="0">
                <a:solidFill>
                  <a:srgbClr val="1A1A1A"/>
                </a:solidFill>
                <a:latin typeface="Courier New"/>
              </a:rPr>
              <a:t/>
            </a:r>
          </a:p>
        </p:txBody>
      </p:sp>
      <p:sp>
        <p:nvSpPr>
          <p:cNvPr id="15" name="TextBox 14"/>
          <p:cNvSpPr txBox="1"/>
          <p:nvPr/>
        </p:nvSpPr>
        <p:spPr>
          <a:xfrm>
            <a:off x="457200" y="2386584"/>
            <a:ext cx="6858000" cy="256032"/>
          </a:xfrm>
          <a:prstGeom prst="rect">
            <a:avLst/>
          </a:prstGeom>
          <a:noFill/>
        </p:spPr>
        <p:txBody>
          <a:bodyPr wrap="square">
            <a:spAutoFit/>
          </a:bodyPr>
          <a:lstStyle/>
          <a:p>
            <a:pPr algn="l"/>
            <a:r>
              <a:rPr sz="900" b="0" i="0">
                <a:solidFill>
                  <a:srgbClr val="6B6B6B"/>
                </a:solidFill>
                <a:latin typeface="Courier New"/>
              </a:rPr>
              <a:t># Stage 2 — Pre-Treatment   (PLC2: 192.168.1.20)</a:t>
            </a:r>
          </a:p>
        </p:txBody>
      </p:sp>
      <p:sp>
        <p:nvSpPr>
          <p:cNvPr id="16" name="TextBox 15"/>
          <p:cNvSpPr txBox="1"/>
          <p:nvPr/>
        </p:nvSpPr>
        <p:spPr>
          <a:xfrm>
            <a:off x="457200" y="2628900"/>
            <a:ext cx="6858000" cy="256032"/>
          </a:xfrm>
          <a:prstGeom prst="rect">
            <a:avLst/>
          </a:prstGeom>
          <a:noFill/>
        </p:spPr>
        <p:txBody>
          <a:bodyPr wrap="square">
            <a:spAutoFit/>
          </a:bodyPr>
          <a:lstStyle/>
          <a:p>
            <a:pPr algn="l"/>
            <a:r>
              <a:rPr sz="900" b="0" i="0">
                <a:solidFill>
                  <a:srgbClr val="00FF88"/>
                </a:solidFill>
                <a:latin typeface="Courier New"/>
              </a:rPr>
              <a:t>plc.Write('HMI_MV201.Auto', False);  plc.Write('HMI_MV201.Cmd', 1)</a:t>
            </a:r>
          </a:p>
        </p:txBody>
      </p:sp>
      <p:sp>
        <p:nvSpPr>
          <p:cNvPr id="17" name="TextBox 16"/>
          <p:cNvSpPr txBox="1"/>
          <p:nvPr/>
        </p:nvSpPr>
        <p:spPr>
          <a:xfrm>
            <a:off x="457200" y="2871216"/>
            <a:ext cx="6858000" cy="256032"/>
          </a:xfrm>
          <a:prstGeom prst="rect">
            <a:avLst/>
          </a:prstGeom>
          <a:noFill/>
        </p:spPr>
        <p:txBody>
          <a:bodyPr wrap="square">
            <a:spAutoFit/>
          </a:bodyPr>
          <a:lstStyle/>
          <a:p>
            <a:pPr algn="l"/>
            <a:r>
              <a:rPr sz="900" b="0" i="0">
                <a:solidFill>
                  <a:srgbClr val="00FF88"/>
                </a:solidFill>
                <a:latin typeface="Courier New"/>
              </a:rPr>
              <a:t>plc.Write('HMI_P201.Auto',  False);  plc.Write('HMI_P201.Cmd',  1)</a:t>
            </a:r>
          </a:p>
        </p:txBody>
      </p:sp>
      <p:sp>
        <p:nvSpPr>
          <p:cNvPr id="18" name="TextBox 17"/>
          <p:cNvSpPr txBox="1"/>
          <p:nvPr/>
        </p:nvSpPr>
        <p:spPr>
          <a:xfrm>
            <a:off x="457200" y="3113532"/>
            <a:ext cx="6858000" cy="256032"/>
          </a:xfrm>
          <a:prstGeom prst="rect">
            <a:avLst/>
          </a:prstGeom>
          <a:noFill/>
        </p:spPr>
        <p:txBody>
          <a:bodyPr wrap="square">
            <a:spAutoFit/>
          </a:bodyPr>
          <a:lstStyle/>
          <a:p>
            <a:pPr algn="l"/>
            <a:r>
              <a:rPr sz="900" b="0" i="0">
                <a:solidFill>
                  <a:srgbClr val="1A1A1A"/>
                </a:solidFill>
                <a:latin typeface="Courier New"/>
              </a:rPr>
              <a:t/>
            </a:r>
          </a:p>
        </p:txBody>
      </p:sp>
      <p:sp>
        <p:nvSpPr>
          <p:cNvPr id="19" name="TextBox 18"/>
          <p:cNvSpPr txBox="1"/>
          <p:nvPr/>
        </p:nvSpPr>
        <p:spPr>
          <a:xfrm>
            <a:off x="457200" y="3355848"/>
            <a:ext cx="6858000" cy="256032"/>
          </a:xfrm>
          <a:prstGeom prst="rect">
            <a:avLst/>
          </a:prstGeom>
          <a:noFill/>
        </p:spPr>
        <p:txBody>
          <a:bodyPr wrap="square">
            <a:spAutoFit/>
          </a:bodyPr>
          <a:lstStyle/>
          <a:p>
            <a:pPr algn="l"/>
            <a:r>
              <a:rPr sz="900" b="0" i="0">
                <a:solidFill>
                  <a:srgbClr val="6B6B6B"/>
                </a:solidFill>
                <a:latin typeface="Courier New"/>
              </a:rPr>
              <a:t># Stage 3 — Ultrafiltration (PLC3: 192.168.1.30)</a:t>
            </a:r>
          </a:p>
        </p:txBody>
      </p:sp>
      <p:sp>
        <p:nvSpPr>
          <p:cNvPr id="20" name="TextBox 19"/>
          <p:cNvSpPr txBox="1"/>
          <p:nvPr/>
        </p:nvSpPr>
        <p:spPr>
          <a:xfrm>
            <a:off x="457200" y="3598164"/>
            <a:ext cx="6858000" cy="256032"/>
          </a:xfrm>
          <a:prstGeom prst="rect">
            <a:avLst/>
          </a:prstGeom>
          <a:noFill/>
        </p:spPr>
        <p:txBody>
          <a:bodyPr wrap="square">
            <a:spAutoFit/>
          </a:bodyPr>
          <a:lstStyle/>
          <a:p>
            <a:pPr algn="l"/>
            <a:r>
              <a:rPr sz="900" b="0" i="0">
                <a:solidFill>
                  <a:srgbClr val="00FF88"/>
                </a:solidFill>
                <a:latin typeface="Courier New"/>
              </a:rPr>
              <a:t>plc.Write('HMI_P301.Auto',  False);  plc.Write('HMI_P301.Cmd',  1)</a:t>
            </a:r>
          </a:p>
        </p:txBody>
      </p:sp>
      <p:sp>
        <p:nvSpPr>
          <p:cNvPr id="21" name="TextBox 20"/>
          <p:cNvSpPr txBox="1"/>
          <p:nvPr/>
        </p:nvSpPr>
        <p:spPr>
          <a:xfrm>
            <a:off x="457200" y="3840480"/>
            <a:ext cx="6858000" cy="256032"/>
          </a:xfrm>
          <a:prstGeom prst="rect">
            <a:avLst/>
          </a:prstGeom>
          <a:noFill/>
        </p:spPr>
        <p:txBody>
          <a:bodyPr wrap="square">
            <a:spAutoFit/>
          </a:bodyPr>
          <a:lstStyle/>
          <a:p>
            <a:pPr algn="l"/>
            <a:r>
              <a:rPr sz="900" b="0" i="0">
                <a:solidFill>
                  <a:srgbClr val="1A1A1A"/>
                </a:solidFill>
                <a:latin typeface="Courier New"/>
              </a:rPr>
              <a:t/>
            </a:r>
          </a:p>
        </p:txBody>
      </p:sp>
      <p:sp>
        <p:nvSpPr>
          <p:cNvPr id="22" name="TextBox 21"/>
          <p:cNvSpPr txBox="1"/>
          <p:nvPr/>
        </p:nvSpPr>
        <p:spPr>
          <a:xfrm>
            <a:off x="457200" y="4082796"/>
            <a:ext cx="6858000" cy="256032"/>
          </a:xfrm>
          <a:prstGeom prst="rect">
            <a:avLst/>
          </a:prstGeom>
          <a:noFill/>
        </p:spPr>
        <p:txBody>
          <a:bodyPr wrap="square">
            <a:spAutoFit/>
          </a:bodyPr>
          <a:lstStyle/>
          <a:p>
            <a:pPr algn="l"/>
            <a:r>
              <a:rPr sz="900" b="0" i="0">
                <a:solidFill>
                  <a:srgbClr val="6B6B6B"/>
                </a:solidFill>
                <a:latin typeface="Courier New"/>
              </a:rPr>
              <a:t># Stage 4 — De-Chlorination (PLC4: 192.168.1.40)</a:t>
            </a:r>
          </a:p>
        </p:txBody>
      </p:sp>
      <p:sp>
        <p:nvSpPr>
          <p:cNvPr id="23" name="TextBox 22"/>
          <p:cNvSpPr txBox="1"/>
          <p:nvPr/>
        </p:nvSpPr>
        <p:spPr>
          <a:xfrm>
            <a:off x="457200" y="4325112"/>
            <a:ext cx="6858000" cy="256032"/>
          </a:xfrm>
          <a:prstGeom prst="rect">
            <a:avLst/>
          </a:prstGeom>
          <a:noFill/>
        </p:spPr>
        <p:txBody>
          <a:bodyPr wrap="square">
            <a:spAutoFit/>
          </a:bodyPr>
          <a:lstStyle/>
          <a:p>
            <a:pPr algn="l"/>
            <a:r>
              <a:rPr sz="900" b="0" i="0">
                <a:solidFill>
                  <a:srgbClr val="00FF88"/>
                </a:solidFill>
                <a:latin typeface="Courier New"/>
              </a:rPr>
              <a:t>plc.Write('HMI_UV401.Auto', False);  plc.Write('HMI_UV401.Cmd', 1)</a:t>
            </a:r>
          </a:p>
        </p:txBody>
      </p:sp>
      <p:sp>
        <p:nvSpPr>
          <p:cNvPr id="24" name="TextBox 23"/>
          <p:cNvSpPr txBox="1"/>
          <p:nvPr/>
        </p:nvSpPr>
        <p:spPr>
          <a:xfrm>
            <a:off x="457200" y="4567428"/>
            <a:ext cx="6858000" cy="256032"/>
          </a:xfrm>
          <a:prstGeom prst="rect">
            <a:avLst/>
          </a:prstGeom>
          <a:noFill/>
        </p:spPr>
        <p:txBody>
          <a:bodyPr wrap="square">
            <a:spAutoFit/>
          </a:bodyPr>
          <a:lstStyle/>
          <a:p>
            <a:pPr algn="l"/>
            <a:r>
              <a:rPr sz="900" b="0" i="0">
                <a:solidFill>
                  <a:srgbClr val="1A1A1A"/>
                </a:solidFill>
                <a:latin typeface="Courier New"/>
              </a:rPr>
              <a:t/>
            </a:r>
          </a:p>
        </p:txBody>
      </p:sp>
      <p:sp>
        <p:nvSpPr>
          <p:cNvPr id="25" name="TextBox 24"/>
          <p:cNvSpPr txBox="1"/>
          <p:nvPr/>
        </p:nvSpPr>
        <p:spPr>
          <a:xfrm>
            <a:off x="457200" y="4809744"/>
            <a:ext cx="6858000" cy="256032"/>
          </a:xfrm>
          <a:prstGeom prst="rect">
            <a:avLst/>
          </a:prstGeom>
          <a:noFill/>
        </p:spPr>
        <p:txBody>
          <a:bodyPr wrap="square">
            <a:spAutoFit/>
          </a:bodyPr>
          <a:lstStyle/>
          <a:p>
            <a:pPr algn="l"/>
            <a:r>
              <a:rPr sz="900" b="0" i="0">
                <a:solidFill>
                  <a:srgbClr val="6B6B6B"/>
                </a:solidFill>
                <a:latin typeface="Courier New"/>
              </a:rPr>
              <a:t># Stage 5 — Reverse Osmosis (PLC5: 192.168.1.50)</a:t>
            </a:r>
          </a:p>
        </p:txBody>
      </p:sp>
      <p:sp>
        <p:nvSpPr>
          <p:cNvPr id="26" name="TextBox 25"/>
          <p:cNvSpPr txBox="1"/>
          <p:nvPr/>
        </p:nvSpPr>
        <p:spPr>
          <a:xfrm>
            <a:off x="457200" y="5052060"/>
            <a:ext cx="6858000" cy="256032"/>
          </a:xfrm>
          <a:prstGeom prst="rect">
            <a:avLst/>
          </a:prstGeom>
          <a:noFill/>
        </p:spPr>
        <p:txBody>
          <a:bodyPr wrap="square">
            <a:spAutoFit/>
          </a:bodyPr>
          <a:lstStyle/>
          <a:p>
            <a:pPr algn="l"/>
            <a:r>
              <a:rPr sz="900" b="0" i="0">
                <a:solidFill>
                  <a:srgbClr val="00FF88"/>
                </a:solidFill>
                <a:latin typeface="Courier New"/>
              </a:rPr>
              <a:t>plc.Write('HMI_P501.Auto',  False);  plc.Write('HMI_P501.Cmd',  1)</a:t>
            </a:r>
          </a:p>
        </p:txBody>
      </p:sp>
      <p:sp>
        <p:nvSpPr>
          <p:cNvPr id="27" name="TextBox 26"/>
          <p:cNvSpPr txBox="1"/>
          <p:nvPr/>
        </p:nvSpPr>
        <p:spPr>
          <a:xfrm>
            <a:off x="457200" y="5294376"/>
            <a:ext cx="6858000" cy="256032"/>
          </a:xfrm>
          <a:prstGeom prst="rect">
            <a:avLst/>
          </a:prstGeom>
          <a:noFill/>
        </p:spPr>
        <p:txBody>
          <a:bodyPr wrap="square">
            <a:spAutoFit/>
          </a:bodyPr>
          <a:lstStyle/>
          <a:p>
            <a:pPr algn="l"/>
            <a:r>
              <a:rPr sz="900" b="0" i="0">
                <a:solidFill>
                  <a:srgbClr val="1A1A1A"/>
                </a:solidFill>
                <a:latin typeface="Courier New"/>
              </a:rPr>
              <a:t/>
            </a:r>
          </a:p>
        </p:txBody>
      </p:sp>
      <p:sp>
        <p:nvSpPr>
          <p:cNvPr id="28" name="TextBox 27"/>
          <p:cNvSpPr txBox="1"/>
          <p:nvPr/>
        </p:nvSpPr>
        <p:spPr>
          <a:xfrm>
            <a:off x="457200" y="5536692"/>
            <a:ext cx="6858000" cy="256032"/>
          </a:xfrm>
          <a:prstGeom prst="rect">
            <a:avLst/>
          </a:prstGeom>
          <a:noFill/>
        </p:spPr>
        <p:txBody>
          <a:bodyPr wrap="square">
            <a:spAutoFit/>
          </a:bodyPr>
          <a:lstStyle/>
          <a:p>
            <a:pPr algn="l"/>
            <a:r>
              <a:rPr sz="900" b="0" i="0">
                <a:solidFill>
                  <a:srgbClr val="6B6B6B"/>
                </a:solidFill>
                <a:latin typeface="Courier New"/>
              </a:rPr>
              <a:t># Stage 6 — Product Water   (PLC6: 192.168.1.60)</a:t>
            </a:r>
          </a:p>
        </p:txBody>
      </p:sp>
      <p:sp>
        <p:nvSpPr>
          <p:cNvPr id="29" name="TextBox 28"/>
          <p:cNvSpPr txBox="1"/>
          <p:nvPr/>
        </p:nvSpPr>
        <p:spPr>
          <a:xfrm>
            <a:off x="457200" y="5779008"/>
            <a:ext cx="6858000" cy="256032"/>
          </a:xfrm>
          <a:prstGeom prst="rect">
            <a:avLst/>
          </a:prstGeom>
          <a:noFill/>
        </p:spPr>
        <p:txBody>
          <a:bodyPr wrap="square">
            <a:spAutoFit/>
          </a:bodyPr>
          <a:lstStyle/>
          <a:p>
            <a:pPr algn="l"/>
            <a:r>
              <a:rPr sz="900" b="0" i="0">
                <a:solidFill>
                  <a:srgbClr val="00FF88"/>
                </a:solidFill>
                <a:latin typeface="Courier New"/>
              </a:rPr>
              <a:t>plc.Write('HMI_P601.Auto',  False);  plc.Write('HMI_P601.Cmd',  1)</a:t>
            </a:r>
          </a:p>
        </p:txBody>
      </p:sp>
      <p:sp>
        <p:nvSpPr>
          <p:cNvPr id="30" name="Rectangle 29"/>
          <p:cNvSpPr/>
          <p:nvPr/>
        </p:nvSpPr>
        <p:spPr>
          <a:xfrm>
            <a:off x="7543800" y="1325880"/>
            <a:ext cx="4325112" cy="148132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62672" y="1417320"/>
            <a:ext cx="4160520" cy="320040"/>
          </a:xfrm>
          <a:prstGeom prst="rect">
            <a:avLst/>
          </a:prstGeom>
          <a:noFill/>
        </p:spPr>
        <p:txBody>
          <a:bodyPr wrap="square">
            <a:spAutoFit/>
          </a:bodyPr>
          <a:lstStyle/>
          <a:p>
            <a:pPr algn="l"/>
            <a:r>
              <a:rPr sz="1200" b="1" i="0">
                <a:solidFill>
                  <a:srgbClr val="FFFFFF"/>
                </a:solidFill>
                <a:latin typeface="Calibri"/>
              </a:rPr>
              <a:t>No exploits needed</a:t>
            </a:r>
          </a:p>
        </p:txBody>
      </p:sp>
      <p:sp>
        <p:nvSpPr>
          <p:cNvPr id="32" name="TextBox 31"/>
          <p:cNvSpPr txBox="1"/>
          <p:nvPr/>
        </p:nvSpPr>
        <p:spPr>
          <a:xfrm>
            <a:off x="7662672" y="1783080"/>
            <a:ext cx="4160520" cy="960120"/>
          </a:xfrm>
          <a:prstGeom prst="rect">
            <a:avLst/>
          </a:prstGeom>
          <a:noFill/>
        </p:spPr>
        <p:txBody>
          <a:bodyPr wrap="square">
            <a:spAutoFit/>
          </a:bodyPr>
          <a:lstStyle/>
          <a:p>
            <a:pPr algn="l"/>
            <a:r>
              <a:rPr sz="1000" b="0" i="0">
                <a:solidFill>
                  <a:srgbClr val="FFFFFF"/>
                </a:solidFill>
                <a:latin typeface="Calibri"/>
              </a:rPr>
              <a:t>Standard pylogix writes — same tool operators use daily</a:t>
            </a:r>
          </a:p>
        </p:txBody>
      </p:sp>
      <p:sp>
        <p:nvSpPr>
          <p:cNvPr id="33" name="Rectangle 32"/>
          <p:cNvSpPr/>
          <p:nvPr/>
        </p:nvSpPr>
        <p:spPr>
          <a:xfrm>
            <a:off x="7543800" y="2907791"/>
            <a:ext cx="4325112" cy="14813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62672" y="2999232"/>
            <a:ext cx="4160520" cy="320040"/>
          </a:xfrm>
          <a:prstGeom prst="rect">
            <a:avLst/>
          </a:prstGeom>
          <a:noFill/>
        </p:spPr>
        <p:txBody>
          <a:bodyPr wrap="square">
            <a:spAutoFit/>
          </a:bodyPr>
          <a:lstStyle/>
          <a:p>
            <a:pPr algn="l"/>
            <a:r>
              <a:rPr sz="1200" b="1" i="0">
                <a:solidFill>
                  <a:srgbClr val="FFFFFF"/>
                </a:solidFill>
                <a:latin typeface="Calibri"/>
              </a:rPr>
              <a:t>All 6 PLCs exposed</a:t>
            </a:r>
          </a:p>
        </p:txBody>
      </p:sp>
      <p:sp>
        <p:nvSpPr>
          <p:cNvPr id="35" name="TextBox 34"/>
          <p:cNvSpPr txBox="1"/>
          <p:nvPr/>
        </p:nvSpPr>
        <p:spPr>
          <a:xfrm>
            <a:off x="7662672" y="3364991"/>
            <a:ext cx="4160520" cy="960120"/>
          </a:xfrm>
          <a:prstGeom prst="rect">
            <a:avLst/>
          </a:prstGeom>
          <a:noFill/>
        </p:spPr>
        <p:txBody>
          <a:bodyPr wrap="square">
            <a:spAutoFit/>
          </a:bodyPr>
          <a:lstStyle/>
          <a:p>
            <a:pPr algn="l"/>
            <a:r>
              <a:rPr sz="1000" b="0" i="0">
                <a:solidFill>
                  <a:srgbClr val="FFFFFF"/>
                </a:solidFill>
                <a:latin typeface="Calibri"/>
              </a:rPr>
              <a:t>HMI has pre-existing trusted EtherNet/IP access to all PLCs simultaneously — no pivot needed</a:t>
            </a:r>
          </a:p>
        </p:txBody>
      </p:sp>
      <p:sp>
        <p:nvSpPr>
          <p:cNvPr id="36" name="Rectangle 35"/>
          <p:cNvSpPr/>
          <p:nvPr/>
        </p:nvSpPr>
        <p:spPr>
          <a:xfrm>
            <a:off x="7543800" y="4489704"/>
            <a:ext cx="4325112" cy="14813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62672" y="4581144"/>
            <a:ext cx="4160520" cy="320040"/>
          </a:xfrm>
          <a:prstGeom prst="rect">
            <a:avLst/>
          </a:prstGeom>
          <a:noFill/>
        </p:spPr>
        <p:txBody>
          <a:bodyPr wrap="square">
            <a:spAutoFit/>
          </a:bodyPr>
          <a:lstStyle/>
          <a:p>
            <a:pPr algn="l"/>
            <a:r>
              <a:rPr sz="1200" b="1" i="0">
                <a:solidFill>
                  <a:srgbClr val="FFFFFF"/>
                </a:solidFill>
                <a:latin typeface="Calibri"/>
              </a:rPr>
              <a:t>Sensor spoofing scales</a:t>
            </a:r>
          </a:p>
        </p:txBody>
      </p:sp>
      <p:sp>
        <p:nvSpPr>
          <p:cNvPr id="38" name="TextBox 37"/>
          <p:cNvSpPr txBox="1"/>
          <p:nvPr/>
        </p:nvSpPr>
        <p:spPr>
          <a:xfrm>
            <a:off x="7662672" y="4946904"/>
            <a:ext cx="4160520" cy="960120"/>
          </a:xfrm>
          <a:prstGeom prst="rect">
            <a:avLst/>
          </a:prstGeom>
          <a:noFill/>
        </p:spPr>
        <p:txBody>
          <a:bodyPr wrap="square">
            <a:spAutoFit/>
          </a:bodyPr>
          <a:lstStyle/>
          <a:p>
            <a:pPr algn="l"/>
            <a:r>
              <a:rPr sz="1000" b="0" i="0">
                <a:solidFill>
                  <a:srgbClr val="FFFFFF"/>
                </a:solidFill>
                <a:latin typeface="Calibri"/>
              </a:rPr>
              <a:t>Every stage has .Sim and .Sim_PV tags — adversarial model can spoof all 6 stages simultaneously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BROADER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3000" b="1" i="0">
                <a:solidFill>
                  <a:srgbClr val="1A1A1A"/>
                </a:solidFill>
                <a:latin typeface="Calibri Light"/>
              </a:rPr>
              <a:t>This Is Not Hypothetical</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50" b="0" i="1">
                <a:solidFill>
                  <a:srgbClr val="6B6B6B"/>
                </a:solidFill>
                <a:latin typeface="Calibri"/>
              </a:rPr>
              <a:t>The same attack pattern has been used against real water infrastructure</a:t>
            </a:r>
          </a:p>
        </p:txBody>
      </p:sp>
      <p:sp>
        <p:nvSpPr>
          <p:cNvPr id="10" name="Rectangle 9"/>
          <p:cNvSpPr/>
          <p:nvPr/>
        </p:nvSpPr>
        <p:spPr>
          <a:xfrm>
            <a:off x="320040" y="1325880"/>
            <a:ext cx="11548872" cy="14813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399032"/>
            <a:ext cx="11274552" cy="274320"/>
          </a:xfrm>
          <a:prstGeom prst="rect">
            <a:avLst/>
          </a:prstGeom>
          <a:noFill/>
        </p:spPr>
        <p:txBody>
          <a:bodyPr wrap="square">
            <a:spAutoFit/>
          </a:bodyPr>
          <a:lstStyle/>
          <a:p>
            <a:pPr algn="l"/>
            <a:r>
              <a:rPr sz="1200" b="1" i="0">
                <a:solidFill>
                  <a:srgbClr val="FFFFFF"/>
                </a:solidFill>
                <a:latin typeface="Calibri"/>
              </a:rPr>
              <a:t>💧  Oldsmar, Florida — Feb 2021</a:t>
            </a:r>
          </a:p>
        </p:txBody>
      </p:sp>
      <p:sp>
        <p:nvSpPr>
          <p:cNvPr id="12" name="TextBox 11"/>
          <p:cNvSpPr txBox="1"/>
          <p:nvPr/>
        </p:nvSpPr>
        <p:spPr>
          <a:xfrm>
            <a:off x="457200" y="1709928"/>
            <a:ext cx="5394960" cy="822960"/>
          </a:xfrm>
          <a:prstGeom prst="rect">
            <a:avLst/>
          </a:prstGeom>
          <a:noFill/>
        </p:spPr>
        <p:txBody>
          <a:bodyPr wrap="square">
            <a:spAutoFit/>
          </a:bodyPr>
          <a:lstStyle/>
          <a:p>
            <a:pPr algn="l"/>
            <a:r>
              <a:rPr sz="950" b="0" i="0">
                <a:solidFill>
                  <a:srgbClr val="FFFFFF"/>
                </a:solidFill>
                <a:latin typeface="Calibri"/>
              </a:rPr>
              <a:t>Attack: Attacker modified NaOH setpoint to 111× normal via TeamViewer remote access. Single actuator write — identical to our Phase 1 pattern.</a:t>
            </a:r>
          </a:p>
        </p:txBody>
      </p:sp>
      <p:sp>
        <p:nvSpPr>
          <p:cNvPr id="13" name="TextBox 12"/>
          <p:cNvSpPr txBox="1"/>
          <p:nvPr/>
        </p:nvSpPr>
        <p:spPr>
          <a:xfrm>
            <a:off x="6035040" y="1709928"/>
            <a:ext cx="5833872" cy="822960"/>
          </a:xfrm>
          <a:prstGeom prst="rect">
            <a:avLst/>
          </a:prstGeom>
          <a:noFill/>
        </p:spPr>
        <p:txBody>
          <a:bodyPr wrap="square">
            <a:spAutoFit/>
          </a:bodyPr>
          <a:lstStyle/>
          <a:p>
            <a:pPr algn="l"/>
            <a:r>
              <a:rPr sz="950" b="0" i="1">
                <a:solidFill>
                  <a:srgbClr val="FFFFFF"/>
                </a:solidFill>
                <a:latin typeface="Calibri"/>
              </a:rPr>
              <a:t>Lesson: An invariant checker would have fired immediately. Chemical concentration setpoint is a process invariant. Reliance on human observation alone is insufficient.</a:t>
            </a:r>
          </a:p>
        </p:txBody>
      </p:sp>
      <p:sp>
        <p:nvSpPr>
          <p:cNvPr id="14" name="Rectangle 13"/>
          <p:cNvSpPr/>
          <p:nvPr/>
        </p:nvSpPr>
        <p:spPr>
          <a:xfrm>
            <a:off x="320040" y="2898648"/>
            <a:ext cx="11548872" cy="1481328"/>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71800"/>
            <a:ext cx="11274552" cy="274320"/>
          </a:xfrm>
          <a:prstGeom prst="rect">
            <a:avLst/>
          </a:prstGeom>
          <a:noFill/>
        </p:spPr>
        <p:txBody>
          <a:bodyPr wrap="square">
            <a:spAutoFit/>
          </a:bodyPr>
          <a:lstStyle/>
          <a:p>
            <a:pPr algn="l"/>
            <a:r>
              <a:rPr sz="1200" b="1" i="0">
                <a:solidFill>
                  <a:srgbClr val="FFFFFF"/>
                </a:solidFill>
                <a:latin typeface="Calibri"/>
              </a:rPr>
              <a:t>🏭  Texas Water Utilities — Apr 2024</a:t>
            </a:r>
          </a:p>
        </p:txBody>
      </p:sp>
      <p:sp>
        <p:nvSpPr>
          <p:cNvPr id="16" name="TextBox 15"/>
          <p:cNvSpPr txBox="1"/>
          <p:nvPr/>
        </p:nvSpPr>
        <p:spPr>
          <a:xfrm>
            <a:off x="457200" y="3282696"/>
            <a:ext cx="5394960" cy="822960"/>
          </a:xfrm>
          <a:prstGeom prst="rect">
            <a:avLst/>
          </a:prstGeom>
          <a:noFill/>
        </p:spPr>
        <p:txBody>
          <a:bodyPr wrap="square">
            <a:spAutoFit/>
          </a:bodyPr>
          <a:lstStyle/>
          <a:p>
            <a:pPr algn="l"/>
            <a:r>
              <a:rPr sz="950" b="0" i="0">
                <a:solidFill>
                  <a:srgbClr val="FFFFFF"/>
                </a:solidFill>
                <a:latin typeface="Calibri"/>
              </a:rPr>
              <a:t>Attack: Russian-linked actors targeted Unitronics PLCs. One plant tank overflowed. Recovery took days — no automated safe-state, no hot-standby PLC.</a:t>
            </a:r>
          </a:p>
        </p:txBody>
      </p:sp>
      <p:sp>
        <p:nvSpPr>
          <p:cNvPr id="17" name="TextBox 16"/>
          <p:cNvSpPr txBox="1"/>
          <p:nvPr/>
        </p:nvSpPr>
        <p:spPr>
          <a:xfrm>
            <a:off x="6035040" y="3282696"/>
            <a:ext cx="5833872" cy="822960"/>
          </a:xfrm>
          <a:prstGeom prst="rect">
            <a:avLst/>
          </a:prstGeom>
          <a:noFill/>
        </p:spPr>
        <p:txBody>
          <a:bodyPr wrap="square">
            <a:spAutoFit/>
          </a:bodyPr>
          <a:lstStyle/>
          <a:p>
            <a:pPr algn="l"/>
            <a:r>
              <a:rPr sz="950" b="0" i="1">
                <a:solidFill>
                  <a:srgbClr val="FFFFFF"/>
                </a:solidFill>
                <a:latin typeface="Calibri"/>
              </a:rPr>
              <a:t>Lesson: Multi-plant attack shows cascade at regional scale. Our &lt;15s recovery target vs days of manual restoration highlights the value of automated response.</a:t>
            </a:r>
          </a:p>
        </p:txBody>
      </p:sp>
      <p:sp>
        <p:nvSpPr>
          <p:cNvPr id="18" name="Rectangle 17"/>
          <p:cNvSpPr/>
          <p:nvPr/>
        </p:nvSpPr>
        <p:spPr>
          <a:xfrm>
            <a:off x="320040" y="4471416"/>
            <a:ext cx="11548872" cy="14813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544568"/>
            <a:ext cx="11274552" cy="274320"/>
          </a:xfrm>
          <a:prstGeom prst="rect">
            <a:avLst/>
          </a:prstGeom>
          <a:noFill/>
        </p:spPr>
        <p:txBody>
          <a:bodyPr wrap="square">
            <a:spAutoFit/>
          </a:bodyPr>
          <a:lstStyle/>
          <a:p>
            <a:pPr algn="l"/>
            <a:r>
              <a:rPr sz="1200" b="1" i="0">
                <a:solidFill>
                  <a:srgbClr val="FFFFFF"/>
                </a:solidFill>
                <a:latin typeface="Calibri"/>
              </a:rPr>
              <a:t>⚛️  Stuxnet — Natanz, Iran 2009–2010</a:t>
            </a:r>
          </a:p>
        </p:txBody>
      </p:sp>
      <p:sp>
        <p:nvSpPr>
          <p:cNvPr id="20" name="TextBox 19"/>
          <p:cNvSpPr txBox="1"/>
          <p:nvPr/>
        </p:nvSpPr>
        <p:spPr>
          <a:xfrm>
            <a:off x="457200" y="4855464"/>
            <a:ext cx="5394960" cy="822960"/>
          </a:xfrm>
          <a:prstGeom prst="rect">
            <a:avLst/>
          </a:prstGeom>
          <a:noFill/>
        </p:spPr>
        <p:txBody>
          <a:bodyPr wrap="square">
            <a:spAutoFit/>
          </a:bodyPr>
          <a:lstStyle/>
          <a:p>
            <a:pPr algn="l"/>
            <a:r>
              <a:rPr sz="950" b="0" i="0">
                <a:solidFill>
                  <a:srgbClr val="FFFFFF"/>
                </a:solidFill>
                <a:latin typeface="Calibri"/>
              </a:rPr>
              <a:t>Attack: Centrifuge speed manipulation combined with sensor concealment to operators — Paper #9 + #31 attack pattern in practice, deployed against real infrastructure.</a:t>
            </a:r>
          </a:p>
        </p:txBody>
      </p:sp>
      <p:sp>
        <p:nvSpPr>
          <p:cNvPr id="21" name="TextBox 20"/>
          <p:cNvSpPr txBox="1"/>
          <p:nvPr/>
        </p:nvSpPr>
        <p:spPr>
          <a:xfrm>
            <a:off x="6035040" y="4855464"/>
            <a:ext cx="5833872" cy="822960"/>
          </a:xfrm>
          <a:prstGeom prst="rect">
            <a:avLst/>
          </a:prstGeom>
          <a:noFill/>
        </p:spPr>
        <p:txBody>
          <a:bodyPr wrap="square">
            <a:spAutoFit/>
          </a:bodyPr>
          <a:lstStyle/>
          <a:p>
            <a:pPr algn="l"/>
            <a:r>
              <a:rPr sz="950" b="0" i="1">
                <a:solidFill>
                  <a:srgbClr val="FFFFFF"/>
                </a:solidFill>
                <a:latin typeface="Calibri"/>
              </a:rPr>
              <a:t>Lesson: I-9 equivalent would have caught centrifuge speed vs motor command mismatch in &lt;3 cycles. Operators unaware for months — automated physics-based detection is essential.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BROADER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2700" b="1" i="0">
                <a:solidFill>
                  <a:srgbClr val="1A1A1A"/>
                </a:solidFill>
                <a:latin typeface="Calibri Light"/>
              </a:rPr>
              <a:t>Why Stage 1 — and What Comes Next</a:t>
            </a:r>
          </a:p>
        </p:txBody>
      </p:sp>
      <p:sp>
        <p:nvSpPr>
          <p:cNvPr id="9" name="TextBox 8"/>
          <p:cNvSpPr txBox="1"/>
          <p:nvPr/>
        </p:nvSpPr>
        <p:spPr>
          <a:xfrm>
            <a:off x="320040" y="1188720"/>
            <a:ext cx="5577840" cy="292608"/>
          </a:xfrm>
          <a:prstGeom prst="rect">
            <a:avLst/>
          </a:prstGeom>
          <a:noFill/>
        </p:spPr>
        <p:txBody>
          <a:bodyPr wrap="square">
            <a:spAutoFit/>
          </a:bodyPr>
          <a:lstStyle/>
          <a:p>
            <a:pPr algn="l"/>
            <a:r>
              <a:rPr sz="1300" b="1" i="0">
                <a:solidFill>
                  <a:srgbClr val="E8243C"/>
                </a:solidFill>
                <a:latin typeface="Calibri"/>
              </a:rPr>
              <a:t>Why we target Stage 1</a:t>
            </a:r>
          </a:p>
        </p:txBody>
      </p:sp>
      <p:sp>
        <p:nvSpPr>
          <p:cNvPr id="10" name="Rectangle 9"/>
          <p:cNvSpPr/>
          <p:nvPr/>
        </p:nvSpPr>
        <p:spPr>
          <a:xfrm>
            <a:off x="320040" y="1572768"/>
            <a:ext cx="73152" cy="86868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 y="1572768"/>
            <a:ext cx="5257800" cy="868680"/>
          </a:xfrm>
          <a:prstGeom prst="rect">
            <a:avLst/>
          </a:prstGeom>
          <a:noFill/>
        </p:spPr>
        <p:txBody>
          <a:bodyPr wrap="square">
            <a:spAutoFit/>
          </a:bodyPr>
          <a:lstStyle/>
          <a:p>
            <a:pPr algn="l"/>
            <a:r>
              <a:rPr sz="1050" b="0" i="0">
                <a:solidFill>
                  <a:srgbClr val="1A1A1A"/>
                </a:solidFill>
                <a:latin typeface="Calibri"/>
              </a:rPr>
              <a:t>Highest leverage — starving P1 propagates damage to all downstream stages without touching them</a:t>
            </a:r>
          </a:p>
        </p:txBody>
      </p:sp>
      <p:sp>
        <p:nvSpPr>
          <p:cNvPr id="12" name="Rectangle 11"/>
          <p:cNvSpPr/>
          <p:nvPr/>
        </p:nvSpPr>
        <p:spPr>
          <a:xfrm>
            <a:off x="320040" y="2596896"/>
            <a:ext cx="73152" cy="86868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7" y="2596896"/>
            <a:ext cx="5257800" cy="868680"/>
          </a:xfrm>
          <a:prstGeom prst="rect">
            <a:avLst/>
          </a:prstGeom>
          <a:noFill/>
        </p:spPr>
        <p:txBody>
          <a:bodyPr wrap="square">
            <a:spAutoFit/>
          </a:bodyPr>
          <a:lstStyle/>
          <a:p>
            <a:pPr algn="l"/>
            <a:r>
              <a:rPr sz="1050" b="0" i="0">
                <a:solidFill>
                  <a:srgbClr val="1A1A1A"/>
                </a:solidFill>
                <a:latin typeface="Calibri"/>
              </a:rPr>
              <a:t>Entry point of the chain — maximum physical impact from minimum PLC interaction</a:t>
            </a:r>
          </a:p>
        </p:txBody>
      </p:sp>
      <p:sp>
        <p:nvSpPr>
          <p:cNvPr id="14" name="Rectangle 13"/>
          <p:cNvSpPr/>
          <p:nvPr/>
        </p:nvSpPr>
        <p:spPr>
          <a:xfrm>
            <a:off x="320040" y="3621024"/>
            <a:ext cx="73152" cy="86868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 y="3621024"/>
            <a:ext cx="5257800" cy="868680"/>
          </a:xfrm>
          <a:prstGeom prst="rect">
            <a:avLst/>
          </a:prstGeom>
          <a:noFill/>
        </p:spPr>
        <p:txBody>
          <a:bodyPr wrap="square">
            <a:spAutoFit/>
          </a:bodyPr>
          <a:lstStyle/>
          <a:p>
            <a:pPr algn="l"/>
            <a:r>
              <a:rPr sz="1050" b="0" i="0">
                <a:solidFill>
                  <a:srgbClr val="1A1A1A"/>
                </a:solidFill>
                <a:latin typeface="Calibri"/>
              </a:rPr>
              <a:t>Most important to defend first — robust P1 defense buys time to extend to P2–P6</a:t>
            </a:r>
          </a:p>
        </p:txBody>
      </p:sp>
      <p:sp>
        <p:nvSpPr>
          <p:cNvPr id="16" name="Rectangle 15"/>
          <p:cNvSpPr/>
          <p:nvPr/>
        </p:nvSpPr>
        <p:spPr>
          <a:xfrm>
            <a:off x="320040" y="4645152"/>
            <a:ext cx="73152" cy="86868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 y="4645152"/>
            <a:ext cx="5257800" cy="868680"/>
          </a:xfrm>
          <a:prstGeom prst="rect">
            <a:avLst/>
          </a:prstGeom>
          <a:noFill/>
        </p:spPr>
        <p:txBody>
          <a:bodyPr wrap="square">
            <a:spAutoFit/>
          </a:bodyPr>
          <a:lstStyle/>
          <a:p>
            <a:pPr algn="l"/>
            <a:r>
              <a:rPr sz="1050" b="0" i="0">
                <a:solidFill>
                  <a:srgbClr val="1A1A1A"/>
                </a:solidFill>
                <a:latin typeface="Calibri"/>
              </a:rPr>
              <a:t>Simplest attack surface — only MV101 + P101 needed to stop all water flow</a:t>
            </a:r>
          </a:p>
        </p:txBody>
      </p:sp>
      <p:sp>
        <p:nvSpPr>
          <p:cNvPr id="18" name="TextBox 17"/>
          <p:cNvSpPr txBox="1"/>
          <p:nvPr/>
        </p:nvSpPr>
        <p:spPr>
          <a:xfrm>
            <a:off x="6080760" y="1188720"/>
            <a:ext cx="5788152" cy="292608"/>
          </a:xfrm>
          <a:prstGeom prst="rect">
            <a:avLst/>
          </a:prstGeom>
          <a:noFill/>
        </p:spPr>
        <p:txBody>
          <a:bodyPr wrap="square">
            <a:spAutoFit/>
          </a:bodyPr>
          <a:lstStyle/>
          <a:p>
            <a:pPr algn="l"/>
            <a:r>
              <a:rPr sz="1300" b="1" i="0">
                <a:solidFill>
                  <a:srgbClr val="2E7D32"/>
                </a:solidFill>
                <a:latin typeface="Calibri"/>
              </a:rPr>
              <a:t>Scaling the defense to all 6 stages</a:t>
            </a:r>
          </a:p>
        </p:txBody>
      </p:sp>
      <p:sp>
        <p:nvSpPr>
          <p:cNvPr id="19" name="Rectangle 18"/>
          <p:cNvSpPr/>
          <p:nvPr/>
        </p:nvSpPr>
        <p:spPr>
          <a:xfrm>
            <a:off x="6080760" y="1572768"/>
            <a:ext cx="5788152"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1572768"/>
            <a:ext cx="54864"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6208" y="1636776"/>
            <a:ext cx="5577840" cy="274320"/>
          </a:xfrm>
          <a:prstGeom prst="rect">
            <a:avLst/>
          </a:prstGeom>
          <a:noFill/>
        </p:spPr>
        <p:txBody>
          <a:bodyPr wrap="square">
            <a:spAutoFit/>
          </a:bodyPr>
          <a:lstStyle/>
          <a:p>
            <a:pPr algn="l"/>
            <a:r>
              <a:rPr sz="1100" b="1" i="0">
                <a:solidFill>
                  <a:srgbClr val="2E7D32"/>
                </a:solidFill>
                <a:latin typeface="Calibri"/>
              </a:rPr>
              <a:t>Extend invariants</a:t>
            </a:r>
          </a:p>
        </p:txBody>
      </p:sp>
      <p:sp>
        <p:nvSpPr>
          <p:cNvPr id="22" name="TextBox 21"/>
          <p:cNvSpPr txBox="1"/>
          <p:nvPr/>
        </p:nvSpPr>
        <p:spPr>
          <a:xfrm>
            <a:off x="6236208" y="1938528"/>
            <a:ext cx="5577840" cy="502920"/>
          </a:xfrm>
          <a:prstGeom prst="rect">
            <a:avLst/>
          </a:prstGeom>
          <a:noFill/>
        </p:spPr>
        <p:txBody>
          <a:bodyPr wrap="square">
            <a:spAutoFit/>
          </a:bodyPr>
          <a:lstStyle/>
          <a:p>
            <a:pPr algn="l"/>
            <a:r>
              <a:rPr sz="1000" b="0" i="0">
                <a:solidFill>
                  <a:srgbClr val="1A1A1A"/>
                </a:solidFill>
                <a:latin typeface="Calibri"/>
              </a:rPr>
              <a:t>Add P2–P6 invariant sets from each stage P&amp;ID. Same framework, different tags.</a:t>
            </a:r>
          </a:p>
        </p:txBody>
      </p:sp>
      <p:sp>
        <p:nvSpPr>
          <p:cNvPr id="23" name="Rectangle 22"/>
          <p:cNvSpPr/>
          <p:nvPr/>
        </p:nvSpPr>
        <p:spPr>
          <a:xfrm>
            <a:off x="6080760" y="2596896"/>
            <a:ext cx="5788152"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2596896"/>
            <a:ext cx="54864"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8" y="2660903"/>
            <a:ext cx="5577840" cy="274320"/>
          </a:xfrm>
          <a:prstGeom prst="rect">
            <a:avLst/>
          </a:prstGeom>
          <a:noFill/>
        </p:spPr>
        <p:txBody>
          <a:bodyPr wrap="square">
            <a:spAutoFit/>
          </a:bodyPr>
          <a:lstStyle/>
          <a:p>
            <a:pPr algn="l"/>
            <a:r>
              <a:rPr sz="1100" b="1" i="0">
                <a:solidFill>
                  <a:srgbClr val="2E7D32"/>
                </a:solidFill>
                <a:latin typeface="Calibri"/>
              </a:rPr>
              <a:t>Multi-stage fusion</a:t>
            </a:r>
          </a:p>
        </p:txBody>
      </p:sp>
      <p:sp>
        <p:nvSpPr>
          <p:cNvPr id="26" name="TextBox 25"/>
          <p:cNvSpPr txBox="1"/>
          <p:nvPr/>
        </p:nvSpPr>
        <p:spPr>
          <a:xfrm>
            <a:off x="6236208" y="2962656"/>
            <a:ext cx="5577840" cy="502920"/>
          </a:xfrm>
          <a:prstGeom prst="rect">
            <a:avLst/>
          </a:prstGeom>
          <a:noFill/>
        </p:spPr>
        <p:txBody>
          <a:bodyPr wrap="square">
            <a:spAutoFit/>
          </a:bodyPr>
          <a:lstStyle/>
          <a:p>
            <a:pPr algn="l"/>
            <a:r>
              <a:rPr sz="1000" b="0" i="0">
                <a:solidFill>
                  <a:srgbClr val="1A1A1A"/>
                </a:solidFill>
                <a:latin typeface="Calibri"/>
              </a:rPr>
              <a:t>One fusion engine aggregating inv_flags from 6 invariant checkers simultaneously.</a:t>
            </a:r>
          </a:p>
        </p:txBody>
      </p:sp>
      <p:sp>
        <p:nvSpPr>
          <p:cNvPr id="27" name="Rectangle 26"/>
          <p:cNvSpPr/>
          <p:nvPr/>
        </p:nvSpPr>
        <p:spPr>
          <a:xfrm>
            <a:off x="6080760" y="3621024"/>
            <a:ext cx="5788152"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0760" y="3621024"/>
            <a:ext cx="54864"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6208" y="3685032"/>
            <a:ext cx="5577840" cy="274320"/>
          </a:xfrm>
          <a:prstGeom prst="rect">
            <a:avLst/>
          </a:prstGeom>
          <a:noFill/>
        </p:spPr>
        <p:txBody>
          <a:bodyPr wrap="square">
            <a:spAutoFit/>
          </a:bodyPr>
          <a:lstStyle/>
          <a:p>
            <a:pPr algn="l"/>
            <a:r>
              <a:rPr sz="1100" b="1" i="0">
                <a:solidFill>
                  <a:srgbClr val="2E7D32"/>
                </a:solidFill>
                <a:latin typeface="Calibri"/>
              </a:rPr>
              <a:t>Shared AE model</a:t>
            </a:r>
          </a:p>
        </p:txBody>
      </p:sp>
      <p:sp>
        <p:nvSpPr>
          <p:cNvPr id="30" name="TextBox 29"/>
          <p:cNvSpPr txBox="1"/>
          <p:nvPr/>
        </p:nvSpPr>
        <p:spPr>
          <a:xfrm>
            <a:off x="6236208" y="3986784"/>
            <a:ext cx="5577840" cy="502920"/>
          </a:xfrm>
          <a:prstGeom prst="rect">
            <a:avLst/>
          </a:prstGeom>
          <a:noFill/>
        </p:spPr>
        <p:txBody>
          <a:bodyPr wrap="square">
            <a:spAutoFit/>
          </a:bodyPr>
          <a:lstStyle/>
          <a:p>
            <a:pPr algn="l"/>
            <a:r>
              <a:rPr sz="1000" b="0" i="0">
                <a:solidFill>
                  <a:srgbClr val="1A1A1A"/>
                </a:solidFill>
                <a:latin typeface="Calibri"/>
              </a:rPr>
              <a:t>Retrain on all 87 sensor columns — dataset already covers all 6 stages.</a:t>
            </a:r>
          </a:p>
        </p:txBody>
      </p:sp>
      <p:sp>
        <p:nvSpPr>
          <p:cNvPr id="31" name="Rectangle 30"/>
          <p:cNvSpPr/>
          <p:nvPr/>
        </p:nvSpPr>
        <p:spPr>
          <a:xfrm>
            <a:off x="6080760" y="4645152"/>
            <a:ext cx="5788152"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80760" y="4645152"/>
            <a:ext cx="54864" cy="914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6208" y="4709160"/>
            <a:ext cx="5577840" cy="274320"/>
          </a:xfrm>
          <a:prstGeom prst="rect">
            <a:avLst/>
          </a:prstGeom>
          <a:noFill/>
        </p:spPr>
        <p:txBody>
          <a:bodyPr wrap="square">
            <a:spAutoFit/>
          </a:bodyPr>
          <a:lstStyle/>
          <a:p>
            <a:pPr algn="l"/>
            <a:r>
              <a:rPr sz="1100" b="1" i="0">
                <a:solidFill>
                  <a:srgbClr val="2E7D32"/>
                </a:solidFill>
                <a:latin typeface="Calibri"/>
              </a:rPr>
              <a:t>Cross-stage failover</a:t>
            </a:r>
          </a:p>
        </p:txBody>
      </p:sp>
      <p:sp>
        <p:nvSpPr>
          <p:cNvPr id="34" name="TextBox 33"/>
          <p:cNvSpPr txBox="1"/>
          <p:nvPr/>
        </p:nvSpPr>
        <p:spPr>
          <a:xfrm>
            <a:off x="6236208" y="5010912"/>
            <a:ext cx="5577840" cy="502920"/>
          </a:xfrm>
          <a:prstGeom prst="rect">
            <a:avLst/>
          </a:prstGeom>
          <a:noFill/>
        </p:spPr>
        <p:txBody>
          <a:bodyPr wrap="square">
            <a:spAutoFit/>
          </a:bodyPr>
          <a:lstStyle/>
          <a:p>
            <a:pPr algn="l"/>
            <a:r>
              <a:rPr sz="1000" b="0" i="0">
                <a:solidFill>
                  <a:srgbClr val="1A1A1A"/>
                </a:solidFill>
                <a:latin typeface="Calibri"/>
              </a:rPr>
              <a:t>P2–P6 each have redundant PLCs — same failover pattern scales directly.</a:t>
            </a:r>
          </a:p>
        </p:txBody>
      </p:sp>
      <p:sp>
        <p:nvSpPr>
          <p:cNvPr id="35" name="TextBox 34"/>
          <p:cNvSpPr txBox="1"/>
          <p:nvPr/>
        </p:nvSpPr>
        <p:spPr>
          <a:xfrm>
            <a:off x="320040" y="5779008"/>
            <a:ext cx="11548872" cy="256032"/>
          </a:xfrm>
          <a:prstGeom prst="rect">
            <a:avLst/>
          </a:prstGeom>
          <a:noFill/>
        </p:spPr>
        <p:txBody>
          <a:bodyPr wrap="square">
            <a:spAutoFit/>
          </a:bodyPr>
          <a:lstStyle/>
          <a:p>
            <a:pPr algn="ctr"/>
            <a:r>
              <a:rPr sz="1000" b="1" i="0">
                <a:solidFill>
                  <a:srgbClr val="E8243C"/>
                </a:solidFill>
                <a:latin typeface="Calibri"/>
              </a:rPr>
              <a:t>Our P1 demonstration is the proof of concept. The architecture scales directly to the full plant.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1145743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7" name="Rectangle 6"/>
          <p:cNvSpPr/>
          <p:nvPr/>
        </p:nvSpPr>
        <p:spPr>
          <a:xfrm>
            <a:off x="502920" y="548640"/>
            <a:ext cx="210312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8640"/>
            <a:ext cx="2103120" cy="384048"/>
          </a:xfrm>
          <a:prstGeom prst="rect">
            <a:avLst/>
          </a:prstGeom>
          <a:noFill/>
        </p:spPr>
        <p:txBody>
          <a:bodyPr wrap="square">
            <a:spAutoFit/>
          </a:bodyPr>
          <a:lstStyle/>
          <a:p>
            <a:pPr algn="ctr"/>
            <a:r>
              <a:rPr sz="1100" b="1" i="0">
                <a:solidFill>
                  <a:srgbClr val="FFFFFF"/>
                </a:solidFill>
                <a:latin typeface="Calibri"/>
              </a:rPr>
              <a:t>CHEMICAL IMPACT</a:t>
            </a:r>
          </a:p>
        </p:txBody>
      </p:sp>
      <p:sp>
        <p:nvSpPr>
          <p:cNvPr id="9" name="TextBox 8"/>
          <p:cNvSpPr txBox="1"/>
          <p:nvPr/>
        </p:nvSpPr>
        <p:spPr>
          <a:xfrm>
            <a:off x="502920" y="1188720"/>
            <a:ext cx="9144000" cy="731520"/>
          </a:xfrm>
          <a:prstGeom prst="rect">
            <a:avLst/>
          </a:prstGeom>
          <a:noFill/>
        </p:spPr>
        <p:txBody>
          <a:bodyPr wrap="square">
            <a:spAutoFit/>
          </a:bodyPr>
          <a:lstStyle/>
          <a:p>
            <a:pPr algn="l"/>
            <a:r>
              <a:rPr sz="3800" b="1" i="0">
                <a:solidFill>
                  <a:srgbClr val="1A1A1A"/>
                </a:solidFill>
                <a:latin typeface="Calibri Light"/>
              </a:rPr>
              <a:t>Disrupting the Chemistry:</a:t>
            </a:r>
          </a:p>
        </p:txBody>
      </p:sp>
      <p:sp>
        <p:nvSpPr>
          <p:cNvPr id="10" name="TextBox 9"/>
          <p:cNvSpPr txBox="1"/>
          <p:nvPr/>
        </p:nvSpPr>
        <p:spPr>
          <a:xfrm>
            <a:off x="502920" y="1920240"/>
            <a:ext cx="9601200" cy="502920"/>
          </a:xfrm>
          <a:prstGeom prst="rect">
            <a:avLst/>
          </a:prstGeom>
          <a:noFill/>
        </p:spPr>
        <p:txBody>
          <a:bodyPr wrap="square">
            <a:spAutoFit/>
          </a:bodyPr>
          <a:lstStyle/>
          <a:p>
            <a:pPr algn="l"/>
            <a:r>
              <a:rPr sz="2000" b="0" i="0">
                <a:solidFill>
                  <a:srgbClr val="E8243C"/>
                </a:solidFill>
                <a:latin typeface="Calibri Light"/>
              </a:rPr>
              <a:t>What Happens to the Water When the Dosing Goes Wrong</a:t>
            </a:r>
          </a:p>
        </p:txBody>
      </p:sp>
      <p:sp>
        <p:nvSpPr>
          <p:cNvPr id="11" name="TextBox 10"/>
          <p:cNvSpPr txBox="1"/>
          <p:nvPr/>
        </p:nvSpPr>
        <p:spPr>
          <a:xfrm>
            <a:off x="502920" y="2578608"/>
            <a:ext cx="9144000" cy="594360"/>
          </a:xfrm>
          <a:prstGeom prst="rect">
            <a:avLst/>
          </a:prstGeom>
          <a:noFill/>
        </p:spPr>
        <p:txBody>
          <a:bodyPr wrap="square">
            <a:spAutoFit/>
          </a:bodyPr>
          <a:lstStyle/>
          <a:p>
            <a:pPr algn="l"/>
            <a:r>
              <a:rPr sz="1300" b="0" i="1">
                <a:solidFill>
                  <a:srgbClr val="6B6B6B"/>
                </a:solidFill>
                <a:latin typeface="Calibri"/>
              </a:rPr>
              <a:t>A cyberattack on SWaT is not just an engineering problem — it is a public health problem.
Disrupting chemical dosing produces water that is toxic, corrosive, or biologically unsafe.</a:t>
            </a:r>
          </a:p>
        </p:txBody>
      </p:sp>
      <p:sp>
        <p:nvSpPr>
          <p:cNvPr id="12" name="TextBox 11"/>
          <p:cNvSpPr txBox="1"/>
          <p:nvPr/>
        </p:nvSpPr>
        <p:spPr>
          <a:xfrm>
            <a:off x="502920" y="3291840"/>
            <a:ext cx="11365992" cy="274320"/>
          </a:xfrm>
          <a:prstGeom prst="rect">
            <a:avLst/>
          </a:prstGeom>
          <a:noFill/>
        </p:spPr>
        <p:txBody>
          <a:bodyPr wrap="square">
            <a:spAutoFit/>
          </a:bodyPr>
          <a:lstStyle/>
          <a:p>
            <a:pPr algn="l"/>
            <a:r>
              <a:rPr sz="1200" b="1" i="0">
                <a:solidFill>
                  <a:srgbClr val="1A1A1A"/>
                </a:solidFill>
                <a:latin typeface="Calibri"/>
              </a:rPr>
              <a:t>SWaT P2 Chemical Dosing System</a:t>
            </a:r>
          </a:p>
        </p:txBody>
      </p:sp>
      <p:sp>
        <p:nvSpPr>
          <p:cNvPr id="13" name="Rectangle 12"/>
          <p:cNvSpPr/>
          <p:nvPr/>
        </p:nvSpPr>
        <p:spPr>
          <a:xfrm>
            <a:off x="502920" y="3657600"/>
            <a:ext cx="256032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712463"/>
            <a:ext cx="2377440" cy="274320"/>
          </a:xfrm>
          <a:prstGeom prst="rect">
            <a:avLst/>
          </a:prstGeom>
          <a:noFill/>
        </p:spPr>
        <p:txBody>
          <a:bodyPr wrap="square">
            <a:spAutoFit/>
          </a:bodyPr>
          <a:lstStyle/>
          <a:p>
            <a:pPr algn="l"/>
            <a:r>
              <a:rPr sz="950" b="1" i="0">
                <a:solidFill>
                  <a:srgbClr val="FFFFFF"/>
                </a:solidFill>
                <a:latin typeface="Courier New"/>
              </a:rPr>
              <a:t>NaOCl (Sodium Hypochlorite)</a:t>
            </a:r>
          </a:p>
        </p:txBody>
      </p:sp>
      <p:sp>
        <p:nvSpPr>
          <p:cNvPr id="15" name="Rectangle 14"/>
          <p:cNvSpPr/>
          <p:nvPr/>
        </p:nvSpPr>
        <p:spPr>
          <a:xfrm>
            <a:off x="3090672" y="3657600"/>
            <a:ext cx="10972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82112" y="3712463"/>
            <a:ext cx="914400" cy="274320"/>
          </a:xfrm>
          <a:prstGeom prst="rect">
            <a:avLst/>
          </a:prstGeom>
          <a:noFill/>
        </p:spPr>
        <p:txBody>
          <a:bodyPr wrap="square">
            <a:spAutoFit/>
          </a:bodyPr>
          <a:lstStyle/>
          <a:p>
            <a:pPr algn="l"/>
            <a:r>
              <a:rPr sz="950" b="0" i="0">
                <a:solidFill>
                  <a:srgbClr val="1A1A1A"/>
                </a:solidFill>
                <a:latin typeface="Courier New"/>
              </a:rPr>
              <a:t>P1 dosing</a:t>
            </a:r>
          </a:p>
        </p:txBody>
      </p:sp>
      <p:sp>
        <p:nvSpPr>
          <p:cNvPr id="17" name="Rectangle 16"/>
          <p:cNvSpPr/>
          <p:nvPr/>
        </p:nvSpPr>
        <p:spPr>
          <a:xfrm>
            <a:off x="4215384" y="3657600"/>
            <a:ext cx="7653527"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06824" y="3712463"/>
            <a:ext cx="7470648" cy="274320"/>
          </a:xfrm>
          <a:prstGeom prst="rect">
            <a:avLst/>
          </a:prstGeom>
          <a:noFill/>
        </p:spPr>
        <p:txBody>
          <a:bodyPr wrap="square">
            <a:spAutoFit/>
          </a:bodyPr>
          <a:lstStyle/>
          <a:p>
            <a:pPr algn="l"/>
            <a:r>
              <a:rPr sz="950" b="0" i="0">
                <a:solidFill>
                  <a:srgbClr val="1A1A1A"/>
                </a:solidFill>
                <a:latin typeface="Calibri"/>
              </a:rPr>
              <a:t>Disinfection — kills bacteria and pathogens at intake</a:t>
            </a:r>
          </a:p>
        </p:txBody>
      </p:sp>
      <p:sp>
        <p:nvSpPr>
          <p:cNvPr id="19" name="Rectangle 18"/>
          <p:cNvSpPr/>
          <p:nvPr/>
        </p:nvSpPr>
        <p:spPr>
          <a:xfrm>
            <a:off x="502920" y="4114800"/>
            <a:ext cx="2560320" cy="384048"/>
          </a:xfrm>
          <a:prstGeom prst="rect">
            <a:avLst/>
          </a:prstGeom>
          <a:solidFill>
            <a:srgbClr val="B01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169663"/>
            <a:ext cx="2377440" cy="274320"/>
          </a:xfrm>
          <a:prstGeom prst="rect">
            <a:avLst/>
          </a:prstGeom>
          <a:noFill/>
        </p:spPr>
        <p:txBody>
          <a:bodyPr wrap="square">
            <a:spAutoFit/>
          </a:bodyPr>
          <a:lstStyle/>
          <a:p>
            <a:pPr algn="l"/>
            <a:r>
              <a:rPr sz="950" b="1" i="0">
                <a:solidFill>
                  <a:srgbClr val="FFFFFF"/>
                </a:solidFill>
                <a:latin typeface="Courier New"/>
              </a:rPr>
              <a:t>NaOH (Sodium Hydroxide)</a:t>
            </a:r>
          </a:p>
        </p:txBody>
      </p:sp>
      <p:sp>
        <p:nvSpPr>
          <p:cNvPr id="21" name="Rectangle 20"/>
          <p:cNvSpPr/>
          <p:nvPr/>
        </p:nvSpPr>
        <p:spPr>
          <a:xfrm>
            <a:off x="3090672" y="4114800"/>
            <a:ext cx="10972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82112" y="4169663"/>
            <a:ext cx="914400" cy="274320"/>
          </a:xfrm>
          <a:prstGeom prst="rect">
            <a:avLst/>
          </a:prstGeom>
          <a:noFill/>
        </p:spPr>
        <p:txBody>
          <a:bodyPr wrap="square">
            <a:spAutoFit/>
          </a:bodyPr>
          <a:lstStyle/>
          <a:p>
            <a:pPr algn="l"/>
            <a:r>
              <a:rPr sz="950" b="0" i="0">
                <a:solidFill>
                  <a:srgbClr val="1A1A1A"/>
                </a:solidFill>
                <a:latin typeface="Courier New"/>
              </a:rPr>
              <a:t>P201/P202</a:t>
            </a:r>
          </a:p>
        </p:txBody>
      </p:sp>
      <p:sp>
        <p:nvSpPr>
          <p:cNvPr id="23" name="Rectangle 22"/>
          <p:cNvSpPr/>
          <p:nvPr/>
        </p:nvSpPr>
        <p:spPr>
          <a:xfrm>
            <a:off x="4215384" y="4114800"/>
            <a:ext cx="7653527"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06824" y="4169663"/>
            <a:ext cx="7470648" cy="274320"/>
          </a:xfrm>
          <a:prstGeom prst="rect">
            <a:avLst/>
          </a:prstGeom>
          <a:noFill/>
        </p:spPr>
        <p:txBody>
          <a:bodyPr wrap="square">
            <a:spAutoFit/>
          </a:bodyPr>
          <a:lstStyle/>
          <a:p>
            <a:pPr algn="l"/>
            <a:r>
              <a:rPr sz="950" b="0" i="0">
                <a:solidFill>
                  <a:srgbClr val="1A1A1A"/>
                </a:solidFill>
                <a:latin typeface="Calibri"/>
              </a:rPr>
              <a:t>pH adjustment — raises pH toward neutral 7.0</a:t>
            </a:r>
          </a:p>
        </p:txBody>
      </p:sp>
      <p:sp>
        <p:nvSpPr>
          <p:cNvPr id="25" name="Rectangle 24"/>
          <p:cNvSpPr/>
          <p:nvPr/>
        </p:nvSpPr>
        <p:spPr>
          <a:xfrm>
            <a:off x="502920" y="4572000"/>
            <a:ext cx="256032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626864"/>
            <a:ext cx="2377440" cy="274320"/>
          </a:xfrm>
          <a:prstGeom prst="rect">
            <a:avLst/>
          </a:prstGeom>
          <a:noFill/>
        </p:spPr>
        <p:txBody>
          <a:bodyPr wrap="square">
            <a:spAutoFit/>
          </a:bodyPr>
          <a:lstStyle/>
          <a:p>
            <a:pPr algn="l"/>
            <a:r>
              <a:rPr sz="950" b="1" i="0">
                <a:solidFill>
                  <a:srgbClr val="FFFFFF"/>
                </a:solidFill>
                <a:latin typeface="Courier New"/>
              </a:rPr>
              <a:t>HCl (Hydrochloric Acid)</a:t>
            </a:r>
          </a:p>
        </p:txBody>
      </p:sp>
      <p:sp>
        <p:nvSpPr>
          <p:cNvPr id="27" name="Rectangle 26"/>
          <p:cNvSpPr/>
          <p:nvPr/>
        </p:nvSpPr>
        <p:spPr>
          <a:xfrm>
            <a:off x="3090672" y="4572000"/>
            <a:ext cx="10972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82112" y="4626864"/>
            <a:ext cx="914400" cy="274320"/>
          </a:xfrm>
          <a:prstGeom prst="rect">
            <a:avLst/>
          </a:prstGeom>
          <a:noFill/>
        </p:spPr>
        <p:txBody>
          <a:bodyPr wrap="square">
            <a:spAutoFit/>
          </a:bodyPr>
          <a:lstStyle/>
          <a:p>
            <a:pPr algn="l"/>
            <a:r>
              <a:rPr sz="950" b="0" i="0">
                <a:solidFill>
                  <a:srgbClr val="1A1A1A"/>
                </a:solidFill>
                <a:latin typeface="Courier New"/>
              </a:rPr>
              <a:t>P203/P204</a:t>
            </a:r>
          </a:p>
        </p:txBody>
      </p:sp>
      <p:sp>
        <p:nvSpPr>
          <p:cNvPr id="29" name="Rectangle 28"/>
          <p:cNvSpPr/>
          <p:nvPr/>
        </p:nvSpPr>
        <p:spPr>
          <a:xfrm>
            <a:off x="4215384" y="4572000"/>
            <a:ext cx="7653527"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06824" y="4626864"/>
            <a:ext cx="7470648" cy="274320"/>
          </a:xfrm>
          <a:prstGeom prst="rect">
            <a:avLst/>
          </a:prstGeom>
          <a:noFill/>
        </p:spPr>
        <p:txBody>
          <a:bodyPr wrap="square">
            <a:spAutoFit/>
          </a:bodyPr>
          <a:lstStyle/>
          <a:p>
            <a:pPr algn="l"/>
            <a:r>
              <a:rPr sz="950" b="0" i="0">
                <a:solidFill>
                  <a:srgbClr val="1A1A1A"/>
                </a:solidFill>
                <a:latin typeface="Calibri"/>
              </a:rPr>
              <a:t>pH adjustment — lowers pH, used to acidify</a:t>
            </a:r>
          </a:p>
        </p:txBody>
      </p:sp>
      <p:sp>
        <p:nvSpPr>
          <p:cNvPr id="31" name="Rectangle 30"/>
          <p:cNvSpPr/>
          <p:nvPr/>
        </p:nvSpPr>
        <p:spPr>
          <a:xfrm>
            <a:off x="502920" y="5029200"/>
            <a:ext cx="2560320" cy="384048"/>
          </a:xfrm>
          <a:prstGeom prst="rect">
            <a:avLst/>
          </a:prstGeom>
          <a:solidFill>
            <a:srgbClr val="B01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084064"/>
            <a:ext cx="2377440" cy="274320"/>
          </a:xfrm>
          <a:prstGeom prst="rect">
            <a:avLst/>
          </a:prstGeom>
          <a:noFill/>
        </p:spPr>
        <p:txBody>
          <a:bodyPr wrap="square">
            <a:spAutoFit/>
          </a:bodyPr>
          <a:lstStyle/>
          <a:p>
            <a:pPr algn="l"/>
            <a:r>
              <a:rPr sz="950" b="1" i="0">
                <a:solidFill>
                  <a:srgbClr val="FFFFFF"/>
                </a:solidFill>
                <a:latin typeface="Courier New"/>
              </a:rPr>
              <a:t>NaHSO₃ (Sodium Bisulfite)</a:t>
            </a:r>
          </a:p>
        </p:txBody>
      </p:sp>
      <p:sp>
        <p:nvSpPr>
          <p:cNvPr id="33" name="Rectangle 32"/>
          <p:cNvSpPr/>
          <p:nvPr/>
        </p:nvSpPr>
        <p:spPr>
          <a:xfrm>
            <a:off x="3090672" y="5029200"/>
            <a:ext cx="10972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82112" y="5084064"/>
            <a:ext cx="914400" cy="274320"/>
          </a:xfrm>
          <a:prstGeom prst="rect">
            <a:avLst/>
          </a:prstGeom>
          <a:noFill/>
        </p:spPr>
        <p:txBody>
          <a:bodyPr wrap="square">
            <a:spAutoFit/>
          </a:bodyPr>
          <a:lstStyle/>
          <a:p>
            <a:pPr algn="l"/>
            <a:r>
              <a:rPr sz="950" b="0" i="0">
                <a:solidFill>
                  <a:srgbClr val="1A1A1A"/>
                </a:solidFill>
                <a:latin typeface="Courier New"/>
              </a:rPr>
              <a:t>P401 (P4)</a:t>
            </a:r>
          </a:p>
        </p:txBody>
      </p:sp>
      <p:sp>
        <p:nvSpPr>
          <p:cNvPr id="35" name="Rectangle 34"/>
          <p:cNvSpPr/>
          <p:nvPr/>
        </p:nvSpPr>
        <p:spPr>
          <a:xfrm>
            <a:off x="4215384" y="5029200"/>
            <a:ext cx="7653527"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06824" y="5084064"/>
            <a:ext cx="7470648" cy="274320"/>
          </a:xfrm>
          <a:prstGeom prst="rect">
            <a:avLst/>
          </a:prstGeom>
          <a:noFill/>
        </p:spPr>
        <p:txBody>
          <a:bodyPr wrap="square">
            <a:spAutoFit/>
          </a:bodyPr>
          <a:lstStyle/>
          <a:p>
            <a:pPr algn="l"/>
            <a:r>
              <a:rPr sz="950" b="0" i="0">
                <a:solidFill>
                  <a:srgbClr val="1A1A1A"/>
                </a:solidFill>
                <a:latin typeface="Calibri"/>
              </a:rPr>
              <a:t>Dechlorination — removes residual chlorine before RO</a:t>
            </a:r>
          </a:p>
        </p:txBody>
      </p:sp>
      <p:sp>
        <p:nvSpPr>
          <p:cNvPr id="37" name="Rectangle 36"/>
          <p:cNvSpPr/>
          <p:nvPr/>
        </p:nvSpPr>
        <p:spPr>
          <a:xfrm>
            <a:off x="502920" y="5486400"/>
            <a:ext cx="2560320" cy="38404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5541264"/>
            <a:ext cx="2377440" cy="274320"/>
          </a:xfrm>
          <a:prstGeom prst="rect">
            <a:avLst/>
          </a:prstGeom>
          <a:noFill/>
        </p:spPr>
        <p:txBody>
          <a:bodyPr wrap="square">
            <a:spAutoFit/>
          </a:bodyPr>
          <a:lstStyle/>
          <a:p>
            <a:pPr algn="l"/>
            <a:r>
              <a:rPr sz="950" b="1" i="0">
                <a:solidFill>
                  <a:srgbClr val="FFFFFF"/>
                </a:solidFill>
                <a:latin typeface="Courier New"/>
              </a:rPr>
              <a:t>NaCl (Sodium Chloride)</a:t>
            </a:r>
          </a:p>
        </p:txBody>
      </p:sp>
      <p:sp>
        <p:nvSpPr>
          <p:cNvPr id="39" name="Rectangle 38"/>
          <p:cNvSpPr/>
          <p:nvPr/>
        </p:nvSpPr>
        <p:spPr>
          <a:xfrm>
            <a:off x="3090672" y="5486400"/>
            <a:ext cx="10972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82112" y="5541264"/>
            <a:ext cx="914400" cy="274320"/>
          </a:xfrm>
          <a:prstGeom prst="rect">
            <a:avLst/>
          </a:prstGeom>
          <a:noFill/>
        </p:spPr>
        <p:txBody>
          <a:bodyPr wrap="square">
            <a:spAutoFit/>
          </a:bodyPr>
          <a:lstStyle/>
          <a:p>
            <a:pPr algn="l"/>
            <a:r>
              <a:rPr sz="950" b="0" i="0">
                <a:solidFill>
                  <a:srgbClr val="1A1A1A"/>
                </a:solidFill>
                <a:latin typeface="Courier New"/>
              </a:rPr>
              <a:t>P5 dosing</a:t>
            </a:r>
          </a:p>
        </p:txBody>
      </p:sp>
      <p:sp>
        <p:nvSpPr>
          <p:cNvPr id="41" name="Rectangle 40"/>
          <p:cNvSpPr/>
          <p:nvPr/>
        </p:nvSpPr>
        <p:spPr>
          <a:xfrm>
            <a:off x="4215384" y="5486400"/>
            <a:ext cx="7653527"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6824" y="5541264"/>
            <a:ext cx="7470648" cy="274320"/>
          </a:xfrm>
          <a:prstGeom prst="rect">
            <a:avLst/>
          </a:prstGeom>
          <a:noFill/>
        </p:spPr>
        <p:txBody>
          <a:bodyPr wrap="square">
            <a:spAutoFit/>
          </a:bodyPr>
          <a:lstStyle/>
          <a:p>
            <a:pPr algn="l"/>
            <a:r>
              <a:rPr sz="950" b="0" i="0">
                <a:solidFill>
                  <a:srgbClr val="1A1A1A"/>
                </a:solidFill>
                <a:latin typeface="Calibri"/>
              </a:rPr>
              <a:t>Membrane cleaning — brine solution for RO backwash</a:t>
            </a:r>
          </a:p>
        </p:txBody>
      </p:sp>
      <p:sp>
        <p:nvSpPr>
          <p:cNvPr id="43" name="TextBox 42"/>
          <p:cNvSpPr txBox="1"/>
          <p:nvPr/>
        </p:nvSpPr>
        <p:spPr>
          <a:xfrm>
            <a:off x="502920" y="6035040"/>
            <a:ext cx="11365992" cy="201168"/>
          </a:xfrm>
          <a:prstGeom prst="rect">
            <a:avLst/>
          </a:prstGeom>
          <a:noFill/>
        </p:spPr>
        <p:txBody>
          <a:bodyPr wrap="square">
            <a:spAutoFit/>
          </a:bodyPr>
          <a:lstStyle/>
          <a:p>
            <a:pPr algn="l"/>
            <a:r>
              <a:rPr sz="800" b="0" i="1">
                <a:solidFill>
                  <a:srgbClr val="6B6B6B"/>
                </a:solidFill>
                <a:latin typeface="Calibri"/>
              </a:rPr>
              <a:t>AIT201=pH  ·  AIT202=ORP (oxidation-reduction potential)  ·  AIT203=conductivity  ·  all monitored by PLC2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CHEM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2700" b="1" i="0">
                <a:solidFill>
                  <a:srgbClr val="1A1A1A"/>
                </a:solidFill>
                <a:latin typeface="Calibri Light"/>
              </a:rPr>
              <a:t>Stage 2 Dosing Attack — pH Consequences</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00" b="0" i="1">
                <a:solidFill>
                  <a:srgbClr val="6B6B6B"/>
                </a:solidFill>
                <a:latin typeface="Calibri"/>
              </a:rPr>
              <a:t>Stopping NaOH and activating HCl simultaneously — observed in real SWaT attack experiments</a:t>
            </a:r>
          </a:p>
        </p:txBody>
      </p:sp>
      <p:sp>
        <p:nvSpPr>
          <p:cNvPr id="10" name="TextBox 9"/>
          <p:cNvSpPr txBox="1"/>
          <p:nvPr/>
        </p:nvSpPr>
        <p:spPr>
          <a:xfrm>
            <a:off x="320040" y="1371600"/>
            <a:ext cx="5303520" cy="274320"/>
          </a:xfrm>
          <a:prstGeom prst="rect">
            <a:avLst/>
          </a:prstGeom>
          <a:noFill/>
        </p:spPr>
        <p:txBody>
          <a:bodyPr wrap="square">
            <a:spAutoFit/>
          </a:bodyPr>
          <a:lstStyle/>
          <a:p>
            <a:pPr algn="l"/>
            <a:r>
              <a:rPr sz="1200" b="1" i="0">
                <a:solidFill>
                  <a:srgbClr val="1A1A1A"/>
                </a:solidFill>
                <a:latin typeface="Calibri"/>
              </a:rPr>
              <a:t>Observed pH Timeline Under Attack</a:t>
            </a:r>
          </a:p>
        </p:txBody>
      </p:sp>
      <p:sp>
        <p:nvSpPr>
          <p:cNvPr id="11" name="Rectangle 10"/>
          <p:cNvSpPr/>
          <p:nvPr/>
        </p:nvSpPr>
        <p:spPr>
          <a:xfrm>
            <a:off x="320040" y="1719072"/>
            <a:ext cx="169164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64792"/>
            <a:ext cx="1508760" cy="274320"/>
          </a:xfrm>
          <a:prstGeom prst="rect">
            <a:avLst/>
          </a:prstGeom>
          <a:noFill/>
        </p:spPr>
        <p:txBody>
          <a:bodyPr wrap="square">
            <a:spAutoFit/>
          </a:bodyPr>
          <a:lstStyle/>
          <a:p>
            <a:pPr algn="l"/>
            <a:r>
              <a:rPr sz="850" b="1" i="0">
                <a:solidFill>
                  <a:srgbClr val="FFFFFF"/>
                </a:solidFill>
                <a:latin typeface="Calibri"/>
              </a:rPr>
              <a:t>Normal operation</a:t>
            </a:r>
          </a:p>
        </p:txBody>
      </p:sp>
      <p:sp>
        <p:nvSpPr>
          <p:cNvPr id="13" name="Rectangle 12"/>
          <p:cNvSpPr/>
          <p:nvPr/>
        </p:nvSpPr>
        <p:spPr>
          <a:xfrm>
            <a:off x="2039112" y="1719072"/>
            <a:ext cx="100584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30552" y="1856231"/>
            <a:ext cx="822960" cy="365760"/>
          </a:xfrm>
          <a:prstGeom prst="rect">
            <a:avLst/>
          </a:prstGeom>
          <a:noFill/>
        </p:spPr>
        <p:txBody>
          <a:bodyPr wrap="square">
            <a:spAutoFit/>
          </a:bodyPr>
          <a:lstStyle/>
          <a:p>
            <a:pPr algn="ctr"/>
            <a:r>
              <a:rPr sz="1300" b="1" i="0">
                <a:solidFill>
                  <a:srgbClr val="FFFFFF"/>
                </a:solidFill>
                <a:latin typeface="Calibri"/>
              </a:rPr>
              <a:t>pH 6.64</a:t>
            </a:r>
          </a:p>
        </p:txBody>
      </p:sp>
      <p:sp>
        <p:nvSpPr>
          <p:cNvPr id="15" name="Rectangle 14"/>
          <p:cNvSpPr/>
          <p:nvPr/>
        </p:nvSpPr>
        <p:spPr>
          <a:xfrm>
            <a:off x="3072384" y="1719072"/>
            <a:ext cx="274320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63824" y="1856231"/>
            <a:ext cx="2560320" cy="411480"/>
          </a:xfrm>
          <a:prstGeom prst="rect">
            <a:avLst/>
          </a:prstGeom>
          <a:noFill/>
        </p:spPr>
        <p:txBody>
          <a:bodyPr wrap="square">
            <a:spAutoFit/>
          </a:bodyPr>
          <a:lstStyle/>
          <a:p>
            <a:pPr algn="l"/>
            <a:r>
              <a:rPr sz="950" b="0" i="0">
                <a:solidFill>
                  <a:srgbClr val="1A1A1A"/>
                </a:solidFill>
                <a:latin typeface="Calibri"/>
              </a:rPr>
              <a:t>Slightly below neutral — acceptable for treatment</a:t>
            </a:r>
          </a:p>
        </p:txBody>
      </p:sp>
      <p:sp>
        <p:nvSpPr>
          <p:cNvPr id="17" name="Rectangle 16"/>
          <p:cNvSpPr/>
          <p:nvPr/>
        </p:nvSpPr>
        <p:spPr>
          <a:xfrm>
            <a:off x="320040" y="2523744"/>
            <a:ext cx="1691640" cy="6858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569463"/>
            <a:ext cx="1508760" cy="274320"/>
          </a:xfrm>
          <a:prstGeom prst="rect">
            <a:avLst/>
          </a:prstGeom>
          <a:noFill/>
        </p:spPr>
        <p:txBody>
          <a:bodyPr wrap="square">
            <a:spAutoFit/>
          </a:bodyPr>
          <a:lstStyle/>
          <a:p>
            <a:pPr algn="l"/>
            <a:r>
              <a:rPr sz="850" b="1" i="0">
                <a:solidFill>
                  <a:srgbClr val="FFFFFF"/>
                </a:solidFill>
                <a:latin typeface="Calibri"/>
              </a:rPr>
              <a:t>t=0s  Attack starts</a:t>
            </a:r>
          </a:p>
        </p:txBody>
      </p:sp>
      <p:sp>
        <p:nvSpPr>
          <p:cNvPr id="19" name="Rectangle 18"/>
          <p:cNvSpPr/>
          <p:nvPr/>
        </p:nvSpPr>
        <p:spPr>
          <a:xfrm>
            <a:off x="2039112" y="2523744"/>
            <a:ext cx="1005840" cy="6858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30552" y="2660903"/>
            <a:ext cx="822960" cy="365760"/>
          </a:xfrm>
          <a:prstGeom prst="rect">
            <a:avLst/>
          </a:prstGeom>
          <a:noFill/>
        </p:spPr>
        <p:txBody>
          <a:bodyPr wrap="square">
            <a:spAutoFit/>
          </a:bodyPr>
          <a:lstStyle/>
          <a:p>
            <a:pPr algn="ctr"/>
            <a:r>
              <a:rPr sz="1300" b="1" i="0">
                <a:solidFill>
                  <a:srgbClr val="FFFFFF"/>
                </a:solidFill>
                <a:latin typeface="Calibri"/>
              </a:rPr>
              <a:t>pH 6.64</a:t>
            </a:r>
          </a:p>
        </p:txBody>
      </p:sp>
      <p:sp>
        <p:nvSpPr>
          <p:cNvPr id="21" name="Rectangle 20"/>
          <p:cNvSpPr/>
          <p:nvPr/>
        </p:nvSpPr>
        <p:spPr>
          <a:xfrm>
            <a:off x="3072384" y="2523744"/>
            <a:ext cx="274320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63824" y="2660903"/>
            <a:ext cx="2560320" cy="411480"/>
          </a:xfrm>
          <a:prstGeom prst="rect">
            <a:avLst/>
          </a:prstGeom>
          <a:noFill/>
        </p:spPr>
        <p:txBody>
          <a:bodyPr wrap="square">
            <a:spAutoFit/>
          </a:bodyPr>
          <a:lstStyle/>
          <a:p>
            <a:pPr algn="l"/>
            <a:r>
              <a:rPr sz="950" b="0" i="0">
                <a:solidFill>
                  <a:srgbClr val="1A1A1A"/>
                </a:solidFill>
                <a:latin typeface="Calibri"/>
              </a:rPr>
              <a:t>P201/P202 (NaOH) set to OFF — pH correction stops</a:t>
            </a:r>
          </a:p>
        </p:txBody>
      </p:sp>
      <p:sp>
        <p:nvSpPr>
          <p:cNvPr id="23" name="Rectangle 22"/>
          <p:cNvSpPr/>
          <p:nvPr/>
        </p:nvSpPr>
        <p:spPr>
          <a:xfrm>
            <a:off x="320040" y="3328415"/>
            <a:ext cx="1691640" cy="6858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3374135"/>
            <a:ext cx="1508760" cy="274320"/>
          </a:xfrm>
          <a:prstGeom prst="rect">
            <a:avLst/>
          </a:prstGeom>
          <a:noFill/>
        </p:spPr>
        <p:txBody>
          <a:bodyPr wrap="square">
            <a:spAutoFit/>
          </a:bodyPr>
          <a:lstStyle/>
          <a:p>
            <a:pPr algn="l"/>
            <a:r>
              <a:rPr sz="850" b="1" i="0">
                <a:solidFill>
                  <a:srgbClr val="FFFFFF"/>
                </a:solidFill>
                <a:latin typeface="Calibri"/>
              </a:rPr>
              <a:t>t=60s  HCl active</a:t>
            </a:r>
          </a:p>
        </p:txBody>
      </p:sp>
      <p:sp>
        <p:nvSpPr>
          <p:cNvPr id="25" name="Rectangle 24"/>
          <p:cNvSpPr/>
          <p:nvPr/>
        </p:nvSpPr>
        <p:spPr>
          <a:xfrm>
            <a:off x="2039112" y="3328415"/>
            <a:ext cx="1005840" cy="6858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30552" y="3465575"/>
            <a:ext cx="822960" cy="365760"/>
          </a:xfrm>
          <a:prstGeom prst="rect">
            <a:avLst/>
          </a:prstGeom>
          <a:noFill/>
        </p:spPr>
        <p:txBody>
          <a:bodyPr wrap="square">
            <a:spAutoFit/>
          </a:bodyPr>
          <a:lstStyle/>
          <a:p>
            <a:pPr algn="ctr"/>
            <a:r>
              <a:rPr sz="1300" b="1" i="0">
                <a:solidFill>
                  <a:srgbClr val="FFFFFF"/>
                </a:solidFill>
                <a:latin typeface="Calibri"/>
              </a:rPr>
              <a:t>pH 6.23</a:t>
            </a:r>
          </a:p>
        </p:txBody>
      </p:sp>
      <p:sp>
        <p:nvSpPr>
          <p:cNvPr id="27" name="Rectangle 26"/>
          <p:cNvSpPr/>
          <p:nvPr/>
        </p:nvSpPr>
        <p:spPr>
          <a:xfrm>
            <a:off x="3072384" y="3328415"/>
            <a:ext cx="274320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63824" y="3465575"/>
            <a:ext cx="2560320" cy="411480"/>
          </a:xfrm>
          <a:prstGeom prst="rect">
            <a:avLst/>
          </a:prstGeom>
          <a:noFill/>
        </p:spPr>
        <p:txBody>
          <a:bodyPr wrap="square">
            <a:spAutoFit/>
          </a:bodyPr>
          <a:lstStyle/>
          <a:p>
            <a:pPr algn="l"/>
            <a:r>
              <a:rPr sz="950" b="0" i="0">
                <a:solidFill>
                  <a:srgbClr val="1A1A1A"/>
                </a:solidFill>
                <a:latin typeface="Calibri"/>
              </a:rPr>
              <a:t>P203/P204 (HCl) set to ON — acid injection begins</a:t>
            </a:r>
          </a:p>
        </p:txBody>
      </p:sp>
      <p:sp>
        <p:nvSpPr>
          <p:cNvPr id="29" name="Rectangle 28"/>
          <p:cNvSpPr/>
          <p:nvPr/>
        </p:nvSpPr>
        <p:spPr>
          <a:xfrm>
            <a:off x="320040" y="4133087"/>
            <a:ext cx="1691640" cy="6858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4178807"/>
            <a:ext cx="1508760" cy="274320"/>
          </a:xfrm>
          <a:prstGeom prst="rect">
            <a:avLst/>
          </a:prstGeom>
          <a:noFill/>
        </p:spPr>
        <p:txBody>
          <a:bodyPr wrap="square">
            <a:spAutoFit/>
          </a:bodyPr>
          <a:lstStyle/>
          <a:p>
            <a:pPr algn="l"/>
            <a:r>
              <a:rPr sz="850" b="1" i="0">
                <a:solidFill>
                  <a:srgbClr val="FFFFFF"/>
                </a:solidFill>
                <a:latin typeface="Calibri"/>
              </a:rPr>
              <a:t>t=5min  Unchecked</a:t>
            </a:r>
          </a:p>
        </p:txBody>
      </p:sp>
      <p:sp>
        <p:nvSpPr>
          <p:cNvPr id="31" name="Rectangle 30"/>
          <p:cNvSpPr/>
          <p:nvPr/>
        </p:nvSpPr>
        <p:spPr>
          <a:xfrm>
            <a:off x="2039112" y="4133087"/>
            <a:ext cx="1005840" cy="6858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30552" y="4270248"/>
            <a:ext cx="822960" cy="365760"/>
          </a:xfrm>
          <a:prstGeom prst="rect">
            <a:avLst/>
          </a:prstGeom>
          <a:noFill/>
        </p:spPr>
        <p:txBody>
          <a:bodyPr wrap="square">
            <a:spAutoFit/>
          </a:bodyPr>
          <a:lstStyle/>
          <a:p>
            <a:pPr algn="ctr"/>
            <a:r>
              <a:rPr sz="1300" b="1" i="0">
                <a:solidFill>
                  <a:srgbClr val="FFFFFF"/>
                </a:solidFill>
                <a:latin typeface="Calibri"/>
              </a:rPr>
              <a:t>pH ~4.5</a:t>
            </a:r>
          </a:p>
        </p:txBody>
      </p:sp>
      <p:sp>
        <p:nvSpPr>
          <p:cNvPr id="33" name="Rectangle 32"/>
          <p:cNvSpPr/>
          <p:nvPr/>
        </p:nvSpPr>
        <p:spPr>
          <a:xfrm>
            <a:off x="3072384" y="4133087"/>
            <a:ext cx="274320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63824" y="4270248"/>
            <a:ext cx="2560320" cy="411480"/>
          </a:xfrm>
          <a:prstGeom prst="rect">
            <a:avLst/>
          </a:prstGeom>
          <a:noFill/>
        </p:spPr>
        <p:txBody>
          <a:bodyPr wrap="square">
            <a:spAutoFit/>
          </a:bodyPr>
          <a:lstStyle/>
          <a:p>
            <a:pPr algn="l"/>
            <a:r>
              <a:rPr sz="950" b="0" i="0">
                <a:solidFill>
                  <a:srgbClr val="1A1A1A"/>
                </a:solidFill>
                <a:latin typeface="Calibri"/>
              </a:rPr>
              <a:t>Continued acid injection — strongly acidic</a:t>
            </a:r>
          </a:p>
        </p:txBody>
      </p:sp>
      <p:sp>
        <p:nvSpPr>
          <p:cNvPr id="35" name="Rectangle 34"/>
          <p:cNvSpPr/>
          <p:nvPr/>
        </p:nvSpPr>
        <p:spPr>
          <a:xfrm>
            <a:off x="320040" y="4937760"/>
            <a:ext cx="1691640" cy="6858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4983480"/>
            <a:ext cx="1508760" cy="274320"/>
          </a:xfrm>
          <a:prstGeom prst="rect">
            <a:avLst/>
          </a:prstGeom>
          <a:noFill/>
        </p:spPr>
        <p:txBody>
          <a:bodyPr wrap="square">
            <a:spAutoFit/>
          </a:bodyPr>
          <a:lstStyle/>
          <a:p>
            <a:pPr algn="l"/>
            <a:r>
              <a:rPr sz="850" b="1" i="0">
                <a:solidFill>
                  <a:srgbClr val="FFFFFF"/>
                </a:solidFill>
                <a:latin typeface="Calibri"/>
              </a:rPr>
              <a:t>t=15min  No response</a:t>
            </a:r>
          </a:p>
        </p:txBody>
      </p:sp>
      <p:sp>
        <p:nvSpPr>
          <p:cNvPr id="37" name="Rectangle 36"/>
          <p:cNvSpPr/>
          <p:nvPr/>
        </p:nvSpPr>
        <p:spPr>
          <a:xfrm>
            <a:off x="2039112" y="4937760"/>
            <a:ext cx="1005840" cy="68580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30552" y="5074920"/>
            <a:ext cx="822960" cy="365760"/>
          </a:xfrm>
          <a:prstGeom prst="rect">
            <a:avLst/>
          </a:prstGeom>
          <a:noFill/>
        </p:spPr>
        <p:txBody>
          <a:bodyPr wrap="square">
            <a:spAutoFit/>
          </a:bodyPr>
          <a:lstStyle/>
          <a:p>
            <a:pPr algn="ctr"/>
            <a:r>
              <a:rPr sz="1300" b="1" i="0">
                <a:solidFill>
                  <a:srgbClr val="FFFFFF"/>
                </a:solidFill>
                <a:latin typeface="Calibri"/>
              </a:rPr>
              <a:t>pH &lt; 3.0</a:t>
            </a:r>
          </a:p>
        </p:txBody>
      </p:sp>
      <p:sp>
        <p:nvSpPr>
          <p:cNvPr id="39" name="Rectangle 38"/>
          <p:cNvSpPr/>
          <p:nvPr/>
        </p:nvSpPr>
        <p:spPr>
          <a:xfrm>
            <a:off x="3072384" y="4937760"/>
            <a:ext cx="274320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63824" y="5074920"/>
            <a:ext cx="2560320" cy="411480"/>
          </a:xfrm>
          <a:prstGeom prst="rect">
            <a:avLst/>
          </a:prstGeom>
          <a:noFill/>
        </p:spPr>
        <p:txBody>
          <a:bodyPr wrap="square">
            <a:spAutoFit/>
          </a:bodyPr>
          <a:lstStyle/>
          <a:p>
            <a:pPr algn="l"/>
            <a:r>
              <a:rPr sz="950" b="0" i="0">
                <a:solidFill>
                  <a:srgbClr val="1A1A1A"/>
                </a:solidFill>
                <a:latin typeface="Calibri"/>
              </a:rPr>
              <a:t>Corrosive — damages UF membranes, RO membranes</a:t>
            </a:r>
          </a:p>
        </p:txBody>
      </p:sp>
      <p:sp>
        <p:nvSpPr>
          <p:cNvPr id="41" name="TextBox 40"/>
          <p:cNvSpPr txBox="1"/>
          <p:nvPr/>
        </p:nvSpPr>
        <p:spPr>
          <a:xfrm>
            <a:off x="5989320" y="1371600"/>
            <a:ext cx="5879592" cy="274320"/>
          </a:xfrm>
          <a:prstGeom prst="rect">
            <a:avLst/>
          </a:prstGeom>
          <a:noFill/>
        </p:spPr>
        <p:txBody>
          <a:bodyPr wrap="square">
            <a:spAutoFit/>
          </a:bodyPr>
          <a:lstStyle/>
          <a:p>
            <a:pPr algn="l"/>
            <a:r>
              <a:rPr sz="1200" b="1" i="0">
                <a:solidFill>
                  <a:srgbClr val="E8243C"/>
                </a:solidFill>
                <a:latin typeface="Calibri"/>
              </a:rPr>
              <a:t>Physical Consequences</a:t>
            </a:r>
          </a:p>
        </p:txBody>
      </p:sp>
      <p:sp>
        <p:nvSpPr>
          <p:cNvPr id="42" name="Rectangle 41"/>
          <p:cNvSpPr/>
          <p:nvPr/>
        </p:nvSpPr>
        <p:spPr>
          <a:xfrm>
            <a:off x="5989320" y="1719072"/>
            <a:ext cx="587959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89320" y="1719072"/>
            <a:ext cx="54864" cy="96012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53912" y="1792224"/>
            <a:ext cx="5650992" cy="274320"/>
          </a:xfrm>
          <a:prstGeom prst="rect">
            <a:avLst/>
          </a:prstGeom>
          <a:noFill/>
        </p:spPr>
        <p:txBody>
          <a:bodyPr wrap="square">
            <a:spAutoFit/>
          </a:bodyPr>
          <a:lstStyle/>
          <a:p>
            <a:pPr algn="l"/>
            <a:r>
              <a:rPr sz="1100" b="1" i="0">
                <a:solidFill>
                  <a:srgbClr val="E8243C"/>
                </a:solidFill>
                <a:latin typeface="Calibri"/>
              </a:rPr>
              <a:t>Membrane damage (P3/P5)</a:t>
            </a:r>
          </a:p>
        </p:txBody>
      </p:sp>
      <p:sp>
        <p:nvSpPr>
          <p:cNvPr id="45" name="TextBox 44"/>
          <p:cNvSpPr txBox="1"/>
          <p:nvPr/>
        </p:nvSpPr>
        <p:spPr>
          <a:xfrm>
            <a:off x="6153912" y="2103120"/>
            <a:ext cx="5650992" cy="457200"/>
          </a:xfrm>
          <a:prstGeom prst="rect">
            <a:avLst/>
          </a:prstGeom>
          <a:noFill/>
        </p:spPr>
        <p:txBody>
          <a:bodyPr wrap="square">
            <a:spAutoFit/>
          </a:bodyPr>
          <a:lstStyle/>
          <a:p>
            <a:pPr algn="l"/>
            <a:r>
              <a:rPr sz="1000" b="0" i="0">
                <a:solidFill>
                  <a:srgbClr val="1A1A1A"/>
                </a:solidFill>
                <a:latin typeface="Calibri"/>
              </a:rPr>
              <a:t>Ultrafiltration and RO membranes are rated for pH 2–13 but sustained low pH degrades polymer fibres over hours. Replacement cost: SGD 10,000–50,000 per membrane unit.</a:t>
            </a:r>
          </a:p>
        </p:txBody>
      </p:sp>
      <p:sp>
        <p:nvSpPr>
          <p:cNvPr id="46" name="Rectangle 45"/>
          <p:cNvSpPr/>
          <p:nvPr/>
        </p:nvSpPr>
        <p:spPr>
          <a:xfrm>
            <a:off x="5989320" y="2798063"/>
            <a:ext cx="587959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89320" y="2798063"/>
            <a:ext cx="54864" cy="96012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53912" y="2871215"/>
            <a:ext cx="5650992" cy="274320"/>
          </a:xfrm>
          <a:prstGeom prst="rect">
            <a:avLst/>
          </a:prstGeom>
          <a:noFill/>
        </p:spPr>
        <p:txBody>
          <a:bodyPr wrap="square">
            <a:spAutoFit/>
          </a:bodyPr>
          <a:lstStyle/>
          <a:p>
            <a:pPr algn="l"/>
            <a:r>
              <a:rPr sz="1100" b="1" i="0">
                <a:solidFill>
                  <a:srgbClr val="E65100"/>
                </a:solidFill>
                <a:latin typeface="Calibri"/>
              </a:rPr>
              <a:t>Corrosion of pipework</a:t>
            </a:r>
          </a:p>
        </p:txBody>
      </p:sp>
      <p:sp>
        <p:nvSpPr>
          <p:cNvPr id="49" name="TextBox 48"/>
          <p:cNvSpPr txBox="1"/>
          <p:nvPr/>
        </p:nvSpPr>
        <p:spPr>
          <a:xfrm>
            <a:off x="6153912" y="3182111"/>
            <a:ext cx="5650992" cy="457200"/>
          </a:xfrm>
          <a:prstGeom prst="rect">
            <a:avLst/>
          </a:prstGeom>
          <a:noFill/>
        </p:spPr>
        <p:txBody>
          <a:bodyPr wrap="square">
            <a:spAutoFit/>
          </a:bodyPr>
          <a:lstStyle/>
          <a:p>
            <a:pPr algn="l"/>
            <a:r>
              <a:rPr sz="1000" b="0" i="0">
                <a:solidFill>
                  <a:srgbClr val="1A1A1A"/>
                </a:solidFill>
                <a:latin typeface="Calibri"/>
              </a:rPr>
              <a:t>SWaT uses stainless steel and PVC pipework. Concentrated HCl below pH 3.0 corrodes stainless steel, releasing iron ions into the water stream downstream.</a:t>
            </a:r>
          </a:p>
        </p:txBody>
      </p:sp>
      <p:sp>
        <p:nvSpPr>
          <p:cNvPr id="50" name="Rectangle 49"/>
          <p:cNvSpPr/>
          <p:nvPr/>
        </p:nvSpPr>
        <p:spPr>
          <a:xfrm>
            <a:off x="5989320" y="3877056"/>
            <a:ext cx="587959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89320" y="3877056"/>
            <a:ext cx="54864" cy="9601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3912" y="3950208"/>
            <a:ext cx="5650992" cy="274320"/>
          </a:xfrm>
          <a:prstGeom prst="rect">
            <a:avLst/>
          </a:prstGeom>
          <a:noFill/>
        </p:spPr>
        <p:txBody>
          <a:bodyPr wrap="square">
            <a:spAutoFit/>
          </a:bodyPr>
          <a:lstStyle/>
          <a:p>
            <a:pPr algn="l"/>
            <a:r>
              <a:rPr sz="1100" b="1" i="0">
                <a:solidFill>
                  <a:srgbClr val="1565C0"/>
                </a:solidFill>
                <a:latin typeface="Calibri"/>
              </a:rPr>
              <a:t>Biological risk</a:t>
            </a:r>
          </a:p>
        </p:txBody>
      </p:sp>
      <p:sp>
        <p:nvSpPr>
          <p:cNvPr id="53" name="TextBox 52"/>
          <p:cNvSpPr txBox="1"/>
          <p:nvPr/>
        </p:nvSpPr>
        <p:spPr>
          <a:xfrm>
            <a:off x="6153912" y="4261104"/>
            <a:ext cx="5650992" cy="457200"/>
          </a:xfrm>
          <a:prstGeom prst="rect">
            <a:avLst/>
          </a:prstGeom>
          <a:noFill/>
        </p:spPr>
        <p:txBody>
          <a:bodyPr wrap="square">
            <a:spAutoFit/>
          </a:bodyPr>
          <a:lstStyle/>
          <a:p>
            <a:pPr algn="l"/>
            <a:r>
              <a:rPr sz="1000" b="0" i="0">
                <a:solidFill>
                  <a:srgbClr val="1A1A1A"/>
                </a:solidFill>
                <a:latin typeface="Calibri"/>
              </a:rPr>
              <a:t>If pH drops below 4.0, chlorine disinfection (NaOCl) becomes ineffective — hypochlorous acid converts to chlorine gas at low pH. Pathogen kill rate drops sharply.</a:t>
            </a:r>
          </a:p>
        </p:txBody>
      </p:sp>
      <p:sp>
        <p:nvSpPr>
          <p:cNvPr id="54" name="Rectangle 53"/>
          <p:cNvSpPr/>
          <p:nvPr/>
        </p:nvSpPr>
        <p:spPr>
          <a:xfrm>
            <a:off x="5989320" y="4956048"/>
            <a:ext cx="587959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989320" y="4956048"/>
            <a:ext cx="54864" cy="96012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53912" y="5029200"/>
            <a:ext cx="5650992" cy="274320"/>
          </a:xfrm>
          <a:prstGeom prst="rect">
            <a:avLst/>
          </a:prstGeom>
          <a:noFill/>
        </p:spPr>
        <p:txBody>
          <a:bodyPr wrap="square">
            <a:spAutoFit/>
          </a:bodyPr>
          <a:lstStyle/>
          <a:p>
            <a:pPr algn="l"/>
            <a:r>
              <a:rPr sz="1100" b="1" i="0">
                <a:solidFill>
                  <a:srgbClr val="6A1B9A"/>
                </a:solidFill>
                <a:latin typeface="Calibri"/>
              </a:rPr>
              <a:t>Downstream sensor corruption</a:t>
            </a:r>
          </a:p>
        </p:txBody>
      </p:sp>
      <p:sp>
        <p:nvSpPr>
          <p:cNvPr id="57" name="TextBox 56"/>
          <p:cNvSpPr txBox="1"/>
          <p:nvPr/>
        </p:nvSpPr>
        <p:spPr>
          <a:xfrm>
            <a:off x="6153912" y="5340096"/>
            <a:ext cx="5650992" cy="457200"/>
          </a:xfrm>
          <a:prstGeom prst="rect">
            <a:avLst/>
          </a:prstGeom>
          <a:noFill/>
        </p:spPr>
        <p:txBody>
          <a:bodyPr wrap="square">
            <a:spAutoFit/>
          </a:bodyPr>
          <a:lstStyle/>
          <a:p>
            <a:pPr algn="l"/>
            <a:r>
              <a:rPr sz="1000" b="0" i="0">
                <a:solidFill>
                  <a:srgbClr val="1A1A1A"/>
                </a:solidFill>
                <a:latin typeface="Calibri"/>
              </a:rPr>
              <a:t>AIT201 (pH), AIT202 (ORP), AIT203 (conductivity) all read out of range. If an attacker simultaneously spoofs these via Sim_PV, the control system sees nothing wrong.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CHEM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2600" b="1" i="0">
                <a:solidFill>
                  <a:srgbClr val="1A1A1A"/>
                </a:solidFill>
                <a:latin typeface="Calibri Light"/>
              </a:rPr>
              <a:t>Coordinated Chemical Attack — All Dosing Stages</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00" b="0" i="1">
                <a:solidFill>
                  <a:srgbClr val="6B6B6B"/>
                </a:solidFill>
                <a:latin typeface="Calibri"/>
              </a:rPr>
              <a:t>The same pylogix write pattern applied to P2, P4 dosing — simultaneous multi-point chemical disruption</a:t>
            </a:r>
          </a:p>
        </p:txBody>
      </p:sp>
      <p:sp>
        <p:nvSpPr>
          <p:cNvPr id="10" name="Rectangle 9"/>
          <p:cNvSpPr/>
          <p:nvPr/>
        </p:nvSpPr>
        <p:spPr>
          <a:xfrm>
            <a:off x="320040" y="1353312"/>
            <a:ext cx="11548872" cy="1536192"/>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17320"/>
            <a:ext cx="3200400" cy="274320"/>
          </a:xfrm>
          <a:prstGeom prst="rect">
            <a:avLst/>
          </a:prstGeom>
          <a:noFill/>
        </p:spPr>
        <p:txBody>
          <a:bodyPr wrap="square">
            <a:spAutoFit/>
          </a:bodyPr>
          <a:lstStyle/>
          <a:p>
            <a:pPr algn="l"/>
            <a:r>
              <a:rPr sz="1200" b="1" i="0">
                <a:solidFill>
                  <a:srgbClr val="FFFFFF"/>
                </a:solidFill>
                <a:latin typeface="Calibri"/>
              </a:rPr>
              <a:t>P2 — Pre-Treatment</a:t>
            </a:r>
          </a:p>
        </p:txBody>
      </p:sp>
      <p:sp>
        <p:nvSpPr>
          <p:cNvPr id="12" name="TextBox 11"/>
          <p:cNvSpPr txBox="1"/>
          <p:nvPr/>
        </p:nvSpPr>
        <p:spPr>
          <a:xfrm>
            <a:off x="457200" y="1719072"/>
            <a:ext cx="3200400" cy="347472"/>
          </a:xfrm>
          <a:prstGeom prst="rect">
            <a:avLst/>
          </a:prstGeom>
          <a:noFill/>
        </p:spPr>
        <p:txBody>
          <a:bodyPr wrap="square">
            <a:spAutoFit/>
          </a:bodyPr>
          <a:lstStyle/>
          <a:p>
            <a:pPr algn="l"/>
            <a:r>
              <a:rPr sz="950" b="0" i="0">
                <a:solidFill>
                  <a:srgbClr val="FFFFFF"/>
                </a:solidFill>
                <a:latin typeface="Calibri"/>
              </a:rPr>
              <a:t>Stop NaOH (P201/P202), activate HCl (P203/P204)</a:t>
            </a:r>
          </a:p>
        </p:txBody>
      </p:sp>
      <p:sp>
        <p:nvSpPr>
          <p:cNvPr id="13" name="TextBox 12"/>
          <p:cNvSpPr txBox="1"/>
          <p:nvPr/>
        </p:nvSpPr>
        <p:spPr>
          <a:xfrm>
            <a:off x="457200" y="2084832"/>
            <a:ext cx="3200400" cy="320040"/>
          </a:xfrm>
          <a:prstGeom prst="rect">
            <a:avLst/>
          </a:prstGeom>
          <a:noFill/>
        </p:spPr>
        <p:txBody>
          <a:bodyPr wrap="square">
            <a:spAutoFit/>
          </a:bodyPr>
          <a:lstStyle/>
          <a:p>
            <a:pPr algn="l"/>
            <a:r>
              <a:rPr sz="900" b="0" i="1">
                <a:solidFill>
                  <a:srgbClr val="FFFFFF"/>
                </a:solidFill>
                <a:latin typeface="Calibri"/>
              </a:rPr>
              <a:t>Chemistry: pH collapses from ~7.0 to &lt;4.0</a:t>
            </a:r>
          </a:p>
        </p:txBody>
      </p:sp>
      <p:sp>
        <p:nvSpPr>
          <p:cNvPr id="14" name="Rectangle 13"/>
          <p:cNvSpPr/>
          <p:nvPr/>
        </p:nvSpPr>
        <p:spPr>
          <a:xfrm>
            <a:off x="3749039" y="1444752"/>
            <a:ext cx="5029200" cy="13533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1490472"/>
            <a:ext cx="4846320" cy="228600"/>
          </a:xfrm>
          <a:prstGeom prst="rect">
            <a:avLst/>
          </a:prstGeom>
          <a:noFill/>
        </p:spPr>
        <p:txBody>
          <a:bodyPr wrap="square">
            <a:spAutoFit/>
          </a:bodyPr>
          <a:lstStyle/>
          <a:p>
            <a:pPr algn="l"/>
            <a:r>
              <a:rPr sz="900" b="1" i="0">
                <a:solidFill>
                  <a:srgbClr val="E8243C"/>
                </a:solidFill>
                <a:latin typeface="Calibri"/>
              </a:rPr>
              <a:t>Physical consequence:</a:t>
            </a:r>
          </a:p>
        </p:txBody>
      </p:sp>
      <p:sp>
        <p:nvSpPr>
          <p:cNvPr id="16" name="TextBox 15"/>
          <p:cNvSpPr txBox="1"/>
          <p:nvPr/>
        </p:nvSpPr>
        <p:spPr>
          <a:xfrm>
            <a:off x="3840480" y="1737360"/>
            <a:ext cx="4846320" cy="640080"/>
          </a:xfrm>
          <a:prstGeom prst="rect">
            <a:avLst/>
          </a:prstGeom>
          <a:noFill/>
        </p:spPr>
        <p:txBody>
          <a:bodyPr wrap="square">
            <a:spAutoFit/>
          </a:bodyPr>
          <a:lstStyle/>
          <a:p>
            <a:pPr algn="l"/>
            <a:r>
              <a:rPr sz="950" b="0" i="0">
                <a:solidFill>
                  <a:srgbClr val="1A1A1A"/>
                </a:solidFill>
                <a:latin typeface="Calibri"/>
              </a:rPr>
              <a:t>Corrosive water enters UF unit. Membrane fibres degrade. AIT201 alarm suppressed via Sim_PV.</a:t>
            </a:r>
          </a:p>
        </p:txBody>
      </p:sp>
      <p:sp>
        <p:nvSpPr>
          <p:cNvPr id="17" name="Rectangle 16"/>
          <p:cNvSpPr/>
          <p:nvPr/>
        </p:nvSpPr>
        <p:spPr>
          <a:xfrm>
            <a:off x="8915400" y="1444752"/>
            <a:ext cx="2953512" cy="13533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490472"/>
            <a:ext cx="2770632" cy="228600"/>
          </a:xfrm>
          <a:prstGeom prst="rect">
            <a:avLst/>
          </a:prstGeom>
          <a:noFill/>
        </p:spPr>
        <p:txBody>
          <a:bodyPr wrap="square">
            <a:spAutoFit/>
          </a:bodyPr>
          <a:lstStyle/>
          <a:p>
            <a:pPr algn="l"/>
            <a:r>
              <a:rPr sz="900" b="1" i="0">
                <a:solidFill>
                  <a:srgbClr val="6B6B6B"/>
                </a:solidFill>
                <a:latin typeface="Calibri"/>
              </a:rPr>
              <a:t>Attack tags:</a:t>
            </a:r>
          </a:p>
        </p:txBody>
      </p:sp>
      <p:sp>
        <p:nvSpPr>
          <p:cNvPr id="19" name="TextBox 18"/>
          <p:cNvSpPr txBox="1"/>
          <p:nvPr/>
        </p:nvSpPr>
        <p:spPr>
          <a:xfrm>
            <a:off x="9006840" y="1737360"/>
            <a:ext cx="2770632" cy="640080"/>
          </a:xfrm>
          <a:prstGeom prst="rect">
            <a:avLst/>
          </a:prstGeom>
          <a:noFill/>
        </p:spPr>
        <p:txBody>
          <a:bodyPr wrap="square">
            <a:spAutoFit/>
          </a:bodyPr>
          <a:lstStyle/>
          <a:p>
            <a:pPr algn="l"/>
            <a:r>
              <a:rPr sz="850" b="0" i="0">
                <a:solidFill>
                  <a:srgbClr val="1A1A1A"/>
                </a:solidFill>
                <a:latin typeface="Courier New"/>
              </a:rPr>
              <a:t>HMI_P201.Auto=False, HMI_P203.Cmd=2</a:t>
            </a:r>
          </a:p>
        </p:txBody>
      </p:sp>
      <p:sp>
        <p:nvSpPr>
          <p:cNvPr id="20" name="Rectangle 19"/>
          <p:cNvSpPr/>
          <p:nvPr/>
        </p:nvSpPr>
        <p:spPr>
          <a:xfrm>
            <a:off x="320040" y="2999232"/>
            <a:ext cx="11548872" cy="153619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063240"/>
            <a:ext cx="3200400" cy="274320"/>
          </a:xfrm>
          <a:prstGeom prst="rect">
            <a:avLst/>
          </a:prstGeom>
          <a:noFill/>
        </p:spPr>
        <p:txBody>
          <a:bodyPr wrap="square">
            <a:spAutoFit/>
          </a:bodyPr>
          <a:lstStyle/>
          <a:p>
            <a:pPr algn="l"/>
            <a:r>
              <a:rPr sz="1200" b="1" i="0">
                <a:solidFill>
                  <a:srgbClr val="FFFFFF"/>
                </a:solidFill>
                <a:latin typeface="Calibri"/>
              </a:rPr>
              <a:t>P4 — De-Chlorination</a:t>
            </a:r>
          </a:p>
        </p:txBody>
      </p:sp>
      <p:sp>
        <p:nvSpPr>
          <p:cNvPr id="22" name="TextBox 21"/>
          <p:cNvSpPr txBox="1"/>
          <p:nvPr/>
        </p:nvSpPr>
        <p:spPr>
          <a:xfrm>
            <a:off x="457200" y="3364992"/>
            <a:ext cx="3200400" cy="347472"/>
          </a:xfrm>
          <a:prstGeom prst="rect">
            <a:avLst/>
          </a:prstGeom>
          <a:noFill/>
        </p:spPr>
        <p:txBody>
          <a:bodyPr wrap="square">
            <a:spAutoFit/>
          </a:bodyPr>
          <a:lstStyle/>
          <a:p>
            <a:pPr algn="l"/>
            <a:r>
              <a:rPr sz="950" b="0" i="0">
                <a:solidFill>
                  <a:srgbClr val="FFFFFF"/>
                </a:solidFill>
                <a:latin typeface="Calibri"/>
              </a:rPr>
              <a:t>Disable UV401 (UV lamp) — stop NaHSO₃ (P401)</a:t>
            </a:r>
          </a:p>
        </p:txBody>
      </p:sp>
      <p:sp>
        <p:nvSpPr>
          <p:cNvPr id="23" name="TextBox 22"/>
          <p:cNvSpPr txBox="1"/>
          <p:nvPr/>
        </p:nvSpPr>
        <p:spPr>
          <a:xfrm>
            <a:off x="457200" y="3730752"/>
            <a:ext cx="3200400" cy="320040"/>
          </a:xfrm>
          <a:prstGeom prst="rect">
            <a:avLst/>
          </a:prstGeom>
          <a:noFill/>
        </p:spPr>
        <p:txBody>
          <a:bodyPr wrap="square">
            <a:spAutoFit/>
          </a:bodyPr>
          <a:lstStyle/>
          <a:p>
            <a:pPr algn="l"/>
            <a:r>
              <a:rPr sz="900" b="0" i="1">
                <a:solidFill>
                  <a:srgbClr val="FFFFFF"/>
                </a:solidFill>
                <a:latin typeface="Calibri"/>
              </a:rPr>
              <a:t>Chemistry: Residual chlorine not removed before RO</a:t>
            </a:r>
          </a:p>
        </p:txBody>
      </p:sp>
      <p:sp>
        <p:nvSpPr>
          <p:cNvPr id="24" name="Rectangle 23"/>
          <p:cNvSpPr/>
          <p:nvPr/>
        </p:nvSpPr>
        <p:spPr>
          <a:xfrm>
            <a:off x="3749039" y="3090672"/>
            <a:ext cx="5029200" cy="1353312"/>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0" y="3136392"/>
            <a:ext cx="4846320" cy="228600"/>
          </a:xfrm>
          <a:prstGeom prst="rect">
            <a:avLst/>
          </a:prstGeom>
          <a:noFill/>
        </p:spPr>
        <p:txBody>
          <a:bodyPr wrap="square">
            <a:spAutoFit/>
          </a:bodyPr>
          <a:lstStyle/>
          <a:p>
            <a:pPr algn="l"/>
            <a:r>
              <a:rPr sz="900" b="1" i="0">
                <a:solidFill>
                  <a:srgbClr val="E65100"/>
                </a:solidFill>
                <a:latin typeface="Calibri"/>
              </a:rPr>
              <a:t>Physical consequence:</a:t>
            </a:r>
          </a:p>
        </p:txBody>
      </p:sp>
      <p:sp>
        <p:nvSpPr>
          <p:cNvPr id="26" name="TextBox 25"/>
          <p:cNvSpPr txBox="1"/>
          <p:nvPr/>
        </p:nvSpPr>
        <p:spPr>
          <a:xfrm>
            <a:off x="3840480" y="3383280"/>
            <a:ext cx="4846320" cy="640080"/>
          </a:xfrm>
          <a:prstGeom prst="rect">
            <a:avLst/>
          </a:prstGeom>
          <a:noFill/>
        </p:spPr>
        <p:txBody>
          <a:bodyPr wrap="square">
            <a:spAutoFit/>
          </a:bodyPr>
          <a:lstStyle/>
          <a:p>
            <a:pPr algn="l"/>
            <a:r>
              <a:rPr sz="950" b="0" i="0">
                <a:solidFill>
                  <a:srgbClr val="1A1A1A"/>
                </a:solidFill>
                <a:latin typeface="Calibri"/>
              </a:rPr>
              <a:t>Chlorine attacks RO polyamide membrane — oxidative degradation within hours. Membrane becomes permeable to contaminants.</a:t>
            </a:r>
          </a:p>
        </p:txBody>
      </p:sp>
      <p:sp>
        <p:nvSpPr>
          <p:cNvPr id="27" name="Rectangle 26"/>
          <p:cNvSpPr/>
          <p:nvPr/>
        </p:nvSpPr>
        <p:spPr>
          <a:xfrm>
            <a:off x="8915400" y="3090672"/>
            <a:ext cx="2953512" cy="13533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3136392"/>
            <a:ext cx="2770632" cy="228600"/>
          </a:xfrm>
          <a:prstGeom prst="rect">
            <a:avLst/>
          </a:prstGeom>
          <a:noFill/>
        </p:spPr>
        <p:txBody>
          <a:bodyPr wrap="square">
            <a:spAutoFit/>
          </a:bodyPr>
          <a:lstStyle/>
          <a:p>
            <a:pPr algn="l"/>
            <a:r>
              <a:rPr sz="900" b="1" i="0">
                <a:solidFill>
                  <a:srgbClr val="6B6B6B"/>
                </a:solidFill>
                <a:latin typeface="Calibri"/>
              </a:rPr>
              <a:t>Attack tags:</a:t>
            </a:r>
          </a:p>
        </p:txBody>
      </p:sp>
      <p:sp>
        <p:nvSpPr>
          <p:cNvPr id="29" name="TextBox 28"/>
          <p:cNvSpPr txBox="1"/>
          <p:nvPr/>
        </p:nvSpPr>
        <p:spPr>
          <a:xfrm>
            <a:off x="9006840" y="3383280"/>
            <a:ext cx="2770632" cy="640080"/>
          </a:xfrm>
          <a:prstGeom prst="rect">
            <a:avLst/>
          </a:prstGeom>
          <a:noFill/>
        </p:spPr>
        <p:txBody>
          <a:bodyPr wrap="square">
            <a:spAutoFit/>
          </a:bodyPr>
          <a:lstStyle/>
          <a:p>
            <a:pPr algn="l"/>
            <a:r>
              <a:rPr sz="850" b="0" i="0">
                <a:solidFill>
                  <a:srgbClr val="1A1A1A"/>
                </a:solidFill>
                <a:latin typeface="Courier New"/>
              </a:rPr>
              <a:t>HMI_UV401.Auto=False, HMI_P401.Cmd=1</a:t>
            </a:r>
          </a:p>
        </p:txBody>
      </p:sp>
      <p:sp>
        <p:nvSpPr>
          <p:cNvPr id="30" name="Rectangle 29"/>
          <p:cNvSpPr/>
          <p:nvPr/>
        </p:nvSpPr>
        <p:spPr>
          <a:xfrm>
            <a:off x="320040" y="4645152"/>
            <a:ext cx="11548872" cy="153619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709160"/>
            <a:ext cx="3200400" cy="274320"/>
          </a:xfrm>
          <a:prstGeom prst="rect">
            <a:avLst/>
          </a:prstGeom>
          <a:noFill/>
        </p:spPr>
        <p:txBody>
          <a:bodyPr wrap="square">
            <a:spAutoFit/>
          </a:bodyPr>
          <a:lstStyle/>
          <a:p>
            <a:pPr algn="l"/>
            <a:r>
              <a:rPr sz="1200" b="1" i="0">
                <a:solidFill>
                  <a:srgbClr val="FFFFFF"/>
                </a:solidFill>
                <a:latin typeface="Calibri"/>
              </a:rPr>
              <a:t>P2 — Overdose scenario</a:t>
            </a:r>
          </a:p>
        </p:txBody>
      </p:sp>
      <p:sp>
        <p:nvSpPr>
          <p:cNvPr id="32" name="TextBox 31"/>
          <p:cNvSpPr txBox="1"/>
          <p:nvPr/>
        </p:nvSpPr>
        <p:spPr>
          <a:xfrm>
            <a:off x="457200" y="5010912"/>
            <a:ext cx="3200400" cy="347472"/>
          </a:xfrm>
          <a:prstGeom prst="rect">
            <a:avLst/>
          </a:prstGeom>
          <a:noFill/>
        </p:spPr>
        <p:txBody>
          <a:bodyPr wrap="square">
            <a:spAutoFit/>
          </a:bodyPr>
          <a:lstStyle/>
          <a:p>
            <a:pPr algn="l"/>
            <a:r>
              <a:rPr sz="950" b="0" i="0">
                <a:solidFill>
                  <a:srgbClr val="FFFFFF"/>
                </a:solidFill>
                <a:latin typeface="Calibri"/>
              </a:rPr>
              <a:t>Stop HCl (P203/P204), force NaOH overdose (P201/P202 at max)</a:t>
            </a:r>
          </a:p>
        </p:txBody>
      </p:sp>
      <p:sp>
        <p:nvSpPr>
          <p:cNvPr id="33" name="TextBox 32"/>
          <p:cNvSpPr txBox="1"/>
          <p:nvPr/>
        </p:nvSpPr>
        <p:spPr>
          <a:xfrm>
            <a:off x="457200" y="5376672"/>
            <a:ext cx="3200400" cy="320040"/>
          </a:xfrm>
          <a:prstGeom prst="rect">
            <a:avLst/>
          </a:prstGeom>
          <a:noFill/>
        </p:spPr>
        <p:txBody>
          <a:bodyPr wrap="square">
            <a:spAutoFit/>
          </a:bodyPr>
          <a:lstStyle/>
          <a:p>
            <a:pPr algn="l"/>
            <a:r>
              <a:rPr sz="900" b="0" i="1">
                <a:solidFill>
                  <a:srgbClr val="FFFFFF"/>
                </a:solidFill>
                <a:latin typeface="Calibri"/>
              </a:rPr>
              <a:t>Chemistry: pH spikes to &gt;10.5 — strongly alkaline</a:t>
            </a:r>
          </a:p>
        </p:txBody>
      </p:sp>
      <p:sp>
        <p:nvSpPr>
          <p:cNvPr id="34" name="Rectangle 33"/>
          <p:cNvSpPr/>
          <p:nvPr/>
        </p:nvSpPr>
        <p:spPr>
          <a:xfrm>
            <a:off x="3749039" y="4736592"/>
            <a:ext cx="5029200" cy="1353312"/>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0" y="4782312"/>
            <a:ext cx="4846320" cy="228600"/>
          </a:xfrm>
          <a:prstGeom prst="rect">
            <a:avLst/>
          </a:prstGeom>
          <a:noFill/>
        </p:spPr>
        <p:txBody>
          <a:bodyPr wrap="square">
            <a:spAutoFit/>
          </a:bodyPr>
          <a:lstStyle/>
          <a:p>
            <a:pPr algn="l"/>
            <a:r>
              <a:rPr sz="900" b="1" i="0">
                <a:solidFill>
                  <a:srgbClr val="6A1B9A"/>
                </a:solidFill>
                <a:latin typeface="Calibri"/>
              </a:rPr>
              <a:t>Physical consequence:</a:t>
            </a:r>
          </a:p>
        </p:txBody>
      </p:sp>
      <p:sp>
        <p:nvSpPr>
          <p:cNvPr id="36" name="TextBox 35"/>
          <p:cNvSpPr txBox="1"/>
          <p:nvPr/>
        </p:nvSpPr>
        <p:spPr>
          <a:xfrm>
            <a:off x="3840480" y="5029200"/>
            <a:ext cx="4846320" cy="640080"/>
          </a:xfrm>
          <a:prstGeom prst="rect">
            <a:avLst/>
          </a:prstGeom>
          <a:noFill/>
        </p:spPr>
        <p:txBody>
          <a:bodyPr wrap="square">
            <a:spAutoFit/>
          </a:bodyPr>
          <a:lstStyle/>
          <a:p>
            <a:pPr algn="l"/>
            <a:r>
              <a:rPr sz="950" b="0" i="0">
                <a:solidFill>
                  <a:srgbClr val="1A1A1A"/>
                </a:solidFill>
                <a:latin typeface="Calibri"/>
              </a:rPr>
              <a:t>Scaling on RO membranes (CaCO₃ precipitation). High pH water is corrosive to aluminium pipework and toxic if consumed. Taste and odour complaints immediately.</a:t>
            </a:r>
          </a:p>
        </p:txBody>
      </p:sp>
      <p:sp>
        <p:nvSpPr>
          <p:cNvPr id="37" name="Rectangle 36"/>
          <p:cNvSpPr/>
          <p:nvPr/>
        </p:nvSpPr>
        <p:spPr>
          <a:xfrm>
            <a:off x="8915400" y="4736592"/>
            <a:ext cx="2953512" cy="135331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4782312"/>
            <a:ext cx="2770632" cy="228600"/>
          </a:xfrm>
          <a:prstGeom prst="rect">
            <a:avLst/>
          </a:prstGeom>
          <a:noFill/>
        </p:spPr>
        <p:txBody>
          <a:bodyPr wrap="square">
            <a:spAutoFit/>
          </a:bodyPr>
          <a:lstStyle/>
          <a:p>
            <a:pPr algn="l"/>
            <a:r>
              <a:rPr sz="900" b="1" i="0">
                <a:solidFill>
                  <a:srgbClr val="6B6B6B"/>
                </a:solidFill>
                <a:latin typeface="Calibri"/>
              </a:rPr>
              <a:t>Attack tags:</a:t>
            </a:r>
          </a:p>
        </p:txBody>
      </p:sp>
      <p:sp>
        <p:nvSpPr>
          <p:cNvPr id="39" name="TextBox 38"/>
          <p:cNvSpPr txBox="1"/>
          <p:nvPr/>
        </p:nvSpPr>
        <p:spPr>
          <a:xfrm>
            <a:off x="9006840" y="5029200"/>
            <a:ext cx="2770632" cy="640080"/>
          </a:xfrm>
          <a:prstGeom prst="rect">
            <a:avLst/>
          </a:prstGeom>
          <a:noFill/>
        </p:spPr>
        <p:txBody>
          <a:bodyPr wrap="square">
            <a:spAutoFit/>
          </a:bodyPr>
          <a:lstStyle/>
          <a:p>
            <a:pPr algn="l"/>
            <a:r>
              <a:rPr sz="850" b="0" i="0">
                <a:solidFill>
                  <a:srgbClr val="1A1A1A"/>
                </a:solidFill>
                <a:latin typeface="Courier New"/>
              </a:rPr>
              <a:t>HMI_P203.Cmd=1, HMI_P201.Cmd=2 (forced 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10528"/>
            <a:ext cx="12188952"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65392"/>
            <a:ext cx="11640312" cy="219456"/>
          </a:xfrm>
          <a:prstGeom prst="rect">
            <a:avLst/>
          </a:prstGeom>
          <a:noFill/>
        </p:spPr>
        <p:txBody>
          <a:bodyPr wrap="square">
            <a:spAutoFit/>
          </a:bodyPr>
          <a:lstStyle/>
          <a:p>
            <a:pPr algn="l"/>
            <a:r>
              <a:rPr sz="800" b="0" i="0">
                <a:solidFill>
                  <a:srgbClr val="6B6B6B"/>
                </a:solidFill>
                <a:latin typeface="Calibri"/>
              </a:rPr>
              <a:t>51.508 Secure CPS  ·  SWaT Project  ·  iTrust Lab, SUTD</a:t>
            </a:r>
          </a:p>
        </p:txBody>
      </p:sp>
      <p:sp>
        <p:nvSpPr>
          <p:cNvPr id="6" name="Rectangle 5"/>
          <p:cNvSpPr/>
          <p:nvPr/>
        </p:nvSpPr>
        <p:spPr>
          <a:xfrm>
            <a:off x="320040" y="109728"/>
            <a:ext cx="1737360" cy="292608"/>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09728"/>
            <a:ext cx="1737360" cy="292608"/>
          </a:xfrm>
          <a:prstGeom prst="rect">
            <a:avLst/>
          </a:prstGeom>
          <a:noFill/>
        </p:spPr>
        <p:txBody>
          <a:bodyPr wrap="square">
            <a:spAutoFit/>
          </a:bodyPr>
          <a:lstStyle/>
          <a:p>
            <a:pPr algn="ctr"/>
            <a:r>
              <a:rPr sz="1000" b="1" i="0">
                <a:solidFill>
                  <a:srgbClr val="FFFFFF"/>
                </a:solidFill>
                <a:latin typeface="Calibri"/>
              </a:rPr>
              <a:t>CHEM IMPACT</a:t>
            </a:r>
          </a:p>
        </p:txBody>
      </p:sp>
      <p:sp>
        <p:nvSpPr>
          <p:cNvPr id="8" name="TextBox 7"/>
          <p:cNvSpPr txBox="1"/>
          <p:nvPr/>
        </p:nvSpPr>
        <p:spPr>
          <a:xfrm>
            <a:off x="320040" y="457200"/>
            <a:ext cx="11548872" cy="566928"/>
          </a:xfrm>
          <a:prstGeom prst="rect">
            <a:avLst/>
          </a:prstGeom>
          <a:noFill/>
        </p:spPr>
        <p:txBody>
          <a:bodyPr wrap="square">
            <a:spAutoFit/>
          </a:bodyPr>
          <a:lstStyle/>
          <a:p>
            <a:pPr algn="l"/>
            <a:r>
              <a:rPr sz="2800" b="1" i="0">
                <a:solidFill>
                  <a:srgbClr val="1A1A1A"/>
                </a:solidFill>
                <a:latin typeface="Calibri Light"/>
              </a:rPr>
              <a:t>Public Health Implications at Scale</a:t>
            </a:r>
          </a:p>
        </p:txBody>
      </p:sp>
      <p:sp>
        <p:nvSpPr>
          <p:cNvPr id="9" name="TextBox 8"/>
          <p:cNvSpPr txBox="1"/>
          <p:nvPr/>
        </p:nvSpPr>
        <p:spPr>
          <a:xfrm>
            <a:off x="320040" y="1005840"/>
            <a:ext cx="11548872" cy="237744"/>
          </a:xfrm>
          <a:prstGeom prst="rect">
            <a:avLst/>
          </a:prstGeom>
          <a:noFill/>
        </p:spPr>
        <p:txBody>
          <a:bodyPr wrap="square">
            <a:spAutoFit/>
          </a:bodyPr>
          <a:lstStyle/>
          <a:p>
            <a:pPr algn="l"/>
            <a:r>
              <a:rPr sz="1100" b="0" i="1">
                <a:solidFill>
                  <a:srgbClr val="6B6B6B"/>
                </a:solidFill>
                <a:latin typeface="Calibri"/>
              </a:rPr>
              <a:t>SWaT is a scaled testbed — in a real water treatment plant, these consequences affect a city</a:t>
            </a:r>
          </a:p>
        </p:txBody>
      </p:sp>
      <p:sp>
        <p:nvSpPr>
          <p:cNvPr id="10" name="Rectangle 9"/>
          <p:cNvSpPr/>
          <p:nvPr/>
        </p:nvSpPr>
        <p:spPr>
          <a:xfrm>
            <a:off x="320040" y="1353312"/>
            <a:ext cx="5760720" cy="2194560"/>
          </a:xfrm>
          <a:prstGeom prst="rect">
            <a:avLst/>
          </a:prstGeom>
          <a:solidFill>
            <a:srgbClr val="E8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44752"/>
            <a:ext cx="5394960" cy="347472"/>
          </a:xfrm>
          <a:prstGeom prst="rect">
            <a:avLst/>
          </a:prstGeom>
          <a:noFill/>
        </p:spPr>
        <p:txBody>
          <a:bodyPr wrap="square">
            <a:spAutoFit/>
          </a:bodyPr>
          <a:lstStyle/>
          <a:p>
            <a:pPr algn="l"/>
            <a:r>
              <a:rPr sz="1200" b="1" i="0">
                <a:solidFill>
                  <a:srgbClr val="FFFFFF"/>
                </a:solidFill>
                <a:latin typeface="Calibri"/>
              </a:rPr>
              <a:t>🦠  Pathogen survival</a:t>
            </a:r>
          </a:p>
        </p:txBody>
      </p:sp>
      <p:sp>
        <p:nvSpPr>
          <p:cNvPr id="12" name="TextBox 11"/>
          <p:cNvSpPr txBox="1"/>
          <p:nvPr/>
        </p:nvSpPr>
        <p:spPr>
          <a:xfrm>
            <a:off x="457200" y="1828800"/>
            <a:ext cx="5394960" cy="1600200"/>
          </a:xfrm>
          <a:prstGeom prst="rect">
            <a:avLst/>
          </a:prstGeom>
          <a:noFill/>
        </p:spPr>
        <p:txBody>
          <a:bodyPr wrap="square">
            <a:spAutoFit/>
          </a:bodyPr>
          <a:lstStyle/>
          <a:p>
            <a:pPr algn="l"/>
            <a:r>
              <a:rPr sz="950" b="0" i="0">
                <a:solidFill>
                  <a:srgbClr val="FFFFFF"/>
                </a:solidFill>
                <a:latin typeface="Calibri"/>
              </a:rPr>
              <a:t>If disinfection (NaOCl at P1) is disrupted and pH manipulation at P2 prevents effective chlorination, bacteria including E. coli, Legionella, and Cryptosporidium survive into the distribution network. Boil-water advisories affect hundreds of thousands.</a:t>
            </a:r>
          </a:p>
        </p:txBody>
      </p:sp>
      <p:sp>
        <p:nvSpPr>
          <p:cNvPr id="13" name="Rectangle 12"/>
          <p:cNvSpPr/>
          <p:nvPr/>
        </p:nvSpPr>
        <p:spPr>
          <a:xfrm>
            <a:off x="6309359" y="1353312"/>
            <a:ext cx="5760720" cy="21945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444752"/>
            <a:ext cx="5394960" cy="347472"/>
          </a:xfrm>
          <a:prstGeom prst="rect">
            <a:avLst/>
          </a:prstGeom>
          <a:noFill/>
        </p:spPr>
        <p:txBody>
          <a:bodyPr wrap="square">
            <a:spAutoFit/>
          </a:bodyPr>
          <a:lstStyle/>
          <a:p>
            <a:pPr algn="l"/>
            <a:r>
              <a:rPr sz="1200" b="1" i="0">
                <a:solidFill>
                  <a:srgbClr val="FFFFFF"/>
                </a:solidFill>
                <a:latin typeface="Calibri"/>
              </a:rPr>
              <a:t>☣️  Chemical poisoning</a:t>
            </a:r>
          </a:p>
        </p:txBody>
      </p:sp>
      <p:sp>
        <p:nvSpPr>
          <p:cNvPr id="15" name="TextBox 14"/>
          <p:cNvSpPr txBox="1"/>
          <p:nvPr/>
        </p:nvSpPr>
        <p:spPr>
          <a:xfrm>
            <a:off x="6446520" y="1828800"/>
            <a:ext cx="5394960" cy="1600200"/>
          </a:xfrm>
          <a:prstGeom prst="rect">
            <a:avLst/>
          </a:prstGeom>
          <a:noFill/>
        </p:spPr>
        <p:txBody>
          <a:bodyPr wrap="square">
            <a:spAutoFit/>
          </a:bodyPr>
          <a:lstStyle/>
          <a:p>
            <a:pPr algn="l"/>
            <a:r>
              <a:rPr sz="950" b="0" i="0">
                <a:solidFill>
                  <a:srgbClr val="FFFFFF"/>
                </a:solidFill>
                <a:latin typeface="Calibri"/>
              </a:rPr>
              <a:t>The 2021 Oldsmar attack raised NaOH to 111× normal — enough to cause chemical burns to mucous membranes if consumed. An attacker with access to P2 dosing can achieve the same effect by overdosing NaOH or HCl without any physical access to the plant.</a:t>
            </a:r>
          </a:p>
        </p:txBody>
      </p:sp>
      <p:sp>
        <p:nvSpPr>
          <p:cNvPr id="16" name="Rectangle 15"/>
          <p:cNvSpPr/>
          <p:nvPr/>
        </p:nvSpPr>
        <p:spPr>
          <a:xfrm>
            <a:off x="320040" y="3685031"/>
            <a:ext cx="5760720" cy="21945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776471"/>
            <a:ext cx="5394960" cy="347472"/>
          </a:xfrm>
          <a:prstGeom prst="rect">
            <a:avLst/>
          </a:prstGeom>
          <a:noFill/>
        </p:spPr>
        <p:txBody>
          <a:bodyPr wrap="square">
            <a:spAutoFit/>
          </a:bodyPr>
          <a:lstStyle/>
          <a:p>
            <a:pPr algn="l"/>
            <a:r>
              <a:rPr sz="1200" b="1" i="0">
                <a:solidFill>
                  <a:srgbClr val="FFFFFF"/>
                </a:solidFill>
                <a:latin typeface="Calibri"/>
              </a:rPr>
              <a:t>🏭  Infrastructure damage</a:t>
            </a:r>
          </a:p>
        </p:txBody>
      </p:sp>
      <p:sp>
        <p:nvSpPr>
          <p:cNvPr id="18" name="TextBox 17"/>
          <p:cNvSpPr txBox="1"/>
          <p:nvPr/>
        </p:nvSpPr>
        <p:spPr>
          <a:xfrm>
            <a:off x="457200" y="4160519"/>
            <a:ext cx="5394960" cy="1600200"/>
          </a:xfrm>
          <a:prstGeom prst="rect">
            <a:avLst/>
          </a:prstGeom>
          <a:noFill/>
        </p:spPr>
        <p:txBody>
          <a:bodyPr wrap="square">
            <a:spAutoFit/>
          </a:bodyPr>
          <a:lstStyle/>
          <a:p>
            <a:pPr algn="l"/>
            <a:r>
              <a:rPr sz="950" b="0" i="0">
                <a:solidFill>
                  <a:srgbClr val="FFFFFF"/>
                </a:solidFill>
                <a:latin typeface="Calibri"/>
              </a:rPr>
              <a:t>RO membranes degraded by chlorine or low pH cannot be quickly replaced — lead times of weeks to months. A city-scale plant with compromised membranes loses its primary water purification capability. Bottled water distribution and emergency supply become necessary.</a:t>
            </a:r>
          </a:p>
        </p:txBody>
      </p:sp>
      <p:sp>
        <p:nvSpPr>
          <p:cNvPr id="19" name="Rectangle 18"/>
          <p:cNvSpPr/>
          <p:nvPr/>
        </p:nvSpPr>
        <p:spPr>
          <a:xfrm>
            <a:off x="6309359" y="3685031"/>
            <a:ext cx="5760720" cy="219456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776471"/>
            <a:ext cx="5394960" cy="347472"/>
          </a:xfrm>
          <a:prstGeom prst="rect">
            <a:avLst/>
          </a:prstGeom>
          <a:noFill/>
        </p:spPr>
        <p:txBody>
          <a:bodyPr wrap="square">
            <a:spAutoFit/>
          </a:bodyPr>
          <a:lstStyle/>
          <a:p>
            <a:pPr algn="l"/>
            <a:r>
              <a:rPr sz="1200" b="1" i="0">
                <a:solidFill>
                  <a:srgbClr val="FFFFFF"/>
                </a:solidFill>
                <a:latin typeface="Calibri"/>
              </a:rPr>
              <a:t>👁️  Sensor spoofing hides all of this</a:t>
            </a:r>
          </a:p>
        </p:txBody>
      </p:sp>
      <p:sp>
        <p:nvSpPr>
          <p:cNvPr id="21" name="TextBox 20"/>
          <p:cNvSpPr txBox="1"/>
          <p:nvPr/>
        </p:nvSpPr>
        <p:spPr>
          <a:xfrm>
            <a:off x="6446520" y="4160519"/>
            <a:ext cx="5394960" cy="1600200"/>
          </a:xfrm>
          <a:prstGeom prst="rect">
            <a:avLst/>
          </a:prstGeom>
          <a:noFill/>
        </p:spPr>
        <p:txBody>
          <a:bodyPr wrap="square">
            <a:spAutoFit/>
          </a:bodyPr>
          <a:lstStyle/>
          <a:p>
            <a:pPr algn="l"/>
            <a:r>
              <a:rPr sz="950" b="0" i="0">
                <a:solidFill>
                  <a:srgbClr val="FFFFFF"/>
                </a:solidFill>
                <a:latin typeface="Calibri"/>
              </a:rPr>
              <a:t>Phase 2 of our attack spoofs AIT201 (pH), AIT202 (ORP), AIT203 (conductivity) via Sim_PV tags. The SCADA system and operators see normal readings throughout. Without a physics-based invariant checker reading actuator states directly, the attack is invisible until water quality complaints arrive — hours or days later.</a:t>
            </a:r>
          </a:p>
        </p:txBody>
      </p:sp>
      <p:sp>
        <p:nvSpPr>
          <p:cNvPr id="22" name="TextBox 21"/>
          <p:cNvSpPr txBox="1"/>
          <p:nvPr/>
        </p:nvSpPr>
        <p:spPr>
          <a:xfrm>
            <a:off x="320040" y="5989320"/>
            <a:ext cx="11548872" cy="256032"/>
          </a:xfrm>
          <a:prstGeom prst="rect">
            <a:avLst/>
          </a:prstGeom>
          <a:noFill/>
        </p:spPr>
        <p:txBody>
          <a:bodyPr wrap="square">
            <a:spAutoFit/>
          </a:bodyPr>
          <a:lstStyle/>
          <a:p>
            <a:pPr algn="ctr"/>
            <a:r>
              <a:rPr sz="1000" b="1" i="0">
                <a:solidFill>
                  <a:srgbClr val="E8243C"/>
                </a:solidFill>
                <a:latin typeface="Calibri"/>
              </a:rPr>
              <a:t>A cyberattack on water treatment is not an IT incident — it is a public health emergency.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2026-03-27T11:25:37Z</dcterms:created>
  <dcterms:modified xsi:type="dcterms:W3CDTF">2026-03-27T11:25:37Z</dcterms:modified>
</cp:coreProperties>
</file>