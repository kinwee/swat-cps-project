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3.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sp>
      <p:sp>
        <p:nvSpPr>
          <p:cNvPr id="3" name="Shape 1"/>
          <p:cNvSpPr/>
          <p:nvPr/>
        </p:nvSpPr>
        <p:spPr>
          <a:xfrm>
            <a:off x="4754880" y="0"/>
            <a:ext cx="7434072" cy="6858000"/>
          </a:xfrm>
          <a:prstGeom prst="rect">
            <a:avLst/>
          </a:prstGeom>
          <a:solidFill>
            <a:srgbClr val="FFFFFF"/>
          </a:solidFill>
          <a:ln/>
        </p:spPr>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C0392B"/>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C0392B"/>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C0392B"/>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sp>
      <p:sp>
        <p:nvSpPr>
          <p:cNvPr id="11" name="Shape 9"/>
          <p:cNvSpPr/>
          <p:nvPr/>
        </p:nvSpPr>
        <p:spPr>
          <a:xfrm>
            <a:off x="320040" y="1463040"/>
            <a:ext cx="54864" cy="630936"/>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sp>
      <p:sp>
        <p:nvSpPr>
          <p:cNvPr id="15" name="Shape 13"/>
          <p:cNvSpPr/>
          <p:nvPr/>
        </p:nvSpPr>
        <p:spPr>
          <a:xfrm>
            <a:off x="320040" y="2231136"/>
            <a:ext cx="54864" cy="630936"/>
          </a:xfrm>
          <a:prstGeom prst="rect">
            <a:avLst/>
          </a:prstGeom>
          <a:solidFill>
            <a:srgbClr val="2E7D32"/>
          </a:solidFill>
          <a:ln/>
        </p:spPr>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sp>
      <p:sp>
        <p:nvSpPr>
          <p:cNvPr id="19" name="Shape 17"/>
          <p:cNvSpPr/>
          <p:nvPr/>
        </p:nvSpPr>
        <p:spPr>
          <a:xfrm>
            <a:off x="320040" y="2999232"/>
            <a:ext cx="54864" cy="630936"/>
          </a:xfrm>
          <a:prstGeom prst="rect">
            <a:avLst/>
          </a:prstGeom>
          <a:solidFill>
            <a:srgbClr val="2E7D32"/>
          </a:solidFill>
          <a:ln/>
        </p:spPr>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sp>
      <p:sp>
        <p:nvSpPr>
          <p:cNvPr id="23" name="Shape 21"/>
          <p:cNvSpPr/>
          <p:nvPr/>
        </p:nvSpPr>
        <p:spPr>
          <a:xfrm>
            <a:off x="320040" y="3767328"/>
            <a:ext cx="54864" cy="630936"/>
          </a:xfrm>
          <a:prstGeom prst="rect">
            <a:avLst/>
          </a:prstGeom>
          <a:solidFill>
            <a:srgbClr val="2E7D32"/>
          </a:solidFill>
          <a:ln/>
        </p:spPr>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sp>
      <p:sp>
        <p:nvSpPr>
          <p:cNvPr id="27" name="Shape 25"/>
          <p:cNvSpPr/>
          <p:nvPr/>
        </p:nvSpPr>
        <p:spPr>
          <a:xfrm>
            <a:off x="320040" y="4535424"/>
            <a:ext cx="54864" cy="630936"/>
          </a:xfrm>
          <a:prstGeom prst="rect">
            <a:avLst/>
          </a:prstGeom>
          <a:solidFill>
            <a:srgbClr val="2E7D32"/>
          </a:solidFill>
          <a:ln/>
        </p:spPr>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E8243C"/>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E8243C"/>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E8243C"/>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sp>
      <p:sp>
        <p:nvSpPr>
          <p:cNvPr id="10" name="Shape 8"/>
          <p:cNvSpPr/>
          <p:nvPr/>
        </p:nvSpPr>
        <p:spPr>
          <a:xfrm>
            <a:off x="320040" y="1417320"/>
            <a:ext cx="54864" cy="1444752"/>
          </a:xfrm>
          <a:prstGeom prst="rect">
            <a:avLst/>
          </a:prstGeom>
          <a:solidFill>
            <a:srgbClr val="C0392B"/>
          </a:solidFill>
          <a:ln/>
        </p:spPr>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sp>
      <p:sp>
        <p:nvSpPr>
          <p:cNvPr id="16" name="Shape 14"/>
          <p:cNvSpPr/>
          <p:nvPr/>
        </p:nvSpPr>
        <p:spPr>
          <a:xfrm>
            <a:off x="320040" y="2990088"/>
            <a:ext cx="54864" cy="1444752"/>
          </a:xfrm>
          <a:prstGeom prst="rect">
            <a:avLst/>
          </a:prstGeom>
          <a:solidFill>
            <a:srgbClr val="C0392B"/>
          </a:solidFill>
          <a:ln/>
        </p:spPr>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sp>
      <p:sp>
        <p:nvSpPr>
          <p:cNvPr id="22" name="Shape 20"/>
          <p:cNvSpPr/>
          <p:nvPr/>
        </p:nvSpPr>
        <p:spPr>
          <a:xfrm>
            <a:off x="320040" y="4562856"/>
            <a:ext cx="54864" cy="1444752"/>
          </a:xfrm>
          <a:prstGeom prst="rect">
            <a:avLst/>
          </a:prstGeom>
          <a:solidFill>
            <a:srgbClr val="C0392B"/>
          </a:solidFill>
          <a:ln/>
        </p:spPr>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0.3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drives positive flow — catches Phase 1</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not falling rapidly</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fills or holds tank</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OFF within 2 cycles</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MV101=CLOSED</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&lt; 0.05 L/s</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flow when valve shut</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VIOLATION (attack signature)</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Impossible physics state</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P101=OFF</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non-increasing</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drains only if pump off</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P101=OFF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Both off simultaneously in normal operating range is impossible in SWaT.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976D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976D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976D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1565C0"/>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1565C0"/>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Live testbed results (16 Apr 2026) + simulated validation (test_detectors.py)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sp>
      <p:sp>
        <p:nvSpPr>
          <p:cNvPr id="11" name="Shape 9"/>
          <p:cNvSpPr/>
          <p:nvPr/>
        </p:nvSpPr>
        <p:spPr>
          <a:xfrm>
            <a:off x="320040" y="1463040"/>
            <a:ext cx="54864" cy="114300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Detection Rate (DR)</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Invariant detected cycle 1 (I-2 + I-9). I-9b/I-9c also fired but excluded (supplementary rules). 104 violation cycles. AE detection time: 10s (window fills). Simulated AE detection rate (LIT-only): 94/100 (94%). AE evasion by Phase 2: inconclusive on live (FIT101=-31 saturated AE).</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sp>
      <p:sp>
        <p:nvSpPr>
          <p:cNvPr id="15" name="Shape 13"/>
          <p:cNvSpPr/>
          <p:nvPr/>
        </p:nvSpPr>
        <p:spPr>
          <a:xfrm>
            <a:off x="320040" y="2743200"/>
            <a:ext cx="54864" cy="1143000"/>
          </a:xfrm>
          <a:prstGeom prst="rect">
            <a:avLst/>
          </a:prstGeom>
          <a:solidFill>
            <a:srgbClr val="2E7D32"/>
          </a:solidFill>
          <a:ln/>
        </p:spPr>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False Positive Rate (FPR)</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FPR: Inconclusive — plant started in attack-equivalent state (MV101=CLOSED, FIT101=-31). Invariants correctly identified unsafe config (true positive). Phase 2 concealment: 736mm gap (HMI 1345mm vs physical 502mm). Simulated: 0/500 AE false alarms (0.0%), MSE 19x below threshold.</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sp>
      <p:sp>
        <p:nvSpPr>
          <p:cNvPr id="19" name="Shape 17"/>
          <p:cNvSpPr/>
          <p:nvPr/>
        </p:nvSpPr>
        <p:spPr>
          <a:xfrm>
            <a:off x="320040" y="4023360"/>
            <a:ext cx="54864" cy="1143000"/>
          </a:xfrm>
          <a:prstGeom prst="rect">
            <a:avLst/>
          </a:prstGeom>
          <a:solidFill>
            <a:srgbClr val="2E7D32"/>
          </a:solidFill>
          <a:ln/>
        </p:spPr>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Recovery Time (RT)</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Fusion ALERT in 3s (exact match with design). Recovery writes completed &lt;5s. But safe state did not hold — Phase 1 re-injected MV101=CLOSED every cycle (write race). Plant stabilised ~30s after attack ended. Finding: containment (iptables block) must precede safe-state writes. Simulated: &lt;12s total.</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1565C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1565C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1565C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E65100"/>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E65100"/>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E65100"/>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sp>
      <p:sp>
        <p:nvSpPr>
          <p:cNvPr id="11" name="Shape 9"/>
          <p:cNvSpPr/>
          <p:nvPr/>
        </p:nvSpPr>
        <p:spPr>
          <a:xfrm>
            <a:off x="320040" y="1463040"/>
            <a:ext cx="54864" cy="1234440"/>
          </a:xfrm>
          <a:prstGeom prst="rect">
            <a:avLst/>
          </a:prstGeom>
          <a:solidFill>
            <a:srgbClr val="2E7D32"/>
          </a:solidFill>
          <a:ln/>
        </p:spPr>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sp>
      <p:sp>
        <p:nvSpPr>
          <p:cNvPr id="15" name="Shape 13"/>
          <p:cNvSpPr/>
          <p:nvPr/>
        </p:nvSpPr>
        <p:spPr>
          <a:xfrm>
            <a:off x="320040" y="2834640"/>
            <a:ext cx="54864" cy="1234440"/>
          </a:xfrm>
          <a:prstGeom prst="rect">
            <a:avLst/>
          </a:prstGeom>
          <a:solidFill>
            <a:srgbClr val="2E7D32"/>
          </a:solidFill>
          <a:ln/>
        </p:spPr>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sp>
      <p:sp>
        <p:nvSpPr>
          <p:cNvPr id="19" name="Shape 17"/>
          <p:cNvSpPr/>
          <p:nvPr/>
        </p:nvSpPr>
        <p:spPr>
          <a:xfrm>
            <a:off x="320040" y="4206240"/>
            <a:ext cx="54864" cy="1234440"/>
          </a:xfrm>
          <a:prstGeom prst="rect">
            <a:avLst/>
          </a:prstGeom>
          <a:solidFill>
            <a:srgbClr val="2E7D32"/>
          </a:solidFill>
          <a:ln/>
        </p:spPr>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sp>
      <p:sp>
        <p:nvSpPr>
          <p:cNvPr id="3" name="Shape 1"/>
          <p:cNvSpPr/>
          <p:nvPr/>
        </p:nvSpPr>
        <p:spPr>
          <a:xfrm>
            <a:off x="0" y="0"/>
            <a:ext cx="12188952" cy="64008"/>
          </a:xfrm>
          <a:prstGeom prst="rect">
            <a:avLst/>
          </a:prstGeom>
          <a:solidFill>
            <a:srgbClr val="E8243C"/>
          </a:solidFill>
          <a:ln/>
        </p:spPr>
      </p:sp>
      <p:sp>
        <p:nvSpPr>
          <p:cNvPr id="4" name="Shape 2"/>
          <p:cNvSpPr/>
          <p:nvPr/>
        </p:nvSpPr>
        <p:spPr>
          <a:xfrm>
            <a:off x="0" y="6510528"/>
            <a:ext cx="12188952" cy="347472"/>
          </a:xfrm>
          <a:prstGeom prst="rect">
            <a:avLst/>
          </a:prstGeom>
          <a:solidFill>
            <a:srgbClr val="F5F5F5"/>
          </a:solidFill>
          <a:ln/>
        </p:spPr>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