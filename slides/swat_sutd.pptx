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308" r:id="rId59"/>
    <p:sldId id="309" r:id="rId60"/>
    <p:sldId id="310" r:id="rId61"/>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2.xml"/><Relationship Id="rId38" Type="http://schemas.openxmlformats.org/officeDocument/2006/relationships/slide" Target="slides/slide43.xml"/><Relationship Id="rId39" Type="http://schemas.openxmlformats.org/officeDocument/2006/relationships/slide" Target="slides/slide44.xml"/><Relationship Id="rId40" Type="http://schemas.openxmlformats.org/officeDocument/2006/relationships/slide" Target="slides/slide45.xml"/><Relationship Id="rId41" Type="http://schemas.openxmlformats.org/officeDocument/2006/relationships/slide" Target="slides/slide46.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29.xml"/><Relationship Id="rId57" Type="http://schemas.openxmlformats.org/officeDocument/2006/relationships/slide" Target="slides/slide30.xml"/><Relationship Id="rId58" Type="http://schemas.openxmlformats.org/officeDocument/2006/relationships/slide" Target="slides/slide31.xml"/><Relationship Id="rId59" Type="http://schemas.openxmlformats.org/officeDocument/2006/relationships/slide" Target="slides/slide32.xml"/><Relationship Id="rId60" Type="http://schemas.openxmlformats.org/officeDocument/2006/relationships/slide" Target="slides/slide33.xml"/><Relationship Id="rId6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txBody>
          <a:bodyPr/>
          <a:p/>
        </p:txBody>
      </p:sp>
      <p:sp>
        <p:nvSpPr>
          <p:cNvPr id="3" name="Shape 1"/>
          <p:cNvSpPr/>
          <p:nvPr/>
        </p:nvSpPr>
        <p:spPr>
          <a:xfrm>
            <a:off x="4754880" y="0"/>
            <a:ext cx="7434072" cy="6858000"/>
          </a:xfrm>
          <a:prstGeom prst="rect">
            <a:avLst/>
          </a:prstGeom>
          <a:solidFill>
            <a:srgbClr val="FFFFFF"/>
          </a:solidFill>
          <a:ln/>
        </p:spPr>
        <p:txBody>
          <a:bodyPr/>
          <a:p/>
        </p:txBody>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txBody>
          <a:bodyPr/>
          <a:p/>
        </p:txBody>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txBody>
          <a:bodyPr/>
          <a:p/>
        </p:txBody>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txBody>
          <a:bodyPr/>
          <a:p/>
        </p:txBody>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txBody>
          <a:bodyPr/>
          <a:p/>
        </p:txBody>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txBody>
          <a:bodyPr/>
          <a:p/>
        </p:txBody>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txBody>
          <a:bodyPr/>
          <a:p/>
        </p:txBody>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txBody>
          <a:bodyPr/>
          <a:p/>
        </p:txBody>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txBody>
          <a:bodyPr/>
          <a:p/>
        </p:txBody>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txBody>
          <a:bodyPr/>
          <a:p/>
        </p:txBody>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txBody>
          <a:bodyPr/>
          <a:p/>
        </p:txBody>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txBody>
          <a:bodyPr/>
          <a:p/>
        </p:txBody>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txBody>
          <a:bodyPr/>
          <a:p/>
        </p:txBody>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txBody>
          <a:bodyPr/>
          <a:p/>
        </p:txBody>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txBody>
          <a:bodyPr/>
          <a:p/>
        </p:txBody>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txBody>
          <a:bodyPr/>
          <a:p/>
        </p:txBody>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C0392B"/>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C0392B"/>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C0392B"/>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txBody>
          <a:bodyPr/>
          <a:p/>
        </p:txBody>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txBody>
          <a:bodyPr/>
          <a:p/>
        </p:txBody>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txBody>
          <a:bodyPr/>
          <a:p/>
        </p:txBody>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txBody>
          <a:bodyPr/>
          <a:p/>
        </p:txBody>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txBody>
          <a:bodyPr/>
          <a:p/>
        </p:txBody>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txBody>
          <a:bodyPr/>
          <a:p/>
        </p:txBody>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630936"/>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231136"/>
            <a:ext cx="54864" cy="630936"/>
          </a:xfrm>
          <a:prstGeom prst="rect">
            <a:avLst/>
          </a:prstGeom>
          <a:solidFill>
            <a:srgbClr val="2E7D32"/>
          </a:solidFill>
          <a:ln/>
        </p:spPr>
        <p:txBody>
          <a:bodyPr/>
          <a:p/>
        </p:txBody>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2999232"/>
            <a:ext cx="54864" cy="630936"/>
          </a:xfrm>
          <a:prstGeom prst="rect">
            <a:avLst/>
          </a:prstGeom>
          <a:solidFill>
            <a:srgbClr val="2E7D32"/>
          </a:solidFill>
          <a:ln/>
        </p:spPr>
        <p:txBody>
          <a:bodyPr/>
          <a:p/>
        </p:txBody>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txBody>
          <a:bodyPr/>
          <a:p/>
        </p:txBody>
      </p:sp>
      <p:sp>
        <p:nvSpPr>
          <p:cNvPr id="23" name="Shape 21"/>
          <p:cNvSpPr/>
          <p:nvPr/>
        </p:nvSpPr>
        <p:spPr>
          <a:xfrm>
            <a:off x="320040" y="3767328"/>
            <a:ext cx="54864" cy="630936"/>
          </a:xfrm>
          <a:prstGeom prst="rect">
            <a:avLst/>
          </a:prstGeom>
          <a:solidFill>
            <a:srgbClr val="2E7D32"/>
          </a:solidFill>
          <a:ln/>
        </p:spPr>
        <p:txBody>
          <a:bodyPr/>
          <a:p/>
        </p:txBody>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txBody>
          <a:bodyPr/>
          <a:p/>
        </p:txBody>
      </p:sp>
      <p:sp>
        <p:nvSpPr>
          <p:cNvPr id="27" name="Shape 25"/>
          <p:cNvSpPr/>
          <p:nvPr/>
        </p:nvSpPr>
        <p:spPr>
          <a:xfrm>
            <a:off x="320040" y="4535424"/>
            <a:ext cx="54864" cy="630936"/>
          </a:xfrm>
          <a:prstGeom prst="rect">
            <a:avLst/>
          </a:prstGeom>
          <a:solidFill>
            <a:srgbClr val="2E7D32"/>
          </a:solidFill>
          <a:ln/>
        </p:spPr>
        <p:txBody>
          <a:bodyPr/>
          <a:p/>
        </p:txBody>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E8243C"/>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E8243C"/>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E8243C"/>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txBody>
          <a:bodyPr/>
          <a:p/>
        </p:txBody>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txBody>
          <a:bodyPr/>
          <a:p/>
        </p:txBody>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txBody>
          <a:bodyPr/>
          <a:p/>
        </p:txBody>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txBody>
          <a:bodyPr/>
          <a:p/>
        </p:txBody>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txBody>
          <a:bodyPr/>
          <a:p/>
        </p:txBody>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txBody>
          <a:bodyPr/>
          <a:p/>
        </p:txBody>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txBody>
          <a:bodyPr/>
          <a:p/>
        </p:txBody>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txBody>
          <a:bodyPr/>
          <a:p/>
        </p:txBody>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txBody>
          <a:bodyPr/>
          <a:p/>
        </p:txBody>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txBody>
          <a:bodyPr/>
          <a:p/>
        </p:txBody>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txBody>
          <a:bodyPr/>
          <a:p/>
        </p:txBody>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txBody>
          <a:bodyPr/>
          <a:p/>
        </p:txBody>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txBody>
          <a:bodyPr/>
          <a:p/>
        </p:txBody>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txBody>
          <a:bodyPr/>
          <a:p/>
        </p:txBody>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txBody>
          <a:bodyPr/>
          <a:p/>
        </p:txBody>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txBody>
          <a:bodyPr/>
          <a:p/>
        </p:txBody>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txBody>
          <a:bodyPr/>
          <a:p/>
        </p:txBody>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txBody>
          <a:bodyPr/>
          <a:p/>
        </p:txBody>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txBody>
          <a:bodyPr/>
          <a:p/>
        </p:txBody>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txBody>
          <a:bodyPr/>
          <a:p/>
        </p:txBody>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txBody>
          <a:bodyPr/>
          <a:p/>
        </p:txBody>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txBody>
          <a:bodyPr/>
          <a:p/>
        </p:txBody>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txBody>
          <a:bodyPr/>
          <a:p/>
        </p:txBody>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txBody>
          <a:bodyPr/>
          <a:p/>
        </p:txBody>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txBody>
          <a:bodyPr/>
          <a:p/>
        </p:txBody>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txBody>
          <a:bodyPr/>
          <a:p/>
        </p:txBody>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txBody>
          <a:bodyPr/>
          <a:p/>
        </p:txBody>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txBody>
          <a:bodyPr/>
          <a:p/>
        </p:txBody>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txBody>
          <a:bodyPr/>
          <a:p/>
        </p:txBody>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txBody>
          <a:bodyPr/>
          <a:p/>
        </p:txBody>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txBody>
          <a:bodyPr/>
          <a:p/>
        </p:txBody>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txBody>
          <a:bodyPr/>
          <a:p/>
        </p:txBody>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txBody>
          <a:bodyPr/>
          <a:p/>
        </p:txBody>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txBody>
          <a:bodyPr/>
          <a:p/>
        </p:txBody>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txBody>
          <a:bodyPr/>
          <a:p/>
        </p:txBody>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txBody>
          <a:bodyPr/>
          <a:p/>
        </p:txBody>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txBody>
          <a:bodyPr/>
          <a:p/>
        </p:txBody>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txBody>
          <a:bodyPr/>
          <a:p/>
        </p:txBody>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txBody>
          <a:bodyPr/>
          <a:p/>
        </p:txBody>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txBody>
          <a:bodyPr/>
          <a:p/>
        </p:txBody>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txBody>
          <a:bodyPr/>
          <a:p/>
        </p:txBody>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txBody>
          <a:bodyPr/>
          <a:p/>
        </p:txBody>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txBody>
          <a:bodyPr/>
          <a:p/>
        </p:txBody>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txBody>
          <a:bodyPr/>
          <a:p/>
        </p:txBody>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txBody>
          <a:bodyPr/>
          <a:p/>
        </p:txBody>
      </p:sp>
      <p:sp>
        <p:nvSpPr>
          <p:cNvPr id="10" name="Shape 8"/>
          <p:cNvSpPr/>
          <p:nvPr/>
        </p:nvSpPr>
        <p:spPr>
          <a:xfrm>
            <a:off x="320040" y="1417320"/>
            <a:ext cx="54864" cy="1444752"/>
          </a:xfrm>
          <a:prstGeom prst="rect">
            <a:avLst/>
          </a:prstGeom>
          <a:solidFill>
            <a:srgbClr val="C0392B"/>
          </a:solidFill>
          <a:ln/>
        </p:spPr>
        <p:txBody>
          <a:bodyPr/>
          <a:p/>
        </p:txBody>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txBody>
          <a:bodyPr/>
          <a:p/>
        </p:txBody>
      </p:sp>
      <p:sp>
        <p:nvSpPr>
          <p:cNvPr id="16" name="Shape 14"/>
          <p:cNvSpPr/>
          <p:nvPr/>
        </p:nvSpPr>
        <p:spPr>
          <a:xfrm>
            <a:off x="320040" y="2990088"/>
            <a:ext cx="54864" cy="1444752"/>
          </a:xfrm>
          <a:prstGeom prst="rect">
            <a:avLst/>
          </a:prstGeom>
          <a:solidFill>
            <a:srgbClr val="C0392B"/>
          </a:solidFill>
          <a:ln/>
        </p:spPr>
        <p:txBody>
          <a:bodyPr/>
          <a:p/>
        </p:txBody>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txBody>
          <a:bodyPr/>
          <a:p/>
        </p:txBody>
      </p:sp>
      <p:sp>
        <p:nvSpPr>
          <p:cNvPr id="22" name="Shape 20"/>
          <p:cNvSpPr/>
          <p:nvPr/>
        </p:nvSpPr>
        <p:spPr>
          <a:xfrm>
            <a:off x="320040" y="4562856"/>
            <a:ext cx="54864" cy="1444752"/>
          </a:xfrm>
          <a:prstGeom prst="rect">
            <a:avLst/>
          </a:prstGeom>
          <a:solidFill>
            <a:srgbClr val="C0392B"/>
          </a:solidFill>
          <a:ln/>
        </p:spPr>
        <p:txBody>
          <a:bodyPr/>
          <a:p/>
        </p:txBody>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txBody>
          <a:bodyPr/>
          <a:p/>
        </p:txBody>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txBody>
          <a:bodyPr/>
          <a:p/>
        </p:txBody>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txBody>
          <a:bodyPr/>
          <a:p/>
        </p:txBody>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txBody>
          <a:bodyPr/>
          <a:p/>
        </p:txBody>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txBody>
          <a:bodyPr/>
          <a:p/>
        </p:txBody>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txBody>
          <a:bodyPr/>
          <a:p/>
        </p:txBody>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txBody>
          <a:bodyPr/>
          <a:p/>
        </p:txBody>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txBody>
          <a:bodyPr/>
          <a:p/>
        </p:txBody>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txBody>
          <a:bodyPr/>
          <a:p/>
        </p:txBody>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txBody>
          <a:bodyPr/>
          <a:p/>
        </p:txBody>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txBody>
          <a:bodyPr/>
          <a:p/>
        </p:txBody>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txBody>
          <a:bodyPr/>
          <a:p/>
        </p:txBody>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txBody>
          <a:bodyPr/>
          <a:p/>
        </p:txBody>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txBody>
          <a:bodyPr/>
          <a:p/>
        </p:txBody>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txBody>
          <a:bodyPr/>
          <a:p/>
        </p:txBody>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txBody>
          <a:bodyPr/>
          <a:p/>
        </p:txBody>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txBody>
          <a:bodyPr/>
          <a:p/>
        </p:txBody>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txBody>
          <a:bodyPr/>
          <a:p/>
        </p:txBody>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976D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976D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976D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txBody>
          <a:bodyPr/>
          <a:p/>
        </p:txBody>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txBody>
          <a:bodyPr/>
          <a:p/>
        </p:txBody>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txBody>
          <a:bodyPr/>
          <a:p/>
        </p:txBody>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txBody>
          <a:bodyPr/>
          <a:p/>
        </p:txBody>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txBody>
          <a:bodyPr/>
          <a:p/>
        </p:txBody>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txBody>
          <a:bodyPr/>
          <a:p/>
        </p:txBody>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txBody>
          <a:bodyPr/>
          <a:p/>
        </p:txBody>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txBody>
          <a:bodyPr/>
          <a:p/>
        </p:txBody>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txBody>
          <a:bodyPr/>
          <a:p/>
        </p:txBody>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txBody>
          <a:bodyPr/>
          <a:p/>
        </p:txBody>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txBody>
          <a:bodyPr/>
          <a:p/>
        </p:txBody>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txBody>
          <a:bodyPr/>
          <a:p/>
        </p:txBody>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txBody>
          <a:bodyPr/>
          <a:p/>
        </p:txBody>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txBody>
          <a:bodyPr/>
          <a:p/>
        </p:txBody>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txBody>
          <a:bodyPr/>
          <a:p/>
        </p:txBody>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txBody>
          <a:bodyPr/>
          <a:p/>
        </p:txBody>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txBody>
          <a:bodyPr/>
          <a:p/>
        </p:txBody>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txBody>
          <a:bodyPr/>
          <a:p/>
        </p:txBody>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txBody>
          <a:bodyPr/>
          <a:p/>
        </p:txBody>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txBody>
          <a:bodyPr/>
          <a:p/>
        </p:txBody>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txBody>
          <a:bodyPr/>
          <a:p/>
        </p:txBody>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txBody>
          <a:bodyPr/>
          <a:p/>
        </p:txBody>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txBody>
          <a:bodyPr/>
          <a:p/>
        </p:txBody>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txBody>
          <a:bodyPr/>
          <a:p/>
        </p:txBody>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txBody>
          <a:bodyPr/>
          <a:p/>
        </p:txBody>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txBody>
          <a:bodyPr/>
          <a:p/>
        </p:txBody>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txBody>
          <a:bodyPr/>
          <a:p/>
        </p:txBody>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txBody>
          <a:bodyPr/>
          <a:p/>
        </p:txBody>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txBody>
          <a:bodyPr/>
          <a:p/>
        </p:txBody>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txBody>
          <a:bodyPr/>
          <a:p/>
        </p:txBody>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txBody>
          <a:bodyPr/>
          <a:p/>
        </p:txBody>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txBody>
          <a:bodyPr/>
          <a:p/>
        </p:txBody>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txBody>
          <a:bodyPr/>
          <a:p/>
        </p:txBody>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2E7D3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(before fix, feedback loop). After fix: ~107mm (HMI ~609mm vs physical ~502mm) — invisible to operator.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2E7D3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629"/>
                        <a:t>Inconclusive (old AE used FIT101=-31).
LIT-only AE: 94/100 (94%)</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800"/>
                        <a:t>736mm (before fix: feedback loop).
After fix: ~107mm true concealment</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629"/>
                        <a:t>0/500 (0.0%)
Mean MSE=0.000039
Threshold=0.000738 (19× margin)</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b="0">
                          <a:solidFill>
                            <a:srgbClr val="333333"/>
                          </a:solidFill>
                        </a:rPr>
                        <a:t>Completed: MV101, P101,
MV201, Sim disabled</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629"/>
                        <a:t>~30s (write race with Phase 1)
Fixed: --once mode eliminates race</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Why Plants Need Invariant-Based Detection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Industry gap: network monitoring is not enough — the process layer is undefended</a:t>
            </a:r>
          </a:p>
        </p:txBody>
      </p:sp>
      <p:sp>
        <p:nvSpPr>
          <p:cNvPr id="5" name="TextBox 4"/>
          <p:cNvSpPr txBox="1"/>
          <p:nvPr/>
        </p:nvSpPr>
        <p:spPr>
          <a:xfrm>
            <a:off x="365760" y="1097280"/>
            <a:ext cx="8229600" cy="274320"/>
          </a:xfrm>
          <a:prstGeom prst="rect">
            <a:avLst/>
          </a:prstGeom>
          <a:noFill/>
        </p:spPr>
        <p:txBody>
          <a:bodyPr wrap="square">
            <a:spAutoFit/>
          </a:bodyPr>
          <a:lstStyle/>
          <a:p>
            <a:r>
              <a:rPr sz="1300" b="1">
                <a:solidFill>
                  <a:srgbClr val="2E75B6"/>
                </a:solidFill>
              </a:rPr>
              <a:t>Commercial OT Security (Claroty, Nozomi, Dragos)</a:t>
            </a:r>
          </a:p>
        </p:txBody>
      </p:sp>
      <p:sp>
        <p:nvSpPr>
          <p:cNvPr id="6" name="TextBox 5"/>
          <p:cNvSpPr txBox="1"/>
          <p:nvPr/>
        </p:nvSpPr>
        <p:spPr>
          <a:xfrm>
            <a:off x="365760" y="1371600"/>
            <a:ext cx="8229600" cy="822960"/>
          </a:xfrm>
          <a:prstGeom prst="rect">
            <a:avLst/>
          </a:prstGeom>
          <a:noFill/>
        </p:spPr>
        <p:txBody>
          <a:bodyPr wrap="square">
            <a:spAutoFit/>
          </a:bodyPr>
          <a:lstStyle/>
          <a:p>
            <a:r>
              <a:rPr sz="900" b="0">
                <a:solidFill>
                  <a:srgbClr val="444444"/>
                </a:solidFill>
              </a:rPr>
              <a:t>These platforms monitor network traffic — baselining CIP/Modbus/OPC-UA patterns and alerting on deviations (new connections, unusual commands, protocol violations). They do not model the physical process. A legitimate CIP write from the HMI to the PLC would not be flagged — the protocol is valid. Our Phase 1 attack exploits exactly this gap: the commands are syntactically correct CIP writes that happen to drive the plant into an unsafe state.</a:t>
            </a:r>
          </a:p>
        </p:txBody>
      </p:sp>
      <p:sp>
        <p:nvSpPr>
          <p:cNvPr id="7" name="TextBox 6"/>
          <p:cNvSpPr txBox="1"/>
          <p:nvPr/>
        </p:nvSpPr>
        <p:spPr>
          <a:xfrm>
            <a:off x="365760" y="2286000"/>
            <a:ext cx="8229600" cy="274320"/>
          </a:xfrm>
          <a:prstGeom prst="rect">
            <a:avLst/>
          </a:prstGeom>
          <a:noFill/>
        </p:spPr>
        <p:txBody>
          <a:bodyPr wrap="square">
            <a:spAutoFit/>
          </a:bodyPr>
          <a:lstStyle/>
          <a:p>
            <a:r>
              <a:rPr sz="1300" b="1">
                <a:solidFill>
                  <a:srgbClr val="2E75B6"/>
                </a:solidFill>
              </a:rPr>
              <a:t>Academic Research: Autoencoders Dominate, Invariants Under-Explored</a:t>
            </a:r>
          </a:p>
        </p:txBody>
      </p:sp>
      <p:sp>
        <p:nvSpPr>
          <p:cNvPr id="8" name="TextBox 7"/>
          <p:cNvSpPr txBox="1"/>
          <p:nvPr/>
        </p:nvSpPr>
        <p:spPr>
          <a:xfrm>
            <a:off x="365760" y="2560320"/>
            <a:ext cx="8229600" cy="822960"/>
          </a:xfrm>
          <a:prstGeom prst="rect">
            <a:avLst/>
          </a:prstGeom>
          <a:noFill/>
        </p:spPr>
        <p:txBody>
          <a:bodyPr wrap="square">
            <a:spAutoFit/>
          </a:bodyPr>
          <a:lstStyle/>
          <a:p>
            <a:r>
              <a:rPr sz="900" b="0">
                <a:solidFill>
                  <a:srgbClr val="444444"/>
                </a:solidFill>
              </a:rPr>
              <a:t>The SWaT dataset has spawned dozens of autoencoder studies (VAE, LSTM-AE, DAE). ML-based detection is well understood. Physics-based invariants (Adepu &amp; Mathur 2016) remain niche because they require plant-specific domain knowledge — engineers must read the P&amp;ID and derive rules. But Castellanos et al. (2020) showed autoencoders can be evaded at 94% with adversarial perturbation. Our live run showed the AE can also be blinded by a single sensor fault (FIT101=-31 → MSE=367, 500,000× above threshold).</a:t>
            </a:r>
          </a:p>
        </p:txBody>
      </p:sp>
      <p:sp>
        <p:nvSpPr>
          <p:cNvPr id="9" name="TextBox 8"/>
          <p:cNvSpPr txBox="1"/>
          <p:nvPr/>
        </p:nvSpPr>
        <p:spPr>
          <a:xfrm>
            <a:off x="365760" y="3474720"/>
            <a:ext cx="8229600" cy="274320"/>
          </a:xfrm>
          <a:prstGeom prst="rect">
            <a:avLst/>
          </a:prstGeom>
          <a:noFill/>
        </p:spPr>
        <p:txBody>
          <a:bodyPr wrap="square">
            <a:spAutoFit/>
          </a:bodyPr>
          <a:lstStyle/>
          <a:p>
            <a:r>
              <a:rPr sz="1300" b="1">
                <a:solidFill>
                  <a:srgbClr val="2E75B6"/>
                </a:solidFill>
              </a:rPr>
              <a:t>Our Key Recommendation</a:t>
            </a:r>
          </a:p>
        </p:txBody>
      </p:sp>
      <p:sp>
        <p:nvSpPr>
          <p:cNvPr id="10" name="TextBox 9"/>
          <p:cNvSpPr txBox="1"/>
          <p:nvPr/>
        </p:nvSpPr>
        <p:spPr>
          <a:xfrm>
            <a:off x="365760" y="3749039"/>
            <a:ext cx="8229600" cy="914400"/>
          </a:xfrm>
          <a:prstGeom prst="rect">
            <a:avLst/>
          </a:prstGeom>
          <a:noFill/>
        </p:spPr>
        <p:txBody>
          <a:bodyPr wrap="square">
            <a:spAutoFit/>
          </a:bodyPr>
          <a:lstStyle/>
          <a:p>
            <a:r>
              <a:rPr sz="900" b="0">
                <a:solidFill>
                  <a:srgbClr val="444444"/>
                </a:solidFill>
              </a:rPr>
              <a:t>Plants should incorporate invariant-based detection alongside existing ML and network monitoring. Invariants detected our attack in 1 cycle — every time, live and simulated, regardless of AE status. Three advantages: (1) Explainability — operators know exactly which physics rule was violated. (2) Robustness — deterministic boolean checks on actuator state, immune to sensor spoofing and faults. (3) Simplicity — 73 lines of Python, no model files, no training data, no GPU. Autoencoders are well studied; what is missing from most deployed ICS security is the invariant layer.</a:t>
            </a:r>
          </a:p>
        </p:txBody>
      </p:sp>
      <p:sp>
        <p:nvSpPr>
          <p:cNvPr id="11" name="TextBox 10"/>
          <p:cNvSpPr txBox="1"/>
          <p:nvPr/>
        </p:nvSpPr>
        <p:spPr>
          <a:xfrm>
            <a:off x="365760" y="4754880"/>
            <a:ext cx="8229600" cy="274320"/>
          </a:xfrm>
          <a:prstGeom prst="rect">
            <a:avLst/>
          </a:prstGeom>
          <a:noFill/>
        </p:spPr>
        <p:txBody>
          <a:bodyPr wrap="square">
            <a:spAutoFit/>
          </a:bodyPr>
          <a:lstStyle/>
          <a:p>
            <a:r>
              <a:rPr sz="1300" b="1">
                <a:solidFill>
                  <a:srgbClr val="2E75B6"/>
                </a:solidFill>
              </a:rPr>
              <a:t>The Hybrid Architecture</a:t>
            </a:r>
          </a:p>
        </p:txBody>
      </p:sp>
      <p:sp>
        <p:nvSpPr>
          <p:cNvPr id="12" name="TextBox 11"/>
          <p:cNvSpPr txBox="1"/>
          <p:nvPr/>
        </p:nvSpPr>
        <p:spPr>
          <a:xfrm>
            <a:off x="365760" y="5029200"/>
            <a:ext cx="8229600" cy="822960"/>
          </a:xfrm>
          <a:prstGeom prst="rect">
            <a:avLst/>
          </a:prstGeom>
          <a:noFill/>
        </p:spPr>
        <p:txBody>
          <a:bodyPr wrap="square">
            <a:spAutoFit/>
          </a:bodyPr>
          <a:lstStyle/>
          <a:p>
            <a:r>
              <a:rPr sz="900" b="0">
                <a:solidFill>
                  <a:srgbClr val="444444"/>
                </a:solidFill>
              </a:rPr>
              <a:t>Invariants alone cannot catch every attack — they require known physics rules and cannot detect novel subtle anomalies. The ML layer complements by generalising to unseen patterns. The hybrid (invariant + AE + fusion) provides defence in depth: the invariant layer catches attacks that evade or saturate the ML layer, and the ML layer catches anomalies that don't violate any single rule. Neither approach is sufficient alone; together they are robust.</a:t>
            </a:r>
          </a:p>
        </p:txBody>
      </p:sp>
      <p:sp>
        <p:nvSpPr>
          <p:cNvPr id="13" name="TextBox 12"/>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Scalability of Invariant Generation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From manual engineering to automated LLM-driven extraction</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2E75B6"/>
                </a:solidFill>
              </a:rPr>
              <a:t>Gen 1 — Manual Derivation (Adepu &amp; Mathur 2016, our approach)</a:t>
            </a:r>
          </a:p>
        </p:txBody>
      </p:sp>
      <p:sp>
        <p:nvSpPr>
          <p:cNvPr id="6" name="TextBox 5"/>
          <p:cNvSpPr txBox="1"/>
          <p:nvPr/>
        </p:nvSpPr>
        <p:spPr>
          <a:xfrm>
            <a:off x="365760" y="1280160"/>
            <a:ext cx="8229600" cy="640080"/>
          </a:xfrm>
          <a:prstGeom prst="rect">
            <a:avLst/>
          </a:prstGeom>
          <a:noFill/>
        </p:spPr>
        <p:txBody>
          <a:bodyPr wrap="square">
            <a:spAutoFit/>
          </a:bodyPr>
          <a:lstStyle/>
          <a:p>
            <a:r>
              <a:rPr sz="900" b="0">
                <a:solidFill>
                  <a:srgbClr val="444444"/>
                </a:solidFill>
              </a:rPr>
              <a:t>Engineers read the P&amp;ID and write physics rules by hand. Our 9 invariants for SWaT P1 required domain knowledge of tank hydraulics, valve/pump relationships, and flow sensor behaviour. Effective but costly, error-prone, and doesn't scale. Adepu &amp; Mathur noted deriving chemical invariants (reagent concentrations, reaction rates) is extremely difficult.</a:t>
            </a:r>
          </a:p>
        </p:txBody>
      </p:sp>
      <p:sp>
        <p:nvSpPr>
          <p:cNvPr id="7" name="TextBox 6"/>
          <p:cNvSpPr txBox="1"/>
          <p:nvPr/>
        </p:nvSpPr>
        <p:spPr>
          <a:xfrm>
            <a:off x="365760" y="2011680"/>
            <a:ext cx="8229600" cy="228600"/>
          </a:xfrm>
          <a:prstGeom prst="rect">
            <a:avLst/>
          </a:prstGeom>
          <a:noFill/>
        </p:spPr>
        <p:txBody>
          <a:bodyPr wrap="square">
            <a:spAutoFit/>
          </a:bodyPr>
          <a:lstStyle/>
          <a:p>
            <a:r>
              <a:rPr sz="1200" b="1">
                <a:solidFill>
                  <a:srgbClr val="2E75B6"/>
                </a:solidFill>
              </a:rPr>
              <a:t>Gen 2 — Data-Driven Mining (Feng et al., NDSS 2019; SAIN 2024; Swarm Intelligence 2024)</a:t>
            </a:r>
          </a:p>
        </p:txBody>
      </p:sp>
      <p:sp>
        <p:nvSpPr>
          <p:cNvPr id="8" name="TextBox 7"/>
          <p:cNvSpPr txBox="1"/>
          <p:nvPr/>
        </p:nvSpPr>
        <p:spPr>
          <a:xfrm>
            <a:off x="365760" y="2240280"/>
            <a:ext cx="8229600" cy="822960"/>
          </a:xfrm>
          <a:prstGeom prst="rect">
            <a:avLst/>
          </a:prstGeom>
          <a:noFill/>
        </p:spPr>
        <p:txBody>
          <a:bodyPr wrap="square">
            <a:spAutoFit/>
          </a:bodyPr>
          <a:lstStyle/>
          <a:p>
            <a:r>
              <a:rPr sz="900" b="0">
                <a:solidFill>
                  <a:srgbClr val="444444"/>
                </a:solidFill>
              </a:rPr>
              <a:t>Feng et al.: automated framework mining invariant rules from normal operation data logs. Generated 195 predicates on SWaT — far larger than manual sets, with better detection. Limitation: binarises numeric data, producing coarse-grained rules; lacks semantic understanding. SAIN (2024): state-aware invariants with tighter per-state bounds — 2% FPR, 3% runtime overhead. Swarm Intelligence (2024): particle swarm optimisation mines numerical association rules — 84%+ detection, zero FP on single-stage attacks.</a:t>
            </a:r>
          </a:p>
        </p:txBody>
      </p:sp>
      <p:sp>
        <p:nvSpPr>
          <p:cNvPr id="9" name="TextBox 8"/>
          <p:cNvSpPr txBox="1"/>
          <p:nvPr/>
        </p:nvSpPr>
        <p:spPr>
          <a:xfrm>
            <a:off x="365760" y="3200400"/>
            <a:ext cx="8229600" cy="228600"/>
          </a:xfrm>
          <a:prstGeom prst="rect">
            <a:avLst/>
          </a:prstGeom>
          <a:noFill/>
        </p:spPr>
        <p:txBody>
          <a:bodyPr wrap="square">
            <a:spAutoFit/>
          </a:bodyPr>
          <a:lstStyle/>
          <a:p>
            <a:r>
              <a:rPr sz="1200" b="1">
                <a:solidFill>
                  <a:srgbClr val="2E75B6"/>
                </a:solidFill>
              </a:rPr>
              <a:t>Gen 3 — LLM-Assisted Extraction (InvarLLM, NDSS 2025)</a:t>
            </a:r>
          </a:p>
        </p:txBody>
      </p:sp>
      <p:sp>
        <p:nvSpPr>
          <p:cNvPr id="10" name="TextBox 9"/>
          <p:cNvSpPr txBox="1"/>
          <p:nvPr/>
        </p:nvSpPr>
        <p:spPr>
          <a:xfrm>
            <a:off x="365760" y="3429000"/>
            <a:ext cx="8229600" cy="822960"/>
          </a:xfrm>
          <a:prstGeom prst="rect">
            <a:avLst/>
          </a:prstGeom>
          <a:noFill/>
        </p:spPr>
        <p:txBody>
          <a:bodyPr wrap="square">
            <a:spAutoFit/>
          </a:bodyPr>
          <a:lstStyle/>
          <a:p>
            <a:r>
              <a:rPr sz="900" b="0">
                <a:solidFill>
                  <a:srgbClr val="444444"/>
                </a:solidFill>
              </a:rPr>
              <a:t>LLMs read CPS documentation (P&amp;IDs, component specs, control logic) and generate candidate invariants using chain-of-thought prompting. Validated against real system logs via statistical methods. On SWaT: 100% precision, 0 false positives, 29 true positives. On WADI: 13 TP, 0 FP. Key advantage: leverages documentation every plant already has — no sensor data or domain expertise required. Makes invariant-based detection as easy to deploy as training an autoencoder.</a:t>
            </a:r>
          </a:p>
        </p:txBody>
      </p:sp>
      <p:sp>
        <p:nvSpPr>
          <p:cNvPr id="11" name="TextBox 10"/>
          <p:cNvSpPr txBox="1"/>
          <p:nvPr/>
        </p:nvSpPr>
        <p:spPr>
          <a:xfrm>
            <a:off x="365760" y="4389120"/>
            <a:ext cx="8229600" cy="228600"/>
          </a:xfrm>
          <a:prstGeom prst="rect">
            <a:avLst/>
          </a:prstGeom>
          <a:noFill/>
        </p:spPr>
        <p:txBody>
          <a:bodyPr wrap="square">
            <a:spAutoFit/>
          </a:bodyPr>
          <a:lstStyle/>
          <a:p>
            <a:r>
              <a:rPr sz="1200" b="1">
                <a:solidFill>
                  <a:srgbClr val="2E75B6"/>
                </a:solidFill>
              </a:rPr>
              <a:t>Takeaway for Industry</a:t>
            </a:r>
          </a:p>
        </p:txBody>
      </p:sp>
      <p:sp>
        <p:nvSpPr>
          <p:cNvPr id="12" name="TextBox 11"/>
          <p:cNvSpPr txBox="1"/>
          <p:nvPr/>
        </p:nvSpPr>
        <p:spPr>
          <a:xfrm>
            <a:off x="365760" y="4617720"/>
            <a:ext cx="8229600" cy="1005840"/>
          </a:xfrm>
          <a:prstGeom prst="rect">
            <a:avLst/>
          </a:prstGeom>
          <a:noFill/>
        </p:spPr>
        <p:txBody>
          <a:bodyPr wrap="square">
            <a:spAutoFit/>
          </a:bodyPr>
          <a:lstStyle/>
          <a:p>
            <a:r>
              <a:rPr sz="900" b="0">
                <a:solidFill>
                  <a:srgbClr val="444444"/>
                </a:solidFill>
              </a:rPr>
              <a:t>The barrier to adopting invariant-based detection is dropping rapidly. Within the next few years, an LLM could read a plant's engineering documentation, generate physics-based invariants, validate them against a few days of normal operation data, and deploy as a monitoring layer — all with minimal human intervention. Combined with our live testbed evidence that invariants detect attacks within 1 cycle (immune to both adversarial evasion and sensor faults), this makes invariant-based detection a practical and essential addition to any ICS defence architecture.</a:t>
            </a:r>
          </a:p>
        </p:txBody>
      </p:sp>
      <p:sp>
        <p:nvSpPr>
          <p:cNvPr id="13" name="TextBox 12"/>
          <p:cNvSpPr txBox="1"/>
          <p:nvPr/>
        </p:nvSpPr>
        <p:spPr>
          <a:xfrm>
            <a:off x="365760" y="5760720"/>
            <a:ext cx="3657600" cy="457200"/>
          </a:xfrm>
          <a:prstGeom prst="rect">
            <a:avLst/>
          </a:prstGeom>
          <a:noFill/>
        </p:spPr>
        <p:txBody>
          <a:bodyPr wrap="square">
            <a:spAutoFit/>
          </a:bodyPr>
          <a:lstStyle/>
          <a:p>
            <a:r>
              <a:rPr sz="700" b="0">
                <a:solidFill>
                  <a:srgbClr val="888888"/>
                </a:solidFill>
              </a:rPr>
              <a:t>References: [7] Feng et al. NDSS 2019  [10] InvarLLM NDSS 2025  [11] SAIN CCS 2024  [12] Swarm Intelligence 2024</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Write Race Problem + Single-Shot Remediation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Why recovery couldn't hold, and how we fixed it</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CC3333"/>
                </a:solidFill>
              </a:rPr>
              <a:t>The Problem: Write Race (16 April demo)</a:t>
            </a:r>
          </a:p>
        </p:txBody>
      </p:sp>
      <p:sp>
        <p:nvSpPr>
          <p:cNvPr id="6" name="TextBox 5"/>
          <p:cNvSpPr txBox="1"/>
          <p:nvPr/>
        </p:nvSpPr>
        <p:spPr>
          <a:xfrm>
            <a:off x="365760" y="1280160"/>
            <a:ext cx="8229600" cy="731520"/>
          </a:xfrm>
          <a:prstGeom prst="rect">
            <a:avLst/>
          </a:prstGeom>
          <a:noFill/>
        </p:spPr>
        <p:txBody>
          <a:bodyPr wrap="square">
            <a:spAutoFit/>
          </a:bodyPr>
          <a:lstStyle/>
          <a:p>
            <a:r>
              <a:rPr sz="900" b="0">
                <a:solidFill>
                  <a:srgbClr val="444444"/>
                </a:solidFill>
              </a:rPr>
              <a:t>Phase 1 wrote MV101=CLOSED every second for 120s. Recovery wrote MV101=OPEN once and exited. Phase 1 immediately overwrote it — recovery lost the race. Plant only stabilised after Phase 1's timer elapsed. Root cause: both ran on the same HMI, so iptables containment couldn't block the attacker (can't firewall yourself).</a:t>
            </a:r>
          </a:p>
        </p:txBody>
      </p:sp>
      <p:sp>
        <p:nvSpPr>
          <p:cNvPr id="7" name="TextBox 6"/>
          <p:cNvSpPr txBox="1"/>
          <p:nvPr/>
        </p:nvSpPr>
        <p:spPr>
          <a:xfrm>
            <a:off x="365760" y="2103120"/>
            <a:ext cx="8229600" cy="228600"/>
          </a:xfrm>
          <a:prstGeom prst="rect">
            <a:avLst/>
          </a:prstGeom>
          <a:noFill/>
        </p:spPr>
        <p:txBody>
          <a:bodyPr wrap="square">
            <a:spAutoFit/>
          </a:bodyPr>
          <a:lstStyle/>
          <a:p>
            <a:r>
              <a:rPr sz="1200" b="1">
                <a:solidFill>
                  <a:srgbClr val="2E75B6"/>
                </a:solidFill>
              </a:rPr>
              <a:t>Remediation: Single-Shot Attack Mode (--once)</a:t>
            </a:r>
          </a:p>
        </p:txBody>
      </p:sp>
      <p:sp>
        <p:nvSpPr>
          <p:cNvPr id="8" name="TextBox 7"/>
          <p:cNvSpPr txBox="1"/>
          <p:nvPr/>
        </p:nvSpPr>
        <p:spPr>
          <a:xfrm>
            <a:off x="365760" y="2331720"/>
            <a:ext cx="8229600" cy="822960"/>
          </a:xfrm>
          <a:prstGeom prst="rect">
            <a:avLst/>
          </a:prstGeom>
          <a:noFill/>
        </p:spPr>
        <p:txBody>
          <a:bodyPr wrap="square">
            <a:spAutoFit/>
          </a:bodyPr>
          <a:lstStyle/>
          <a:p>
            <a:r>
              <a:rPr sz="900" b="0">
                <a:solidFill>
                  <a:srgbClr val="444444"/>
                </a:solidFill>
              </a:rPr>
              <a:t>A realistic stealthy attacker writes commands once (Auto=False, Cmd=1) and exits — no persistent connection. With Auto=False, PLC ladder logic won't overwrite the injected command. Attack persists without attacker presence. Defence detects → fusion ALERT → recovery writes safe state UNCONTESTED → recovery holds. No write race. Clean measurement of detection time, fusion latency, and recovery duration.</a:t>
            </a:r>
          </a:p>
        </p:txBody>
      </p:sp>
      <p:sp>
        <p:nvSpPr>
          <p:cNvPr id="9" name="TextBox 8"/>
          <p:cNvSpPr txBox="1"/>
          <p:nvPr/>
        </p:nvSpPr>
        <p:spPr>
          <a:xfrm>
            <a:off x="365760" y="3246120"/>
            <a:ext cx="8229600" cy="228600"/>
          </a:xfrm>
          <a:prstGeom prst="rect">
            <a:avLst/>
          </a:prstGeom>
          <a:noFill/>
        </p:spPr>
        <p:txBody>
          <a:bodyPr wrap="square">
            <a:spAutoFit/>
          </a:bodyPr>
          <a:lstStyle/>
          <a:p>
            <a:r>
              <a:rPr sz="1200" b="1">
                <a:solidFill>
                  <a:srgbClr val="2E75B6"/>
                </a:solidFill>
              </a:rPr>
              <a:t>Production Architecture: Physical Separation</a:t>
            </a:r>
          </a:p>
        </p:txBody>
      </p:sp>
      <p:sp>
        <p:nvSpPr>
          <p:cNvPr id="10" name="TextBox 9"/>
          <p:cNvSpPr txBox="1"/>
          <p:nvPr/>
        </p:nvSpPr>
        <p:spPr>
          <a:xfrm>
            <a:off x="365760" y="3474720"/>
            <a:ext cx="8229600" cy="822960"/>
          </a:xfrm>
          <a:prstGeom prst="rect">
            <a:avLst/>
          </a:prstGeom>
          <a:noFill/>
        </p:spPr>
        <p:txBody>
          <a:bodyPr wrap="square">
            <a:spAutoFit/>
          </a:bodyPr>
          <a:lstStyle/>
          <a:p>
            <a:r>
              <a:rPr sz="900" b="0">
                <a:solidFill>
                  <a:srgbClr val="444444"/>
                </a:solidFill>
              </a:rPr>
              <a:t>For continuous-attack scenarios, defence must run on a dedicated hardened device separate from the HMI. The monitoring device reads PLC tags read-only and communicates alerts to the managed switch via out-of-band channel (serial, separate VLAN). The attacker on the compromised HMI cannot reach or kill the monitoring device. Containment (iptables/VLAN isolation) then blocks the HMI's CIP writes before recovery writes the safe state.</a:t>
            </a:r>
          </a:p>
        </p:txBody>
      </p:sp>
      <p:sp>
        <p:nvSpPr>
          <p:cNvPr id="11" name="TextBox 10"/>
          <p:cNvSpPr txBox="1"/>
          <p:nvPr/>
        </p:nvSpPr>
        <p:spPr>
          <a:xfrm>
            <a:off x="365760" y="4434840"/>
            <a:ext cx="8229600" cy="228600"/>
          </a:xfrm>
          <a:prstGeom prst="rect">
            <a:avLst/>
          </a:prstGeom>
          <a:noFill/>
        </p:spPr>
        <p:txBody>
          <a:bodyPr wrap="square">
            <a:spAutoFit/>
          </a:bodyPr>
          <a:lstStyle/>
          <a:p>
            <a:r>
              <a:rPr sz="1200" b="1">
                <a:solidFill>
                  <a:srgbClr val="2E75B6"/>
                </a:solidFill>
              </a:rPr>
              <a:t>Key Insight</a:t>
            </a:r>
          </a:p>
        </p:txBody>
      </p:sp>
      <p:sp>
        <p:nvSpPr>
          <p:cNvPr id="12" name="TextBox 11"/>
          <p:cNvSpPr txBox="1"/>
          <p:nvPr/>
        </p:nvSpPr>
        <p:spPr>
          <a:xfrm>
            <a:off x="365760" y="4663440"/>
            <a:ext cx="8229600" cy="822960"/>
          </a:xfrm>
          <a:prstGeom prst="rect">
            <a:avLst/>
          </a:prstGeom>
          <a:noFill/>
        </p:spPr>
        <p:txBody>
          <a:bodyPr wrap="square">
            <a:spAutoFit/>
          </a:bodyPr>
          <a:lstStyle/>
          <a:p>
            <a:r>
              <a:rPr sz="900" b="0">
                <a:solidFill>
                  <a:srgbClr val="444444"/>
                </a:solidFill>
              </a:rPr>
              <a:t>Detection works regardless of architecture — invariants caught the attack in 1 cycle even on the same compromised HMI. The architectural challenge is only for containment and recovery. Two solutions: (1) single-shot attack model eliminates the race by design, (2) physical separation of monitoring from attack surface enables network-level containment.</a:t>
            </a:r>
          </a:p>
        </p:txBody>
      </p:sp>
      <p:sp>
        <p:nvSpPr>
          <p:cNvPr id="13" name="TextBox 12"/>
          <p:cNvSpPr txBox="1"/>
          <p:nvPr/>
        </p:nvSpPr>
        <p:spPr>
          <a:xfrm>
            <a:off x="365760" y="5623560"/>
            <a:ext cx="8229600" cy="365760"/>
          </a:xfrm>
          <a:prstGeom prst="rect">
            <a:avLst/>
          </a:prstGeom>
          <a:noFill/>
        </p:spPr>
        <p:txBody>
          <a:bodyPr wrap="square">
            <a:spAutoFit/>
          </a:bodyPr>
          <a:lstStyle/>
          <a:p>
            <a:r>
              <a:rPr sz="800" b="1">
                <a:solidFill>
                  <a:srgbClr val="666666"/>
                </a:solidFill>
              </a:rPr>
              <a:t>Usage:  uv run python3 run_demo.py --plc-ip 192.168.1.10 --once --duration 60</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txBody>
          <a:bodyPr/>
          <a:p/>
        </p:txBody>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txBody>
          <a:bodyPr/>
          <a:p/>
        </p:txBody>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txBody>
          <a:bodyPr/>
          <a:p/>
        </p:txBody>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txBody>
          <a:bodyPr/>
          <a:p/>
        </p:txBody>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txBody>
          <a:bodyPr/>
          <a:p/>
        </p:txBody>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txBody>
          <a:bodyPr/>
          <a:p/>
        </p:txBody>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txBody>
          <a:bodyPr/>
          <a:p/>
        </p:txBody>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txBody>
          <a:bodyPr/>
          <a:p/>
        </p:txBody>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txBody>
          <a:bodyPr/>
          <a:p/>
        </p:txBody>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txBody>
          <a:bodyPr/>
          <a:p/>
        </p:txBody>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txBody>
          <a:bodyPr/>
          <a:p/>
        </p:txBody>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txBody>
          <a:bodyPr/>
          <a:p/>
        </p:txBody>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txBody>
          <a:bodyPr/>
          <a:p/>
        </p:txBody>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txBody>
          <a:bodyPr/>
          <a:p/>
        </p:txBody>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txBody>
          <a:bodyPr/>
          <a:p/>
        </p:txBody>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txBody>
          <a:bodyPr/>
          <a:p/>
        </p:txBody>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txBody>
          <a:bodyPr/>
          <a:p/>
        </p:txBody>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txBody>
          <a:bodyPr/>
          <a:p/>
        </p:txBody>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txBody>
          <a:bodyPr/>
          <a:p/>
        </p:txBody>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txBody>
          <a:bodyPr/>
          <a:p/>
        </p:txBody>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txBody>
          <a:bodyPr/>
          <a:p/>
        </p:txBody>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