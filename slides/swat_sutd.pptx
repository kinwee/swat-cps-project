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310" r:id="rId61"/>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6.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33.xml"/><Relationship Id="rId6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txBody>
          <a:bodyPr/>
          <a:p/>
        </p:txBody>
      </p:sp>
      <p:sp>
        <p:nvSpPr>
          <p:cNvPr id="3" name="Shape 1"/>
          <p:cNvSpPr/>
          <p:nvPr/>
        </p:nvSpPr>
        <p:spPr>
          <a:xfrm>
            <a:off x="4754880" y="0"/>
            <a:ext cx="7434072" cy="6858000"/>
          </a:xfrm>
          <a:prstGeom prst="rect">
            <a:avLst/>
          </a:prstGeom>
          <a:solidFill>
            <a:srgbClr val="FFFFFF"/>
          </a:solidFill>
          <a:ln/>
        </p:spPr>
        <p:txBody>
          <a:bodyPr/>
          <a:p/>
        </p:txBody>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txBody>
          <a:bodyPr/>
          <a:p/>
        </p:txBody>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txBody>
          <a:bodyPr/>
          <a:p/>
        </p:txBody>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txBody>
          <a:bodyPr/>
          <a:p/>
        </p:txBody>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txBody>
          <a:bodyPr/>
          <a:p/>
        </p:txBody>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txBody>
          <a:bodyPr/>
          <a:p/>
        </p:txBody>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txBody>
          <a:bodyPr/>
          <a:p/>
        </p:txBody>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txBody>
          <a:bodyPr/>
          <a:p/>
        </p:txBody>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txBody>
          <a:bodyPr/>
          <a:p/>
        </p:txBody>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txBody>
          <a:bodyPr/>
          <a:p/>
        </p:txBody>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txBody>
          <a:bodyPr/>
          <a:p/>
        </p:txBody>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txBody>
          <a:bodyPr/>
          <a:p/>
        </p:txBody>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txBody>
          <a:bodyPr/>
          <a:p/>
        </p:txBody>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txBody>
          <a:bodyPr/>
          <a:p/>
        </p:txBody>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txBody>
          <a:bodyPr/>
          <a:p/>
        </p:txBody>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txBody>
          <a:bodyPr/>
          <a:p/>
        </p:txBody>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C0392B"/>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C0392B"/>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C0392B"/>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txBody>
          <a:bodyPr/>
          <a:p/>
        </p:txBody>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txBody>
          <a:bodyPr/>
          <a:p/>
        </p:txBody>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txBody>
          <a:bodyPr/>
          <a:p/>
        </p:txBody>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txBody>
          <a:bodyPr/>
          <a:p/>
        </p:txBody>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txBody>
          <a:bodyPr/>
          <a:p/>
        </p:txBody>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txBody>
          <a:bodyPr/>
          <a:p/>
        </p:txBody>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630936"/>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231136"/>
            <a:ext cx="54864" cy="630936"/>
          </a:xfrm>
          <a:prstGeom prst="rect">
            <a:avLst/>
          </a:prstGeom>
          <a:solidFill>
            <a:srgbClr val="2E7D32"/>
          </a:solidFill>
          <a:ln/>
        </p:spPr>
        <p:txBody>
          <a:bodyPr/>
          <a:p/>
        </p:txBody>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2999232"/>
            <a:ext cx="54864" cy="630936"/>
          </a:xfrm>
          <a:prstGeom prst="rect">
            <a:avLst/>
          </a:prstGeom>
          <a:solidFill>
            <a:srgbClr val="2E7D32"/>
          </a:solidFill>
          <a:ln/>
        </p:spPr>
        <p:txBody>
          <a:bodyPr/>
          <a:p/>
        </p:txBody>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txBody>
          <a:bodyPr/>
          <a:p/>
        </p:txBody>
      </p:sp>
      <p:sp>
        <p:nvSpPr>
          <p:cNvPr id="23" name="Shape 21"/>
          <p:cNvSpPr/>
          <p:nvPr/>
        </p:nvSpPr>
        <p:spPr>
          <a:xfrm>
            <a:off x="320040" y="3767328"/>
            <a:ext cx="54864" cy="630936"/>
          </a:xfrm>
          <a:prstGeom prst="rect">
            <a:avLst/>
          </a:prstGeom>
          <a:solidFill>
            <a:srgbClr val="2E7D32"/>
          </a:solidFill>
          <a:ln/>
        </p:spPr>
        <p:txBody>
          <a:bodyPr/>
          <a:p/>
        </p:txBody>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txBody>
          <a:bodyPr/>
          <a:p/>
        </p:txBody>
      </p:sp>
      <p:sp>
        <p:nvSpPr>
          <p:cNvPr id="27" name="Shape 25"/>
          <p:cNvSpPr/>
          <p:nvPr/>
        </p:nvSpPr>
        <p:spPr>
          <a:xfrm>
            <a:off x="320040" y="4535424"/>
            <a:ext cx="54864" cy="630936"/>
          </a:xfrm>
          <a:prstGeom prst="rect">
            <a:avLst/>
          </a:prstGeom>
          <a:solidFill>
            <a:srgbClr val="2E7D32"/>
          </a:solidFill>
          <a:ln/>
        </p:spPr>
        <p:txBody>
          <a:bodyPr/>
          <a:p/>
        </p:txBody>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E8243C"/>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E8243C"/>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E8243C"/>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txBody>
          <a:bodyPr/>
          <a:p/>
        </p:txBody>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txBody>
          <a:bodyPr/>
          <a:p/>
        </p:txBody>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txBody>
          <a:bodyPr/>
          <a:p/>
        </p:txBody>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txBody>
          <a:bodyPr/>
          <a:p/>
        </p:txBody>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txBody>
          <a:bodyPr/>
          <a:p/>
        </p:txBody>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txBody>
          <a:bodyPr/>
          <a:p/>
        </p:txBody>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txBody>
          <a:bodyPr/>
          <a:p/>
        </p:txBody>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txBody>
          <a:bodyPr/>
          <a:p/>
        </p:txBody>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txBody>
          <a:bodyPr/>
          <a:p/>
        </p:txBody>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txBody>
          <a:bodyPr/>
          <a:p/>
        </p:txBody>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txBody>
          <a:bodyPr/>
          <a:p/>
        </p:txBody>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txBody>
          <a:bodyPr/>
          <a:p/>
        </p:txBody>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txBody>
          <a:bodyPr/>
          <a:p/>
        </p:txBody>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txBody>
          <a:bodyPr/>
          <a:p/>
        </p:txBody>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txBody>
          <a:bodyPr/>
          <a:p/>
        </p:txBody>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txBody>
          <a:bodyPr/>
          <a:p/>
        </p:txBody>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txBody>
          <a:bodyPr/>
          <a:p/>
        </p:txBody>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txBody>
          <a:bodyPr/>
          <a:p/>
        </p:txBody>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txBody>
          <a:bodyPr/>
          <a:p/>
        </p:txBody>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txBody>
          <a:bodyPr/>
          <a:p/>
        </p:txBody>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txBody>
          <a:bodyPr/>
          <a:p/>
        </p:txBody>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txBody>
          <a:bodyPr/>
          <a:p/>
        </p:txBody>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txBody>
          <a:bodyPr/>
          <a:p/>
        </p:txBody>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txBody>
          <a:bodyPr/>
          <a:p/>
        </p:txBody>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txBody>
          <a:bodyPr/>
          <a:p/>
        </p:txBody>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txBody>
          <a:bodyPr/>
          <a:p/>
        </p:txBody>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txBody>
          <a:bodyPr/>
          <a:p/>
        </p:txBody>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txBody>
          <a:bodyPr/>
          <a:p/>
        </p:txBody>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txBody>
          <a:bodyPr/>
          <a:p/>
        </p:txBody>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txBody>
          <a:bodyPr/>
          <a:p/>
        </p:txBody>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txBody>
          <a:bodyPr/>
          <a:p/>
        </p:txBody>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txBody>
          <a:bodyPr/>
          <a:p/>
        </p:txBody>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txBody>
          <a:bodyPr/>
          <a:p/>
        </p:txBody>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txBody>
          <a:bodyPr/>
          <a:p/>
        </p:txBody>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txBody>
          <a:bodyPr/>
          <a:p/>
        </p:txBody>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txBody>
          <a:bodyPr/>
          <a:p/>
        </p:txBody>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txBody>
          <a:bodyPr/>
          <a:p/>
        </p:txBody>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txBody>
          <a:bodyPr/>
          <a:p/>
        </p:txBody>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txBody>
          <a:bodyPr/>
          <a:p/>
        </p:txBody>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txBody>
          <a:bodyPr/>
          <a:p/>
        </p:txBody>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txBody>
          <a:bodyPr/>
          <a:p/>
        </p:txBody>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txBody>
          <a:bodyPr/>
          <a:p/>
        </p:txBody>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txBody>
          <a:bodyPr/>
          <a:p/>
        </p:txBody>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txBody>
          <a:bodyPr/>
          <a:p/>
        </p:txBody>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txBody>
          <a:bodyPr/>
          <a:p/>
        </p:txBody>
      </p:sp>
      <p:sp>
        <p:nvSpPr>
          <p:cNvPr id="10" name="Shape 8"/>
          <p:cNvSpPr/>
          <p:nvPr/>
        </p:nvSpPr>
        <p:spPr>
          <a:xfrm>
            <a:off x="320040" y="1417320"/>
            <a:ext cx="54864" cy="1444752"/>
          </a:xfrm>
          <a:prstGeom prst="rect">
            <a:avLst/>
          </a:prstGeom>
          <a:solidFill>
            <a:srgbClr val="C0392B"/>
          </a:solidFill>
          <a:ln/>
        </p:spPr>
        <p:txBody>
          <a:bodyPr/>
          <a:p/>
        </p:txBody>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txBody>
          <a:bodyPr/>
          <a:p/>
        </p:txBody>
      </p:sp>
      <p:sp>
        <p:nvSpPr>
          <p:cNvPr id="16" name="Shape 14"/>
          <p:cNvSpPr/>
          <p:nvPr/>
        </p:nvSpPr>
        <p:spPr>
          <a:xfrm>
            <a:off x="320040" y="2990088"/>
            <a:ext cx="54864" cy="1444752"/>
          </a:xfrm>
          <a:prstGeom prst="rect">
            <a:avLst/>
          </a:prstGeom>
          <a:solidFill>
            <a:srgbClr val="C0392B"/>
          </a:solidFill>
          <a:ln/>
        </p:spPr>
        <p:txBody>
          <a:bodyPr/>
          <a:p/>
        </p:txBody>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txBody>
          <a:bodyPr/>
          <a:p/>
        </p:txBody>
      </p:sp>
      <p:sp>
        <p:nvSpPr>
          <p:cNvPr id="22" name="Shape 20"/>
          <p:cNvSpPr/>
          <p:nvPr/>
        </p:nvSpPr>
        <p:spPr>
          <a:xfrm>
            <a:off x="320040" y="4562856"/>
            <a:ext cx="54864" cy="1444752"/>
          </a:xfrm>
          <a:prstGeom prst="rect">
            <a:avLst/>
          </a:prstGeom>
          <a:solidFill>
            <a:srgbClr val="C0392B"/>
          </a:solidFill>
          <a:ln/>
        </p:spPr>
        <p:txBody>
          <a:bodyPr/>
          <a:p/>
        </p:txBody>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txBody>
          <a:bodyPr/>
          <a:p/>
        </p:txBody>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txBody>
          <a:bodyPr/>
          <a:p/>
        </p:txBody>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txBody>
          <a:bodyPr/>
          <a:p/>
        </p:txBody>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txBody>
          <a:bodyPr/>
          <a:p/>
        </p:txBody>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txBody>
          <a:bodyPr/>
          <a:p/>
        </p:txBody>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txBody>
          <a:bodyPr/>
          <a:p/>
        </p:txBody>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txBody>
          <a:bodyPr/>
          <a:p/>
        </p:txBody>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txBody>
          <a:bodyPr/>
          <a:p/>
        </p:txBody>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txBody>
          <a:bodyPr/>
          <a:p/>
        </p:txBody>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txBody>
          <a:bodyPr/>
          <a:p/>
        </p:txBody>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txBody>
          <a:bodyPr/>
          <a:p/>
        </p:txBody>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txBody>
          <a:bodyPr/>
          <a:p/>
        </p:txBody>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txBody>
          <a:bodyPr/>
          <a:p/>
        </p:txBody>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txBody>
          <a:bodyPr/>
          <a:p/>
        </p:txBody>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txBody>
          <a:bodyPr/>
          <a:p/>
        </p:txBody>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txBody>
          <a:bodyPr/>
          <a:p/>
        </p:txBody>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txBody>
          <a:bodyPr/>
          <a:p/>
        </p:txBody>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txBody>
          <a:bodyPr/>
          <a:p/>
        </p:txBody>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976D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976D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976D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txBody>
          <a:bodyPr/>
          <a:p/>
        </p:txBody>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txBody>
          <a:bodyPr/>
          <a:p/>
        </p:txBody>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txBody>
          <a:bodyPr/>
          <a:p/>
        </p:txBody>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txBody>
          <a:bodyPr/>
          <a:p/>
        </p:txBody>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txBody>
          <a:bodyPr/>
          <a:p/>
        </p:txBody>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txBody>
          <a:bodyPr/>
          <a:p/>
        </p:txBody>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txBody>
          <a:bodyPr/>
          <a:p/>
        </p:txBody>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txBody>
          <a:bodyPr/>
          <a:p/>
        </p:txBody>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txBody>
          <a:bodyPr/>
          <a:p/>
        </p:txBody>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txBody>
          <a:bodyPr/>
          <a:p/>
        </p:txBody>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txBody>
          <a:bodyPr/>
          <a:p/>
        </p:txBody>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txBody>
          <a:bodyPr/>
          <a:p/>
        </p:txBody>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txBody>
          <a:bodyPr/>
          <a:p/>
        </p:txBody>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txBody>
          <a:bodyPr/>
          <a:p/>
        </p:txBody>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txBody>
          <a:bodyPr/>
          <a:p/>
        </p:txBody>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txBody>
          <a:bodyPr/>
          <a:p/>
        </p:txBody>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txBody>
          <a:bodyPr/>
          <a:p/>
        </p:txBody>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txBody>
          <a:bodyPr/>
          <a:p/>
        </p:txBody>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txBody>
          <a:bodyPr/>
          <a:p/>
        </p:txBody>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txBody>
          <a:bodyPr/>
          <a:p/>
        </p:txBody>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txBody>
          <a:bodyPr/>
          <a:p/>
        </p:txBody>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txBody>
          <a:bodyPr/>
          <a:p/>
        </p:txBody>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txBody>
          <a:bodyPr/>
          <a:p/>
        </p:txBody>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txBody>
          <a:bodyPr/>
          <a:p/>
        </p:txBody>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txBody>
          <a:bodyPr/>
          <a:p/>
        </p:txBody>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txBody>
          <a:bodyPr/>
          <a:p/>
        </p:txBody>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txBody>
          <a:bodyPr/>
          <a:p/>
        </p:txBody>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txBody>
          <a:bodyPr/>
          <a:p/>
        </p:txBody>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txBody>
          <a:bodyPr/>
          <a:p/>
        </p:txBody>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txBody>
          <a:bodyPr/>
          <a:p/>
        </p:txBody>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txBody>
          <a:bodyPr/>
          <a:p/>
        </p:txBody>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txBody>
          <a:bodyPr/>
          <a:p/>
        </p:txBody>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txBody>
          <a:bodyPr/>
          <a:p/>
        </p:txBody>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2E7D3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gap (HMI 1345mm vs physical 502mm).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2E7D3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629"/>
                        <a:t>Inconclusive (old AE used FIT101=-31).
LIT-only AE: 94/100 (94%)</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629"/>
                        <a:t>736mm gap (HMI: 1345mm, physical: 502mm)
Feedback loop bug fixed in latest code</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629"/>
                        <a:t>0/500 (0.0%)
Mean MSE=0.000039
Threshold=0.000738 (19× margin)</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b="0">
                          <a:solidFill>
                            <a:srgbClr val="333333"/>
                          </a:solidFill>
                        </a:rPr>
                        <a:t>Completed: MV101, P101,
MV201, Sim disabled</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629"/>
                        <a:t>~30s (write race with Phase 1)
Fixed: --once mode eliminates race</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Write Race Problem + Single-Shot Remediation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Why recovery couldn't hold, and how we fixed it</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CC3333"/>
                </a:solidFill>
              </a:rPr>
              <a:t>The Problem: Write Race (16 April demo)</a:t>
            </a:r>
          </a:p>
        </p:txBody>
      </p:sp>
      <p:sp>
        <p:nvSpPr>
          <p:cNvPr id="6" name="TextBox 5"/>
          <p:cNvSpPr txBox="1"/>
          <p:nvPr/>
        </p:nvSpPr>
        <p:spPr>
          <a:xfrm>
            <a:off x="365760" y="1280160"/>
            <a:ext cx="8229600" cy="731520"/>
          </a:xfrm>
          <a:prstGeom prst="rect">
            <a:avLst/>
          </a:prstGeom>
          <a:noFill/>
        </p:spPr>
        <p:txBody>
          <a:bodyPr wrap="square">
            <a:spAutoFit/>
          </a:bodyPr>
          <a:lstStyle/>
          <a:p>
            <a:r>
              <a:rPr sz="900" b="0">
                <a:solidFill>
                  <a:srgbClr val="444444"/>
                </a:solidFill>
              </a:rPr>
              <a:t>Phase 1 wrote MV101=CLOSED every second for 120s. Recovery wrote MV101=OPEN once and exited. Phase 1 immediately overwrote it — recovery lost the race. Plant only stabilised after Phase 1's timer elapsed. Root cause: both ran on the same HMI, so iptables containment couldn't block the attacker (can't firewall yourself).</a:t>
            </a:r>
          </a:p>
        </p:txBody>
      </p:sp>
      <p:sp>
        <p:nvSpPr>
          <p:cNvPr id="7" name="TextBox 6"/>
          <p:cNvSpPr txBox="1"/>
          <p:nvPr/>
        </p:nvSpPr>
        <p:spPr>
          <a:xfrm>
            <a:off x="365760" y="2103120"/>
            <a:ext cx="8229600" cy="228600"/>
          </a:xfrm>
          <a:prstGeom prst="rect">
            <a:avLst/>
          </a:prstGeom>
          <a:noFill/>
        </p:spPr>
        <p:txBody>
          <a:bodyPr wrap="square">
            <a:spAutoFit/>
          </a:bodyPr>
          <a:lstStyle/>
          <a:p>
            <a:r>
              <a:rPr sz="1200" b="1">
                <a:solidFill>
                  <a:srgbClr val="2E75B6"/>
                </a:solidFill>
              </a:rPr>
              <a:t>Remediation: Single-Shot Attack Mode (--once)</a:t>
            </a:r>
          </a:p>
        </p:txBody>
      </p:sp>
      <p:sp>
        <p:nvSpPr>
          <p:cNvPr id="8" name="TextBox 7"/>
          <p:cNvSpPr txBox="1"/>
          <p:nvPr/>
        </p:nvSpPr>
        <p:spPr>
          <a:xfrm>
            <a:off x="365760" y="2331720"/>
            <a:ext cx="8229600" cy="822960"/>
          </a:xfrm>
          <a:prstGeom prst="rect">
            <a:avLst/>
          </a:prstGeom>
          <a:noFill/>
        </p:spPr>
        <p:txBody>
          <a:bodyPr wrap="square">
            <a:spAutoFit/>
          </a:bodyPr>
          <a:lstStyle/>
          <a:p>
            <a:r>
              <a:rPr sz="900" b="0">
                <a:solidFill>
                  <a:srgbClr val="444444"/>
                </a:solidFill>
              </a:rPr>
              <a:t>A realistic stealthy attacker writes commands once (Auto=False, Cmd=1) and exits — no persistent connection. With Auto=False, PLC ladder logic won't overwrite the injected command. Attack persists without attacker presence. Defence detects → fusion ALERT → recovery writes safe state UNCONTESTED → recovery holds. No write race. Clean measurement of detection time, fusion latency, and recovery duration.</a:t>
            </a:r>
          </a:p>
        </p:txBody>
      </p:sp>
      <p:sp>
        <p:nvSpPr>
          <p:cNvPr id="9" name="TextBox 8"/>
          <p:cNvSpPr txBox="1"/>
          <p:nvPr/>
        </p:nvSpPr>
        <p:spPr>
          <a:xfrm>
            <a:off x="365760" y="3246120"/>
            <a:ext cx="8229600" cy="228600"/>
          </a:xfrm>
          <a:prstGeom prst="rect">
            <a:avLst/>
          </a:prstGeom>
          <a:noFill/>
        </p:spPr>
        <p:txBody>
          <a:bodyPr wrap="square">
            <a:spAutoFit/>
          </a:bodyPr>
          <a:lstStyle/>
          <a:p>
            <a:r>
              <a:rPr sz="1200" b="1">
                <a:solidFill>
                  <a:srgbClr val="2E75B6"/>
                </a:solidFill>
              </a:rPr>
              <a:t>Production Architecture: Physical Separation</a:t>
            </a:r>
          </a:p>
        </p:txBody>
      </p:sp>
      <p:sp>
        <p:nvSpPr>
          <p:cNvPr id="10" name="TextBox 9"/>
          <p:cNvSpPr txBox="1"/>
          <p:nvPr/>
        </p:nvSpPr>
        <p:spPr>
          <a:xfrm>
            <a:off x="365760" y="3474720"/>
            <a:ext cx="8229600" cy="822960"/>
          </a:xfrm>
          <a:prstGeom prst="rect">
            <a:avLst/>
          </a:prstGeom>
          <a:noFill/>
        </p:spPr>
        <p:txBody>
          <a:bodyPr wrap="square">
            <a:spAutoFit/>
          </a:bodyPr>
          <a:lstStyle/>
          <a:p>
            <a:r>
              <a:rPr sz="900" b="0">
                <a:solidFill>
                  <a:srgbClr val="444444"/>
                </a:solidFill>
              </a:rPr>
              <a:t>For continuous-attack scenarios, defence must run on a dedicated hardened device separate from the HMI. The monitoring device reads PLC tags read-only and communicates alerts to the managed switch via out-of-band channel (serial, separate VLAN). The attacker on the compromised HMI cannot reach or kill the monitoring device. Containment (iptables/VLAN isolation) then blocks the HMI's CIP writes before recovery writes the safe state.</a:t>
            </a:r>
          </a:p>
        </p:txBody>
      </p:sp>
      <p:sp>
        <p:nvSpPr>
          <p:cNvPr id="11" name="TextBox 10"/>
          <p:cNvSpPr txBox="1"/>
          <p:nvPr/>
        </p:nvSpPr>
        <p:spPr>
          <a:xfrm>
            <a:off x="365760" y="4434840"/>
            <a:ext cx="8229600" cy="228600"/>
          </a:xfrm>
          <a:prstGeom prst="rect">
            <a:avLst/>
          </a:prstGeom>
          <a:noFill/>
        </p:spPr>
        <p:txBody>
          <a:bodyPr wrap="square">
            <a:spAutoFit/>
          </a:bodyPr>
          <a:lstStyle/>
          <a:p>
            <a:r>
              <a:rPr sz="1200" b="1">
                <a:solidFill>
                  <a:srgbClr val="2E75B6"/>
                </a:solidFill>
              </a:rPr>
              <a:t>Key Insight</a:t>
            </a:r>
          </a:p>
        </p:txBody>
      </p:sp>
      <p:sp>
        <p:nvSpPr>
          <p:cNvPr id="12" name="TextBox 11"/>
          <p:cNvSpPr txBox="1"/>
          <p:nvPr/>
        </p:nvSpPr>
        <p:spPr>
          <a:xfrm>
            <a:off x="365760" y="4663440"/>
            <a:ext cx="8229600" cy="822960"/>
          </a:xfrm>
          <a:prstGeom prst="rect">
            <a:avLst/>
          </a:prstGeom>
          <a:noFill/>
        </p:spPr>
        <p:txBody>
          <a:bodyPr wrap="square">
            <a:spAutoFit/>
          </a:bodyPr>
          <a:lstStyle/>
          <a:p>
            <a:r>
              <a:rPr sz="900" b="0">
                <a:solidFill>
                  <a:srgbClr val="444444"/>
                </a:solidFill>
              </a:rPr>
              <a:t>Detection works regardless of architecture — invariants caught the attack in 1 cycle even on the same compromised HMI. The architectural challenge is only for containment and recovery. Two solutions: (1) single-shot attack model eliminates the race by design, (2) physical separation of monitoring from attack surface enables network-level containment.</a:t>
            </a:r>
          </a:p>
        </p:txBody>
      </p:sp>
      <p:sp>
        <p:nvSpPr>
          <p:cNvPr id="13" name="TextBox 12"/>
          <p:cNvSpPr txBox="1"/>
          <p:nvPr/>
        </p:nvSpPr>
        <p:spPr>
          <a:xfrm>
            <a:off x="365760" y="5623560"/>
            <a:ext cx="8229600" cy="365760"/>
          </a:xfrm>
          <a:prstGeom prst="rect">
            <a:avLst/>
          </a:prstGeom>
          <a:noFill/>
        </p:spPr>
        <p:txBody>
          <a:bodyPr wrap="square">
            <a:spAutoFit/>
          </a:bodyPr>
          <a:lstStyle/>
          <a:p>
            <a:r>
              <a:rPr sz="800" b="1">
                <a:solidFill>
                  <a:srgbClr val="666666"/>
                </a:solidFill>
              </a:rPr>
              <a:t>Usage:  uv run python3 run_demo.py --plc-ip 192.168.1.10 --once --duration 60</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txBody>
          <a:bodyPr/>
          <a:p/>
        </p:txBody>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txBody>
          <a:bodyPr/>
          <a:p/>
        </p:txBody>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txBody>
          <a:bodyPr/>
          <a:p/>
        </p:txBody>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txBody>
          <a:bodyPr/>
          <a:p/>
        </p:txBody>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txBody>
          <a:bodyPr/>
          <a:p/>
        </p:txBody>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txBody>
          <a:bodyPr/>
          <a:p/>
        </p:txBody>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txBody>
          <a:bodyPr/>
          <a:p/>
        </p:txBody>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txBody>
          <a:bodyPr/>
          <a:p/>
        </p:txBody>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txBody>
          <a:bodyPr/>
          <a:p/>
        </p:txBody>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txBody>
          <a:bodyPr/>
          <a:p/>
        </p:txBody>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txBody>
          <a:bodyPr/>
          <a:p/>
        </p:txBody>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txBody>
          <a:bodyPr/>
          <a:p/>
        </p:txBody>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txBody>
          <a:bodyPr/>
          <a:p/>
        </p:txBody>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txBody>
          <a:bodyPr/>
          <a:p/>
        </p:txBody>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txBody>
          <a:bodyPr/>
          <a:p/>
        </p:txBody>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txBody>
          <a:bodyPr/>
          <a:p/>
        </p:txBody>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txBody>
          <a:bodyPr/>
          <a:p/>
        </p:txBody>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txBody>
          <a:bodyPr/>
          <a:p/>
        </p:txBody>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txBody>
          <a:bodyPr/>
          <a:p/>
        </p:txBody>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txBody>
          <a:bodyPr/>
          <a:p/>
        </p:txBody>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txBody>
          <a:bodyPr/>
          <a:p/>
        </p:txBody>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