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11-1.jpg" ContentType="image/jpg"/>
  <Override PartName="/ppt/media/image-12-2.jpg" ContentType="image/jpg"/>
  <Override PartName="/ppt/media/image-19-1.jpg" ContentType="image/jpg"/>
  <Override PartName="/ppt/media/image-2-1.jpg" ContentType="image/jpg"/>
  <Override PartName="/ppt/media/image-30-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7"/>
    <p:sldId id="297" r:id="rId48"/>
    <p:sldId id="298" r:id="rId49"/>
    <p:sldId id="299" r:id="rId50"/>
    <p:sldId id="300" r:id="rId5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-1-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-1-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4" Type="http://schemas.openxmlformats.org/officeDocument/2006/relationships/image" Target="../media/image-1-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1-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3-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0" y="0"/>
            <a:ext cx="743407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097280"/>
            <a:ext cx="4206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Stealthy Attack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&amp; Resilient Defense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20040" y="283464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on the SWaT Testbed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" y="3383280"/>
            <a:ext cx="3657600" cy="36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352044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iTrust Lab · SUTD · AY2025/26 Term 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0" y="1371600"/>
            <a:ext cx="4480560" cy="6400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371600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CIP Tag Injection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0" y="2468880"/>
            <a:ext cx="4480560" cy="6400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2468880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Constrained ML Evasion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0" y="3566160"/>
            <a:ext cx="4480560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0" y="3566160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Invariant-Based Recovery</a:t>
            </a:r>
            <a:endParaRPr lang="en-US" sz="1400" dirty="0"/>
          </a:p>
        </p:txBody>
      </p:sp>
      <p:pic>
        <p:nvPicPr>
          <p:cNvPr id="14" name="Image 0" descr="/home/claude/swat-cps-project/assets/images/swat_testbed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4754880"/>
            <a:ext cx="6839712" cy="173736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5029200" y="6355080"/>
            <a:ext cx="68397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 Testbed — iTrust Centre for Research in Cyber Security, SUTD Singapore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Project Overview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320040" y="1417320"/>
            <a:ext cx="2681478" cy="38404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1417320"/>
            <a:ext cx="26814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20040" y="1801368"/>
            <a:ext cx="2681478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874520"/>
            <a:ext cx="249859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2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2240280"/>
            <a:ext cx="249859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 uses EtherNet/IP with no authentication. Existing ML detectors are vulnerable to adversarial evasion.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75838" y="1417320"/>
            <a:ext cx="2681478" cy="38404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3" name="Text 11"/>
          <p:cNvSpPr/>
          <p:nvPr/>
        </p:nvSpPr>
        <p:spPr>
          <a:xfrm>
            <a:off x="3275838" y="1417320"/>
            <a:ext cx="26814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275838" y="1801368"/>
            <a:ext cx="2681478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67278" y="1874520"/>
            <a:ext cx="249859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67278" y="2240280"/>
            <a:ext cx="249859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Compromised HMI → direct CIP tag injection targeting MV101 and P101, with adversarial sensor spoofing.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31636" y="1417320"/>
            <a:ext cx="2681478" cy="3840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231636" y="1417320"/>
            <a:ext cx="26814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31636" y="1801368"/>
            <a:ext cx="2681478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23076" y="1874520"/>
            <a:ext cx="249859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23076" y="2240280"/>
            <a:ext cx="249859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detector: process invariants (physics-based) + reconstruction autoencoder + weighted fusion.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187434" y="1417320"/>
            <a:ext cx="2681478" cy="38404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3" name="Text 21"/>
          <p:cNvSpPr/>
          <p:nvPr/>
        </p:nvSpPr>
        <p:spPr>
          <a:xfrm>
            <a:off x="9187434" y="1417320"/>
            <a:ext cx="26814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187434" y="1801368"/>
            <a:ext cx="2681478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78874" y="1874520"/>
            <a:ext cx="249859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278874" y="2240280"/>
            <a:ext cx="249859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safe-state + PLC1B failover + invariant-verified resume. Target: &lt; 15 seconds.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20040" y="5166360"/>
            <a:ext cx="115488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Contribution: First end-to-end demonstration on SWaT combining adversarial evasion attacks with a hybrid physics+ML defense and automated recovery (university policy: all scripts run on HMI).</a:t>
            </a:r>
            <a:endParaRPr lang="en-US" sz="950" dirty="0"/>
          </a:p>
        </p:txBody>
      </p:sp>
      <p:pic>
        <p:nvPicPr>
          <p:cNvPr id="28" name="Image 0" descr="/home/claude/swat-cps-project/assets/images/swat_testbed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5596128"/>
            <a:ext cx="11548872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Threat Model &amp; Assumptions</a:t>
            </a:r>
            <a:endParaRPr lang="en-US" sz="3200" dirty="0"/>
          </a:p>
        </p:txBody>
      </p:sp>
      <p:pic>
        <p:nvPicPr>
          <p:cNvPr id="7" name="Image 0" descr="/home/claude/swat-cps-project/assets/images/swat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371600"/>
            <a:ext cx="4572000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5559552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 network: IT (Level 2–3) + OT (Level 0–1), PLC1–PLC6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5166360" y="1371600"/>
            <a:ext cx="6675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2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 Attack Surface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166360" y="1828800"/>
            <a:ext cx="164592" cy="1005840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11" name="Text 8"/>
          <p:cNvSpPr/>
          <p:nvPr/>
        </p:nvSpPr>
        <p:spPr>
          <a:xfrm>
            <a:off x="5440680" y="1874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2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HMI Workstation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40680" y="214884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Compromised via phishing/USB drop — attacker runs scripts directly on HMI (university policy)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166360" y="3154680"/>
            <a:ext cx="164592" cy="100584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4" name="Text 11"/>
          <p:cNvSpPr/>
          <p:nvPr/>
        </p:nvSpPr>
        <p:spPr>
          <a:xfrm>
            <a:off x="5440680" y="32004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EtherNet/IP — No Auth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440680" y="347472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HMI has direct trusted access to all PLCs — any pylogix write is accepted immediately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166360" y="4480560"/>
            <a:ext cx="164592" cy="10058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7" name="Text 14"/>
          <p:cNvSpPr/>
          <p:nvPr/>
        </p:nvSpPr>
        <p:spPr>
          <a:xfrm>
            <a:off x="5440680" y="45262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A (SIS)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440680" y="480060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Instrumented System — target is to stay below SIS thresholds to avoid shutdown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Attack Design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Papers #9 (False CIP Injection) + #31 (Constrained Concealment)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1430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— Reconnaissance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1051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pylogix tag enumeration on PLC1 (192.168.1.10). Read HMI_LIT101.Pv, AI_FIT_101_FLOW, HMI_MV101.Cmd. Build timestamped tag value database (enip_db.pkl).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74320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743200"/>
            <a:ext cx="54864" cy="11430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1635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False CIP Injection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09067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write from compromised HMI: HMI_MV101.Auto=False → HMI_MV101.Cmd=1 (CLOSE), HMI_P101.Auto=False → HMI_P101.Cmd=1 (OFF). No ARP poison needed — HMI has trusted PLC access.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02336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023360"/>
            <a:ext cx="54864" cy="11430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09651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Adversarial ML Evasion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37083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autoencoder generates δ (||δ||∞ ≤ 0.1) to minimise AE reconstruction error. Spoofs LIT101/FIT101 via HMI_LIT101.Sim=True + HMI_LIT101.Sim_PV=spoofed_value.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Existing Detectors Fail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alone is evaded — which is why the hybrid exists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5637276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1417320"/>
            <a:ext cx="56372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ML-Only Anomaly Detector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93192" y="1874520"/>
            <a:ext cx="54864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3" name="Text 11"/>
          <p:cNvSpPr/>
          <p:nvPr/>
        </p:nvSpPr>
        <p:spPr>
          <a:xfrm>
            <a:off x="521208" y="1828800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#31 adversarial AE crafts δ minimising MSE reconstruction error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93192" y="2587752"/>
            <a:ext cx="54864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" y="2542032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Evasion rate ~94% on SWaT at ε=0.1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93192" y="3300984"/>
            <a:ext cx="54864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/>
          <p:nvPr/>
        </p:nvSpPr>
        <p:spPr>
          <a:xfrm>
            <a:off x="521208" y="3255264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Black-box attack — no model internals needed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93192" y="4014216"/>
            <a:ext cx="54864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/>
          <p:nvPr/>
        </p:nvSpPr>
        <p:spPr>
          <a:xfrm>
            <a:off x="521208" y="3968496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Operates in milliseconds — real-time EtherNet/IP compatible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31636" y="1417320"/>
            <a:ext cx="5637276" cy="34747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6231636" y="1417320"/>
            <a:ext cx="56372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Invariant-Only Detector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04788" y="1874520"/>
            <a:ext cx="54864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3" name="Text 21"/>
          <p:cNvSpPr/>
          <p:nvPr/>
        </p:nvSpPr>
        <p:spPr>
          <a:xfrm>
            <a:off x="6432804" y="1828800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24 of 36 SWaT attacks detected by invariants alone (Adepu 2016)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04788" y="2587752"/>
            <a:ext cx="54864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5" name="Text 23"/>
          <p:cNvSpPr/>
          <p:nvPr/>
        </p:nvSpPr>
        <p:spPr>
          <a:xfrm>
            <a:off x="6432804" y="2542032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can manipulate slowly within invariant bounds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04788" y="3300984"/>
            <a:ext cx="54864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7" name="Text 25"/>
          <p:cNvSpPr/>
          <p:nvPr/>
        </p:nvSpPr>
        <p:spPr>
          <a:xfrm>
            <a:off x="6432804" y="3255264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ML component — blind to novel multi-sensor spoofing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304788" y="4014216"/>
            <a:ext cx="54864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9" name="Text 27"/>
          <p:cNvSpPr/>
          <p:nvPr/>
        </p:nvSpPr>
        <p:spPr>
          <a:xfrm>
            <a:off x="6432804" y="3968496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concealment replays valid sensor history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Defense Design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Invariant + ML Anomaly Detection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Process Invariant Checker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1051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invariants from SWaT P1 P&amp;ID. Reads PLC1 coil registers directly via pylogix — cannot be fooled by sensor spoofing. Flags actuator state violations deterministically.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74320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74320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1635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Reconstruction Autoencoder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09067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8.1 hours SWaT normal data (19-Feb-2026 dataset). Threshold = 95th percentile of training MSE (0.000950). Monitors LIT101.Pv and AI_FIT_101_FLOW.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02336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02336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09651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Decision Fusion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37083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1.5 × inv_flag + 1.0 × ae_flag. ALERT if score ≥ 1.5 for 3 consecutive cycles. Invariant weighted ×1.5 (physics deterministic &gt; statistical).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Recovery Design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deterministic steps — detection to verified safe operation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6309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63093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Detect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10512"/>
            <a:ext cx="11365992" cy="173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score ≥ 1.5 for 3 cycles. Log timestamp, sensor snapshot, alert details to recovery_log.json.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231136"/>
            <a:ext cx="11548872" cy="6309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231136"/>
            <a:ext cx="54864" cy="63093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304288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Contain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2578608"/>
            <a:ext cx="11365992" cy="173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iptables DROP port 44818. Isolate attacker process. VLAN isolation at L2 switch.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2999232"/>
            <a:ext cx="11548872" cy="6309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2999232"/>
            <a:ext cx="54864" cy="63093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3072384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Safe State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3346704"/>
            <a:ext cx="11365992" cy="173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pylogix writes: MV101.Auto=False → MV101.Cmd=2 (OPEN), P101.Auto=False → P101.Cmd=2 (ON).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0040" y="3767328"/>
            <a:ext cx="11548872" cy="6309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" y="3767328"/>
            <a:ext cx="54864" cy="63093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3840480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— PLC Failover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4114800"/>
            <a:ext cx="11365992" cy="173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EtherNet/IP handshake activates PLC1B (192.168.1.11) as primary controller.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20040" y="4535424"/>
            <a:ext cx="11548872" cy="6309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" y="4535424"/>
            <a:ext cx="54864" cy="63093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4608576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— Verify &amp; Resume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2920" y="4882896"/>
            <a:ext cx="11365992" cy="173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 all 8 invariants. Accept only after 5 consecutive clean cycles. Then resume normal operation.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Implementation Plan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Phase-by-phase delivery schedule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143000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2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9–10: Setup &amp; Attack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1051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pylogix connectivity to PLC1. Run phase0_recon.py — enumerate tags, build baseline database. Implement phase1_inject.py — verify false writes accepted by PLC.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74320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743200"/>
            <a:ext cx="54864" cy="1143000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1635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2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11: Evasion &amp; Defense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09067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autoencoder on 19-Feb-2026 CSV (done). Train adversarial model (done). Verify Phase 2 evades AE. Implement invariant checker + fusion. Verify hybrid catches Phase 1+2 combined attack.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02336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023360"/>
            <a:ext cx="54864" cy="1143000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09651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2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12–13: Recovery &amp; Demo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370832"/>
            <a:ext cx="11365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recovery_agent.py — test full 5-step pipeline. Run end-to-end demo on SWaT: attack → evade → detect → recover. Measure recovery time KPI: target &lt; 15 seconds.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Evaluation Metrics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 for the demo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5637276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1417320"/>
            <a:ext cx="56372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Effectiveness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93192" y="1874520"/>
            <a:ext cx="54864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3" name="Text 11"/>
          <p:cNvSpPr/>
          <p:nvPr/>
        </p:nvSpPr>
        <p:spPr>
          <a:xfrm>
            <a:off x="521208" y="1828800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Time-to-impact: LIT101 deviation rate under Phase 1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93192" y="2587752"/>
            <a:ext cx="54864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" y="2542032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evasion rate: % cycles passing AE undetected (target: ~94%)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93192" y="3300984"/>
            <a:ext cx="54864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/>
          <p:nvPr/>
        </p:nvSpPr>
        <p:spPr>
          <a:xfrm>
            <a:off x="521208" y="3255264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Stealth duration: time before any alert raised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31636" y="1417320"/>
            <a:ext cx="5637276" cy="34747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9" name="Text 17"/>
          <p:cNvSpPr/>
          <p:nvPr/>
        </p:nvSpPr>
        <p:spPr>
          <a:xfrm>
            <a:off x="6231636" y="1417320"/>
            <a:ext cx="56372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&amp; Recovery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04788" y="1874520"/>
            <a:ext cx="54864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6432804" y="1828800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rate: % attack scenarios caught by hybrid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304788" y="2587752"/>
            <a:ext cx="54864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3" name="Text 21"/>
          <p:cNvSpPr/>
          <p:nvPr/>
        </p:nvSpPr>
        <p:spPr>
          <a:xfrm>
            <a:off x="6432804" y="2542032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 rate: % normal operation flagged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04788" y="3300984"/>
            <a:ext cx="54864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5" name="Text 23"/>
          <p:cNvSpPr/>
          <p:nvPr/>
        </p:nvSpPr>
        <p:spPr>
          <a:xfrm>
            <a:off x="6432804" y="3255264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time: seconds from ALERT to safe state (target: &lt;15s)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04788" y="4014216"/>
            <a:ext cx="54864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7" name="Text 25"/>
          <p:cNvSpPr/>
          <p:nvPr/>
        </p:nvSpPr>
        <p:spPr>
          <a:xfrm>
            <a:off x="6432804" y="3968496"/>
            <a:ext cx="536295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Comparison: invariant-only vs AE-only vs hybrid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References (Proposal)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463040"/>
            <a:ext cx="11548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W. Alsabbagh et al. "A Stealthy False Command Injection Attack on Modbus based SCADA Systems." IEEE CCNC 2023. (Paper #9)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20040" y="2121408"/>
            <a:ext cx="11548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J. H. Castellanos et al. "Constrained Concealment Attacks against Reconstruction-based Anomaly Detectors in ICS." ACM ACSAC 2020. (Paper #31)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20040" y="2779776"/>
            <a:ext cx="11548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S. Adepu &amp; A. Mathur. "Using Process Invariants to Detect Cyber Attacks on a Water Treatment System." IFIP SEC 2016. (Paper #88)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0040" y="3438144"/>
            <a:ext cx="11548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S. Adepu &amp; A. Mathur. "Distributed Detection of Single-Stage Multipoint Cyber Attacks." ACM AsiaCCS 2016.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20040" y="4096512"/>
            <a:ext cx="11548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C. M. Ahmed, J. Zhou &amp; A. P. Mathur. "Attacking Fieldbus Communications in ICS." SG-CRC 2016.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20040" y="4754880"/>
            <a:ext cx="11548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iTrust, SUTD. "SWaT: Secure Water Treatment Testbed." https://itrust.sutd.edu.sg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4008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9200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46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6B6B"/>
                </a:solidFill>
                <a:latin typeface="Calibri"/>
              </a:rPr>
              <a:t>51.508 Secure Cyber Physical Systems  ·  SWaT Project  ·  iTrust Lab, SUTD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48640"/>
            <a:ext cx="1828800" cy="384048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864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SECTION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97280"/>
            <a:ext cx="7315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1A1A1A"/>
                </a:solidFill>
                <a:latin typeface="Calibri Light"/>
              </a:rPr>
              <a:t>SWaT P1 Attack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84831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243C"/>
                </a:solidFill>
                <a:latin typeface="Calibri Light"/>
              </a:rPr>
              <a:t>False CIP Tag Injection via Compromised HMI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4320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Courier New"/>
              </a:rPr>
              <a:t>phase0_recon.py  ·  phase1_inject.py  ·  phase2_spoof.py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12724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AA"/>
                </a:solidFill>
                <a:latin typeface="Courier New"/>
              </a:rPr>
              <a:t>pylogix  ·  PyTorch  ·  192.168.1.10 (PLC1)</a:t>
            </a:r>
          </a:p>
        </p:txBody>
      </p:sp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1005840"/>
            <a:ext cx="4096512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SWaT P1 — What We Are Attacking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Water Intake  ·  PLC1 @ 192.168.1.10  ·  EtherNet/IP port 44818</a:t>
            </a:r>
            <a:endParaRPr lang="en-US" sz="1200" dirty="0"/>
          </a:p>
        </p:txBody>
      </p:sp>
      <p:pic>
        <p:nvPicPr>
          <p:cNvPr id="10" name="Image 0" descr="/home/claude/swat-cps-project/assets/images/swat_p1_st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371600"/>
            <a:ext cx="5943600" cy="29260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20040" y="42793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 P&amp;ID — P1: MV101, T101, P101/P102, FIT101, LIT101</a:t>
            </a:r>
            <a:endParaRPr lang="en-US" sz="750" dirty="0"/>
          </a:p>
        </p:txBody>
      </p:sp>
      <p:pic>
        <p:nvPicPr>
          <p:cNvPr id="12" name="Image 1" descr="/home/claude/swat-cps-project/assets/images/swat_testbed_phot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468112" cy="29260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00800" y="4279392"/>
            <a:ext cx="5468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SWaT testbed at iTrust Lab, SUTD</a:t>
            </a:r>
            <a:endParaRPr lang="en-US" sz="750" dirty="0"/>
          </a:p>
        </p:txBody>
      </p:sp>
      <p:sp>
        <p:nvSpPr>
          <p:cNvPr id="14" name="Text 10"/>
          <p:cNvSpPr/>
          <p:nvPr/>
        </p:nvSpPr>
        <p:spPr>
          <a:xfrm>
            <a:off x="320040" y="4572000"/>
            <a:ext cx="115488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vector: Compromised HMI → pylogix CIP writes to PLC1 → MV101 CLOSE + P101 OFF → LIT101 drops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Threat Model &amp; Attack Surface</a:t>
            </a:r>
            <a:endParaRPr lang="en-US" sz="3200" dirty="0"/>
          </a:p>
        </p:txBody>
      </p:sp>
      <p:pic>
        <p:nvPicPr>
          <p:cNvPr id="9" name="Image 0" descr="/home/claude/swat-cps-project/assets/images/swat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371600"/>
            <a:ext cx="5029200" cy="42062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0040" y="55595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compromises HMI → direct EtherNet/IP access to all PLCs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5532120" y="1371600"/>
            <a:ext cx="6309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EtherNet/IP Has No Defence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532120" y="1874520"/>
            <a:ext cx="1188720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5532120" y="1874520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Auth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81228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device on the OT network can write CIP tags to any PLC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532120" y="2715768"/>
            <a:ext cx="1188720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6" name="Text 13"/>
          <p:cNvSpPr/>
          <p:nvPr/>
        </p:nvSpPr>
        <p:spPr>
          <a:xfrm>
            <a:off x="5532120" y="2715768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Plaintext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812280" y="273405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transferred in clear — Wireshark reveals everything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532120" y="3557016"/>
            <a:ext cx="1188720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5532120" y="3557016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Timestamp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812280" y="357530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cannot tell if a response is current or stale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532120" y="4398264"/>
            <a:ext cx="1188720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5532120" y="4398264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Integrity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812280" y="441655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values can be altered — PLC cannot detect manipulation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532120" y="5239512"/>
            <a:ext cx="1188720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5532120" y="5239512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Spec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812280" y="525780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 protocol fully documented — attacker has full spec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Reconnaissance &amp; Tag Discovery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phase0_recon.py  ·  pylogix tag enumeration from HMI  ·  ~30 min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371600"/>
            <a:ext cx="548640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9768" y="1463040"/>
            <a:ext cx="52669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Connectivity Test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29768" y="1755648"/>
            <a:ext cx="526694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python3 -c "from pylogix import PLC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PLC() as plc: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plc.IPAddress = '192.168.1.10'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r = plc.Read('HMI_LIT101.Pv')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print(r.Value, r.Status)"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" y="3401568"/>
            <a:ext cx="5486400" cy="1874520"/>
          </a:xfrm>
          <a:prstGeom prst="rect">
            <a:avLst/>
          </a:prstGeom>
          <a:solidFill>
            <a:srgbClr val="FAFAFA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" y="3493008"/>
            <a:ext cx="52669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Tag Enumeration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29768" y="3785616"/>
            <a:ext cx="526694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confirmed from lab: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HMI_LIT101.Pv        (REAL, mm)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AI_FIT_101_FLOW      (REAL, L/s)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HMI_MV101.Cmd        (1=CLOSE, 2=OPEN)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HMI_P101.Auto        (BOOL)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HMI_LIT101.Sim_PV    (spoofing)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89320" y="1371600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Files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989320" y="1783080"/>
            <a:ext cx="585216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80760" y="1847088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enip_db.pkl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80760" y="2121408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Timestamped tag value database (29,153 samples)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989320" y="2560320"/>
            <a:ext cx="585216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80760" y="2624328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recon_results.json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080760" y="2898648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 identity, tag list, initial values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89320" y="3337560"/>
            <a:ext cx="585216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80760" y="3401568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swat_capture.pcap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080760" y="3675888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EtherNet/IP packet capture (Scapy)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89320" y="420624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Value Ranges (19-Feb-2026 dataset, 29,153 samples)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989320" y="4526280"/>
            <a:ext cx="219456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62472" y="4526280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183880" y="4526280"/>
            <a:ext cx="9144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57032" y="452628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098280" y="4526280"/>
            <a:ext cx="9144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71432" y="452628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0012680" y="4526280"/>
            <a:ext cx="173736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85832" y="4526280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989320" y="4864608"/>
            <a:ext cx="219456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062472" y="4864608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HMI_LIT101.Pv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183880" y="4864608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57032" y="486460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480 mm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9098280" y="4864608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71432" y="486460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827 mm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0012680" y="4864608"/>
            <a:ext cx="173736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85832" y="4864608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600–800 mm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989320" y="5184648"/>
            <a:ext cx="21945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5184648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AI_FIT_101_FLOW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183880" y="5184648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57032" y="518464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 L/s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9098280" y="5184648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71432" y="518464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2.62 L/s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10012680" y="5184648"/>
            <a:ext cx="17373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85832" y="5184648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989320" y="5504688"/>
            <a:ext cx="21945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62472" y="5504688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HMI_MV101.Cmd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8183880" y="5504688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257032" y="550468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9098280" y="5504688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171432" y="550468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10012680" y="5504688"/>
            <a:ext cx="17373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85832" y="5504688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(OPEN)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Direct CIP Tag Injection from HMI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phase1_inject.py  ·  pylogix write to PLC1 @ 192.168.1.10  ·  No ARP poisoning needed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371600"/>
            <a:ext cx="5760720" cy="2377440"/>
          </a:xfrm>
          <a:prstGeom prst="rect">
            <a:avLst/>
          </a:prstGeom>
          <a:solidFill>
            <a:srgbClr val="FAFAFA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9768" y="1463040"/>
            <a:ext cx="55412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Commands (pylogix)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1480" y="1737360"/>
            <a:ext cx="5577840" cy="192024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1810512"/>
            <a:ext cx="5394960" cy="1773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Take MV101 out of auto, command CLOSE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plc.Write("HMI_MV101.Auto", False)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plc.Write("HMI_MV101.Cmd",  1)      # 1=CLOSE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Take P101 out of auto, command OFF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plc.Write("HMI_P101.Auto", False)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plc.Write("HMI_P101.Cmd",  1)      # 1=OFF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Loop every 1s for duration=120s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0040" y="3858768"/>
            <a:ext cx="5760720" cy="1463040"/>
          </a:xfrm>
          <a:prstGeom prst="rect">
            <a:avLst/>
          </a:prstGeom>
          <a:solidFill>
            <a:srgbClr val="FAFAF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9768" y="3950208"/>
            <a:ext cx="55412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State Restore (on exit)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4224528"/>
            <a:ext cx="5577840" cy="100584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4297680"/>
            <a:ext cx="5394960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plc.Write("HMI_MV101.Cmd",  2)  # 2=OPEN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plc.Write("HMI_MV101.Auto", True)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plc.Write("HMI_P101.Cmd",   2)  # 2=ON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plc.Write("HMI_P101.Auto",  True)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263640" y="1371600"/>
            <a:ext cx="5577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Effects on SWaT P1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63640" y="1737360"/>
            <a:ext cx="13716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36792" y="1737360"/>
            <a:ext cx="12252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635240" y="1737360"/>
            <a:ext cx="173736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08392" y="1737360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372600" y="1737360"/>
            <a:ext cx="237744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45752" y="1737360"/>
            <a:ext cx="22311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Effect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63640" y="2075688"/>
            <a:ext cx="13716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36792" y="2075688"/>
            <a:ext cx="12252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MV101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635240" y="2075688"/>
            <a:ext cx="17373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08392" y="2075688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→ CLOSED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372600" y="2075688"/>
            <a:ext cx="23774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445752" y="2075688"/>
            <a:ext cx="22311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Inlet valve closes, inflow stops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263640" y="2395728"/>
            <a:ext cx="13716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36792" y="2395728"/>
            <a:ext cx="12252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P101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635240" y="2395728"/>
            <a:ext cx="17373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08392" y="2395728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→ OFF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372600" y="2395728"/>
            <a:ext cx="23774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45752" y="2395728"/>
            <a:ext cx="22311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stops, outflow ceases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263640" y="2715768"/>
            <a:ext cx="13716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36792" y="2715768"/>
            <a:ext cx="12252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LIT101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635240" y="2715768"/>
            <a:ext cx="173736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708392" y="2715768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→ falling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372600" y="2715768"/>
            <a:ext cx="23774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445752" y="2715768"/>
            <a:ext cx="22311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~2–5 mm/min drop rate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263640" y="3035808"/>
            <a:ext cx="13716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36792" y="3035808"/>
            <a:ext cx="12252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FIT101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635240" y="3035808"/>
            <a:ext cx="173736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708392" y="3035808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&gt;0 → ≈0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9372600" y="3035808"/>
            <a:ext cx="23774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445752" y="3035808"/>
            <a:ext cx="22311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drops to zero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263640" y="3355848"/>
            <a:ext cx="13716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36792" y="3355848"/>
            <a:ext cx="12252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HMI display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35240" y="3355848"/>
            <a:ext cx="17373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708392" y="3355848"/>
            <a:ext cx="15910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(unaware)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9372600" y="3355848"/>
            <a:ext cx="23774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445752" y="3355848"/>
            <a:ext cx="22311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sees no change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263640" y="3822192"/>
            <a:ext cx="5577840" cy="1097280"/>
          </a:xfrm>
          <a:prstGeom prst="rect">
            <a:avLst/>
          </a:prstGeom>
          <a:solidFill>
            <a:srgbClr val="FFF3F3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55080" y="3913632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HMI has pre-existing trusted EtherNet/IP access to PLC1. Running from the HMI means no ARP poisoning, no MITM, no sudo required. University policy — code runs on HMI.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Adversarial Sensor Spoofing — Evading ML Detectors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phase2_spoof.py  ·  Castellanos et al., ACSAC 2020 (Paper #31)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371600"/>
            <a:ext cx="374904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9768" y="1463040"/>
            <a:ext cx="3529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29768" y="1755648"/>
            <a:ext cx="35295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causes LIT101 to drop and FIT101 to go to zero — the autoencoder notices these broken correlations and flags an anomaly.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06240" y="1371600"/>
            <a:ext cx="374904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15968" y="1463040"/>
            <a:ext cx="3529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315968" y="1755648"/>
            <a:ext cx="35295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encoder generates δ such that the victim AE sees low reconstruction error on (x + δ) — the sensor stream looks statistically normal despite the physical attack.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0" y="1371600"/>
            <a:ext cx="3639312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39328" y="146304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339328" y="1755648"/>
            <a:ext cx="3419856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||δ||∞ ≤ ε = 0.1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#31 result: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 evasion rate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standalone AE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0040" y="3456432"/>
            <a:ext cx="115488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Simulation Tag Interface (confirmed from lab)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3767328"/>
            <a:ext cx="5669280" cy="15544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840480"/>
            <a:ext cx="5486400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 simulation mode + inject spoofed value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plc.Write("HMI_LIT101.Sim",    True)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plc.Write("HMI_LIT101.Sim_PV", spoofed_value)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Repeat every 1s — AE sees perturbed stream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exit: disable simulation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0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plc.Write("HMI_LIT101.Sim", False)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080760" y="3456432"/>
            <a:ext cx="5760720" cy="1828800"/>
          </a:xfrm>
          <a:prstGeom prst="rect">
            <a:avLst/>
          </a:prstGeom>
          <a:solidFill>
            <a:srgbClr val="FAFAFA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90488" y="3547872"/>
            <a:ext cx="55412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Phase 2 Fails Against Our Hybrid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190488" y="3840480"/>
            <a:ext cx="5541264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perturbs sensor readings (LIT101, FIT101). But the invariant checker reads HMI_MV101.Cmd and HMI_P101.Auto directly from PLC coil registers — these are not perturbed by the simulation tags.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I-2: P101=ON but FIT101 &lt; 0.4 → VIOLATION — fires regardless of spoofed sensor values.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Implementation Scripts — Usage Reference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320040" y="1417320"/>
            <a:ext cx="11548872" cy="1444752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1417320"/>
            <a:ext cx="54864" cy="14447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481328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phase0_recon.py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1719072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discovery + baseline logging from HMI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1947672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attack/phase0_recon.py --plc-ip 192.168.1.10 --duration 1800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02920" y="2167128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deps: pylogix, scapy     out: enip_db.pkl  swat_capture.pcap  recon_results.json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0040" y="2990088"/>
            <a:ext cx="11548872" cy="1444752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" y="2990088"/>
            <a:ext cx="54864" cy="14447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3054096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phase1_inject.py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" y="3291840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CIP tag injection (no ARP/sudo needed)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3520440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attack/phase1_inject.py --plc-ip 192.168.1.10 --duration 120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02920" y="3739896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deps: pylogix     out: Console: injection cycles + safe-state restore on exit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20040" y="4562856"/>
            <a:ext cx="11548872" cy="1444752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" y="4562856"/>
            <a:ext cx="54864" cy="14447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4626864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phase2_spoof.py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4864608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AE sensor spoofing via Sim tags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2920" y="5093208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attack/phase2_spoof.py attack --plc-ip 192.168.1.10 --model adv_model.pt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02920" y="5312664"/>
            <a:ext cx="11365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deps: pylogix, torch, numpy     out: adv_model.pt (trained)  ·  live spoofed sensor writes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DAY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Before You Run — Lab Day Checklist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320040" y="1417320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417320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pylogix torch numpy pandas scikit-learn on HMI Ubuntu machine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1856232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856232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connectivity: python3 -c "from pylogix import PLC; plc=PLC(); plc.IPAddress='192.168.1.10'; print(plc.Read('HMI_LIT101.Pv').Value)"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" y="2295144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2951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tag names with lab engineer — run get_tag_list() if names differ from expected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" y="2734056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2734056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ae_model.pt and adv_model.pt copied to HMI from thumb drive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3172968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172968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iTrust lab engineer sign-off before running phase1_inject.py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" y="3611880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611880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must be physically present during all experiments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0040" y="4050792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4050792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5 terminal windows before starting demo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0040" y="4489704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48970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HMI IP address for slides/runbook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" y="4928616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928616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PLC1B (192.168.1.11) is reachable for failover step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20040" y="5367528"/>
            <a:ext cx="292608" cy="292608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5367528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phase0_recon.py first — confirm tag reads before injecting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4008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9200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46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6B6B"/>
                </a:solidFill>
                <a:latin typeface="Calibri"/>
              </a:rPr>
              <a:t>51.508 Secure Cyber Physical Systems  ·  SWaT Project  ·  iTrust Lab, SUTD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48640"/>
            <a:ext cx="1828800" cy="384048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864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SECTION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972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1A1A1A"/>
                </a:solidFill>
                <a:latin typeface="Calibri Light"/>
              </a:rPr>
              <a:t>Defending SWaT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29968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243C"/>
                </a:solidFill>
                <a:latin typeface="Calibri Light"/>
              </a:rPr>
              <a:t>Against False CIP Tag Injection from Compromised HMI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97480"/>
            <a:ext cx="2560320" cy="8686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697480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Layer 1
Process Invariant Checker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6120" y="2697480"/>
            <a:ext cx="2560320" cy="86868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2697480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Layer 2
Reconstruction Autoencoder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2697480"/>
            <a:ext cx="2560320" cy="86868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697480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Layer 3
Decision Fusion + Alert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73075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6B6B"/>
                </a:solidFill>
                <a:latin typeface="Calibri"/>
              </a:rPr>
              <a:t>Recovery:  Detect → Contain → Safe State → PLC Failover → Invariant-Verified Resume</a:t>
            </a:r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4160520"/>
            <a:ext cx="113690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Single-Layer Defenses Fail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layer alone is sufficient — the hybrid forces a harder constraint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5637276" cy="38404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1417320"/>
            <a:ext cx="56372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ML-Only Fails (Paper #31 Attack)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" y="1938528"/>
            <a:ext cx="73152" cy="731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3" name="Text 11"/>
          <p:cNvSpPr/>
          <p:nvPr/>
        </p:nvSpPr>
        <p:spPr>
          <a:xfrm>
            <a:off x="576072" y="1874520"/>
            <a:ext cx="530809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AE crafts δ minimising MSE reconstruction error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" y="2688336"/>
            <a:ext cx="73152" cy="731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" y="2624328"/>
            <a:ext cx="530809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Evasion rate ~94% at ε=0.1 on SWaT (Paper #31)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" y="3438144"/>
            <a:ext cx="73152" cy="731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/>
          <p:nvPr/>
        </p:nvSpPr>
        <p:spPr>
          <a:xfrm>
            <a:off x="576072" y="3374136"/>
            <a:ext cx="530809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Black-box: no model internals needed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29768" y="4187952"/>
            <a:ext cx="73152" cy="731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/>
          <p:nvPr/>
        </p:nvSpPr>
        <p:spPr>
          <a:xfrm>
            <a:off x="576072" y="4123944"/>
            <a:ext cx="530809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milliseconds — real-time EtherNet/IP compatible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31636" y="1417320"/>
            <a:ext cx="5637276" cy="38404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6231636" y="1417320"/>
            <a:ext cx="56372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Invariant-Only Fails (Paper #9 Attack)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41364" y="193852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3" name="Text 21"/>
          <p:cNvSpPr/>
          <p:nvPr/>
        </p:nvSpPr>
        <p:spPr>
          <a:xfrm>
            <a:off x="6487668" y="1874520"/>
            <a:ext cx="530809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24/36 SWaT attacks detected by invariants alone (Adepu 2016)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41364" y="2688336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5" name="Text 23"/>
          <p:cNvSpPr/>
          <p:nvPr/>
        </p:nvSpPr>
        <p:spPr>
          <a:xfrm>
            <a:off x="6487668" y="2624328"/>
            <a:ext cx="530809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can manipulate slowly within bounds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41364" y="3438144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7" name="Text 25"/>
          <p:cNvSpPr/>
          <p:nvPr/>
        </p:nvSpPr>
        <p:spPr>
          <a:xfrm>
            <a:off x="6487668" y="3374136"/>
            <a:ext cx="530809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sensor simulation bypasses pure statistical checks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341364" y="4187952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9" name="Text 27"/>
          <p:cNvSpPr/>
          <p:nvPr/>
        </p:nvSpPr>
        <p:spPr>
          <a:xfrm>
            <a:off x="6487668" y="4123944"/>
            <a:ext cx="530809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ML component — blind to novel multi-sensor drift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Hybrid Defense Architecture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cooperative layers — each compensates for the other's blind spots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Process Invariant Checker (invariant_checker.py)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PLC1 coil registers directly via pylogix. 8 invariants from SWaT P1 P&amp;ID. Cannot be fooled by Sim tag spoofing — checks HMI_MV101.Cmd, HMI_P101.Auto directly. Writes /tmp/inv_flag.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74320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74320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1635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Reconstruction Autoencoder (autoencoder_detector.py)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10896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19-Feb-2026 SWaT dataset (29,153 samples). Features: LIT101.Pv + AI_FIT_101_FLOW. Threshold = 0.000950 (95th pct of training MSE). Writes /tmp/ae_flag.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02336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02336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09651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Decision Fusion (fusion.py)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38912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1.5 × inv_flag + 1.0 × ae_flag. ALERT if score ≥ 1.5 for 3 consecutive cycles. Automatically launches recovery_agent.py on ALERT. Logs to fusion_log.json.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Layer 1 — Process Invariant Checker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Physics-based rules from SWaT P1 P&amp;ID — cannot be fooled by sensor simulation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4572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93192" y="1417320"/>
            <a:ext cx="3108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77240" y="1417320"/>
            <a:ext cx="201168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50392" y="141732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88920" y="1417320"/>
            <a:ext cx="210312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862072" y="1417320"/>
            <a:ext cx="19568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 Rule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892040" y="1417320"/>
            <a:ext cx="3081528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965192" y="1417320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Reason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1837943"/>
            <a:ext cx="45720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93192" y="1837943"/>
            <a:ext cx="3108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I-1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77240" y="1837943"/>
            <a:ext cx="201168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50392" y="1837943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MV101=OPEN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88920" y="1837943"/>
            <a:ext cx="210312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2862072" y="1837943"/>
            <a:ext cx="1956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FIT101 &gt; 0.4 L/s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892040" y="1837943"/>
            <a:ext cx="3081528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965192" y="1837943"/>
            <a:ext cx="29352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flows when valve open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" y="2258568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393192" y="2258568"/>
            <a:ext cx="3108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I-2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77240" y="2258568"/>
            <a:ext cx="20116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850392" y="2258568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P101=ON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88920" y="2258568"/>
            <a:ext cx="21031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862072" y="2258568"/>
            <a:ext cx="1956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FIT101 &gt; 0.3 L/s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892040" y="2258568"/>
            <a:ext cx="308152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965192" y="2258568"/>
            <a:ext cx="29352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drives positive flow — catches Phase 1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20040" y="2679191"/>
            <a:ext cx="45720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393192" y="2679191"/>
            <a:ext cx="3108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I-3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77240" y="2679191"/>
            <a:ext cx="201168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850392" y="2679191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P101=ON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788920" y="2679191"/>
            <a:ext cx="210312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862072" y="2679191"/>
            <a:ext cx="1956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LIT101 not falling rapidly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92040" y="2679191"/>
            <a:ext cx="3081528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4965192" y="2679191"/>
            <a:ext cx="29352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fills or holds tank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0040" y="3099815"/>
            <a:ext cx="45720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393192" y="3099815"/>
            <a:ext cx="3108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I-4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77240" y="3099815"/>
            <a:ext cx="201168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850392" y="3099815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LIT101 &gt; 800mm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788920" y="3099815"/>
            <a:ext cx="210312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2862072" y="3099815"/>
            <a:ext cx="1956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P101 OFF within 2 cycles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92040" y="3099815"/>
            <a:ext cx="3081528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4965192" y="3099815"/>
            <a:ext cx="29352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 protection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0040" y="3520439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393192" y="3520439"/>
            <a:ext cx="3108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I-5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7240" y="3520439"/>
            <a:ext cx="20116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850392" y="3520439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LIT101 &lt; 250mm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2788920" y="3520439"/>
            <a:ext cx="21031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2862072" y="3520439"/>
            <a:ext cx="1956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MV101 OPEN + P101 ON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892040" y="3520439"/>
            <a:ext cx="308152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4965192" y="3520439"/>
            <a:ext cx="29352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Dry-run protection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320040" y="3941064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393192" y="3941064"/>
            <a:ext cx="3108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I-6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77240" y="3941064"/>
            <a:ext cx="20116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850392" y="3941064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MV101=CLOSED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2788920" y="3941064"/>
            <a:ext cx="21031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2862072" y="3941064"/>
            <a:ext cx="1956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FIT101 &lt; 0.05 L/s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892040" y="3941064"/>
            <a:ext cx="308152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4965192" y="3941064"/>
            <a:ext cx="29352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flow when valve shut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320040" y="4361688"/>
            <a:ext cx="45720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393192" y="4361688"/>
            <a:ext cx="3108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I-7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77240" y="4361688"/>
            <a:ext cx="201168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850392" y="4361688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P101=ON + MV101=CLOSED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2788920" y="4361688"/>
            <a:ext cx="2103120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2862072" y="4361688"/>
            <a:ext cx="1956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VIOLATION (attack signature)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892040" y="4361688"/>
            <a:ext cx="3081528" cy="402336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73" name="Text 71"/>
          <p:cNvSpPr/>
          <p:nvPr/>
        </p:nvSpPr>
        <p:spPr>
          <a:xfrm>
            <a:off x="4965192" y="4361688"/>
            <a:ext cx="29352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physics state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320040" y="478231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393192" y="4782312"/>
            <a:ext cx="3108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I-8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777240" y="4782312"/>
            <a:ext cx="20116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77" name="Text 75"/>
          <p:cNvSpPr/>
          <p:nvPr/>
        </p:nvSpPr>
        <p:spPr>
          <a:xfrm>
            <a:off x="850392" y="4782312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P101=OFF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2788920" y="4782312"/>
            <a:ext cx="21031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2862072" y="4782312"/>
            <a:ext cx="1956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LIT101 non-increasing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892040" y="4782312"/>
            <a:ext cx="308152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1" name="Text 79"/>
          <p:cNvSpPr/>
          <p:nvPr/>
        </p:nvSpPr>
        <p:spPr>
          <a:xfrm>
            <a:off x="4965192" y="4782312"/>
            <a:ext cx="29352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Tank drains only if pump off</a:t>
            </a:r>
            <a:endParaRPr lang="en-US" sz="900" dirty="0"/>
          </a:p>
        </p:txBody>
      </p:sp>
      <p:sp>
        <p:nvSpPr>
          <p:cNvPr id="82" name="Rectangle 81"/>
          <p:cNvSpPr/>
          <p:nvPr/>
        </p:nvSpPr>
        <p:spPr>
          <a:xfrm>
            <a:off x="320040" y="5202936"/>
            <a:ext cx="7653528" cy="420624"/>
          </a:xfrm>
          <a:prstGeom prst="rect">
            <a:avLst/>
          </a:prstGeom>
          <a:solidFill>
            <a:srgbClr val="E8F5E9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20040" y="5202936"/>
            <a:ext cx="54864" cy="42062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93192" y="5294375"/>
            <a:ext cx="347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E7D32"/>
                </a:solidFill>
                <a:latin typeface="Calibri"/>
              </a:rPr>
              <a:t>I-9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0392" y="5221223"/>
            <a:ext cx="1901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E7D32"/>
                </a:solidFill>
                <a:latin typeface="Calibri"/>
              </a:rPr>
              <a:t>MV101=CLOSED AND P101=OFF
(300mm &lt; LIT101 &lt; 850mm)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862072" y="5221223"/>
            <a:ext cx="19933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E7D32"/>
                </a:solidFill>
                <a:latin typeface="Calibri"/>
              </a:rPr>
              <a:t>VIOLATION — Phase 1 attack
detected in &lt;1 second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965192" y="5221223"/>
            <a:ext cx="2971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Calibri"/>
              </a:rPr>
              <a:t>Both off simultaneously in normal operating range is impossible in SWaT. Direct signature of compromised HMI attack.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20040" y="4983479"/>
            <a:ext cx="2377440" cy="2011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38328" y="5084064"/>
            <a:ext cx="234086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★  NEW — Discovered via simulator testing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20040" y="5733288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E7D32"/>
                </a:solidFill>
                <a:latin typeface="Calibri"/>
              </a:rPr>
              <a:t>I-9 catches the Phase 1 attack immediately (&lt;1s) — without it, detection requires LIT101 to drop below 250mm (hours). Discovered empirically via PLC simulator testing.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Layer 2 — Reconstruction Autoencoder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normal SWaT data — flags deviations from learned correlations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143000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(20 dims = 2 features × 10 window) → Linear(32)→ReLU → Linear(16)→ReLU → Latent(8) → Linear(16)→ReLU → Linear(32)→ReLU → Output.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74320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743200"/>
            <a:ext cx="54864" cy="1143000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1635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10896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19-Feb-2026_0930_1735.csv (29,153 samples, 8.1 hours). Features: LIT101.Pv, AI_FIT_101_FLOW. 500 epochs, Adam lr=1e-3. Final loss: 0.001346. Threshold: 0.000950.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02336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023360"/>
            <a:ext cx="54864" cy="1143000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09651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AE Alone Fails (Paper #31)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38912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model trained to minimise victim AE reconstruction error. Perturbation δ constrained to ||δ||∞ ≤ 0.1. Bypasses AE in ~94% of cycles. Layer 1 invariant catches what AE misses.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Layer 3 — Decision Fusion &amp; Alert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both signals — minimises false positives while maximising coverage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201168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192" y="141732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inv_flag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31720" y="1417320"/>
            <a:ext cx="18288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04872" y="1417320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ae_flag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160520" y="1417320"/>
            <a:ext cx="64008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33672" y="1417320"/>
            <a:ext cx="4937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800600" y="1417320"/>
            <a:ext cx="18288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73752" y="1417320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629400" y="1417320"/>
            <a:ext cx="3081528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17320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0040" y="1737360"/>
            <a:ext cx="20116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93192" y="173736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TRIGGERED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31720" y="1737360"/>
            <a:ext cx="18288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04872" y="1737360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TRIGGERED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60520" y="1737360"/>
            <a:ext cx="6400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33672" y="1737360"/>
            <a:ext cx="4937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800600" y="1737360"/>
            <a:ext cx="18288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73752" y="1737360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ALERT HIGH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629400" y="1737360"/>
            <a:ext cx="3081528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02552" y="1737360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recovery pipeline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040" y="2176272"/>
            <a:ext cx="20116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93192" y="2176272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TRIGGERED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331720" y="2176272"/>
            <a:ext cx="18288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404872" y="2176272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Clean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160520" y="2176272"/>
            <a:ext cx="6400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33672" y="2176272"/>
            <a:ext cx="4937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800600" y="2176272"/>
            <a:ext cx="18288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73752" y="2176272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🟠 ALERT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629400" y="2176272"/>
            <a:ext cx="3081528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02552" y="2176272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+ log (Phase 1+2 scenario)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0040" y="2615184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3192" y="2615184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Clean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331720" y="2615184"/>
            <a:ext cx="18288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404872" y="2615184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TRIGGERED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160520" y="2615184"/>
            <a:ext cx="6400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233672" y="2615184"/>
            <a:ext cx="4937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00600" y="2615184"/>
            <a:ext cx="18288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73752" y="2615184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WARN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629400" y="2615184"/>
            <a:ext cx="308152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702552" y="2615184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— possible drift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0040" y="3054096"/>
            <a:ext cx="20116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93192" y="3054096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Clean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331720" y="3054096"/>
            <a:ext cx="18288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404872" y="3054096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Clean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160520" y="3054096"/>
            <a:ext cx="6400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233672" y="3054096"/>
            <a:ext cx="4937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800600" y="3054096"/>
            <a:ext cx="18288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73752" y="3054096"/>
            <a:ext cx="16824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NORMAL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629400" y="3054096"/>
            <a:ext cx="3081528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2552" y="3054096"/>
            <a:ext cx="29352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normal operation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320040" y="3611880"/>
            <a:ext cx="5486400" cy="13716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7200" y="3675888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Formula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457200" y="3977640"/>
            <a:ext cx="5212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1.5 × inv_flag + 1.0 × ae_flag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ALERT if score ≥ 1.5 for 3 consecutive cycles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5989320" y="3611880"/>
            <a:ext cx="5852160" cy="13716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26480" y="3675888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(SWaT)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6126480" y="3977640"/>
            <a:ext cx="5577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PLC polling: 1–2 seconds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6126480" y="4178808"/>
            <a:ext cx="5577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Invariant check: &lt;1 ms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126480" y="4379976"/>
            <a:ext cx="5577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AE inference: ~45 ms (CPU)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126480" y="4581144"/>
            <a:ext cx="5577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Detection latency: &lt;50 ms/cycle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6126480" y="4782312"/>
            <a:ext cx="5577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Alert after 3 cycles: 3–6 seconds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Attacker's Dilemma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AE evades ML layer — but cannot satisfy physics simultaneously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Phase 2 Can Do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Perturbs LIT101.Pv and AI_FIT_101_FLOW via HMI_LIT101.Sim_PV. The victim AE sees (x + δ) with low reconstruction error. AE flag stays 0 — Layer 2 is blind to the attack.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74320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74320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1635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Phase 2 Cannot Do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10896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change the actual PLC coil states HMI_MV101.Cmd=1 and HMI_P101.Auto=False. Layer 1 reads these registers directly. Invariant I-2 (P101=ON but FIT101 &lt; 0.4) fires regardless of Sim tag values.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02336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023360"/>
            <a:ext cx="54864" cy="11430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09651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Hybrid Wins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38912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score = 1.5 × 1 (inv) + 1.0 × 0 (ae evaded) = 1.5 → ALERT immediately. The attacker cannot simultaneously fool physics AND ML. Must choose one — and physics catches the other.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Recovery Pipeline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deterministic steps — from detection to verified normal operation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2148840" cy="50292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141732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Detect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468880" y="1508760"/>
            <a:ext cx="164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0040" y="1965960"/>
            <a:ext cx="2148840" cy="33832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057400"/>
            <a:ext cx="1965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score ≥ 1.5 for 3 cycles → log timestamp, sensor snapshot, alert details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651760" y="1417320"/>
            <a:ext cx="2148840" cy="50292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6" name="Text 14"/>
          <p:cNvSpPr/>
          <p:nvPr/>
        </p:nvSpPr>
        <p:spPr>
          <a:xfrm>
            <a:off x="2651760" y="141732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Contain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00600" y="1508760"/>
            <a:ext cx="164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651760" y="1965960"/>
            <a:ext cx="2148840" cy="33832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0" y="2057400"/>
            <a:ext cx="1965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iptables DROP port 44818. Isolate attacker process. VLAN isolation at L2 switch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983480" y="1417320"/>
            <a:ext cx="2148840" cy="50292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1" name="Text 19"/>
          <p:cNvSpPr/>
          <p:nvPr/>
        </p:nvSpPr>
        <p:spPr>
          <a:xfrm>
            <a:off x="4983480" y="141732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Safe State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32320" y="1508760"/>
            <a:ext cx="164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983480" y="1965960"/>
            <a:ext cx="2148840" cy="33832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74920" y="2057400"/>
            <a:ext cx="1965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pylogix writes to PLC1: MV101.Cmd=2(OPEN), P101.Cmd=2(ON)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315200" y="1417320"/>
            <a:ext cx="2148840" cy="5029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0" y="141732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PLC Failover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464040" y="1508760"/>
            <a:ext cx="164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15200" y="1965960"/>
            <a:ext cx="2148840" cy="33832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06640" y="2057400"/>
            <a:ext cx="1965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EtherNet/IP handshake activates PLC1B (192.168.1.11) as primary controller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646920" y="1417320"/>
            <a:ext cx="2148840" cy="50292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31" name="Text 29"/>
          <p:cNvSpPr/>
          <p:nvPr/>
        </p:nvSpPr>
        <p:spPr>
          <a:xfrm>
            <a:off x="9646920" y="141732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Verify &amp; Resume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9646920" y="1965960"/>
            <a:ext cx="2148840" cy="338328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738360" y="2057400"/>
            <a:ext cx="1965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 all 8 invariants. 5 consecutive clean cycles required before resuming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20040" y="548640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recovery target: &lt; 15 seconds from ALERT to verified safe state  ·  PLC1B failover &lt; 3 seconds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Safe State Table &amp; PLC Failover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actuator targets written to PLC registers before failover handshake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54864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192" y="1417320"/>
            <a:ext cx="402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68680" y="1417320"/>
            <a:ext cx="201168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1832" y="141732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880360" y="1417320"/>
            <a:ext cx="192024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53512" y="1417320"/>
            <a:ext cx="17739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Value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800600" y="1417320"/>
            <a:ext cx="219456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73752" y="1417320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Reason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995160" y="1417320"/>
            <a:ext cx="2167128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8312" y="1417320"/>
            <a:ext cx="20208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if Wrong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0040" y="1737360"/>
            <a:ext cx="5486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93192" y="1737360"/>
            <a:ext cx="402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68680" y="1737360"/>
            <a:ext cx="20116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41832" y="173736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MV101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880360" y="1737360"/>
            <a:ext cx="19202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53512" y="1737360"/>
            <a:ext cx="17739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→ OPEN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800600" y="1737360"/>
            <a:ext cx="219456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73752" y="1737360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tank to refill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995160" y="1737360"/>
            <a:ext cx="2167128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68312" y="1737360"/>
            <a:ext cx="20208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Tank starvation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040" y="2194560"/>
            <a:ext cx="5486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93192" y="2194560"/>
            <a:ext cx="402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68680" y="2194560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41832" y="219456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P101 / P102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880360" y="2194560"/>
            <a:ext cx="19202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53512" y="2194560"/>
            <a:ext cx="17739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800600" y="2194560"/>
            <a:ext cx="21945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73752" y="2194560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 dry-run damage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995160" y="2194560"/>
            <a:ext cx="216712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068312" y="2194560"/>
            <a:ext cx="20208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cavitation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0040" y="2651760"/>
            <a:ext cx="5486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3192" y="2651760"/>
            <a:ext cx="402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868680" y="2651760"/>
            <a:ext cx="20116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41832" y="265176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P201–P206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80360" y="2651760"/>
            <a:ext cx="19202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53512" y="2651760"/>
            <a:ext cx="17739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OFF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00600" y="2651760"/>
            <a:ext cx="219456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73752" y="2651760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dosing without P1 feed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995160" y="2651760"/>
            <a:ext cx="2167128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068312" y="2651760"/>
            <a:ext cx="20208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 overdose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0040" y="3108960"/>
            <a:ext cx="5486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93192" y="3108960"/>
            <a:ext cx="402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68680" y="3108960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41832" y="310896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MV301 / P301/302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2880360" y="3108960"/>
            <a:ext cx="19202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953512" y="3108960"/>
            <a:ext cx="17739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/ OFF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800600" y="3108960"/>
            <a:ext cx="21945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73752" y="3108960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UF feed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995160" y="3108960"/>
            <a:ext cx="216712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068312" y="3108960"/>
            <a:ext cx="20208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Membrane pressure spike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320040" y="3566160"/>
            <a:ext cx="5486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93192" y="3566160"/>
            <a:ext cx="402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868680" y="3566160"/>
            <a:ext cx="201168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41832" y="356616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UV401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2880360" y="3566160"/>
            <a:ext cx="192024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953512" y="3566160"/>
            <a:ext cx="17739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4800600" y="3566160"/>
            <a:ext cx="219456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873752" y="3566160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water to treat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995160" y="3566160"/>
            <a:ext cx="2167128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068312" y="3566160"/>
            <a:ext cx="20208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element overheating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0040" y="4023360"/>
            <a:ext cx="5486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93192" y="4023360"/>
            <a:ext cx="4023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P6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868680" y="4023360"/>
            <a:ext cx="20116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41832" y="4023360"/>
            <a:ext cx="18653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P602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2880360" y="4023360"/>
            <a:ext cx="19202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953512" y="4023360"/>
            <a:ext cx="177393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4800600" y="4023360"/>
            <a:ext cx="21945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873752" y="4023360"/>
            <a:ext cx="20482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 pump off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6995160" y="4023360"/>
            <a:ext cx="2167128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068312" y="4023360"/>
            <a:ext cx="202082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Membrane damage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320040" y="4617720"/>
            <a:ext cx="11548872" cy="1097280"/>
          </a:xfrm>
          <a:prstGeom prst="rect">
            <a:avLst/>
          </a:prstGeom>
          <a:solidFill>
            <a:srgbClr val="F0FFF4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57200" y="4709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PLC1B Failover: SWaT runs dual PLCs per stage. After safe state is written to PLC1A, PLC1B (192.168.1.11) takes control via EtherNet/IP handshake. PLC1B has identical ladder logic and resumes from the last safe register state. PLC1A is isolated until re-verified.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Defense Implementation &amp; Evaluation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artifacts and expected metrics for the iTrust Lab demo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1430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Rate (DR)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&gt;95% for hybrid. Baseline: invariant-only ~67%, AE-only ~72%. Hybrid covers what neither catches alone.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74320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743200"/>
            <a:ext cx="54864" cy="11430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81635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 Rate (FPR)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10896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&lt;3% for hybrid. 95th percentile threshold keeps AE FPR &lt;5%. 3-cycle confirmation window reduces inv false alarms.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023360"/>
            <a:ext cx="11548872" cy="11430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023360"/>
            <a:ext cx="54864" cy="11430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09651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Time (RT)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389120"/>
            <a:ext cx="11365992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&lt;15 seconds from ALERT to verified safe state. PLC1B failover &lt;3s. Five clean invariant cycles ~5s.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References (Defense)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463040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S. Adepu &amp; A. Mathur. "Using Process Invariants to Detect Cyber Attacks on a Water Treatment System." IFIP SEC 2016. (Paper #88)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20040" y="2212848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J. H. Castellanos et al. "Constrained Concealment Attacks against Reconstruction-based Anomaly Detectors in ICS." ACM ACSAC 2020. (Paper #31)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20040" y="2962656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S. Adepu &amp; A. Mathur. "Distributed Detection of Single-Stage Multipoint Cyber Attacks." ACM AsiaCCS 2016.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0040" y="3712464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C. M. Ahmed, J. Zhou &amp; A. P. Mathur. "Attacking Fieldbus Communications in ICS." SG-CRC 2016.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20040" y="4462272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iTrust, SUTD. "SWaT: Secure Water Treatment Testbed." https://itrust.sutd.edu.sg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4008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9200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46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6B6B"/>
                </a:solidFill>
                <a:latin typeface="Calibri"/>
              </a:rPr>
              <a:t>51.508 Secure Cyber Physical Systems  ·  SWaT Project  ·  iTrust Lab, SUTD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48640"/>
            <a:ext cx="1828800" cy="384048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864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SECTION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972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A1A1A"/>
                </a:solidFill>
                <a:latin typeface="Calibri Light"/>
              </a:rPr>
              <a:t>CPS Cyber Attack Recovery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29968"/>
            <a:ext cx="9144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243C"/>
                </a:solidFill>
                <a:latin typeface="Calibri Light"/>
              </a:rPr>
              <a:t>Methods, Taxonomy &amp; Application to SWaT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97480"/>
            <a:ext cx="2560320" cy="8686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697480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Shallow Recovery
Safe-state + failover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6120" y="2697480"/>
            <a:ext cx="2560320" cy="868680"/>
          </a:xfrm>
          <a:prstGeom prst="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2697480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Deep Recovery
Dedicated controller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2697480"/>
            <a:ext cx="2560320" cy="8686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697480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State Estimation
Kalman / Luenberger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520" y="2697480"/>
            <a:ext cx="2560320" cy="86868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32520" y="2697480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NIST SP 800-82r3
OT incident response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749039"/>
            <a:ext cx="11369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alibri"/>
              </a:rPr>
              <a:t>Key finding (ACM Survey 2024): Most CPS research focuses on detection — recovery is the least studied phase.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4187952"/>
            <a:ext cx="113690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Recovery Taxonomy: Shallow vs Deep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 Computing Surveys (2024) — two fundamental strategies identified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5637276" cy="38404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1417320"/>
            <a:ext cx="56372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Shallow Recovery (Ours — Deployable Now)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" y="193852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3" name="Text 11"/>
          <p:cNvSpPr/>
          <p:nvPr/>
        </p:nvSpPr>
        <p:spPr>
          <a:xfrm>
            <a:off x="576072" y="187452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Safe-State Transition: deterministic lookup → write to PLC registers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" y="276148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" y="269748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Hot-Standby PLC Failover: EtherNet/IP handshake → PLC1B &lt; 3s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" y="358444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7" name="Text 15"/>
          <p:cNvSpPr/>
          <p:nvPr/>
        </p:nvSpPr>
        <p:spPr>
          <a:xfrm>
            <a:off x="576072" y="352044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Isolation: iptables + VLAN at L2 switch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29768" y="440740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9" name="Text 17"/>
          <p:cNvSpPr/>
          <p:nvPr/>
        </p:nvSpPr>
        <p:spPr>
          <a:xfrm>
            <a:off x="576072" y="434340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&amp; Restore: HMI historian snapshot rollback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31636" y="1417320"/>
            <a:ext cx="5637276" cy="3840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231636" y="1417320"/>
            <a:ext cx="56372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Recovery (Research Extension)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41364" y="1938528"/>
            <a:ext cx="73152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3" name="Text 21"/>
          <p:cNvSpPr/>
          <p:nvPr/>
        </p:nvSpPr>
        <p:spPr>
          <a:xfrm>
            <a:off x="6487668" y="187452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State Estimation: Luenberger/Kalman observer reconstructs true state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41364" y="2761488"/>
            <a:ext cx="73152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5" name="Text 23"/>
          <p:cNvSpPr/>
          <p:nvPr/>
        </p:nvSpPr>
        <p:spPr>
          <a:xfrm>
            <a:off x="6487668" y="269748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Predictive Control Recovery (He et al. 2021): resilient MPC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41364" y="3584448"/>
            <a:ext cx="73152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487668" y="352044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 Mode Observer: reconstructs sensor/actuator attacks online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341364" y="4407408"/>
            <a:ext cx="73152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9" name="Text 27"/>
          <p:cNvSpPr/>
          <p:nvPr/>
        </p:nvSpPr>
        <p:spPr>
          <a:xfrm>
            <a:off x="6487668" y="434340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Invariant-Guided Reconstruction: physics-constrained sensor re-entry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Secure State Estimation (SSE) Methods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academic methods for reconstructing plant state under sensor attack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23444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Luenberger Observer (Lu &amp; Yang, Info. Sci. 2017)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Augments system state with attack signals. Switched observer selects attack-free sensor subsets. Guarantees exponential convergence under sparse attacks. Requires linear P1 hydraulic model.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8346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834640"/>
            <a:ext cx="54864" cy="123444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9077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Kalman-based Secure Estimator (Chang, Hu &amp; Tomlin, 2015)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2004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Treats attack as sparse coding error. Recovers true state if system is 2s-sparse observable. Extended Kalman generalises to nonlinear SWaT tank dynamics.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2062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206240"/>
            <a:ext cx="54864" cy="123444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2793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 Mode Observer (SMO, 2016)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5720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Finite-time convergent observer. Reconstructs both sensor and actuator attacks online. Super-twisting variant handles time-varying attacks without a priori attack model.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Fundamental Limit: 2s-Sparse Observability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sensors can be corrupted before state reconstruction becomes impossible?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23444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Theorem (Shoukry &amp; Tabuada, IEEE TAC 2016)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state uniquely recoverable despite attacks on ≤ s sensors IF AND ONLY IF the system remains observable after removing any 2s sensor rows from C. This is called 2s-sparse observability.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8346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834640"/>
            <a:ext cx="54864" cy="123444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9077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 P1 Sparse Observability Analysis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2004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has 5 sensors/actuators. Phase 1 targets MV101 + P101 coils (2 sensors). Need 2×1=2-sparse observability. P1 satisfies this: FIT101 + LIT101 + process ODE fully determine tank state.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2062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206240"/>
            <a:ext cx="54864" cy="123444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2793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Implication for Recovery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5720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if both MV101 and P101 coil reads are compromised, LIT101.Pv and AI_FIT_101_FLOW plus the ODE model can reconstruct the true plant state during recovery.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Proposed: Invariant-Guided Sensor Reconstruction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SWaT-specific deep recovery — physics-constrained re-entry after safe state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2344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Tank ODE Model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dL/dt = (Q_in - Q_out) / A_tank  where  Q_in = MV101_state × FIT101, Q_out = P101_state × rated_flow, A_tank ≈ 1.5 m². In safe state: pumps OFF → dL/dt = 0 → LIT101 predictable.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8346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834640"/>
            <a:ext cx="54864" cy="12344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9077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Sensor Re-entry Algorithm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2004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Steps: 1) Reach safe state. 2) Isolate attack channel. 3) Reconstruct LIT101 from ODE. 4) Re-enable FIT101 first (reads ~0 — valve closed). 5) Accept each sensor only if all 8 invariants pass for 5+ cycles.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2062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206240"/>
            <a:ext cx="54864" cy="12344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2793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5720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may still have Sim tags active during recovery window. Invariant-gated acceptance rejects spoofed readings before they reach PLC control loop. No external trusted sensor needed — ODE provides ground truth.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NIST SP 800-82r3 Alignment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recovery design maps directly to OT security framework principles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23444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RC.RP-1: Recovery plan executed automatically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recovery_agent.py launches automatically on ALERT — no human in the loop for Phase 1 containment. Pre-coded, tested, deterministic.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8346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834640"/>
            <a:ext cx="54864" cy="123444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9077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RS.CO-3: Consistent stakeholder communication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2004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SCADA HMI alarm triggers notification. PLC1B takeover reflected in all monitoring dashboards within 1 cycle.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2062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206240"/>
            <a:ext cx="54864" cy="123444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2793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RS.AN-1: Detection notifications investigated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5720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engine logs: which layer fired, sensor snapshot at T=alert — sufficient for post-incident forensic root cause analysis.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Real-World Recovery Case Studies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happened in water/ICS attacks — lessons for SWaT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23444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💧 Oldsmar, Florida (Feb 2021)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Attack: remote NaOH modification to 111× normal via TeamViewer. Recovery: operator noticed cursor moving — manual revert. Lesson: human-in-the-loop worked, but automated alert would have fired faster.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8346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834640"/>
            <a:ext cx="54864" cy="123444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9077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🏭 Texas Water Utilities (Apr 2024)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2004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Attack: Unitronics PLCs targeted, tank overflowed. Recovery: manual override, days to verify integrity. Lesson: no hot-standby PLC, no automated safe-state — recovery took days vs our &lt;15s target.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2062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206240"/>
            <a:ext cx="54864" cy="123444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2793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⚛️ Stuxnet (Natanz, 2009–2010)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5720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Attack: centrifuge speed manipulation + HMI spoofing. Recovery: none — no invariant checker. Lesson: I-7 equivalent would have caught actuator/sensor inconsistency in &lt;3 cycles.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Recovery Methods — Comparison Matrix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methods against SWaT constraints: real-time PLC, EtherNet/IP attack, sensor spoofing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256032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192" y="1417320"/>
            <a:ext cx="24140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880360" y="1417320"/>
            <a:ext cx="9144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53512" y="141732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794760" y="1417320"/>
            <a:ext cx="9144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67912" y="141732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09160" y="1417320"/>
            <a:ext cx="9144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82312" y="141732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Spoofing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623560" y="1417320"/>
            <a:ext cx="9144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96712" y="141732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537960" y="1417320"/>
            <a:ext cx="1143000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11112" y="1417320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Paper#9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680960" y="1417320"/>
            <a:ext cx="1124712" cy="320040"/>
          </a:xfrm>
          <a:prstGeom prst="rect">
            <a:avLst/>
          </a:prstGeom>
          <a:solidFill>
            <a:srgbClr val="E8243C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54112" y="1417320"/>
            <a:ext cx="978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Paper#31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0040" y="1737360"/>
            <a:ext cx="256032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3192" y="1737360"/>
            <a:ext cx="24140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State + Failover (Ours)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880360" y="1737360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53512" y="173736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15s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794760" y="1737360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67912" y="173736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09160" y="1737360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82312" y="173736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623560" y="1737360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96712" y="173736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537960" y="1737360"/>
            <a:ext cx="11430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11112" y="1737360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680960" y="1737360"/>
            <a:ext cx="1124712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54112" y="1737360"/>
            <a:ext cx="978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0040" y="2231136"/>
            <a:ext cx="25603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3192" y="2231136"/>
            <a:ext cx="24140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&amp; Restore (Kong 2018)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2880360" y="2231136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53512" y="2231136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794760" y="2231136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867912" y="2231136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709160" y="2231136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82312" y="2231136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623560" y="2231136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96712" y="2231136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HMI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537960" y="2231136"/>
            <a:ext cx="11430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11112" y="2231136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80960" y="2231136"/>
            <a:ext cx="1124712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754112" y="2231136"/>
            <a:ext cx="978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0040" y="2724912"/>
            <a:ext cx="256032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93192" y="2724912"/>
            <a:ext cx="24140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Luenberger SSE (Lu 2017)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2880360" y="2724912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953512" y="2724912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cycles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794760" y="2724912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867912" y="2724912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709160" y="2724912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82312" y="2724912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623560" y="2724912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696712" y="2724912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537960" y="2724912"/>
            <a:ext cx="11430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611112" y="2724912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680960" y="2724912"/>
            <a:ext cx="1124712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54112" y="2724912"/>
            <a:ext cx="978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320040" y="3218688"/>
            <a:ext cx="256032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93192" y="3218688"/>
            <a:ext cx="24140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Kalman Secure Est. (Chang 2015)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2880360" y="3218688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953512" y="321868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cycles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794760" y="3218688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867912" y="321868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709160" y="3218688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82312" y="321868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5623560" y="3218688"/>
            <a:ext cx="9144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696712" y="3218688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6537960" y="3218688"/>
            <a:ext cx="1143000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611112" y="3218688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7680960" y="3218688"/>
            <a:ext cx="1124712" cy="3200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754112" y="3218688"/>
            <a:ext cx="978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320040" y="3712464"/>
            <a:ext cx="25603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93192" y="3712464"/>
            <a:ext cx="24140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 Mode Obs.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2880360" y="3712464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953512" y="3712464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cycle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3794760" y="3712464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3867912" y="3712464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4709160" y="3712464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782312" y="3712464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Explicit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5623560" y="3712464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696712" y="3712464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537960" y="3712464"/>
            <a:ext cx="11430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611112" y="3712464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7680960" y="3712464"/>
            <a:ext cx="1124712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754112" y="3712464"/>
            <a:ext cx="978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Best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320040" y="4206240"/>
            <a:ext cx="25603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93192" y="4206240"/>
            <a:ext cx="24140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Inv-Guided Re-entry (Proposed)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2880360" y="420624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2953512" y="420624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30s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3794760" y="420624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3867912" y="420624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 only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4709160" y="420624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782312" y="420624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5623560" y="420624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5696712" y="4206240"/>
            <a:ext cx="7680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6537960" y="4206240"/>
            <a:ext cx="11430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611112" y="4206240"/>
            <a:ext cx="9966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7680960" y="4206240"/>
            <a:ext cx="1124712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7754112" y="4206240"/>
            <a:ext cx="978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</a:t>
            </a:r>
            <a:endParaRPr lang="en-US" sz="900" dirty="0"/>
          </a:p>
        </p:txBody>
      </p:sp>
      <p:sp>
        <p:nvSpPr>
          <p:cNvPr id="108" name="Text 106"/>
          <p:cNvSpPr/>
          <p:nvPr/>
        </p:nvSpPr>
        <p:spPr>
          <a:xfrm>
            <a:off x="320040" y="571500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Recommended: Shallow (Safe State + Failover) immediately. Layer in Invariant-Guided Re-entry. Luenberger SSE for academic deep recovery.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Integrated Recovery Architecture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Shallow + deep recovery in a single automated pipeline triggered by hybrid detector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463040"/>
            <a:ext cx="54864" cy="12344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5361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Shallow Recovery (Immediate, Deployed)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8288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recovery_agent.py runs automatically on ALERT. iptables block, safe-state CIP writes, PLC1B EtherNet/IP handshake. Total target: &lt;15 seconds. No additional development needed.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8346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2834640"/>
            <a:ext cx="54864" cy="12344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9077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Deep Recovery (Research Extension)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32004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Luenberger SSE runs on parallel thread. Reconstructs LIT101/FIT101 from uncorrupted sensor subset. ODE-based LIT101 prediction. Invariant-guided sensor re-entry gates acceptance.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4206240"/>
            <a:ext cx="11548872" cy="12344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" y="4206240"/>
            <a:ext cx="54864" cy="12344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279392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4572000"/>
            <a:ext cx="1136599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0s: ALERT → &lt;3s: Contain → &lt;5s: Safe State → &lt;8s: PLC1B Failover → &lt;30s: SSE Reconstruction → &lt;60s: Full Automated Resume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Implementation Plan &amp; Open Challenges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051560"/>
            <a:ext cx="11548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built now vs what remains as open research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5637276" cy="38404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1417320"/>
            <a:ext cx="56372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Buildable Now — Deliverables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" y="193852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3" name="Text 11"/>
          <p:cNvSpPr/>
          <p:nvPr/>
        </p:nvSpPr>
        <p:spPr>
          <a:xfrm>
            <a:off x="576072" y="187452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recovery_agent.py — automated 5-step pipeline (READY)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" y="276148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" y="269748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ode_estimator.py — LIT101 ODE integrator (READY)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" y="358444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7" name="Text 15"/>
          <p:cNvSpPr/>
          <p:nvPr/>
        </p:nvSpPr>
        <p:spPr>
          <a:xfrm>
            <a:off x="576072" y="352044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reentry_gate.py — invariant-gated sensor re-entry (READY)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29768" y="4407408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9" name="Text 17"/>
          <p:cNvSpPr/>
          <p:nvPr/>
        </p:nvSpPr>
        <p:spPr>
          <a:xfrm>
            <a:off x="576072" y="434340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integration test on SWaT testbed (DEMO)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31636" y="1417320"/>
            <a:ext cx="5637276" cy="38404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231636" y="1417320"/>
            <a:ext cx="56372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Research Challenges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41364" y="1938528"/>
            <a:ext cx="73152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3" name="Text 21"/>
          <p:cNvSpPr/>
          <p:nvPr/>
        </p:nvSpPr>
        <p:spPr>
          <a:xfrm>
            <a:off x="6487668" y="187452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ID for SWaT P1: Luenberger SSE needs state-space matrices (A,B,C)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341364" y="2761488"/>
            <a:ext cx="73152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5" name="Text 23"/>
          <p:cNvSpPr/>
          <p:nvPr/>
        </p:nvSpPr>
        <p:spPr>
          <a:xfrm>
            <a:off x="6487668" y="269748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Multi-stage cascading recovery (Paper #9 can attack all 6 stages)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41364" y="3584448"/>
            <a:ext cx="73152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487668" y="352044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recovery evasion: attacker spoofs ODE predictions during re-entry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341364" y="4407408"/>
            <a:ext cx="73152" cy="7315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9" name="Text 27"/>
          <p:cNvSpPr/>
          <p:nvPr/>
        </p:nvSpPr>
        <p:spPr>
          <a:xfrm>
            <a:off x="6487668" y="4343400"/>
            <a:ext cx="530809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real-time guarantees for PLC embedded environments (RTAS venue)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51.508 Secure Cyber Physical Systems  ·  SWaT Project  ·  iTrust Lab, SUTD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solidFill>
            <a:srgbClr val="E8243C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09728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457200"/>
            <a:ext cx="11548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Recovery Research References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0040" y="1463040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[R1] ACM Computing Surveys 2024. "Recovery from Adversarial Attacks in CPS." doi:10.1145/3653974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20040" y="2212848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[R2] A. Y. Lu &amp; G. H. Yang. "Secure State Estimation for CPS under Sparse Sensor Attacks via Switched Luenberger Observer." Info. Sci. 417, 2017.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20040" y="2962656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[R3] Y. Shoukry &amp; P. Tabuada. "Event-Triggered State Observers for Sparse Sensor Noise/Attacks." IEEE TAC 61(8), 2016.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0040" y="3712464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[R4] Y. H. Chang, Q. Hu &amp; C. Tomlin. "Secure Estimation based Kalman Filter for CPS against Adversarial Attacks." ArXiv 2015.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20040" y="4462272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[R5] NIST SP 800-82 Revision 3. "Guide to Operational Technology (OT) Security." September 2023.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20040" y="5212080"/>
            <a:ext cx="1154887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[R6] F. Kong et al. "Cyber-Physical System Checkpointing and Recovery." ICCPS 2018.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4574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6B6B"/>
                </a:solidFill>
                <a:latin typeface="Calibri"/>
              </a:rPr>
              <a:t>51.508 Secure CPS  ·  SWaT Project  ·  iTrust Lab, SUTD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48640"/>
            <a:ext cx="2103120" cy="384048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8640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BROADER 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1A1A1A"/>
                </a:solidFill>
                <a:latin typeface="Calibri Light"/>
              </a:rPr>
              <a:t>Beyond Stage 1: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3852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8243C"/>
                </a:solidFill>
                <a:latin typeface="Calibri Light"/>
              </a:rPr>
              <a:t>What Happens When the Water Stops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06040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B6B6B"/>
                </a:solidFill>
                <a:latin typeface="Calibri"/>
              </a:rPr>
              <a:t>Our demo is a proof-of-concept on P1. The same attack pattern
scales across all 6 stages and can cripple the entire plant from one compromised HMI.</a:t>
            </a:r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337560"/>
            <a:ext cx="11365992" cy="274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" y="6062472"/>
            <a:ext cx="113659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6B6B6B"/>
                </a:solidFill>
                <a:latin typeface="Calibri"/>
              </a:rPr>
              <a:t>SWaT 6-stage water treatment testbed — iTrust Lab, SUTD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6B6B"/>
                </a:solidFill>
                <a:latin typeface="Calibri"/>
              </a:rPr>
              <a:t>51.508 Secure CPS  ·  SWaT Project  ·  iTrust Lab, SUTD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9728"/>
            <a:ext cx="1737360" cy="292608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972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BROADER 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57200"/>
            <a:ext cx="115488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Calibri Light"/>
              </a:rPr>
              <a:t>The Cascade Effect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005840"/>
            <a:ext cx="11548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6B6B6B"/>
                </a:solidFill>
                <a:latin typeface="Calibri"/>
              </a:rPr>
              <a:t>Starve Stage 1 — every downstream stage fails in sequence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53312"/>
            <a:ext cx="4937760" cy="425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004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6B6B6B"/>
                </a:solidFill>
                <a:latin typeface="Calibri"/>
              </a:rPr>
              <a:t>SWaT network — 6 stages, each with independent PLC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68112" y="1353312"/>
            <a:ext cx="6400800" cy="749808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1408176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P1 — Raw Water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1700784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MV101 CLOSED, P101 OFF → T101 drains → zero feed to P2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68112" y="2212848"/>
            <a:ext cx="6400800" cy="74980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77840" y="226771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P2 — Pre-Treatment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256032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Dosing pumps inject chemicals into empty pipe → concentration spike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68112" y="3072384"/>
            <a:ext cx="6400800" cy="749808"/>
          </a:xfrm>
          <a:prstGeom prst="rect">
            <a:avLst/>
          </a:prstGeom>
          <a:solidFill>
            <a:srgbClr val="AD1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77840" y="3127248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P3 — Ultrafiltration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3419856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P301 runs dry → cavitation → UF pump destroyed in minutes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68112" y="3931920"/>
            <a:ext cx="6400800" cy="749808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77840" y="3986783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P4/P5 — RO System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0" y="4279392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High-pressure membranes lose flow → pressure swings → seal damage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68112" y="4791456"/>
            <a:ext cx="6400800" cy="7498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484632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P6 — Product Water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7840" y="5138928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LIT601 drops → LIT602 drops → plant-wide emergency shutdown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5806440"/>
            <a:ext cx="11548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8243C"/>
                </a:solidFill>
                <a:latin typeface="Calibri"/>
              </a:rPr>
              <a:t>One compromised HMI. One valve closed. The cascade does the rest.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6B6B"/>
                </a:solidFill>
                <a:latin typeface="Calibri"/>
              </a:rPr>
              <a:t>51.508 Secure CPS  ·  SWaT Project  ·  iTrust Lab, SUTD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9728"/>
            <a:ext cx="1737360" cy="292608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972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BROADER 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57200"/>
            <a:ext cx="115488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Calibri Light"/>
              </a:rPr>
              <a:t>The Attack Generalises to All 6 Stages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005840"/>
            <a:ext cx="11548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6B6B6B"/>
                </a:solidFill>
                <a:latin typeface="Calibri"/>
              </a:rPr>
              <a:t>Same two-line pylogix write — different PLC IP and tag names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325880"/>
            <a:ext cx="7040880" cy="4709160"/>
          </a:xfrm>
          <a:prstGeom prst="rect">
            <a:avLst/>
          </a:prstGeom>
          <a:solidFill>
            <a:srgbClr val="0D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417320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ourier New"/>
              </a:rPr>
              <a:t># Stage 1 — Raw Water       (PLC1: 192.168.1.10)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59636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FF88"/>
                </a:solidFill>
                <a:latin typeface="Courier New"/>
              </a:rPr>
              <a:t>plc.Write('HMI_MV101.Auto', False);  plc.Write('HMI_MV101.Cmd', 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01952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FF88"/>
                </a:solidFill>
                <a:latin typeface="Courier New"/>
              </a:rPr>
              <a:t>plc.Write('HMI_P101.Auto',  False);  plc.Write('HMI_P101.Cmd',  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14426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ourier New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386584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ourier New"/>
              </a:rPr>
              <a:t># Stage 2 — Pre-Treatment   (PLC2: 192.168.1.20)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628900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FF88"/>
                </a:solidFill>
                <a:latin typeface="Courier New"/>
              </a:rPr>
              <a:t>plc.Write('HMI_MV201.Auto', False);  plc.Write('HMI_MV201.Cmd', 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871216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FF88"/>
                </a:solidFill>
                <a:latin typeface="Courier New"/>
              </a:rPr>
              <a:t>plc.Write('HMI_P201.Auto',  False);  plc.Write('HMI_P201.Cmd',  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113532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ourier New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35584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ourier New"/>
              </a:rPr>
              <a:t># Stage 3 — Ultrafiltration (PLC3: 192.168.1.30)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598164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FF88"/>
                </a:solidFill>
                <a:latin typeface="Courier New"/>
              </a:rPr>
              <a:t>plc.Write('HMI_P301.Auto',  False);  plc.Write('HMI_P301.Cmd',  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840480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ourier New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82796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ourier New"/>
              </a:rPr>
              <a:t># Stage 4 — De-Chlorination (PLC4: 192.168.1.40)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325112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FF88"/>
                </a:solidFill>
                <a:latin typeface="Courier New"/>
              </a:rPr>
              <a:t>plc.Write('HMI_UV401.Auto', False);  plc.Write('HMI_UV401.Cmd', 1)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56742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ourier New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09744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ourier New"/>
              </a:rPr>
              <a:t># Stage 5 — Reverse Osmosis (PLC5: 192.168.1.50)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052060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FF88"/>
                </a:solidFill>
                <a:latin typeface="Courier New"/>
              </a:rPr>
              <a:t>plc.Write('HMI_P501.Auto',  False);  plc.Write('HMI_P501.Cmd',  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294376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ourier New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536692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ourier New"/>
              </a:rPr>
              <a:t># Stage 6 — Product Water   (PLC6: 192.168.1.60)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7790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FF88"/>
                </a:solidFill>
                <a:latin typeface="Courier New"/>
              </a:rPr>
              <a:t>plc.Write('HMI_P601.Auto',  False);  plc.Write('HMI_P601.Cmd',  1)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43800" y="1325880"/>
            <a:ext cx="4325112" cy="1481328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62672" y="1417320"/>
            <a:ext cx="4160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No exploits needed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62672" y="1783080"/>
            <a:ext cx="4160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Standard pylogix writes — same tool operators use daily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3800" y="2907791"/>
            <a:ext cx="4325112" cy="148132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62672" y="2999232"/>
            <a:ext cx="4160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All 6 PLCs exposed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62672" y="3364991"/>
            <a:ext cx="4160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HMI has pre-existing trusted EtherNet/IP access to all PLCs simultaneously — no pivot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43800" y="4489704"/>
            <a:ext cx="4325112" cy="14813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62672" y="4581144"/>
            <a:ext cx="4160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Sensor spoofing scales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62672" y="4946904"/>
            <a:ext cx="4160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Every stage has .Sim and .Sim_PV tags — adversarial model can spoof all 6 stages simultaneously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6B6B"/>
                </a:solidFill>
                <a:latin typeface="Calibri"/>
              </a:rPr>
              <a:t>51.508 Secure CPS  ·  SWaT Project  ·  iTrust Lab, SUTD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9728"/>
            <a:ext cx="1737360" cy="292608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972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BROADER 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57200"/>
            <a:ext cx="115488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Calibri Light"/>
              </a:rPr>
              <a:t>This Is Not Hypothetical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005840"/>
            <a:ext cx="115488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6B6B6B"/>
                </a:solidFill>
                <a:latin typeface="Calibri"/>
              </a:rPr>
              <a:t>The same attack pattern has been used against real water infrastructure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325880"/>
            <a:ext cx="11548872" cy="148132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399032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💧  Oldsmar, Florida — Feb 2021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709928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Attack: Attacker modified NaOH setpoint to 111× normal via TeamViewer remote access. Single actuator write — identical to our Phase 1 pattern.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709928"/>
            <a:ext cx="58338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FFFFFF"/>
                </a:solidFill>
                <a:latin typeface="Calibri"/>
              </a:rPr>
              <a:t>Lesson: An invariant checker would have fired immediately. Chemical concentration setpoint is a process invariant. Reliance on human observation alone is insufficient.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898648"/>
            <a:ext cx="11548872" cy="148132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7180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🏭  Texas Water Utilities — Apr 2024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282696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Attack: Russian-linked actors targeted Unitronics PLCs. One plant tank overflowed. Recovery took days — no automated safe-state, no hot-standby PLC.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282696"/>
            <a:ext cx="58338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FFFFFF"/>
                </a:solidFill>
                <a:latin typeface="Calibri"/>
              </a:rPr>
              <a:t>Lesson: Multi-plant attack shows cascade at regional scale. Our &lt;15s recovery target vs days of manual restoration highlights the value of automated response.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71416"/>
            <a:ext cx="11548872" cy="148132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4456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⚛️  Stuxnet — Natanz, Iran 2009–2010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855464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Attack: Centrifuge speed manipulation combined with sensor concealment to operators — Paper #9 + #31 attack pattern in practice, deployed against real infrastructure.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4855464"/>
            <a:ext cx="58338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FFFFFF"/>
                </a:solidFill>
                <a:latin typeface="Calibri"/>
              </a:rPr>
              <a:t>Lesson: I-9 equivalent would have caught centrifuge speed vs motor command mismatch in &lt;3 cycles. Operators unaware for months — automated physics-based detection is essential.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65392"/>
            <a:ext cx="116403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6B6B"/>
                </a:solidFill>
                <a:latin typeface="Calibri"/>
              </a:rPr>
              <a:t>51.508 Secure CPS  ·  SWaT Project  ·  iTrust Lab, SUTD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9728"/>
            <a:ext cx="1737360" cy="292608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972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BROADER 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57200"/>
            <a:ext cx="115488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Calibri Light"/>
              </a:rPr>
              <a:t>Why Stage 1 — and What Comes 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18872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243C"/>
                </a:solidFill>
                <a:latin typeface="Calibri"/>
              </a:rPr>
              <a:t>Why we target Stage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572768"/>
            <a:ext cx="73152" cy="868680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7" y="1572768"/>
            <a:ext cx="5257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  <a:latin typeface="Calibri"/>
              </a:rPr>
              <a:t>Highest leverage — starving P1 propagates damage to all downstream stages without touching them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596896"/>
            <a:ext cx="73152" cy="868680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7" y="2596896"/>
            <a:ext cx="5257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  <a:latin typeface="Calibri"/>
              </a:rPr>
              <a:t>Entry point of the chain — maximum physical impact from minimum PLC interaction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621024"/>
            <a:ext cx="73152" cy="868680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7" y="3621024"/>
            <a:ext cx="5257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  <a:latin typeface="Calibri"/>
              </a:rPr>
              <a:t>Most important to defend first — robust P1 defense buys time to extend to P2–P6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4645152"/>
            <a:ext cx="73152" cy="868680"/>
          </a:xfrm>
          <a:prstGeom prst="rect">
            <a:avLst/>
          </a:prstGeom>
          <a:solidFill>
            <a:srgbClr val="E8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7" y="4645152"/>
            <a:ext cx="5257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  <a:latin typeface="Calibri"/>
              </a:rPr>
              <a:t>Simplest attack surface — only MV101 + P101 needed to stop all water flow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1188720"/>
            <a:ext cx="57881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Scaling the defense to all 6 stages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1572768"/>
            <a:ext cx="5788152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60" y="1572768"/>
            <a:ext cx="54864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36208" y="1636776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Calibri"/>
              </a:rPr>
              <a:t>Extend invariants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36208" y="1938528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Add P2–P6 invariant sets from each stage P&amp;ID. Same framework, different tags.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80760" y="2596896"/>
            <a:ext cx="5788152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80760" y="2596896"/>
            <a:ext cx="54864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36208" y="2660903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Calibri"/>
              </a:rPr>
              <a:t>Multi-stage fusion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6208" y="2962656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One fusion engine aggregating inv_flags from 6 invariant checkers simultaneously.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80760" y="3621024"/>
            <a:ext cx="5788152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80760" y="3621024"/>
            <a:ext cx="54864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36208" y="3685032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Calibri"/>
              </a:rPr>
              <a:t>Shared AE 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3986784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Retrain on all 87 sensor columns — dataset already covers all 6 stages.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80760" y="4645152"/>
            <a:ext cx="5788152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80760" y="4645152"/>
            <a:ext cx="54864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36208" y="470916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Calibri"/>
              </a:rPr>
              <a:t>Cross-stage failover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36208" y="5010912"/>
            <a:ext cx="5577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P2–P6 each have redundant PLCs — same failover pattern scales directly.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" y="5779008"/>
            <a:ext cx="11548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8243C"/>
                </a:solidFill>
                <a:latin typeface="Calibri"/>
              </a:rPr>
              <a:t>Our P1 demonstration is the proof of concept. The architecture scales directly to the full plant.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2026-03-27T11:25:37Z</dcterms:created>
  <dcterms:modified xsi:type="dcterms:W3CDTF">2026-03-27T11:25:37Z</dcterms:modified>
</cp:coreProperties>
</file>