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1-1.jpg" ContentType="image/jpg"/>
  <Override PartName="/ppt/media/image-12-2.jpg" ContentType="image/jpg"/>
  <Override PartName="/ppt/media/image-19-1.jpg" ContentType="image/jpg"/>
  <Override PartName="/ppt/media/image-2-1.jpg" ContentType="image/jpg"/>
  <Override PartName="/ppt/media/image-30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-1-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-1-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-1-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743407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Stealthy Attack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Resilient Defense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" y="2834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the SWaT Testbed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338328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iTrust Lab · SUTD · AY2025/26 Term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CIP Tag Injection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ML Evasion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Invariant-Based Recovery</a:t>
            </a:r>
            <a:endParaRPr lang="en-US" sz="1400" dirty="0"/>
          </a:p>
        </p:txBody>
      </p:sp>
      <p:pic>
        <p:nvPicPr>
          <p:cNvPr id="14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754880"/>
            <a:ext cx="6839712" cy="17373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635508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Testbed — iTrust Centre for Research in Cyber Security, SUTD Singapore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uses EtherNet/IP with no authentication. Existing ML detectors are vulnerable to adversarial evasion.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75838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7278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67278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HMI → direct CIP tag injection targeting MV101 and P101, with adversarial sensor spoofing.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1636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3076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23076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detector: process invariants (physics-based) + reconstruction autoencoder + weighted fusion.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87434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8874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78874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safe-state + PLC1B failover + invariant-verified resume. Target: &lt; 15 seconds.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0040" y="5166360"/>
            <a:ext cx="11548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Contribution: First end-to-end demonstration on SWaT combining adversarial evasion attacks with a hybrid physics+ML defense and automated recovery (university policy: all scripts run on HMI).</a:t>
            </a:r>
            <a:endParaRPr lang="en-US" sz="950" dirty="0"/>
          </a:p>
        </p:txBody>
      </p:sp>
      <p:pic>
        <p:nvPicPr>
          <p:cNvPr id="28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96128"/>
            <a:ext cx="11548872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Assumptions</a:t>
            </a:r>
            <a:endParaRPr lang="en-US" sz="3200" dirty="0"/>
          </a:p>
        </p:txBody>
      </p:sp>
      <p:pic>
        <p:nvPicPr>
          <p:cNvPr id="7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457200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55595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network: IT (Level 2–3) + OT (Level 0–1), PLC1–PLC6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166360" y="1371600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Attack Surface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66360" y="1828800"/>
            <a:ext cx="164592" cy="100584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0" y="1874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Workstation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via phishing/USB drop — attacker runs scripts directly on HMI (university policy)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166360" y="3154680"/>
            <a:ext cx="164592" cy="10058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— No Auth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40680" y="34747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has direct trusted access to all PLCs — any pylogix write is accepted immediately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166360" y="4480560"/>
            <a:ext cx="164592" cy="10058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4"/>
          <p:cNvSpPr/>
          <p:nvPr/>
        </p:nvSpPr>
        <p:spPr>
          <a:xfrm>
            <a:off x="5440680" y="45262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 (SIS)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40680" y="4800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Instrumented System — target is to stay below SIS thresholds to avoid shutdown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Attack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#9 (False CIP Injection) + #31 (Constrained Concealment)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Reconnaissance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tag enumeration on PLC1 (192.168.1.10). Read HMI_LIT101.Pv, AI_FIT_101_FLOW, HMI_MV101.Cmd. Build timestamped tag value database (enip_db.pkl).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False CIP Injection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 from compromised HMI: HMI_MV101.Auto=False → HMI_MV101.Cmd=1 (CLOSE), HMI_P101.Auto=False → HMI_P101.Cmd=1 (OFF). No ARP poison needed — HMI has trusted PLC access.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Adversarial ML Evasion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autoencoder generates δ (||δ||∞ ≤ 0.1) to minimise AE reconstruction error. Spoofs LIT101/FIT101 via HMI_LIT101.Sim=True + HMI_LIT101.Sim_PV=spoofed_value.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Existing Detectors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alone is evaded — which is why the hybrid exists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Anomaly Detector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on SWaT at ε=0.1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attack —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" y="4014216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Detector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 of 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invariant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spoofing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concealment replays valid sensor history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Invariant + ML Anomaly Detection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invariants from SWaT P1 P&amp;ID. Reads PLC1 coil registers directly via pylogix — cannot be fooled by sensor spoofing. Flags actuator state violations deterministically.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8.1 hours SWaT normal data (19-Feb-2026 dataset). Threshold = 95th percentile of training MSE (0.000950). Monitors LIT101.Pv and AI_FIT_101_FLOW.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Invariant weighted ×1.5 (physics deterministic &gt; statistical).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detection to verified safe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Detect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cycles. Log timestamp, sensor snapshot, alert details to recovery_log.json.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231136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231136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04288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Contain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578608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999232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72384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Safe 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writes: MV101.Auto=False → MV101.Cmd=2 (OPEN), P101.Auto=False → P101.Cmd=2 (ON).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67328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84048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PLC Failover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114800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535424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4535424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4608576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Verify &amp; Resume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82896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Accept only after 5 consecutive clean cycles. Then resume normal operation.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Phase-by-phase delivery schedule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9–10: Setup &amp; Attack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pylogix connectivity to PLC1. Run phase0_recon.py — enumerate tags, build baseline database. Implement phase1_inject.py — verify false writes accepted by PLC.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Evasion &amp; Defense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autoencoder on 19-Feb-2026 CSV (done). Train adversarial model (done). Verify Phase 2 evades AE. Implement invariant checker + fusion. Verify hybrid catches Phase 1+2 combined attack.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12–13: Recovery &amp; Demo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recovery_agent.py — test full 5-step pipeline. Run end-to-end demo on SWaT: attack → evade → detect → recover. Measure recovery time KPI: target &lt; 15 seconds.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Evaluation Metrics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for the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Effectiveness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Time-to-impact: LIT101 deviation rate under Phase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evasion rate: % cycles passing AE undetected (target: ~94%)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duration: time before any alert raised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Recovery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rate: % attack scenarios caught by hybrid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rate: % normal operation flagged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time: seconds from ALERT to safe state (target: &lt;15s)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invariant-only vs AE-only vs hybrid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(Proposal)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W. Alsabbagh et al. "A Stealthy False Command Injection Attack on Modbus based SCADA Systems." IEEE CCNC 2023. (Paper #9)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121408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779776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438144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096512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475488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SWaT P1 Attack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84831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False CIP Tag Injection via Compromised HMI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urier New"/>
              </a:rPr>
              <a:t>phase0_recon.py  ·  phase1_inject.py  ·  phase2_spoof.py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ourier New"/>
              </a:rPr>
              <a:t>pylogix  ·  PyTorch  ·  192.168.1.10 (PLC1)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05840"/>
            <a:ext cx="4096512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SWaT P1 — What We Are Attacking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Water Intake  ·  PLC1 @ 192.168.1.10  ·  EtherNet/IP port 44818</a:t>
            </a:r>
            <a:endParaRPr lang="en-US" sz="1200" dirty="0"/>
          </a:p>
        </p:txBody>
      </p:sp>
      <p:pic>
        <p:nvPicPr>
          <p:cNvPr id="10" name="Image 0" descr="/home/claude/swat-cps-project/assets/images/swat_p1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943600" cy="2926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2793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P&amp;ID — P1: MV101, T101, P101/P102, FIT101, LIT101</a:t>
            </a:r>
            <a:endParaRPr lang="en-US" sz="750" dirty="0"/>
          </a:p>
        </p:txBody>
      </p:sp>
      <p:pic>
        <p:nvPicPr>
          <p:cNvPr id="12" name="Image 1" descr="/home/claude/swat-cps-project/assets/images/swat_testbed_ph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68112" cy="2926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4279392"/>
            <a:ext cx="5468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SWaT testbed at iTrust Lab, SUTD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20040" y="4572000"/>
            <a:ext cx="11548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vector: Compromised HMI → pylogix CIP writes to PLC1 → MV101 CLOSE + P101 OFF → LIT101 drops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Attack Surface</a:t>
            </a:r>
            <a:endParaRPr lang="en-US" sz="3200" dirty="0"/>
          </a:p>
        </p:txBody>
      </p:sp>
      <p:pic>
        <p:nvPicPr>
          <p:cNvPr id="9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029200" cy="4206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55595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compromises HMI → direct EtherNet/IP access to all PLCs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532120" y="1371600"/>
            <a:ext cx="6309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EtherNet/IP Has No Defence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1228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on the OT network can write CIP tags to any PLC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12280" y="273405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transferred in clear — Wireshark reveals everything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12280" y="35753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cannot tell if a response is current or stale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12280" y="44165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values can be altered — PLC cannot detect manipulation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Spec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12280" y="5257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protocol fully documented — attacker has full spec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Reconnaissance &amp; Tag Discovery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phase0_recon.py  ·  pylogix tag enumeration from HMI  ·  ~30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48640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Connectivity Test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526694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"from pylogix import PLC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PLC() as plc: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plc.IPAddress = '192.168.1.10'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 = plc.Read('HMI_LIT101.Pv')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print(r.Value, r.Status)"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401568"/>
            <a:ext cx="5486400" cy="187452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349300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Tag Enumeration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" y="3785616"/>
            <a:ext cx="5266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confirmed from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HMI_LIT101.Pv        (REAL, mm)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AI_FIT_101_FLOW      (REAL, L/s)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HMI_MV101.Cmd        (1=CLOSE, 2=OPEN)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HMI_P101.Auto        (BOOL)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HMI_LIT101.Sim_PV    (spoofing)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37160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178308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8470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enip_db.pkl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12140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tag value database (29,153 samples)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9320" y="256032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62432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recon_results.json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80760" y="289864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identity, tag list, initial values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0" y="333756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340156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swat_capture.pcap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36758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EtherNet/IP packet capture (Scapy)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206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 Ranges (19-Feb-2026 dataset, 29,153 samples)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452628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62472" y="452628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70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982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714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012680" y="452628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52628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4864608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62472" y="486460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HMI_LIT101.Pv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838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 mm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982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714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 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012680" y="48646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85832" y="48646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 mm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89320" y="518464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518464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AI_FIT_101_FLOW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1838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L/s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982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714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 L/s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12680" y="51846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85832" y="51846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89320" y="550468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550468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HMI_MV101.Cmd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838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570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0982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714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012680" y="5504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85832" y="5504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(OPEN)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CIP Tag Injection from HMI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phase1_inject.py  ·  pylogix write to PLC1 @ 192.168.1.10  ·  No ARP poisoning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7607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Commands (pylogix)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1737360"/>
            <a:ext cx="5577840" cy="19202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10512"/>
            <a:ext cx="539496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MV101 out of auto, command CLOSE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1)      # 1=CLOSE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P101 out of auto, command OFF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1)      # 1=OFF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every 1s for duration=120s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3858768"/>
            <a:ext cx="5760720" cy="146304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950208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Restore (on exit)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4224528"/>
            <a:ext cx="5577840" cy="10058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97680"/>
            <a:ext cx="539496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2)  # 2=OPEN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 2)  # 2=ON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 True)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137160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Effects on SWaT P1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1737360"/>
            <a:ext cx="13716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1737360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35240" y="173736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173736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72600" y="1737360"/>
            <a:ext cx="23774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45752" y="173736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63640" y="207568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207568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35240" y="2075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08392" y="2075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CLOSED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72600" y="207568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5752" y="207568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valve closes, inflow stops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63640" y="239572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239572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35240" y="239572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08392" y="239572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→ OFF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239572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752" y="239572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stops, outflow ceases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271576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271576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635240" y="271576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08392" y="271576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→ falling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72600" y="271576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45752" y="271576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~2–5 mm/min drop rate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63640" y="303580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03580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35240" y="30358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08392" y="30358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 → ≈0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72600" y="303580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45752" y="303580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drops to zero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63640" y="335584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335584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display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35240" y="33558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08392" y="33558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(unaware)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372600" y="335584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45752" y="335584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sees no change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63640" y="3822192"/>
            <a:ext cx="5577840" cy="1097280"/>
          </a:xfrm>
          <a:prstGeom prst="rect">
            <a:avLst/>
          </a:prstGeom>
          <a:solidFill>
            <a:srgbClr val="FFF3F3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55080" y="391363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HMI has pre-existing trusted EtherNet/IP access to PLC1. Running from the HMI means no ARP poisoning, no MITM, no sudo required. University policy — code runs on HMI.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Adversarial Sensor Spoofing — Evading ML Detectors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phase2_spoof.py  ·  Castellanos et al., ACSAC 2020 (Paper #31)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causes LIT101 to drop and FIT101 to go to zero — the autoencoder notices these broken correlations and flags an anomaly.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59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encoder generates δ such that the victim AE sees low reconstruction error on (x + δ) — the sensor stream looks statistically normal despite the physical attack.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1371600"/>
            <a:ext cx="3639312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146304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39328" y="1755648"/>
            <a:ext cx="341985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||δ||∞ ≤ ε = 0.1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result: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evasion 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standalone AE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3456432"/>
            <a:ext cx="11548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Simulation Tag Interface (confirmed from lab)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767328"/>
            <a:ext cx="5669280" cy="15544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40480"/>
            <a:ext cx="54864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simulation mode + inject spoofed value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  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plc.Write("HMI_LIT101.Sim_PV", spoofed_value)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Repeat every 1s — AE sees perturbed stream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exit: disable simulation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False)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0760" y="3456432"/>
            <a:ext cx="5760720" cy="182880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0488" y="3547872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Phase 2 Fails Against Our Hybrid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0488" y="3840480"/>
            <a:ext cx="5541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perturbs sensor readings (LIT101, FIT101). But the invariant checker reads HMI_MV101.Cmd and HMI_P101.Auto directly from PLC coil registers — these are not perturbed by the simulation tags.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I-2: P101=ON but FIT101 &lt; 0.4 → VIOLATION — fires regardless of spoofed sensor values.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Scripts — Usage Reference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417320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813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phase0_recon.py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7190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discovery + baseline logging from HMI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476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attack/phase0_recon.py --plc-ip 192.168.1.10 --duration 1800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16712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scapy     out: enip_db.pkl  swat_capture.pcap  recon_results.json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990088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990088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540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phase1_inject.py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CIP tag injection (no ARP/sudo needed)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attack/phase1_inject.py --plc-ip 192.168.1.10 --duration 120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739896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     out: Console: injection cycles + safe-state restore on exit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62856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562856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62686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phase2_spoof.py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646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sensor spoofing via Sim tags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50932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attack/phase2_spoof.py attack --plc-ip 192.168.1.10 --model adv_model.pt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312664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torch, numpy     out: adv_model.pt (trained)  ·  live spoofed sensor writes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You Run — Lab Day Checklist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pylogix torch numpy pandas scikit-learn on HMI Ubuntu machine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185623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5623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python3 -c "from pylogix import PLC; plc=PLC(); plc.IPAddress='192.168.1.10'; print(plc.Read('HMI_LIT101.Pv').Value)"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29514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2951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tag names with lab engineer — run get_tag_list() if names differ from expected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73405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3405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ae_model.pt and adv_model.pt copied to HMI from thumb drive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iTrust lab engineer sign-off before running phase1_inject.py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61188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61188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must be physically present during all experiments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05079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5 terminal windows before starting demo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48970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8970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HMI IP address for slides/runbook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92861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2861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PLC1B (192.168.1.11) is reachable for failover step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536752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6752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phase0_recon.py first — confirm tag reads before injecting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Defending SWaT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Against False CIP Tag Injection from Compromised HMI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1
Process Invariant Checker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2
Reconstruction Autoencoder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3
Decision Fusion + 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73075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Recovery:  Detect → Contain → Safe State → PLC Failover → Invariant-Verified Resume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60520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Single-Layer Defenses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is sufficient — the hybrid forces a harder constraint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Fails (Paper #31 Attack)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688336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at ε=0.1 on SWaT (Paper #31)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438144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Black-box: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187952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Fails (Paper #9 Attack)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24/36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688336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438144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sensor simulation bypasses pure statistical checks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187952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drift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Hybrid Defense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cooperative layers — each compensates for the other's blind spots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 (invariant_checker.py)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PLC1 coil registers directly via pylogix. 8 invariants from SWaT P1 P&amp;ID. Cannot be fooled by Sim tag spoofing — checks HMI_MV101.Cmd, HMI_P101.Auto directly. Writes /tmp/inv_flag.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 (autoencoder_detector.py)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19-Feb-2026 SWaT dataset (29,153 samples). Features: LIT101.Pv + AI_FIT_101_FLOW. Threshold = 0.000950 (95th pct of training MSE). Writes /tmp/ae_flag.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 (fusion.py)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Automatically launches recovery_agent.py on ALERT. Logs to fusion_log.json.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1 — Process Invariant Checker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rules from SWaT P1 P&amp;ID — cannot be fooled by sensor simulation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4572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1031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141732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Rule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6519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737360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173736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MV101=OPEN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88920" y="1737360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62072" y="173736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0.4 L/s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9204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6519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flows when valve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231136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231136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2231136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223113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2231136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62072" y="2231136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0.3 L/s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92040" y="2231136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23113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drives positive flow — catches Phase 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2724912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2724912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7240" y="272491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0392" y="272491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88920" y="2724912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62072" y="2724912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not falling rapidly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92040" y="272491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65192" y="272491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fills or holds tank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" y="3218688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218688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7240" y="3218688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" y="3218688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&gt; 800mm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88920" y="3218688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62072" y="3218688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OFF within 2 cycles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92040" y="3218688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65192" y="3218688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protection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712464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712464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I-5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" y="371246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0392" y="371246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&lt; 250mm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788920" y="3712464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862072" y="3712464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 OPEN + P101 ON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92040" y="371246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65192" y="371246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protection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0040" y="4206240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3192" y="42062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I-6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7240" y="420624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0392" y="42062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MV101=CLOSED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88920" y="4206240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862072" y="420624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&lt; 0.05 L/s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92040" y="4206240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65192" y="420624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when valve shut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4700016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4700016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7240" y="470001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50392" y="470001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 + MV101=CLOSED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788920" y="4700016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862072" y="4700016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(attack signature)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892040" y="470001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65192" y="470001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physics state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20040" y="5193792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93192" y="5193792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I-8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77240" y="5193792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50392" y="519379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788920" y="5193792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862072" y="5193792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non-increasing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892040" y="5193792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65192" y="519379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drains only if pump off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320040" y="576072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 fires immediately when Phase 1 forces P101=ON + MV101=CLOSED — invariant detects attack before any physical damage.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2 — Reconstruction Autoencoder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normal SWaT data — flags deviations from learned correlations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(20 dims = 2 features × 10 window) → Linear(32)→ReLU → Linear(16)→ReLU → Latent(8) → Linear(16)→ReLU → Linear(32)→ReLU → Output.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19-Feb-2026_0930_1735.csv (29,153 samples, 8.1 hours). Features: LIT101.Pv, AI_FIT_101_FLOW. 500 epochs, Adam lr=1e-3. Final loss: 0.001346. Threshold: 0.000950.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 Alone Fails (Paper #31)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model trained to minimise victim AE reconstruction error. Perturbation δ constrained to ||δ||∞ ≤ 0.1. Bypasses AE in ~94% of cycles. Layer 1 invariant catches what AE misses.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3 — Decision Fusion &amp; Alert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both signals — minimises false positives while maximising coverage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inv_flag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87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ae_flag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417320"/>
            <a:ext cx="6400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33672" y="141732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3172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0487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60520" y="1737360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3672" y="173736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ALERT HIGH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 pipeline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7627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7627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3172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0487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2176272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33672" y="2176272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ALERT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29400" y="217627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02552" y="217627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log (Phase 1+2 scenario)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1518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1518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0487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60520" y="2615184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33672" y="2615184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29400" y="261518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02552" y="261518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— possible drift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05409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05409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33172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0487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60520" y="3054096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33672" y="3054096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NORMAL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629400" y="305409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2552" y="305409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normal operation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611880"/>
            <a:ext cx="548640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367588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Formula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7200" y="397764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1.5 × inv_flag + 1.0 × ae_flag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 if score ≥ 1.5 for 3 consecutive cycles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989320" y="3611880"/>
            <a:ext cx="585216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6758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(SWaT)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126480" y="3977640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PLC polling: 1–2 seconds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126480" y="41788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Invariant check: &lt;1 ms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126480" y="4379976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AE inference: ~45 ms (CPU)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126480" y="4581144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Detection latency: &lt;50 ms/cycle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26480" y="4782312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Alert after 3 cycles: 3–6 seconds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Attacker's Dilemma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evades ML layer — but cannot satisfy physics simultaneously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Perturbs LIT101.Pv and AI_FIT_101_FLOW via HMI_LIT101.Sim_PV. The victim AE sees (x + δ) with low reconstruction error. AE flag stays 0 — Layer 2 is blind to the attack.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Cannot Do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change the actual PLC coil states HMI_MV101.Cmd=1 and HMI_P101.Auto=False. Layer 1 reads these registers directly. Invariant I-2 (P101=ON but FIT101 &lt; 0.4) fires regardless of Sim tag values.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Hybrid Wins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= 1.5 × 1 (inv) + 1.0 × 0 (ae evaded) = 1.5 → ALERT immediately. The attacker cannot simultaneously fool physics AND ML. Must choose one — and physics catches the other.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Pipeline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from detection to verified 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Detect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 → log timestamp, sensor snapshot, alert details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Contain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5176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Safe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 to PLC1: MV101.Cmd=2(OPEN), P101.Cmd=2(ON)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PLC Failover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Verify &amp; Resume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4692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836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5 consecutive clean cycles required before resuming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54864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recovery target: &lt; 15 seconds from ALERT to verified safe state  ·  PLC1B failover &lt; 3 seconds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Safe State Table &amp; PLC Failover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actuator targets written to PLC registers before failover handshake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486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80360" y="1417320"/>
            <a:ext cx="19202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3512" y="141732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Value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95160" y="1417320"/>
            <a:ext cx="21671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8312" y="141732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if Wrong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6868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80360" y="17373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3512" y="1737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→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tank to refill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95160" y="17373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68312" y="1737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starvation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945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945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8680" y="21945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1945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/ P102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21945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3512" y="21945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945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945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dry-run damage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95160" y="21945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68312" y="21945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cavitation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517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517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68680" y="26517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41832" y="26517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P201–P206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80360" y="26517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3512" y="26517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517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517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dosing without P1 feed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95160" y="26517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68312" y="26517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overdose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1089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1089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68680" y="31089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1832" y="31089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MV301 / P301/302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31089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31089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OFF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1089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1089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UF feed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995160" y="31089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8312" y="31089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pressure spike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5661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3192" y="35661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68680" y="35661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1832" y="35661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UV401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880360" y="35661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53512" y="35661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800600" y="35661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73752" y="35661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water to treat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95160" y="35661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068312" y="35661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element overheating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0040" y="40233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93192" y="4023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68680" y="40233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41832" y="4023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P602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2880360" y="40233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53512" y="4023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800600" y="40233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73752" y="4023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pump 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995160" y="40233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068312" y="4023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damage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4617720"/>
            <a:ext cx="11548872" cy="1097280"/>
          </a:xfrm>
          <a:prstGeom prst="rect">
            <a:avLst/>
          </a:prstGeom>
          <a:solidFill>
            <a:srgbClr val="F0FFF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709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PLC1B Failover: SWaT runs dual PLCs per stage. After safe state is written to PLC1A, PLC1B (192.168.1.11) takes control via EtherNet/IP handshake. PLC1B has identical ladder logic and resumes from the last safe register state. PLC1A is isolated until re-verified.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Implementation &amp; Evaluation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artifacts and expected metrics for the iTrust Lab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(DR)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&gt;95% for hybrid. Baseline: invariant-only ~67%, AE-only ~72%. Hybrid covers what neither catches alone.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 (FPR)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&lt;3% for hybrid. 95th percentile threshold keeps AE FPR &lt;5%. 3-cycle confirmation window reduces inv false alarms.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&lt;15 seconds from ALERT to verified safe state. PLC1B failover &lt;3s. Five clean invariant cycles ~5s.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(Defense)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Calibri Light"/>
              </a:rPr>
              <a:t>CPS Cyber Attack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Methods, Taxonomy &amp; Application to SWaT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Shallow Recovery
Safe-state + failover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Deep Recovery
Dedicated controller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State Estimation
Kalman / Luenberger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NIST SP 800-82r3
OT incident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49039"/>
            <a:ext cx="1136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Key finding (ACM Survey 2024): Most CPS research focuses on detection — recovery is the least studied phase.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87952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Taxonomy: Shallow vs Deep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Computing Surveys (2024) — two fundamental strategies identified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Recovery (Ours — Deployable Now)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Safe-State Transition: deterministic lookup → write to PLC registers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Hot-Standby PLC Failover: EtherNet/IP handshake → PLC1B &lt; 3s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Isolation: iptables + VLAN at L2 switch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Restore: HMI historian snapshot rollback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Recovery (Research Extension)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State Estimation: Luenberger/Kalman observer reconstructs true state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Predictive Control Recovery (He et al. 2021): resilient MPC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Observer: reconstructs sensor/actuator attacks online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Invariant-Guided Reconstruction: physics-constrained sensor re-entry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Secure State Estimation (SSE) Methods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academic methods for reconstructing plant state under sensor attack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Observer (Lu &amp; Yang, Info. Sci. 2017)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Augments system state with attack signals. Switched observer selects attack-free sensor subsets. Guarantees exponential convergence under sparse attacks. Requires linear P1 hydraulic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Kalman-based Secure Estimator (Chang, Hu &amp; Tomlin, 2015)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attack as sparse coding error. Recovers true state if system is 2s-sparse observable. Extended Kalman generalises to nonlinear SWaT tank dynamics.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 (SMO, 2016)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Finite-time convergent observer. Reconstructs both sensor and actuator attacks online. Super-twisting variant handles time-varying attacks without a priori attack model.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Fundamental Limit: 2s-Sparse Observability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sensors can be corrupted before state reconstruction becomes impossible?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(Shoukry &amp; Tabuada, IEEE TAC 2016)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state uniquely recoverable despite attacks on ≤ s sensors IF AND ONLY IF the system remains observable after removing any 2s sensor rows from C. This is called 2s-sparse observability.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P1 Sparse Observability Analysis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has 5 sensors/actuators. Phase 1 targets MV101 + P101 coils (2 sensors). Need 2×1=2-sparse observability. P1 satisfies this: FIT101 + LIT101 + process ODE fully determine tank state.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Implication for Recovery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both MV101 and P101 coil reads are compromised, LIT101.Pv and AI_FIT_101_FLOW plus the ODE model can reconstruct the true plant state during recovery.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Proposed: Invariant-Guided Sensor Reconstruction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SWaT-specific deep recovery — physics-constrained re-entry after safe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Tank ODE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dL/dt = (Q_in - Q_out) / A_tank  where  Q_in = MV101_state × FIT101, Q_out = P101_state × rated_flow, A_tank ≈ 1.5 m². In safe state: pumps OFF → dL/dt = 0 → LIT101 predictable.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Sensor Re-entry Algorithm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 1) Reach safe state. 2) Isolate attack channel. 3) Reconstruct LIT101 from ODE. 4) Re-enable FIT101 first (reads ~0 — valve closed). 5) Accept each sensor only if all 8 invariants pass for 5+ cycles.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may still have Sim tags active during recovery window. Invariant-gated acceptance rejects spoofed readings before they reach PLC control loop. No external trusted sensor needed — ODE provides ground truth.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SP 800-82r3 Alignment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recovery design maps directly to OT security framework principles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RC.RP-1: Recovery plan executed automatically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launches automatically on ALERT — no human in the loop for Phase 1 containment. Pre-coded, tested, deterministic.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RS.CO-3: Consistent stakeholder communication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HMI alarm triggers notification. PLC1B takeover reflected in all monitoring dashboards within 1 cycle.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RS.AN-1: Detection notifications investigated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engine logs: which layer fired, sensor snapshot at T=alert — sufficient for post-incident forensic root cause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Real-World Recovery Case Studies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 in water/ICS attacks — lessons for SWaT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Oldsmar, Florida (Feb 2021)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remote NaOH modification to 111× normal via TeamViewer. Recovery: operator noticed cursor moving — manual revert. Lesson: human-in-the-loop worked, but automated alert would have fired faster.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Texas Water Utilities (Apr 2024)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Unitronics PLCs targeted, tank overflowed. Recovery: manual override, days to verify integrity. Lesson: no hot-standby PLC, no automated safe-state — recovery took days vs our &lt;15s target.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Stuxnet (Natanz, 2009–2010)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centrifuge speed manipulation + HMI spoofing. Recovery: none — no invariant checker. Lesson: I-7 equivalent would have caught actuator/sensor inconsistency in &lt;3 cycles.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Methods — Comparison Matrix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methods against SWaT constraints: real-time PLC, EtherNet/IP attack, sensor spoofing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5603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803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947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79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37960" y="1417320"/>
            <a:ext cx="11430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41732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0" y="1417320"/>
            <a:ext cx="1124712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54112" y="141732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Paper#31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1737360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173736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+ Failover (Ours)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535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947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79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823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235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37960" y="1737360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1112" y="173736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0" y="1737360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173736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2231136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" y="2231136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 (Kong 2018)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8803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947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679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091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235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67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HMI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37960" y="2231136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11112" y="2231136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80960" y="2231136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54112" y="2231136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040" y="2724912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" y="2724912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(Lu 2017)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947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823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235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967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37960" y="2724912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1112" y="272491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680960" y="2724912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4112" y="2724912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3218688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3218688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Secure Est. (Chang 2015)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8803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535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7947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679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7091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823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235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967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3218688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11112" y="3218688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680960" y="3218688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4112" y="3218688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3712464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93192" y="3712464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8803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9535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cycle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37947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679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7091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823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Explicit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56235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967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537960" y="3712464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611112" y="3712464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680960" y="3712464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754112" y="3712464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0040" y="4206240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93192" y="420624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Inv-Guided Re-entry (Proposed)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28803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9535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7947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8679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only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47091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823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6235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967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537960" y="4206240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611112" y="420624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7680960" y="4206240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54112" y="420624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320040" y="57150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Shallow (Safe State + Failover) immediately. Layer in Invariant-Guided Re-entry. Luenberger SSE for academic deep recovery.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Integrated Recovery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+ deep recovery in a single automated pipeline triggered by hybrid detector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Shallow Recovery (Immediate, Deployed)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runs automatically on ALERT. iptables block, safe-state CIP writes, PLC1B EtherNet/IP handshake. Total target: &lt;15 seconds. No additional development needed.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Deep Recovery (Research Extension)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runs on parallel thread. Reconstructs LIT101/FIT101 from uncorrupted sensor subset. ODE-based LIT101 prediction. Invariant-guided sensor re-entry gates acceptance.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0s: ALERT → &lt;3s: Contain → &lt;5s: Safe State → &lt;8s: PLC1B Failover → &lt;30s: SSE Reconstruction → &lt;60s: Full Automated Resume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 &amp; Open Challenges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 now vs what remains as open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Buildable Now — Deliverables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— automated 5-step pipeline (READY)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ode_estimator.py — LIT101 ODE integrator (READY)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reentry_gate.py — invariant-gated sensor re-entry (READY)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 on SWaT testbed (DEMO)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Research Challenges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ID for SWaT P1: Luenberger SSE needs state-space matrices (A,B,C)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cascading recovery (Paper #9 can attack all 6 stages)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recovery evasion: attacker spoofs ODE predictions during re-entry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real-time guarantees for PLC embedded environments (RTAS venue)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Research References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[R1] ACM Computing Surveys 2024. "Recovery from Adversarial Attacks in CPS." doi:10.1145/3653974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[R2] A. Y. Lu &amp; G. H. Yang. "Secure State Estimation for CPS under Sparse Sensor Attacks via Switched Luenberger Observer." Info. Sci. 417, 2017.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[R3] Y. Shoukry &amp; P. Tabuada. "Event-Triggered State Observers for Sparse Sensor Noise/Attacks." IEEE TAC 61(8),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[R4] Y. H. Chang, Q. Hu &amp; C. Tomlin. "Secure Estimation based Kalman Filter for CPS against Adversarial Attacks." ArXiv 2015.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[R5] NIST SP 800-82 Revision 3. "Guide to Operational Technology (OT) Security." September 2023.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521208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[R6] F. Kong et al. "Cyber-Physical System Checkpointing and Recovery." ICCPS 2018.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2026-03-27T11:25:37Z</dcterms:created>
  <dcterms:modified xsi:type="dcterms:W3CDTF">2026-03-27T11:25:37Z</dcterms:modified>
</cp:coreProperties>
</file>